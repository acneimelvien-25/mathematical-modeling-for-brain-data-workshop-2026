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8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47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5"/>
    <p:sldMasterId id="2147483671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</p:sldIdLst>
  <p:sldSz cy="6858000" cx="12192000"/>
  <p:notesSz cx="6858000" cy="9144000"/>
  <p:embeddedFontLst>
    <p:embeddedFont>
      <p:font typeface="Inter SemiBold"/>
      <p:regular r:id="rId56"/>
      <p:bold r:id="rId57"/>
      <p:italic r:id="rId58"/>
      <p:boldItalic r:id="rId59"/>
    </p:embeddedFont>
    <p:embeddedFont>
      <p:font typeface="Inter"/>
      <p:regular r:id="rId60"/>
      <p:bold r:id="rId61"/>
      <p:italic r:id="rId62"/>
      <p:boldItalic r:id="rId63"/>
    </p:embeddedFont>
    <p:embeddedFont>
      <p:font typeface="Inter ExtraBold"/>
      <p:bold r:id="rId64"/>
      <p:boldItalic r:id="rId65"/>
    </p:embeddedFont>
    <p:embeddedFont>
      <p:font typeface="Inter Medium"/>
      <p:regular r:id="rId66"/>
      <p:bold r:id="rId67"/>
      <p:italic r:id="rId68"/>
      <p:boldItalic r:id="rId69"/>
    </p:embeddedFont>
    <p:embeddedFont>
      <p:font typeface="JetBrains Mono"/>
      <p:regular r:id="rId70"/>
      <p:bold r:id="rId71"/>
      <p:italic r:id="rId72"/>
      <p:boldItalic r:id="rId73"/>
    </p:embeddedFont>
    <p:embeddedFont>
      <p:font typeface="Space Grotesk"/>
      <p:regular r:id="rId74"/>
      <p:bold r:id="rId7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BF32FAD-5FC6-475A-90FC-75AD4E81BC82}">
  <a:tblStyle styleId="{8BF32FAD-5FC6-475A-90FC-75AD4E81BC82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3.xml"/><Relationship Id="rId42" Type="http://schemas.openxmlformats.org/officeDocument/2006/relationships/slide" Target="slides/slide35.xml"/><Relationship Id="rId41" Type="http://schemas.openxmlformats.org/officeDocument/2006/relationships/slide" Target="slides/slide34.xml"/><Relationship Id="rId44" Type="http://schemas.openxmlformats.org/officeDocument/2006/relationships/slide" Target="slides/slide37.xml"/><Relationship Id="rId43" Type="http://schemas.openxmlformats.org/officeDocument/2006/relationships/slide" Target="slides/slide36.xml"/><Relationship Id="rId46" Type="http://schemas.openxmlformats.org/officeDocument/2006/relationships/slide" Target="slides/slide39.xml"/><Relationship Id="rId45" Type="http://schemas.openxmlformats.org/officeDocument/2006/relationships/slide" Target="slides/slide3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48" Type="http://schemas.openxmlformats.org/officeDocument/2006/relationships/slide" Target="slides/slide41.xml"/><Relationship Id="rId47" Type="http://schemas.openxmlformats.org/officeDocument/2006/relationships/slide" Target="slides/slide40.xml"/><Relationship Id="rId49" Type="http://schemas.openxmlformats.org/officeDocument/2006/relationships/slide" Target="slides/slide42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73" Type="http://schemas.openxmlformats.org/officeDocument/2006/relationships/font" Target="fonts/JetBrainsMono-boldItalic.fntdata"/><Relationship Id="rId72" Type="http://schemas.openxmlformats.org/officeDocument/2006/relationships/font" Target="fonts/JetBrainsMono-italic.fntdata"/><Relationship Id="rId31" Type="http://schemas.openxmlformats.org/officeDocument/2006/relationships/slide" Target="slides/slide24.xml"/><Relationship Id="rId75" Type="http://schemas.openxmlformats.org/officeDocument/2006/relationships/font" Target="fonts/SpaceGrotesk-bold.fntdata"/><Relationship Id="rId30" Type="http://schemas.openxmlformats.org/officeDocument/2006/relationships/slide" Target="slides/slide23.xml"/><Relationship Id="rId74" Type="http://schemas.openxmlformats.org/officeDocument/2006/relationships/font" Target="fonts/SpaceGrotesk-regular.fntdata"/><Relationship Id="rId33" Type="http://schemas.openxmlformats.org/officeDocument/2006/relationships/slide" Target="slides/slide26.xml"/><Relationship Id="rId32" Type="http://schemas.openxmlformats.org/officeDocument/2006/relationships/slide" Target="slides/slide25.xml"/><Relationship Id="rId35" Type="http://schemas.openxmlformats.org/officeDocument/2006/relationships/slide" Target="slides/slide28.xml"/><Relationship Id="rId34" Type="http://schemas.openxmlformats.org/officeDocument/2006/relationships/slide" Target="slides/slide27.xml"/><Relationship Id="rId71" Type="http://schemas.openxmlformats.org/officeDocument/2006/relationships/font" Target="fonts/JetBrainsMono-bold.fntdata"/><Relationship Id="rId70" Type="http://schemas.openxmlformats.org/officeDocument/2006/relationships/font" Target="fonts/JetBrainsMono-regular.fntdata"/><Relationship Id="rId37" Type="http://schemas.openxmlformats.org/officeDocument/2006/relationships/slide" Target="slides/slide30.xml"/><Relationship Id="rId36" Type="http://schemas.openxmlformats.org/officeDocument/2006/relationships/slide" Target="slides/slide29.xml"/><Relationship Id="rId39" Type="http://schemas.openxmlformats.org/officeDocument/2006/relationships/slide" Target="slides/slide32.xml"/><Relationship Id="rId38" Type="http://schemas.openxmlformats.org/officeDocument/2006/relationships/slide" Target="slides/slide31.xml"/><Relationship Id="rId62" Type="http://schemas.openxmlformats.org/officeDocument/2006/relationships/font" Target="fonts/Inter-italic.fntdata"/><Relationship Id="rId61" Type="http://schemas.openxmlformats.org/officeDocument/2006/relationships/font" Target="fonts/Inter-bold.fntdata"/><Relationship Id="rId20" Type="http://schemas.openxmlformats.org/officeDocument/2006/relationships/slide" Target="slides/slide13.xml"/><Relationship Id="rId64" Type="http://schemas.openxmlformats.org/officeDocument/2006/relationships/font" Target="fonts/InterExtraBold-bold.fntdata"/><Relationship Id="rId63" Type="http://schemas.openxmlformats.org/officeDocument/2006/relationships/font" Target="fonts/Inter-boldItalic.fntdata"/><Relationship Id="rId22" Type="http://schemas.openxmlformats.org/officeDocument/2006/relationships/slide" Target="slides/slide15.xml"/><Relationship Id="rId66" Type="http://schemas.openxmlformats.org/officeDocument/2006/relationships/font" Target="fonts/InterMedium-regular.fntdata"/><Relationship Id="rId21" Type="http://schemas.openxmlformats.org/officeDocument/2006/relationships/slide" Target="slides/slide14.xml"/><Relationship Id="rId65" Type="http://schemas.openxmlformats.org/officeDocument/2006/relationships/font" Target="fonts/InterExtraBold-boldItalic.fntdata"/><Relationship Id="rId24" Type="http://schemas.openxmlformats.org/officeDocument/2006/relationships/slide" Target="slides/slide17.xml"/><Relationship Id="rId68" Type="http://schemas.openxmlformats.org/officeDocument/2006/relationships/font" Target="fonts/InterMedium-italic.fntdata"/><Relationship Id="rId23" Type="http://schemas.openxmlformats.org/officeDocument/2006/relationships/slide" Target="slides/slide16.xml"/><Relationship Id="rId67" Type="http://schemas.openxmlformats.org/officeDocument/2006/relationships/font" Target="fonts/InterMedium-bold.fntdata"/><Relationship Id="rId60" Type="http://schemas.openxmlformats.org/officeDocument/2006/relationships/font" Target="fonts/Inter-regular.fntdata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69" Type="http://schemas.openxmlformats.org/officeDocument/2006/relationships/font" Target="fonts/InterMedium-boldItalic.fntdata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29" Type="http://schemas.openxmlformats.org/officeDocument/2006/relationships/slide" Target="slides/slide22.xml"/><Relationship Id="rId51" Type="http://schemas.openxmlformats.org/officeDocument/2006/relationships/slide" Target="slides/slide44.xml"/><Relationship Id="rId50" Type="http://schemas.openxmlformats.org/officeDocument/2006/relationships/slide" Target="slides/slide43.xml"/><Relationship Id="rId53" Type="http://schemas.openxmlformats.org/officeDocument/2006/relationships/slide" Target="slides/slide46.xml"/><Relationship Id="rId52" Type="http://schemas.openxmlformats.org/officeDocument/2006/relationships/slide" Target="slides/slide45.xml"/><Relationship Id="rId11" Type="http://schemas.openxmlformats.org/officeDocument/2006/relationships/slide" Target="slides/slide4.xml"/><Relationship Id="rId55" Type="http://schemas.openxmlformats.org/officeDocument/2006/relationships/slide" Target="slides/slide48.xml"/><Relationship Id="rId10" Type="http://schemas.openxmlformats.org/officeDocument/2006/relationships/slide" Target="slides/slide3.xml"/><Relationship Id="rId54" Type="http://schemas.openxmlformats.org/officeDocument/2006/relationships/slide" Target="slides/slide47.xml"/><Relationship Id="rId13" Type="http://schemas.openxmlformats.org/officeDocument/2006/relationships/slide" Target="slides/slide6.xml"/><Relationship Id="rId57" Type="http://schemas.openxmlformats.org/officeDocument/2006/relationships/font" Target="fonts/InterSemiBold-bold.fntdata"/><Relationship Id="rId12" Type="http://schemas.openxmlformats.org/officeDocument/2006/relationships/slide" Target="slides/slide5.xml"/><Relationship Id="rId56" Type="http://schemas.openxmlformats.org/officeDocument/2006/relationships/font" Target="fonts/InterSemiBold-regular.fntdata"/><Relationship Id="rId15" Type="http://schemas.openxmlformats.org/officeDocument/2006/relationships/slide" Target="slides/slide8.xml"/><Relationship Id="rId59" Type="http://schemas.openxmlformats.org/officeDocument/2006/relationships/font" Target="fonts/InterSemiBold-boldItalic.fntdata"/><Relationship Id="rId14" Type="http://schemas.openxmlformats.org/officeDocument/2006/relationships/slide" Target="slides/slide7.xml"/><Relationship Id="rId58" Type="http://schemas.openxmlformats.org/officeDocument/2006/relationships/font" Target="fonts/InterSemiBold-italic.fntdata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h23b9dc8e6a4e31a_0_8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h23b9dc8e6a4e31a_0_8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1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h23b9dc8e6a4e31a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2" name="Google Shape;392;h23b9dc8e6a4e31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3" name="Google Shape;463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8" name="Google Shape;498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6" name="Google Shape;516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h23b9dc8e6a4e31a_0_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8" name="Google Shape;548;h23b9dc8e6a4e31a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3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5" name="Google Shape;555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9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1" name="Google Shape;571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3" name="Google Shape;603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8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0" name="Google Shape;620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0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2" name="Google Shape;642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8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0" name="Google Shape;660;p2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5" name="Shape 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" name="Google Shape;676;h23b9dc8e6a4e31a_0_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7" name="Google Shape;677;h23b9dc8e6a4e31a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2" name="Shape 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" name="Google Shape;683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4" name="Google Shape;684;p2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9" name="Shape 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Google Shape;700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1" name="Google Shape;701;p2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8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h23b9dc8e6a4e31a_0_1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0" name="Google Shape;720;h23b9dc8e6a4e31a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5" name="Shape 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6" name="Google Shape;726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7" name="Google Shape;727;p2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7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Google Shape;758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9" name="Google Shape;759;p2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1" name="Shape 7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2" name="Google Shape;782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3" name="Google Shape;783;p3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8" name="Shape 7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9" name="Google Shape;799;h23b9dc8e6a4e31a_0_2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0" name="Google Shape;800;h23b9dc8e6a4e31a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5" name="Shape 8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6" name="Google Shape;806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7" name="Google Shape;807;p3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2" name="Shape 8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3" name="Google Shape;823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4" name="Google Shape;824;p3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3" name="Shape 8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4" name="Google Shape;854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5" name="Google Shape;855;p3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2" name="Shape 9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3" name="Google Shape;903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4" name="Google Shape;904;p3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7" name="Shape 9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" name="Google Shape;938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9" name="Google Shape;939;p3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7" name="Shape 9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8" name="Google Shape;958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9" name="Google Shape;959;p3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3" name="Shape 9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4" name="Google Shape;984;p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5" name="Google Shape;985;p3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0" name="Shape 10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" name="Google Shape;1001;p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2" name="Google Shape;1002;p3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3" name="Shape 10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" name="Google Shape;1064;p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5" name="Google Shape;1065;p3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5" name="Shape 10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6" name="Google Shape;1086;p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7" name="Google Shape;1087;p4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5" name="Shape 1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6" name="Google Shape;1166;p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7" name="Google Shape;1167;p4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1" name="Shape 1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2" name="Google Shape;1182;p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3" name="Google Shape;1183;p4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9" name="Shape 1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0" name="Google Shape;1210;p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1" name="Google Shape;1211;p4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4"/>
          <p:cNvSpPr txBox="1"/>
          <p:nvPr>
            <p:ph idx="10" type="dt"/>
          </p:nvPr>
        </p:nvSpPr>
        <p:spPr>
          <a:xfrm>
            <a:off x="457212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14"/>
          <p:cNvSpPr txBox="1"/>
          <p:nvPr>
            <p:ph idx="11" type="ftr"/>
          </p:nvPr>
        </p:nvSpPr>
        <p:spPr>
          <a:xfrm>
            <a:off x="3124283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14"/>
          <p:cNvSpPr txBox="1"/>
          <p:nvPr>
            <p:ph idx="12" type="sldNum"/>
          </p:nvPr>
        </p:nvSpPr>
        <p:spPr>
          <a:xfrm>
            <a:off x="6553375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5"/>
          <p:cNvSpPr txBox="1"/>
          <p:nvPr>
            <p:ph type="ctrTitle"/>
          </p:nvPr>
        </p:nvSpPr>
        <p:spPr>
          <a:xfrm>
            <a:off x="685818" y="2130425"/>
            <a:ext cx="7772700" cy="14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15"/>
          <p:cNvSpPr txBox="1"/>
          <p:nvPr>
            <p:ph idx="1" type="subTitle"/>
          </p:nvPr>
        </p:nvSpPr>
        <p:spPr>
          <a:xfrm>
            <a:off x="1371637" y="3886200"/>
            <a:ext cx="64011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93" name="Google Shape;93;p15"/>
          <p:cNvSpPr txBox="1"/>
          <p:nvPr>
            <p:ph idx="10" type="dt"/>
          </p:nvPr>
        </p:nvSpPr>
        <p:spPr>
          <a:xfrm>
            <a:off x="457212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15"/>
          <p:cNvSpPr txBox="1"/>
          <p:nvPr>
            <p:ph idx="11" type="ftr"/>
          </p:nvPr>
        </p:nvSpPr>
        <p:spPr>
          <a:xfrm>
            <a:off x="3124283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15"/>
          <p:cNvSpPr txBox="1"/>
          <p:nvPr>
            <p:ph idx="12" type="sldNum"/>
          </p:nvPr>
        </p:nvSpPr>
        <p:spPr>
          <a:xfrm>
            <a:off x="6553375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6"/>
          <p:cNvSpPr txBox="1"/>
          <p:nvPr>
            <p:ph type="title"/>
          </p:nvPr>
        </p:nvSpPr>
        <p:spPr>
          <a:xfrm>
            <a:off x="457212" y="274638"/>
            <a:ext cx="82299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16"/>
          <p:cNvSpPr txBox="1"/>
          <p:nvPr>
            <p:ph idx="1" type="body"/>
          </p:nvPr>
        </p:nvSpPr>
        <p:spPr>
          <a:xfrm>
            <a:off x="457212" y="1600200"/>
            <a:ext cx="82299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9" name="Google Shape;99;p16"/>
          <p:cNvSpPr txBox="1"/>
          <p:nvPr>
            <p:ph idx="10" type="dt"/>
          </p:nvPr>
        </p:nvSpPr>
        <p:spPr>
          <a:xfrm>
            <a:off x="457212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16"/>
          <p:cNvSpPr txBox="1"/>
          <p:nvPr>
            <p:ph idx="11" type="ftr"/>
          </p:nvPr>
        </p:nvSpPr>
        <p:spPr>
          <a:xfrm>
            <a:off x="3124283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16"/>
          <p:cNvSpPr txBox="1"/>
          <p:nvPr>
            <p:ph idx="12" type="sldNum"/>
          </p:nvPr>
        </p:nvSpPr>
        <p:spPr>
          <a:xfrm>
            <a:off x="6553375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7"/>
          <p:cNvSpPr txBox="1"/>
          <p:nvPr>
            <p:ph type="title"/>
          </p:nvPr>
        </p:nvSpPr>
        <p:spPr>
          <a:xfrm>
            <a:off x="722332" y="4406900"/>
            <a:ext cx="7772700" cy="13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17"/>
          <p:cNvSpPr txBox="1"/>
          <p:nvPr>
            <p:ph idx="1" type="body"/>
          </p:nvPr>
        </p:nvSpPr>
        <p:spPr>
          <a:xfrm>
            <a:off x="722332" y="2906713"/>
            <a:ext cx="7772700" cy="15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05" name="Google Shape;105;p17"/>
          <p:cNvSpPr txBox="1"/>
          <p:nvPr>
            <p:ph idx="10" type="dt"/>
          </p:nvPr>
        </p:nvSpPr>
        <p:spPr>
          <a:xfrm>
            <a:off x="457212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17"/>
          <p:cNvSpPr txBox="1"/>
          <p:nvPr>
            <p:ph idx="11" type="ftr"/>
          </p:nvPr>
        </p:nvSpPr>
        <p:spPr>
          <a:xfrm>
            <a:off x="3124283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17"/>
          <p:cNvSpPr txBox="1"/>
          <p:nvPr>
            <p:ph idx="12" type="sldNum"/>
          </p:nvPr>
        </p:nvSpPr>
        <p:spPr>
          <a:xfrm>
            <a:off x="6553375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8"/>
          <p:cNvSpPr txBox="1"/>
          <p:nvPr>
            <p:ph type="title"/>
          </p:nvPr>
        </p:nvSpPr>
        <p:spPr>
          <a:xfrm>
            <a:off x="457212" y="274638"/>
            <a:ext cx="82299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18"/>
          <p:cNvSpPr txBox="1"/>
          <p:nvPr>
            <p:ph idx="1" type="body"/>
          </p:nvPr>
        </p:nvSpPr>
        <p:spPr>
          <a:xfrm>
            <a:off x="457212" y="1600200"/>
            <a:ext cx="4038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111" name="Google Shape;111;p18"/>
          <p:cNvSpPr txBox="1"/>
          <p:nvPr>
            <p:ph idx="2" type="body"/>
          </p:nvPr>
        </p:nvSpPr>
        <p:spPr>
          <a:xfrm>
            <a:off x="4648324" y="1600200"/>
            <a:ext cx="4038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112" name="Google Shape;112;p18"/>
          <p:cNvSpPr txBox="1"/>
          <p:nvPr>
            <p:ph idx="10" type="dt"/>
          </p:nvPr>
        </p:nvSpPr>
        <p:spPr>
          <a:xfrm>
            <a:off x="457212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18"/>
          <p:cNvSpPr txBox="1"/>
          <p:nvPr>
            <p:ph idx="11" type="ftr"/>
          </p:nvPr>
        </p:nvSpPr>
        <p:spPr>
          <a:xfrm>
            <a:off x="3124283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18"/>
          <p:cNvSpPr txBox="1"/>
          <p:nvPr>
            <p:ph idx="12" type="sldNum"/>
          </p:nvPr>
        </p:nvSpPr>
        <p:spPr>
          <a:xfrm>
            <a:off x="6553375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9"/>
          <p:cNvSpPr txBox="1"/>
          <p:nvPr>
            <p:ph type="title"/>
          </p:nvPr>
        </p:nvSpPr>
        <p:spPr>
          <a:xfrm>
            <a:off x="457212" y="274638"/>
            <a:ext cx="82299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19"/>
          <p:cNvSpPr txBox="1"/>
          <p:nvPr>
            <p:ph idx="1" type="body"/>
          </p:nvPr>
        </p:nvSpPr>
        <p:spPr>
          <a:xfrm>
            <a:off x="457212" y="1535113"/>
            <a:ext cx="40401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18" name="Google Shape;118;p19"/>
          <p:cNvSpPr txBox="1"/>
          <p:nvPr>
            <p:ph idx="2" type="body"/>
          </p:nvPr>
        </p:nvSpPr>
        <p:spPr>
          <a:xfrm>
            <a:off x="457212" y="2174875"/>
            <a:ext cx="4040100" cy="39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19" name="Google Shape;119;p19"/>
          <p:cNvSpPr txBox="1"/>
          <p:nvPr>
            <p:ph idx="3" type="body"/>
          </p:nvPr>
        </p:nvSpPr>
        <p:spPr>
          <a:xfrm>
            <a:off x="4645149" y="1535113"/>
            <a:ext cx="40419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20" name="Google Shape;120;p19"/>
          <p:cNvSpPr txBox="1"/>
          <p:nvPr>
            <p:ph idx="4" type="body"/>
          </p:nvPr>
        </p:nvSpPr>
        <p:spPr>
          <a:xfrm>
            <a:off x="4645149" y="2174875"/>
            <a:ext cx="4041900" cy="39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21" name="Google Shape;121;p19"/>
          <p:cNvSpPr txBox="1"/>
          <p:nvPr>
            <p:ph idx="10" type="dt"/>
          </p:nvPr>
        </p:nvSpPr>
        <p:spPr>
          <a:xfrm>
            <a:off x="457212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19"/>
          <p:cNvSpPr txBox="1"/>
          <p:nvPr>
            <p:ph idx="11" type="ftr"/>
          </p:nvPr>
        </p:nvSpPr>
        <p:spPr>
          <a:xfrm>
            <a:off x="3124283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19"/>
          <p:cNvSpPr txBox="1"/>
          <p:nvPr>
            <p:ph idx="12" type="sldNum"/>
          </p:nvPr>
        </p:nvSpPr>
        <p:spPr>
          <a:xfrm>
            <a:off x="6553375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0"/>
          <p:cNvSpPr txBox="1"/>
          <p:nvPr>
            <p:ph type="title"/>
          </p:nvPr>
        </p:nvSpPr>
        <p:spPr>
          <a:xfrm>
            <a:off x="457212" y="274638"/>
            <a:ext cx="82299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p20"/>
          <p:cNvSpPr txBox="1"/>
          <p:nvPr>
            <p:ph idx="10" type="dt"/>
          </p:nvPr>
        </p:nvSpPr>
        <p:spPr>
          <a:xfrm>
            <a:off x="457212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" name="Google Shape;127;p20"/>
          <p:cNvSpPr txBox="1"/>
          <p:nvPr>
            <p:ph idx="11" type="ftr"/>
          </p:nvPr>
        </p:nvSpPr>
        <p:spPr>
          <a:xfrm>
            <a:off x="3124283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p20"/>
          <p:cNvSpPr txBox="1"/>
          <p:nvPr>
            <p:ph idx="12" type="sldNum"/>
          </p:nvPr>
        </p:nvSpPr>
        <p:spPr>
          <a:xfrm>
            <a:off x="6553375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1"/>
          <p:cNvSpPr txBox="1"/>
          <p:nvPr>
            <p:ph type="title"/>
          </p:nvPr>
        </p:nvSpPr>
        <p:spPr>
          <a:xfrm>
            <a:off x="457212" y="273050"/>
            <a:ext cx="3008400" cy="1162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p21"/>
          <p:cNvSpPr txBox="1"/>
          <p:nvPr>
            <p:ph idx="1" type="body"/>
          </p:nvPr>
        </p:nvSpPr>
        <p:spPr>
          <a:xfrm>
            <a:off x="3575145" y="273050"/>
            <a:ext cx="5111700" cy="58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132" name="Google Shape;132;p21"/>
          <p:cNvSpPr txBox="1"/>
          <p:nvPr>
            <p:ph idx="2" type="body"/>
          </p:nvPr>
        </p:nvSpPr>
        <p:spPr>
          <a:xfrm>
            <a:off x="457212" y="1435100"/>
            <a:ext cx="3008400" cy="4691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33" name="Google Shape;133;p21"/>
          <p:cNvSpPr txBox="1"/>
          <p:nvPr>
            <p:ph idx="10" type="dt"/>
          </p:nvPr>
        </p:nvSpPr>
        <p:spPr>
          <a:xfrm>
            <a:off x="457212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4" name="Google Shape;134;p21"/>
          <p:cNvSpPr txBox="1"/>
          <p:nvPr>
            <p:ph idx="11" type="ftr"/>
          </p:nvPr>
        </p:nvSpPr>
        <p:spPr>
          <a:xfrm>
            <a:off x="3124283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21"/>
          <p:cNvSpPr txBox="1"/>
          <p:nvPr>
            <p:ph idx="12" type="sldNum"/>
          </p:nvPr>
        </p:nvSpPr>
        <p:spPr>
          <a:xfrm>
            <a:off x="6553375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2"/>
          <p:cNvSpPr txBox="1"/>
          <p:nvPr>
            <p:ph type="title"/>
          </p:nvPr>
        </p:nvSpPr>
        <p:spPr>
          <a:xfrm>
            <a:off x="1792336" y="4800600"/>
            <a:ext cx="5486400" cy="566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p22"/>
          <p:cNvSpPr/>
          <p:nvPr>
            <p:ph idx="2" type="pic"/>
          </p:nvPr>
        </p:nvSpPr>
        <p:spPr>
          <a:xfrm>
            <a:off x="1792336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139" name="Google Shape;139;p22"/>
          <p:cNvSpPr txBox="1"/>
          <p:nvPr>
            <p:ph idx="1" type="body"/>
          </p:nvPr>
        </p:nvSpPr>
        <p:spPr>
          <a:xfrm>
            <a:off x="1792336" y="5367338"/>
            <a:ext cx="5486400" cy="8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40" name="Google Shape;140;p22"/>
          <p:cNvSpPr txBox="1"/>
          <p:nvPr>
            <p:ph idx="10" type="dt"/>
          </p:nvPr>
        </p:nvSpPr>
        <p:spPr>
          <a:xfrm>
            <a:off x="457212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1" name="Google Shape;141;p22"/>
          <p:cNvSpPr txBox="1"/>
          <p:nvPr>
            <p:ph idx="11" type="ftr"/>
          </p:nvPr>
        </p:nvSpPr>
        <p:spPr>
          <a:xfrm>
            <a:off x="3124283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p22"/>
          <p:cNvSpPr txBox="1"/>
          <p:nvPr>
            <p:ph idx="12" type="sldNum"/>
          </p:nvPr>
        </p:nvSpPr>
        <p:spPr>
          <a:xfrm>
            <a:off x="6553375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3"/>
          <p:cNvSpPr txBox="1"/>
          <p:nvPr>
            <p:ph type="title"/>
          </p:nvPr>
        </p:nvSpPr>
        <p:spPr>
          <a:xfrm>
            <a:off x="457212" y="274638"/>
            <a:ext cx="82299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5" name="Google Shape;145;p23"/>
          <p:cNvSpPr txBox="1"/>
          <p:nvPr>
            <p:ph idx="1" type="body"/>
          </p:nvPr>
        </p:nvSpPr>
        <p:spPr>
          <a:xfrm rot="5400000">
            <a:off x="2309032" y="-251700"/>
            <a:ext cx="4526100" cy="822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6" name="Google Shape;146;p23"/>
          <p:cNvSpPr txBox="1"/>
          <p:nvPr>
            <p:ph idx="10" type="dt"/>
          </p:nvPr>
        </p:nvSpPr>
        <p:spPr>
          <a:xfrm>
            <a:off x="457212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7" name="Google Shape;147;p23"/>
          <p:cNvSpPr txBox="1"/>
          <p:nvPr>
            <p:ph idx="11" type="ftr"/>
          </p:nvPr>
        </p:nvSpPr>
        <p:spPr>
          <a:xfrm>
            <a:off x="3124283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8" name="Google Shape;148;p23"/>
          <p:cNvSpPr txBox="1"/>
          <p:nvPr>
            <p:ph idx="12" type="sldNum"/>
          </p:nvPr>
        </p:nvSpPr>
        <p:spPr>
          <a:xfrm>
            <a:off x="6553375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4"/>
          <p:cNvSpPr txBox="1"/>
          <p:nvPr>
            <p:ph type="title"/>
          </p:nvPr>
        </p:nvSpPr>
        <p:spPr>
          <a:xfrm rot="5400000">
            <a:off x="4732582" y="2171688"/>
            <a:ext cx="5851500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1" name="Google Shape;151;p24"/>
          <p:cNvSpPr txBox="1"/>
          <p:nvPr>
            <p:ph idx="1" type="body"/>
          </p:nvPr>
        </p:nvSpPr>
        <p:spPr>
          <a:xfrm rot="5400000">
            <a:off x="541373" y="190338"/>
            <a:ext cx="5851500" cy="60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2" name="Google Shape;152;p24"/>
          <p:cNvSpPr txBox="1"/>
          <p:nvPr>
            <p:ph idx="10" type="dt"/>
          </p:nvPr>
        </p:nvSpPr>
        <p:spPr>
          <a:xfrm>
            <a:off x="457212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24"/>
          <p:cNvSpPr txBox="1"/>
          <p:nvPr>
            <p:ph idx="11" type="ftr"/>
          </p:nvPr>
        </p:nvSpPr>
        <p:spPr>
          <a:xfrm>
            <a:off x="3124283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4" name="Google Shape;154;p24"/>
          <p:cNvSpPr txBox="1"/>
          <p:nvPr>
            <p:ph idx="12" type="sldNum"/>
          </p:nvPr>
        </p:nvSpPr>
        <p:spPr>
          <a:xfrm>
            <a:off x="6553375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3"/>
          <p:cNvSpPr txBox="1"/>
          <p:nvPr>
            <p:ph type="title"/>
          </p:nvPr>
        </p:nvSpPr>
        <p:spPr>
          <a:xfrm>
            <a:off x="457212" y="274638"/>
            <a:ext cx="82299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82" name="Google Shape;82;p13"/>
          <p:cNvSpPr txBox="1"/>
          <p:nvPr>
            <p:ph idx="1" type="body"/>
          </p:nvPr>
        </p:nvSpPr>
        <p:spPr>
          <a:xfrm>
            <a:off x="457212" y="1600200"/>
            <a:ext cx="82299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3" name="Google Shape;83;p13"/>
          <p:cNvSpPr txBox="1"/>
          <p:nvPr>
            <p:ph idx="10" type="dt"/>
          </p:nvPr>
        </p:nvSpPr>
        <p:spPr>
          <a:xfrm>
            <a:off x="457212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4" name="Google Shape;84;p13"/>
          <p:cNvSpPr txBox="1"/>
          <p:nvPr>
            <p:ph idx="11" type="ftr"/>
          </p:nvPr>
        </p:nvSpPr>
        <p:spPr>
          <a:xfrm>
            <a:off x="3124283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5" name="Google Shape;85;p13"/>
          <p:cNvSpPr txBox="1"/>
          <p:nvPr>
            <p:ph idx="12" type="sldNum"/>
          </p:nvPr>
        </p:nvSpPr>
        <p:spPr>
          <a:xfrm>
            <a:off x="6553375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5.png"/><Relationship Id="rId6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image" Target="../media/image9.png"/><Relationship Id="rId5" Type="http://schemas.openxmlformats.org/officeDocument/2006/relationships/image" Target="../media/image8.png"/><Relationship Id="rId6" Type="http://schemas.openxmlformats.org/officeDocument/2006/relationships/image" Target="../media/image11.png"/><Relationship Id="rId7" Type="http://schemas.openxmlformats.org/officeDocument/2006/relationships/image" Target="../media/image12.png"/><Relationship Id="rId8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7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5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6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9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1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0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6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6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6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3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6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6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24.png"/><Relationship Id="rId4" Type="http://schemas.openxmlformats.org/officeDocument/2006/relationships/image" Target="../media/image16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26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25.png"/><Relationship Id="rId4" Type="http://schemas.openxmlformats.org/officeDocument/2006/relationships/image" Target="../media/image24.png"/><Relationship Id="rId5" Type="http://schemas.openxmlformats.org/officeDocument/2006/relationships/image" Target="../media/image16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25.png"/><Relationship Id="rId4" Type="http://schemas.openxmlformats.org/officeDocument/2006/relationships/image" Target="../media/image24.png"/><Relationship Id="rId5" Type="http://schemas.openxmlformats.org/officeDocument/2006/relationships/image" Target="../media/image16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B29"/>
        </a:solid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9" name="Google Shape;159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25"/>
          <p:cNvSpPr/>
          <p:nvPr/>
        </p:nvSpPr>
        <p:spPr>
          <a:xfrm>
            <a:off x="762000" y="5591175"/>
            <a:ext cx="10668000" cy="6572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25"/>
          <p:cNvSpPr/>
          <p:nvPr/>
        </p:nvSpPr>
        <p:spPr>
          <a:xfrm>
            <a:off x="762000" y="1992659"/>
            <a:ext cx="3495675" cy="323850"/>
          </a:xfrm>
          <a:prstGeom prst="roundRect">
            <a:avLst>
              <a:gd fmla="val 17647" name="adj"/>
            </a:avLst>
          </a:prstGeom>
          <a:solidFill>
            <a:srgbClr val="193348"/>
          </a:solidFill>
          <a:ln cap="flat" cmpd="sng" w="9525">
            <a:solidFill>
              <a:srgbClr val="21547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25"/>
          <p:cNvSpPr/>
          <p:nvPr/>
        </p:nvSpPr>
        <p:spPr>
          <a:xfrm>
            <a:off x="762000" y="5591175"/>
            <a:ext cx="10668000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25"/>
          <p:cNvSpPr/>
          <p:nvPr/>
        </p:nvSpPr>
        <p:spPr>
          <a:xfrm>
            <a:off x="5562600" y="5943600"/>
            <a:ext cx="1695450" cy="304800"/>
          </a:xfrm>
          <a:prstGeom prst="roundRect">
            <a:avLst>
              <a:gd fmla="val 12500" name="adj"/>
            </a:avLst>
          </a:prstGeom>
          <a:solidFill>
            <a:srgbClr val="0F17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25"/>
          <p:cNvSpPr/>
          <p:nvPr/>
        </p:nvSpPr>
        <p:spPr>
          <a:xfrm>
            <a:off x="7391400" y="5943600"/>
            <a:ext cx="1952625" cy="304800"/>
          </a:xfrm>
          <a:prstGeom prst="roundRect">
            <a:avLst>
              <a:gd fmla="val 12500" name="adj"/>
            </a:avLst>
          </a:prstGeom>
          <a:solidFill>
            <a:srgbClr val="0F17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25"/>
          <p:cNvSpPr/>
          <p:nvPr/>
        </p:nvSpPr>
        <p:spPr>
          <a:xfrm>
            <a:off x="9477375" y="5943600"/>
            <a:ext cx="1952625" cy="304800"/>
          </a:xfrm>
          <a:prstGeom prst="roundRect">
            <a:avLst>
              <a:gd fmla="val 12500" name="adj"/>
            </a:avLst>
          </a:prstGeom>
          <a:solidFill>
            <a:srgbClr val="0F17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25"/>
          <p:cNvSpPr txBox="1"/>
          <p:nvPr/>
        </p:nvSpPr>
        <p:spPr>
          <a:xfrm>
            <a:off x="826725" y="2679325"/>
            <a:ext cx="108684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498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750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Linear Algebra for Neural Data Representat</a:t>
            </a:r>
            <a:r>
              <a:rPr b="1" lang="en-US" sz="3750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ion</a:t>
            </a:r>
            <a:endParaRPr/>
          </a:p>
        </p:txBody>
      </p:sp>
      <p:sp>
        <p:nvSpPr>
          <p:cNvPr id="167" name="Google Shape;167;p25"/>
          <p:cNvSpPr txBox="1"/>
          <p:nvPr/>
        </p:nvSpPr>
        <p:spPr>
          <a:xfrm>
            <a:off x="762000" y="3408800"/>
            <a:ext cx="113580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Discover how simple arrows, grids, and geometry help neuroscientists decode thoughts, vision, and movement.</a:t>
            </a:r>
            <a:endParaRPr/>
          </a:p>
        </p:txBody>
      </p:sp>
      <p:sp>
        <p:nvSpPr>
          <p:cNvPr id="168" name="Google Shape;168;p25"/>
          <p:cNvSpPr txBox="1"/>
          <p:nvPr/>
        </p:nvSpPr>
        <p:spPr>
          <a:xfrm>
            <a:off x="923925" y="2059334"/>
            <a:ext cx="3964781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7DD3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HOW YOUR BRAIN COMPUTES WITH GEOMETRY</a:t>
            </a:r>
            <a:endParaRPr/>
          </a:p>
        </p:txBody>
      </p:sp>
      <p:sp>
        <p:nvSpPr>
          <p:cNvPr id="169" name="Google Shape;169;p25"/>
          <p:cNvSpPr txBox="1"/>
          <p:nvPr/>
        </p:nvSpPr>
        <p:spPr>
          <a:xfrm>
            <a:off x="3248025" y="5960725"/>
            <a:ext cx="15240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Spikes → Vectors</a:t>
            </a:r>
            <a:endParaRPr/>
          </a:p>
        </p:txBody>
      </p:sp>
      <p:sp>
        <p:nvSpPr>
          <p:cNvPr id="170" name="Google Shape;170;p25"/>
          <p:cNvSpPr txBox="1"/>
          <p:nvPr/>
        </p:nvSpPr>
        <p:spPr>
          <a:xfrm>
            <a:off x="5076825" y="5960725"/>
            <a:ext cx="17811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43F5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Synapses → Matrices</a:t>
            </a:r>
            <a:endParaRPr/>
          </a:p>
        </p:txBody>
      </p:sp>
      <p:sp>
        <p:nvSpPr>
          <p:cNvPr id="171" name="Google Shape;171;p25"/>
          <p:cNvSpPr txBox="1"/>
          <p:nvPr/>
        </p:nvSpPr>
        <p:spPr>
          <a:xfrm>
            <a:off x="7162800" y="5960725"/>
            <a:ext cx="17811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10B98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Thoughts → Geometry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6"/>
          <p:cNvSpPr txBox="1"/>
          <p:nvPr/>
        </p:nvSpPr>
        <p:spPr>
          <a:xfrm>
            <a:off x="761845" y="523725"/>
            <a:ext cx="10668300" cy="6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8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About Me</a:t>
            </a:r>
            <a:endParaRPr b="0" sz="2480">
              <a:solidFill>
                <a:srgbClr val="0F172A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lang="en-US" sz="1395">
                <a:solidFill>
                  <a:srgbClr val="2563EB"/>
                </a:solidFill>
                <a:latin typeface="Inter Medium"/>
                <a:ea typeface="Inter Medium"/>
                <a:cs typeface="Inter Medium"/>
                <a:sym typeface="Inter Medium"/>
              </a:rPr>
              <a:t>Abdulwaliy Oyekunle </a:t>
            </a:r>
            <a:r>
              <a:rPr b="0" lang="en-US" sz="1395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|</a:t>
            </a:r>
            <a:r>
              <a:rPr b="0" lang="en-US" sz="1395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 Researcher &amp; Engineer</a:t>
            </a:r>
            <a:endParaRPr b="0" sz="1395">
              <a:solidFill>
                <a:srgbClr val="2563EB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grpSp>
        <p:nvGrpSpPr>
          <p:cNvPr id="177" name="Google Shape;177;p26"/>
          <p:cNvGrpSpPr/>
          <p:nvPr/>
        </p:nvGrpSpPr>
        <p:grpSpPr>
          <a:xfrm>
            <a:off x="762020" y="1381125"/>
            <a:ext cx="5143500" cy="3238500"/>
            <a:chOff x="0" y="0"/>
            <a:chExt cx="5143500" cy="3238500"/>
          </a:xfrm>
        </p:grpSpPr>
        <p:sp>
          <p:nvSpPr>
            <p:cNvPr id="178" name="Google Shape;178;p26"/>
            <p:cNvSpPr/>
            <p:nvPr/>
          </p:nvSpPr>
          <p:spPr>
            <a:xfrm>
              <a:off x="0" y="0"/>
              <a:ext cx="5143500" cy="3238500"/>
            </a:xfrm>
            <a:prstGeom prst="roundRect">
              <a:avLst>
                <a:gd fmla="val 4705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" name="Google Shape;179;p26"/>
            <p:cNvSpPr txBox="1"/>
            <p:nvPr/>
          </p:nvSpPr>
          <p:spPr>
            <a:xfrm>
              <a:off x="266700" y="228600"/>
              <a:ext cx="4610100" cy="2781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2563EB"/>
                  </a:solidFill>
                  <a:highlight>
                    <a:srgbClr val="EFF6FF"/>
                  </a:highlight>
                  <a:latin typeface="Inter"/>
                  <a:ea typeface="Inter"/>
                  <a:cs typeface="Inter"/>
                  <a:sym typeface="Inter"/>
                </a:rPr>
                <a:t>EDUCATION &amp; ACADEMICS</a:t>
              </a:r>
              <a:endParaRPr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Incoming MSc. Brain &amp; Data Science</a:t>
              </a:r>
              <a:endParaRPr b="1" sz="13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Bar-Ilan University (Israel) / University of Jyväskylä (Finland)</a:t>
              </a:r>
              <a:endParaRPr sz="11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05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BSc. Electronic &amp; Electrical Engineering</a:t>
              </a:r>
              <a:endParaRPr b="1" sz="13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Obafemi Awolowo University, Nigeria</a:t>
              </a:r>
              <a:endParaRPr sz="11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05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BSc. Psychology</a:t>
              </a:r>
              <a:endParaRPr b="1" sz="13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International Open University, The Gambia</a:t>
              </a:r>
              <a:endParaRPr sz="11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80" name="Google Shape;180;p26"/>
          <p:cNvGrpSpPr/>
          <p:nvPr/>
        </p:nvGrpSpPr>
        <p:grpSpPr>
          <a:xfrm>
            <a:off x="6286668" y="1381125"/>
            <a:ext cx="5143500" cy="2000100"/>
            <a:chOff x="0" y="0"/>
            <a:chExt cx="5143500" cy="2000100"/>
          </a:xfrm>
        </p:grpSpPr>
        <p:sp>
          <p:nvSpPr>
            <p:cNvPr id="181" name="Google Shape;181;p26"/>
            <p:cNvSpPr/>
            <p:nvPr/>
          </p:nvSpPr>
          <p:spPr>
            <a:xfrm>
              <a:off x="0" y="0"/>
              <a:ext cx="5143500" cy="2000100"/>
            </a:xfrm>
            <a:prstGeom prst="roundRect">
              <a:avLst>
                <a:gd fmla="val 7619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" name="Google Shape;182;p26"/>
            <p:cNvSpPr txBox="1"/>
            <p:nvPr/>
          </p:nvSpPr>
          <p:spPr>
            <a:xfrm>
              <a:off x="266700" y="228600"/>
              <a:ext cx="4610100" cy="154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047857"/>
                  </a:solidFill>
                  <a:highlight>
                    <a:srgbClr val="D1FAE5"/>
                  </a:highlight>
                  <a:latin typeface="Inter"/>
                  <a:ea typeface="Inter"/>
                  <a:cs typeface="Inter"/>
                  <a:sym typeface="Inter"/>
                </a:rPr>
                <a:t>AFFILIATIONS &amp; ROLES</a:t>
              </a:r>
              <a:endParaRPr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Research Affiliate</a:t>
              </a:r>
              <a:endParaRPr b="1" sz="13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Applied AI &amp; Robotics Research Lab, OAU, Nigeria</a:t>
              </a:r>
              <a:endParaRPr sz="11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05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Co-founder</a:t>
              </a:r>
              <a:endParaRPr b="1" sz="13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NeuroAspire for Neuroscience &amp; Brain Health</a:t>
              </a:r>
              <a:endParaRPr sz="11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83" name="Google Shape;183;p26"/>
          <p:cNvGrpSpPr/>
          <p:nvPr/>
        </p:nvGrpSpPr>
        <p:grpSpPr>
          <a:xfrm>
            <a:off x="6286668" y="3571875"/>
            <a:ext cx="5143500" cy="1047900"/>
            <a:chOff x="0" y="0"/>
            <a:chExt cx="5143500" cy="1047900"/>
          </a:xfrm>
        </p:grpSpPr>
        <p:sp>
          <p:nvSpPr>
            <p:cNvPr id="184" name="Google Shape;184;p26"/>
            <p:cNvSpPr/>
            <p:nvPr/>
          </p:nvSpPr>
          <p:spPr>
            <a:xfrm>
              <a:off x="0" y="0"/>
              <a:ext cx="5143500" cy="1047900"/>
            </a:xfrm>
            <a:prstGeom prst="roundRect">
              <a:avLst>
                <a:gd fmla="val 14545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" name="Google Shape;185;p26"/>
            <p:cNvSpPr txBox="1"/>
            <p:nvPr/>
          </p:nvSpPr>
          <p:spPr>
            <a:xfrm>
              <a:off x="266700" y="171450"/>
              <a:ext cx="4610100" cy="705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1D4ED8"/>
                  </a:solidFill>
                  <a:highlight>
                    <a:srgbClr val="EFF6FF"/>
                  </a:highlight>
                  <a:latin typeface="Inter"/>
                  <a:ea typeface="Inter"/>
                  <a:cs typeface="Inter"/>
                  <a:sym typeface="Inter"/>
                </a:rPr>
                <a:t>RESEARCH INTERESTS</a:t>
              </a:r>
              <a:endParaRPr b="1" sz="1100">
                <a:solidFill>
                  <a:srgbClr val="1D4ED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b="0" lang="en-US" sz="1200">
                  <a:solidFill>
                    <a:srgbClr val="0F172A"/>
                  </a:solidFill>
                  <a:highlight>
                    <a:srgbClr val="F1F5F9"/>
                  </a:highlight>
                  <a:latin typeface="Inter SemiBold"/>
                  <a:ea typeface="Inter SemiBold"/>
                  <a:cs typeface="Inter SemiBold"/>
                  <a:sym typeface="Inter SemiBold"/>
                </a:rPr>
                <a:t>Computational Neuroscience</a:t>
              </a:r>
              <a:r>
                <a:rPr b="0" lang="en-US" sz="1200">
                  <a:solidFill>
                    <a:srgbClr val="94A3B8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 • </a:t>
              </a:r>
              <a:r>
                <a:rPr b="0" lang="en-US" sz="1200">
                  <a:solidFill>
                    <a:srgbClr val="0F172A"/>
                  </a:solidFill>
                  <a:highlight>
                    <a:srgbClr val="F1F5F9"/>
                  </a:highlight>
                  <a:latin typeface="Inter SemiBold"/>
                  <a:ea typeface="Inter SemiBold"/>
                  <a:cs typeface="Inter SemiBold"/>
                  <a:sym typeface="Inter SemiBold"/>
                </a:rPr>
                <a:t>Neuroengineering</a:t>
              </a:r>
              <a:r>
                <a:rPr b="0" lang="en-US" sz="1200">
                  <a:solidFill>
                    <a:srgbClr val="94A3B8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 • </a:t>
              </a:r>
              <a:r>
                <a:rPr b="0" lang="en-US" sz="1200">
                  <a:solidFill>
                    <a:srgbClr val="0F172A"/>
                  </a:solidFill>
                  <a:highlight>
                    <a:srgbClr val="F1F5F9"/>
                  </a:highlight>
                  <a:latin typeface="Inter SemiBold"/>
                  <a:ea typeface="Inter SemiBold"/>
                  <a:cs typeface="Inter SemiBold"/>
                  <a:sym typeface="Inter SemiBold"/>
                </a:rPr>
                <a:t>Neurorobotics</a:t>
              </a:r>
              <a:endParaRPr b="0" sz="1200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  <p:grpSp>
        <p:nvGrpSpPr>
          <p:cNvPr id="186" name="Google Shape;186;p26"/>
          <p:cNvGrpSpPr/>
          <p:nvPr/>
        </p:nvGrpSpPr>
        <p:grpSpPr>
          <a:xfrm>
            <a:off x="762020" y="4810125"/>
            <a:ext cx="10668000" cy="1047900"/>
            <a:chOff x="0" y="0"/>
            <a:chExt cx="10668000" cy="1047900"/>
          </a:xfrm>
        </p:grpSpPr>
        <p:sp>
          <p:nvSpPr>
            <p:cNvPr id="187" name="Google Shape;187;p26"/>
            <p:cNvSpPr/>
            <p:nvPr/>
          </p:nvSpPr>
          <p:spPr>
            <a:xfrm>
              <a:off x="0" y="0"/>
              <a:ext cx="10668000" cy="1047900"/>
            </a:xfrm>
            <a:prstGeom prst="roundRect">
              <a:avLst>
                <a:gd fmla="val 14545" name="adj"/>
              </a:avLst>
            </a:prstGeom>
            <a:solidFill>
              <a:srgbClr val="1E293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" name="Google Shape;188;p26"/>
            <p:cNvSpPr txBox="1"/>
            <p:nvPr/>
          </p:nvSpPr>
          <p:spPr>
            <a:xfrm>
              <a:off x="304800" y="209550"/>
              <a:ext cx="10058400" cy="628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60A5FA"/>
                  </a:solidFill>
                  <a:latin typeface="Inter"/>
                  <a:ea typeface="Inter"/>
                  <a:cs typeface="Inter"/>
                  <a:sym typeface="Inter"/>
                </a:rPr>
                <a:t>PERSONAL INTERESTS &amp; HOBBIES</a:t>
              </a:r>
              <a:endParaRPr b="1" sz="1100">
                <a:solidFill>
                  <a:srgbClr val="60A5F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-US" sz="1400">
                  <a:solidFill>
                    <a:srgbClr val="F8FAFC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🗣️ Learning Languages   •   📹 Watching Documentaries (People, Geography, etc.)</a:t>
              </a:r>
              <a:endParaRPr b="0" sz="1400">
                <a:solidFill>
                  <a:srgbClr val="F8FAFC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7"/>
          <p:cNvSpPr/>
          <p:nvPr/>
        </p:nvSpPr>
        <p:spPr>
          <a:xfrm>
            <a:off x="609600" y="5895975"/>
            <a:ext cx="10972800" cy="504825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27"/>
          <p:cNvSpPr/>
          <p:nvPr/>
        </p:nvSpPr>
        <p:spPr>
          <a:xfrm>
            <a:off x="609600" y="2424112"/>
            <a:ext cx="5334000" cy="2181225"/>
          </a:xfrm>
          <a:prstGeom prst="roundRect">
            <a:avLst>
              <a:gd fmla="val 5240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27"/>
          <p:cNvSpPr/>
          <p:nvPr/>
        </p:nvSpPr>
        <p:spPr>
          <a:xfrm>
            <a:off x="6248400" y="2424112"/>
            <a:ext cx="5334000" cy="2181225"/>
          </a:xfrm>
          <a:prstGeom prst="roundRect">
            <a:avLst>
              <a:gd fmla="val 5240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27"/>
          <p:cNvSpPr/>
          <p:nvPr/>
        </p:nvSpPr>
        <p:spPr>
          <a:xfrm>
            <a:off x="609600" y="5895975"/>
            <a:ext cx="38100" cy="504825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97" name="Google Shape;197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5825" y="2700337"/>
            <a:ext cx="4191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8" name="Google Shape;198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24625" y="2700337"/>
            <a:ext cx="4191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9" name="Google Shape;199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09650" y="2814637"/>
            <a:ext cx="1714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0" name="Google Shape;200;p2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615112" y="2814637"/>
            <a:ext cx="238125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27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563E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ACT 1: THE DATA OCEAN • 01</a:t>
            </a:r>
            <a:endParaRPr/>
          </a:p>
        </p:txBody>
      </p:sp>
      <p:sp>
        <p:nvSpPr>
          <p:cNvPr id="202" name="Google Shape;202;p27"/>
          <p:cNvSpPr txBox="1"/>
          <p:nvPr/>
        </p:nvSpPr>
        <p:spPr>
          <a:xfrm>
            <a:off x="609600" y="685800"/>
            <a:ext cx="11582400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The Brain: 86 Billion Soloists in One Orchestra</a:t>
            </a:r>
            <a:endParaRPr/>
          </a:p>
        </p:txBody>
      </p:sp>
      <p:sp>
        <p:nvSpPr>
          <p:cNvPr id="203" name="Google Shape;203;p27"/>
          <p:cNvSpPr txBox="1"/>
          <p:nvPr/>
        </p:nvSpPr>
        <p:spPr>
          <a:xfrm>
            <a:off x="876300" y="6048375"/>
            <a:ext cx="113157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E40AF"/>
                </a:solidFill>
                <a:latin typeface="Inter"/>
                <a:ea typeface="Inter"/>
                <a:cs typeface="Inter"/>
                <a:sym typeface="Inter"/>
              </a:rPr>
              <a:t>Our challenge isn't recording data — it is finding the hidden patterns buried inside it!</a:t>
            </a:r>
            <a:endParaRPr/>
          </a:p>
        </p:txBody>
      </p:sp>
      <p:sp>
        <p:nvSpPr>
          <p:cNvPr id="204" name="Google Shape;204;p27"/>
          <p:cNvSpPr txBox="1"/>
          <p:nvPr/>
        </p:nvSpPr>
        <p:spPr>
          <a:xfrm>
            <a:off x="885825" y="3271837"/>
            <a:ext cx="6275784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A Single Neuron is Noisy</a:t>
            </a:r>
            <a:endParaRPr/>
          </a:p>
        </p:txBody>
      </p:sp>
      <p:sp>
        <p:nvSpPr>
          <p:cNvPr id="205" name="Google Shape;205;p27"/>
          <p:cNvSpPr txBox="1"/>
          <p:nvPr/>
        </p:nvSpPr>
        <p:spPr>
          <a:xfrm>
            <a:off x="885825" y="3633787"/>
            <a:ext cx="5976937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One cell fires like crackling static on an old radio.</a:t>
            </a:r>
            <a:endParaRPr/>
          </a:p>
        </p:txBody>
      </p:sp>
      <p:sp>
        <p:nvSpPr>
          <p:cNvPr id="206" name="Google Shape;206;p27"/>
          <p:cNvSpPr txBox="1"/>
          <p:nvPr/>
        </p:nvSpPr>
        <p:spPr>
          <a:xfrm>
            <a:off x="885825" y="3929062"/>
            <a:ext cx="48768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Listening to just one cell cannot tell you what you are thinking or seeing.</a:t>
            </a:r>
            <a:endParaRPr/>
          </a:p>
        </p:txBody>
      </p:sp>
      <p:sp>
        <p:nvSpPr>
          <p:cNvPr id="207" name="Google Shape;207;p27"/>
          <p:cNvSpPr txBox="1"/>
          <p:nvPr/>
        </p:nvSpPr>
        <p:spPr>
          <a:xfrm>
            <a:off x="6524625" y="3271837"/>
            <a:ext cx="5667375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The Ensemble Creates Harmony</a:t>
            </a:r>
            <a:endParaRPr/>
          </a:p>
        </p:txBody>
      </p:sp>
      <p:sp>
        <p:nvSpPr>
          <p:cNvPr id="208" name="Google Shape;208;p27"/>
          <p:cNvSpPr txBox="1"/>
          <p:nvPr/>
        </p:nvSpPr>
        <p:spPr>
          <a:xfrm>
            <a:off x="6524625" y="3633787"/>
            <a:ext cx="566737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Like thousands of stadium fans doing the wave together.</a:t>
            </a:r>
            <a:endParaRPr/>
          </a:p>
        </p:txBody>
      </p:sp>
      <p:sp>
        <p:nvSpPr>
          <p:cNvPr id="209" name="Google Shape;209;p27"/>
          <p:cNvSpPr txBox="1"/>
          <p:nvPr/>
        </p:nvSpPr>
        <p:spPr>
          <a:xfrm>
            <a:off x="6524625" y="3929062"/>
            <a:ext cx="48768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Coordinated firing patterns combine into smooth thoughts and crystal-clear actions.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8"/>
          <p:cNvSpPr/>
          <p:nvPr/>
        </p:nvSpPr>
        <p:spPr>
          <a:xfrm>
            <a:off x="609600" y="2409825"/>
            <a:ext cx="3505200" cy="2286000"/>
          </a:xfrm>
          <a:prstGeom prst="roundRect">
            <a:avLst>
              <a:gd fmla="val 5000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28"/>
          <p:cNvSpPr/>
          <p:nvPr/>
        </p:nvSpPr>
        <p:spPr>
          <a:xfrm>
            <a:off x="4343400" y="2409825"/>
            <a:ext cx="3505200" cy="2286000"/>
          </a:xfrm>
          <a:prstGeom prst="roundRect">
            <a:avLst>
              <a:gd fmla="val 5000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28"/>
          <p:cNvSpPr/>
          <p:nvPr/>
        </p:nvSpPr>
        <p:spPr>
          <a:xfrm>
            <a:off x="8077200" y="2409825"/>
            <a:ext cx="3505200" cy="2286000"/>
          </a:xfrm>
          <a:prstGeom prst="roundRect">
            <a:avLst>
              <a:gd fmla="val 5000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17" name="Google Shape;217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66775" y="2667000"/>
            <a:ext cx="4191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8" name="Google Shape;218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00575" y="2667000"/>
            <a:ext cx="4191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9" name="Google Shape;219;p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334375" y="2667000"/>
            <a:ext cx="4191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0" name="Google Shape;220;p2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57262" y="2781300"/>
            <a:ext cx="23812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1" name="Google Shape;221;p2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714875" y="2781300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2" name="Google Shape;222;p2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434387" y="2781300"/>
            <a:ext cx="219075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28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563E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ACT 1: THE DATA OCEAN • 02</a:t>
            </a:r>
            <a:endParaRPr/>
          </a:p>
        </p:txBody>
      </p:sp>
      <p:sp>
        <p:nvSpPr>
          <p:cNvPr id="224" name="Google Shape;224;p28"/>
          <p:cNvSpPr txBox="1"/>
          <p:nvPr/>
        </p:nvSpPr>
        <p:spPr>
          <a:xfrm>
            <a:off x="609600" y="685800"/>
            <a:ext cx="11582400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Why Linear Algebra in Neuroscience? 💬</a:t>
            </a:r>
            <a:endParaRPr/>
          </a:p>
        </p:txBody>
      </p:sp>
      <p:sp>
        <p:nvSpPr>
          <p:cNvPr id="225" name="Google Shape;225;p28"/>
          <p:cNvSpPr txBox="1"/>
          <p:nvPr/>
        </p:nvSpPr>
        <p:spPr>
          <a:xfrm>
            <a:off x="866775" y="3219450"/>
            <a:ext cx="392549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1. A Universal Language</a:t>
            </a:r>
            <a:endParaRPr/>
          </a:p>
        </p:txBody>
      </p:sp>
      <p:sp>
        <p:nvSpPr>
          <p:cNvPr id="226" name="Google Shape;226;p28"/>
          <p:cNvSpPr txBox="1"/>
          <p:nvPr/>
        </p:nvSpPr>
        <p:spPr>
          <a:xfrm>
            <a:off x="866775" y="3562350"/>
            <a:ext cx="30861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Turns biological chaos into clean vectors and matrices.</a:t>
            </a:r>
            <a:endParaRPr/>
          </a:p>
        </p:txBody>
      </p:sp>
      <p:sp>
        <p:nvSpPr>
          <p:cNvPr id="227" name="Google Shape;227;p28"/>
          <p:cNvSpPr txBox="1"/>
          <p:nvPr/>
        </p:nvSpPr>
        <p:spPr>
          <a:xfrm>
            <a:off x="866775" y="4038600"/>
            <a:ext cx="30861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Stores 10,000 neurons in a single compact variable.</a:t>
            </a:r>
            <a:endParaRPr/>
          </a:p>
        </p:txBody>
      </p:sp>
      <p:sp>
        <p:nvSpPr>
          <p:cNvPr id="228" name="Google Shape;228;p28"/>
          <p:cNvSpPr txBox="1"/>
          <p:nvPr/>
        </p:nvSpPr>
        <p:spPr>
          <a:xfrm>
            <a:off x="4600575" y="3219450"/>
            <a:ext cx="392549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2. A Precision Microscope</a:t>
            </a:r>
            <a:endParaRPr/>
          </a:p>
        </p:txBody>
      </p:sp>
      <p:sp>
        <p:nvSpPr>
          <p:cNvPr id="229" name="Google Shape;229;p28"/>
          <p:cNvSpPr txBox="1"/>
          <p:nvPr/>
        </p:nvSpPr>
        <p:spPr>
          <a:xfrm>
            <a:off x="4600575" y="3562350"/>
            <a:ext cx="30861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Measures alignment, distances, and synchrony.</a:t>
            </a:r>
            <a:endParaRPr/>
          </a:p>
        </p:txBody>
      </p:sp>
      <p:sp>
        <p:nvSpPr>
          <p:cNvPr id="230" name="Google Shape;230;p28"/>
          <p:cNvSpPr txBox="1"/>
          <p:nvPr/>
        </p:nvSpPr>
        <p:spPr>
          <a:xfrm>
            <a:off x="4600575" y="4038600"/>
            <a:ext cx="30861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Tells us instantly if two neurons are working together.</a:t>
            </a:r>
            <a:endParaRPr/>
          </a:p>
        </p:txBody>
      </p:sp>
      <p:sp>
        <p:nvSpPr>
          <p:cNvPr id="231" name="Google Shape;231;p28"/>
          <p:cNvSpPr txBox="1"/>
          <p:nvPr/>
        </p:nvSpPr>
        <p:spPr>
          <a:xfrm>
            <a:off x="8334375" y="3219450"/>
            <a:ext cx="3857625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3. A High-D Telescope</a:t>
            </a:r>
            <a:endParaRPr/>
          </a:p>
        </p:txBody>
      </p:sp>
      <p:sp>
        <p:nvSpPr>
          <p:cNvPr id="232" name="Google Shape;232;p28"/>
          <p:cNvSpPr txBox="1"/>
          <p:nvPr/>
        </p:nvSpPr>
        <p:spPr>
          <a:xfrm>
            <a:off x="8334375" y="3562350"/>
            <a:ext cx="30861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Cuts through the "Curse of Dimensionality".</a:t>
            </a:r>
            <a:endParaRPr/>
          </a:p>
        </p:txBody>
      </p:sp>
      <p:sp>
        <p:nvSpPr>
          <p:cNvPr id="233" name="Google Shape;233;p28"/>
          <p:cNvSpPr txBox="1"/>
          <p:nvPr/>
        </p:nvSpPr>
        <p:spPr>
          <a:xfrm>
            <a:off x="8334375" y="4038600"/>
            <a:ext cx="30861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Uncovers simple 2D shapes hiding inside 1,000D spaces.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9"/>
          <p:cNvSpPr/>
          <p:nvPr/>
        </p:nvSpPr>
        <p:spPr>
          <a:xfrm>
            <a:off x="609600" y="5934075"/>
            <a:ext cx="10972800" cy="466725"/>
          </a:xfrm>
          <a:prstGeom prst="roundRect">
            <a:avLst>
              <a:gd fmla="val 16326" name="adj"/>
            </a:avLst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29"/>
          <p:cNvSpPr/>
          <p:nvPr/>
        </p:nvSpPr>
        <p:spPr>
          <a:xfrm>
            <a:off x="609600" y="2400300"/>
            <a:ext cx="3505200" cy="2171700"/>
          </a:xfrm>
          <a:prstGeom prst="roundRect">
            <a:avLst>
              <a:gd fmla="val 5607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29"/>
          <p:cNvSpPr/>
          <p:nvPr/>
        </p:nvSpPr>
        <p:spPr>
          <a:xfrm>
            <a:off x="4343400" y="2400300"/>
            <a:ext cx="3505200" cy="2305050"/>
          </a:xfrm>
          <a:prstGeom prst="roundRect">
            <a:avLst>
              <a:gd fmla="val 4958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29"/>
          <p:cNvSpPr/>
          <p:nvPr/>
        </p:nvSpPr>
        <p:spPr>
          <a:xfrm>
            <a:off x="8077200" y="2433637"/>
            <a:ext cx="3505200" cy="2238375"/>
          </a:xfrm>
          <a:prstGeom prst="roundRect">
            <a:avLst>
              <a:gd fmla="val 5106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29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563E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ACT 1: THE DATA OCEAN • 03</a:t>
            </a:r>
            <a:endParaRPr/>
          </a:p>
        </p:txBody>
      </p:sp>
      <p:sp>
        <p:nvSpPr>
          <p:cNvPr id="243" name="Google Shape;243;p29"/>
          <p:cNvSpPr txBox="1"/>
          <p:nvPr/>
        </p:nvSpPr>
        <p:spPr>
          <a:xfrm>
            <a:off x="609600" y="685800"/>
            <a:ext cx="11582400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Real-World Superpowers: What Brain Math Unlocks</a:t>
            </a:r>
            <a:endParaRPr/>
          </a:p>
        </p:txBody>
      </p:sp>
      <p:sp>
        <p:nvSpPr>
          <p:cNvPr id="244" name="Google Shape;244;p29"/>
          <p:cNvSpPr txBox="1"/>
          <p:nvPr/>
        </p:nvSpPr>
        <p:spPr>
          <a:xfrm>
            <a:off x="857250" y="2781300"/>
            <a:ext cx="3105150" cy="1543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SUPERPOWER #1</a:t>
            </a:r>
            <a:endParaRPr/>
          </a:p>
        </p:txBody>
      </p:sp>
      <p:sp>
        <p:nvSpPr>
          <p:cNvPr id="245" name="Google Shape;245;p29"/>
          <p:cNvSpPr txBox="1"/>
          <p:nvPr/>
        </p:nvSpPr>
        <p:spPr>
          <a:xfrm>
            <a:off x="4591050" y="2647950"/>
            <a:ext cx="3105150" cy="1809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59669"/>
                </a:solidFill>
                <a:latin typeface="Inter"/>
                <a:ea typeface="Inter"/>
                <a:cs typeface="Inter"/>
                <a:sym typeface="Inter"/>
              </a:rPr>
              <a:t>SUPERPOWER #2</a:t>
            </a:r>
            <a:endParaRPr/>
          </a:p>
        </p:txBody>
      </p:sp>
      <p:sp>
        <p:nvSpPr>
          <p:cNvPr id="246" name="Google Shape;246;p29"/>
          <p:cNvSpPr txBox="1"/>
          <p:nvPr/>
        </p:nvSpPr>
        <p:spPr>
          <a:xfrm>
            <a:off x="8324850" y="2681287"/>
            <a:ext cx="3105150" cy="1743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7C3AED"/>
                </a:solidFill>
                <a:latin typeface="Inter"/>
                <a:ea typeface="Inter"/>
                <a:cs typeface="Inter"/>
                <a:sym typeface="Inter"/>
              </a:rPr>
              <a:t>SUPERPOWER #3</a:t>
            </a:r>
            <a:endParaRPr/>
          </a:p>
        </p:txBody>
      </p:sp>
      <p:sp>
        <p:nvSpPr>
          <p:cNvPr id="247" name="Google Shape;247;p29"/>
          <p:cNvSpPr txBox="1"/>
          <p:nvPr/>
        </p:nvSpPr>
        <p:spPr>
          <a:xfrm>
            <a:off x="-261937" y="6067425"/>
            <a:ext cx="1271587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Before we can read the brain's code, we need to understand what the data looks like!</a:t>
            </a:r>
            <a:endParaRPr/>
          </a:p>
        </p:txBody>
      </p:sp>
      <p:sp>
        <p:nvSpPr>
          <p:cNvPr id="248" name="Google Shape;248;p29"/>
          <p:cNvSpPr txBox="1"/>
          <p:nvPr/>
        </p:nvSpPr>
        <p:spPr>
          <a:xfrm>
            <a:off x="866775" y="3076575"/>
            <a:ext cx="392549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Mind-Controlled Robotics</a:t>
            </a:r>
            <a:endParaRPr/>
          </a:p>
        </p:txBody>
      </p:sp>
      <p:sp>
        <p:nvSpPr>
          <p:cNvPr id="249" name="Google Shape;249;p29"/>
          <p:cNvSpPr txBox="1"/>
          <p:nvPr/>
        </p:nvSpPr>
        <p:spPr>
          <a:xfrm>
            <a:off x="866775" y="3419475"/>
            <a:ext cx="30861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Paralyzed patients moving robotic arms just by thinking.</a:t>
            </a:r>
            <a:endParaRPr/>
          </a:p>
        </p:txBody>
      </p:sp>
      <p:sp>
        <p:nvSpPr>
          <p:cNvPr id="250" name="Google Shape;250;p29"/>
          <p:cNvSpPr txBox="1"/>
          <p:nvPr/>
        </p:nvSpPr>
        <p:spPr>
          <a:xfrm>
            <a:off x="866775" y="3914775"/>
            <a:ext cx="30861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Dot products and matrix projections translate intent into motion!</a:t>
            </a:r>
            <a:endParaRPr/>
          </a:p>
        </p:txBody>
      </p:sp>
      <p:sp>
        <p:nvSpPr>
          <p:cNvPr id="251" name="Google Shape;251;p29"/>
          <p:cNvSpPr txBox="1"/>
          <p:nvPr/>
        </p:nvSpPr>
        <p:spPr>
          <a:xfrm>
            <a:off x="4600575" y="2943225"/>
            <a:ext cx="3240405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Reconstructing Dreams &amp; Vision</a:t>
            </a:r>
            <a:endParaRPr/>
          </a:p>
        </p:txBody>
      </p:sp>
      <p:sp>
        <p:nvSpPr>
          <p:cNvPr id="252" name="Google Shape;252;p29"/>
          <p:cNvSpPr txBox="1"/>
          <p:nvPr/>
        </p:nvSpPr>
        <p:spPr>
          <a:xfrm>
            <a:off x="4552950" y="3314700"/>
            <a:ext cx="30861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Rebuilding images you look at from fMRI brain scans.</a:t>
            </a:r>
            <a:endParaRPr/>
          </a:p>
        </p:txBody>
      </p:sp>
      <p:sp>
        <p:nvSpPr>
          <p:cNvPr id="253" name="Google Shape;253;p29"/>
          <p:cNvSpPr txBox="1"/>
          <p:nvPr/>
        </p:nvSpPr>
        <p:spPr>
          <a:xfrm>
            <a:off x="4600575" y="4048125"/>
            <a:ext cx="30861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Linear regression maps voxel patterns back to visual pixels.</a:t>
            </a:r>
            <a:endParaRPr/>
          </a:p>
        </p:txBody>
      </p:sp>
      <p:sp>
        <p:nvSpPr>
          <p:cNvPr id="254" name="Google Shape;254;p29"/>
          <p:cNvSpPr txBox="1"/>
          <p:nvPr/>
        </p:nvSpPr>
        <p:spPr>
          <a:xfrm>
            <a:off x="8334375" y="2976562"/>
            <a:ext cx="3857625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Next-Gen AI Architectures</a:t>
            </a:r>
            <a:endParaRPr/>
          </a:p>
        </p:txBody>
      </p:sp>
      <p:sp>
        <p:nvSpPr>
          <p:cNvPr id="255" name="Google Shape;255;p29"/>
          <p:cNvSpPr txBox="1"/>
          <p:nvPr/>
        </p:nvSpPr>
        <p:spPr>
          <a:xfrm>
            <a:off x="8334375" y="3319462"/>
            <a:ext cx="30861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Building AI that thinks more like biological neural circuits.</a:t>
            </a:r>
            <a:endParaRPr/>
          </a:p>
        </p:txBody>
      </p:sp>
      <p:sp>
        <p:nvSpPr>
          <p:cNvPr id="256" name="Google Shape;256;p29"/>
          <p:cNvSpPr txBox="1"/>
          <p:nvPr/>
        </p:nvSpPr>
        <p:spPr>
          <a:xfrm>
            <a:off x="8334375" y="3814762"/>
            <a:ext cx="3086100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Modern AI transformers and state-space models borrow directly from brain math.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30"/>
          <p:cNvSpPr/>
          <p:nvPr/>
        </p:nvSpPr>
        <p:spPr>
          <a:xfrm>
            <a:off x="609600" y="5972175"/>
            <a:ext cx="10972800" cy="428625"/>
          </a:xfrm>
          <a:prstGeom prst="roundRect">
            <a:avLst>
              <a:gd fmla="val 17777" name="adj"/>
            </a:avLst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62" name="Google Shape;262;p30"/>
          <p:cNvGraphicFramePr/>
          <p:nvPr/>
        </p:nvGraphicFramePr>
        <p:xfrm>
          <a:off x="609600" y="2190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{8BF32FAD-5FC6-475A-90FC-75AD4E81BC82}</a:tableStyleId>
              </a:tblPr>
              <a:tblGrid>
                <a:gridCol w="2125575"/>
                <a:gridCol w="3119575"/>
                <a:gridCol w="2981775"/>
                <a:gridCol w="2745875"/>
              </a:tblGrid>
              <a:tr h="460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0F172A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Data Type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0F172A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Biological Origin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0F172A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Math Format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0F172A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Scale &amp; Resolution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460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2563E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1. Membrane Voltage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Ion channels opening &amp; closing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0F172A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1D Continuous Series (mV)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 Cell • Sub-millisecond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60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2563E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2. Spike Trains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All-or-none action potentials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0F172A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Binary vector {0, 1}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1–100 Cells • 1 ms bins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AFA"/>
                    </a:solidFill>
                  </a:tcPr>
                </a:tc>
              </a:tr>
              <a:tr h="460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2563E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3. Firing Rates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Spike frequency over time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0F172A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Smooth rates r(t) in Hz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Single cells &amp; clusters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60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2563E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4. Population Activity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Massive multi-electrode arrays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0F172A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State Vector v(t) ∈ ℝ^N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100–10,000 Cells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AFA"/>
                    </a:solidFill>
                  </a:tcPr>
                </a:tc>
              </a:tr>
              <a:tr h="460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2563E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5. EEG &amp; fMRI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Scalp voltage dipoles / Blood flow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0F172A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Matrix / 3D Tensor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Millions of cells / Whole Brain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63" name="Google Shape;263;p30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563E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ACT 2: THE NEURAL ZOO • 04</a:t>
            </a:r>
            <a:endParaRPr/>
          </a:p>
        </p:txBody>
      </p:sp>
      <p:sp>
        <p:nvSpPr>
          <p:cNvPr id="264" name="Google Shape;264;p30"/>
          <p:cNvSpPr txBox="1"/>
          <p:nvPr/>
        </p:nvSpPr>
        <p:spPr>
          <a:xfrm>
            <a:off x="609600" y="685800"/>
            <a:ext cx="11582400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The 5 Neural Data Types: From Micro to Macro</a:t>
            </a:r>
            <a:endParaRPr/>
          </a:p>
        </p:txBody>
      </p:sp>
      <p:sp>
        <p:nvSpPr>
          <p:cNvPr id="265" name="Google Shape;265;p30"/>
          <p:cNvSpPr txBox="1"/>
          <p:nvPr/>
        </p:nvSpPr>
        <p:spPr>
          <a:xfrm>
            <a:off x="-261937" y="6086475"/>
            <a:ext cx="1271587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Let's zoom into each data type with clear mathematical definitions and notation guides!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31"/>
          <p:cNvSpPr/>
          <p:nvPr/>
        </p:nvSpPr>
        <p:spPr>
          <a:xfrm>
            <a:off x="609600" y="2071687"/>
            <a:ext cx="5102721" cy="3524250"/>
          </a:xfrm>
          <a:prstGeom prst="roundRect">
            <a:avLst>
              <a:gd fmla="val 3243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31"/>
          <p:cNvSpPr/>
          <p:nvPr/>
        </p:nvSpPr>
        <p:spPr>
          <a:xfrm>
            <a:off x="6017121" y="2557462"/>
            <a:ext cx="5565278" cy="2552700"/>
          </a:xfrm>
          <a:prstGeom prst="roundRect">
            <a:avLst>
              <a:gd fmla="val 4477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31"/>
          <p:cNvSpPr/>
          <p:nvPr/>
        </p:nvSpPr>
        <p:spPr>
          <a:xfrm>
            <a:off x="847725" y="3986212"/>
            <a:ext cx="4626471" cy="1371600"/>
          </a:xfrm>
          <a:prstGeom prst="roundRect">
            <a:avLst>
              <a:gd fmla="val 5555" name="adj"/>
            </a:avLst>
          </a:prstGeom>
          <a:solidFill>
            <a:srgbClr val="EFF6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73" name="Google Shape;273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55246" y="3043237"/>
            <a:ext cx="5089028" cy="133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31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563E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ACT 2: THE NEURAL ZOO • 05</a:t>
            </a:r>
            <a:endParaRPr/>
          </a:p>
        </p:txBody>
      </p:sp>
      <p:sp>
        <p:nvSpPr>
          <p:cNvPr id="275" name="Google Shape;275;p31"/>
          <p:cNvSpPr txBox="1"/>
          <p:nvPr/>
        </p:nvSpPr>
        <p:spPr>
          <a:xfrm>
            <a:off x="609600" y="685800"/>
            <a:ext cx="11582400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Data Type 1: Membrane Voltage (V_m) — The Living Battery</a:t>
            </a:r>
            <a:endParaRPr/>
          </a:p>
        </p:txBody>
      </p:sp>
      <p:sp>
        <p:nvSpPr>
          <p:cNvPr id="276" name="Google Shape;276;p31"/>
          <p:cNvSpPr txBox="1"/>
          <p:nvPr/>
        </p:nvSpPr>
        <p:spPr>
          <a:xfrm>
            <a:off x="838200" y="2300287"/>
            <a:ext cx="4740771" cy="3067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THE BIOLOGY: TINY BATTERY</a:t>
            </a:r>
            <a:endParaRPr/>
          </a:p>
        </p:txBody>
      </p:sp>
      <p:sp>
        <p:nvSpPr>
          <p:cNvPr id="277" name="Google Shape;277;p31"/>
          <p:cNvSpPr txBox="1"/>
          <p:nvPr/>
        </p:nvSpPr>
        <p:spPr>
          <a:xfrm>
            <a:off x="847725" y="2576512"/>
            <a:ext cx="6072243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Inside vs. Outside</a:t>
            </a:r>
            <a:endParaRPr/>
          </a:p>
        </p:txBody>
      </p:sp>
      <p:sp>
        <p:nvSpPr>
          <p:cNvPr id="278" name="Google Shape;278;p31"/>
          <p:cNvSpPr txBox="1"/>
          <p:nvPr/>
        </p:nvSpPr>
        <p:spPr>
          <a:xfrm>
            <a:off x="847725" y="2919412"/>
            <a:ext cx="4721721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 neuron's cell membrane pumps charged ions (Na⁺ and K⁺) back and forth.</a:t>
            </a:r>
            <a:endParaRPr/>
          </a:p>
        </p:txBody>
      </p:sp>
      <p:sp>
        <p:nvSpPr>
          <p:cNvPr id="279" name="Google Shape;279;p31"/>
          <p:cNvSpPr txBox="1"/>
          <p:nvPr/>
        </p:nvSpPr>
        <p:spPr>
          <a:xfrm>
            <a:off x="847725" y="3471862"/>
            <a:ext cx="4721721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At rest, it sits at </a:t>
            </a:r>
            <a:r>
              <a:rPr b="1" i="0" lang="en-US" sz="13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-70 millivolts</a:t>
            </a:r>
            <a:r>
              <a:rPr b="0" i="0" lang="en-US" sz="13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. When excited, voltage swings up to </a:t>
            </a:r>
            <a:r>
              <a:rPr b="1" i="0" lang="en-US" sz="13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+30 millivolts</a:t>
            </a:r>
            <a:r>
              <a:rPr b="0" i="0" lang="en-US" sz="13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!</a:t>
            </a:r>
            <a:endParaRPr/>
          </a:p>
        </p:txBody>
      </p:sp>
      <p:sp>
        <p:nvSpPr>
          <p:cNvPr id="280" name="Google Shape;280;p31"/>
          <p:cNvSpPr txBox="1"/>
          <p:nvPr/>
        </p:nvSpPr>
        <p:spPr>
          <a:xfrm>
            <a:off x="6255246" y="4471987"/>
            <a:ext cx="5184278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Key takeaway: Membrane voltage is analog — it rises smoothly until it hits the firing threshold!</a:t>
            </a:r>
            <a:endParaRPr/>
          </a:p>
        </p:txBody>
      </p:sp>
      <p:sp>
        <p:nvSpPr>
          <p:cNvPr id="281" name="Google Shape;281;p31"/>
          <p:cNvSpPr txBox="1"/>
          <p:nvPr/>
        </p:nvSpPr>
        <p:spPr>
          <a:xfrm>
            <a:off x="1000125" y="4100512"/>
            <a:ext cx="5402088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D4ED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x = [v(t₁), v(t₂), v(t₃), ... v(t_T)]</a:t>
            </a:r>
            <a:endParaRPr/>
          </a:p>
        </p:txBody>
      </p:sp>
      <p:sp>
        <p:nvSpPr>
          <p:cNvPr id="282" name="Google Shape;282;p31"/>
          <p:cNvSpPr txBox="1"/>
          <p:nvPr/>
        </p:nvSpPr>
        <p:spPr>
          <a:xfrm>
            <a:off x="1000125" y="4386262"/>
            <a:ext cx="4416921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37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1E3A8A"/>
                </a:solidFill>
                <a:latin typeface="Inter"/>
                <a:ea typeface="Inter"/>
                <a:cs typeface="Inter"/>
                <a:sym typeface="Inter"/>
              </a:rPr>
              <a:t>Where: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125" u="none" cap="none" strike="noStrike">
                <a:solidFill>
                  <a:srgbClr val="1E3A8A"/>
                </a:solidFill>
                <a:latin typeface="Inter"/>
                <a:ea typeface="Inter"/>
                <a:cs typeface="Inter"/>
                <a:sym typeface="Inter"/>
              </a:rPr>
              <a:t> • </a:t>
            </a:r>
            <a:r>
              <a:rPr b="1" i="0" lang="en-US" sz="1125" u="none" cap="none" strike="noStrike">
                <a:solidFill>
                  <a:srgbClr val="1E3A8A"/>
                </a:solidFill>
                <a:latin typeface="Inter"/>
                <a:ea typeface="Inter"/>
                <a:cs typeface="Inter"/>
                <a:sym typeface="Inter"/>
              </a:rPr>
              <a:t>x</a:t>
            </a:r>
            <a:r>
              <a:rPr b="0" i="0" lang="en-US" sz="1125" u="none" cap="none" strike="noStrike">
                <a:solidFill>
                  <a:srgbClr val="1E3A8A"/>
                </a:solidFill>
                <a:latin typeface="Inter"/>
                <a:ea typeface="Inter"/>
                <a:cs typeface="Inter"/>
                <a:sym typeface="Inter"/>
              </a:rPr>
              <a:t> is the continuous 1D voltage vector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125" u="none" cap="none" strike="noStrike">
                <a:solidFill>
                  <a:srgbClr val="1E3A8A"/>
                </a:solidFill>
                <a:latin typeface="Inter"/>
                <a:ea typeface="Inter"/>
                <a:cs typeface="Inter"/>
                <a:sym typeface="Inter"/>
              </a:rPr>
              <a:t> • </a:t>
            </a:r>
            <a:r>
              <a:rPr b="1" i="0" lang="en-US" sz="1125" u="none" cap="none" strike="noStrike">
                <a:solidFill>
                  <a:srgbClr val="1E3A8A"/>
                </a:solidFill>
                <a:latin typeface="Inter"/>
                <a:ea typeface="Inter"/>
                <a:cs typeface="Inter"/>
                <a:sym typeface="Inter"/>
              </a:rPr>
              <a:t>v(tᵢ)</a:t>
            </a:r>
            <a:r>
              <a:rPr b="0" i="0" lang="en-US" sz="1125" u="none" cap="none" strike="noStrike">
                <a:solidFill>
                  <a:srgbClr val="1E3A8A"/>
                </a:solidFill>
                <a:latin typeface="Inter"/>
                <a:ea typeface="Inter"/>
                <a:cs typeface="Inter"/>
                <a:sym typeface="Inter"/>
              </a:rPr>
              <a:t> is the membrane potential at millisecond time step tᵢ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125" u="none" cap="none" strike="noStrike">
                <a:solidFill>
                  <a:srgbClr val="1E3A8A"/>
                </a:solidFill>
                <a:latin typeface="Inter"/>
                <a:ea typeface="Inter"/>
                <a:cs typeface="Inter"/>
                <a:sym typeface="Inter"/>
              </a:rPr>
              <a:t> • </a:t>
            </a:r>
            <a:r>
              <a:rPr b="1" i="0" lang="en-US" sz="1125" u="none" cap="none" strike="noStrike">
                <a:solidFill>
                  <a:srgbClr val="1E3A8A"/>
                </a:solidFill>
                <a:latin typeface="Inter"/>
                <a:ea typeface="Inter"/>
                <a:cs typeface="Inter"/>
                <a:sym typeface="Inter"/>
              </a:rPr>
              <a:t>mV</a:t>
            </a:r>
            <a:r>
              <a:rPr b="0" i="0" lang="en-US" sz="1125" u="none" cap="none" strike="noStrike">
                <a:solidFill>
                  <a:srgbClr val="1E3A8A"/>
                </a:solidFill>
                <a:latin typeface="Inter"/>
                <a:ea typeface="Inter"/>
                <a:cs typeface="Inter"/>
                <a:sym typeface="Inter"/>
              </a:rPr>
              <a:t> is millivolts (-70 mV resting up to +30 mV peak)</a:t>
            </a:r>
            <a:endParaRPr/>
          </a:p>
        </p:txBody>
      </p:sp>
      <p:sp>
        <p:nvSpPr>
          <p:cNvPr id="283" name="Google Shape;283;p31"/>
          <p:cNvSpPr txBox="1"/>
          <p:nvPr/>
        </p:nvSpPr>
        <p:spPr>
          <a:xfrm>
            <a:off x="6255246" y="2795587"/>
            <a:ext cx="2667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563E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VOLTAGE TRACE (mV over Time)</a:t>
            </a:r>
            <a:endParaRPr/>
          </a:p>
        </p:txBody>
      </p:sp>
      <p:sp>
        <p:nvSpPr>
          <p:cNvPr id="284" name="Google Shape;284;p31"/>
          <p:cNvSpPr txBox="1"/>
          <p:nvPr/>
        </p:nvSpPr>
        <p:spPr>
          <a:xfrm>
            <a:off x="9848850" y="2800350"/>
            <a:ext cx="1869281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Patch-Clamp Recording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32"/>
          <p:cNvSpPr/>
          <p:nvPr/>
        </p:nvSpPr>
        <p:spPr>
          <a:xfrm>
            <a:off x="36375" y="2233618"/>
            <a:ext cx="5111700" cy="3176700"/>
          </a:xfrm>
          <a:prstGeom prst="roundRect">
            <a:avLst>
              <a:gd fmla="val 3598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32"/>
          <p:cNvSpPr/>
          <p:nvPr/>
        </p:nvSpPr>
        <p:spPr>
          <a:xfrm>
            <a:off x="5543500" y="2039550"/>
            <a:ext cx="6567000" cy="3588600"/>
          </a:xfrm>
          <a:prstGeom prst="roundRect">
            <a:avLst>
              <a:gd fmla="val 3185" name="adj"/>
            </a:avLst>
          </a:prstGeom>
          <a:solidFill>
            <a:srgbClr val="0F17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32"/>
          <p:cNvSpPr/>
          <p:nvPr/>
        </p:nvSpPr>
        <p:spPr>
          <a:xfrm>
            <a:off x="287775" y="3588550"/>
            <a:ext cx="4860300" cy="1595400"/>
          </a:xfrm>
          <a:prstGeom prst="roundRect">
            <a:avLst>
              <a:gd fmla="val 4776" name="adj"/>
            </a:avLst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32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563E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ACT 2: THE NEURAL ZOO • 06</a:t>
            </a:r>
            <a:endParaRPr/>
          </a:p>
        </p:txBody>
      </p:sp>
      <p:sp>
        <p:nvSpPr>
          <p:cNvPr id="293" name="Google Shape;293;p32"/>
          <p:cNvSpPr txBox="1"/>
          <p:nvPr/>
        </p:nvSpPr>
        <p:spPr>
          <a:xfrm>
            <a:off x="609600" y="685800"/>
            <a:ext cx="11582400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Data Type 2: Spike Trains — The Brain's Morse Code</a:t>
            </a:r>
            <a:endParaRPr/>
          </a:p>
        </p:txBody>
      </p:sp>
      <p:sp>
        <p:nvSpPr>
          <p:cNvPr id="294" name="Google Shape;294;p32"/>
          <p:cNvSpPr txBox="1"/>
          <p:nvPr/>
        </p:nvSpPr>
        <p:spPr>
          <a:xfrm>
            <a:off x="287775" y="2474125"/>
            <a:ext cx="53004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DC2626"/>
                </a:solidFill>
                <a:latin typeface="Inter"/>
                <a:ea typeface="Inter"/>
                <a:cs typeface="Inter"/>
                <a:sym typeface="Inter"/>
              </a:rPr>
              <a:t>THE ALL-OR-NONE RULE</a:t>
            </a:r>
            <a:endParaRPr/>
          </a:p>
        </p:txBody>
      </p:sp>
      <p:sp>
        <p:nvSpPr>
          <p:cNvPr id="295" name="Google Shape;295;p32"/>
          <p:cNvSpPr txBox="1"/>
          <p:nvPr/>
        </p:nvSpPr>
        <p:spPr>
          <a:xfrm>
            <a:off x="530500" y="2758568"/>
            <a:ext cx="60843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Binary Spikes (0s &amp; 1s)</a:t>
            </a:r>
            <a:endParaRPr/>
          </a:p>
        </p:txBody>
      </p:sp>
      <p:sp>
        <p:nvSpPr>
          <p:cNvPr id="296" name="Google Shape;296;p32"/>
          <p:cNvSpPr txBox="1"/>
          <p:nvPr/>
        </p:nvSpPr>
        <p:spPr>
          <a:xfrm>
            <a:off x="488600" y="3148018"/>
            <a:ext cx="47307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 neuron doesn't fire "halfway" — it either fires at 100% or stays quiet.</a:t>
            </a:r>
            <a:endParaRPr/>
          </a:p>
        </p:txBody>
      </p:sp>
      <p:sp>
        <p:nvSpPr>
          <p:cNvPr id="297" name="Google Shape;297;p32"/>
          <p:cNvSpPr txBox="1"/>
          <p:nvPr/>
        </p:nvSpPr>
        <p:spPr>
          <a:xfrm>
            <a:off x="5736875" y="2553900"/>
            <a:ext cx="6333000" cy="200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F8FA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Neuron 1: | . . | . . . | . . → </a:t>
            </a:r>
            <a:r>
              <a:rPr b="0" i="0" lang="en-US" sz="1275" u="none" cap="none" strike="noStrike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[1, 0, 0, 1, 0, 0, 0, 1, 0, 0]</a:t>
            </a:r>
            <a:endParaRPr b="0" i="0" sz="1275" u="none" cap="none" strike="noStrike">
              <a:solidFill>
                <a:srgbClr val="38BDF8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marR="0" rtl="0" algn="l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75" u="none" cap="none" strike="noStrike">
                <a:solidFill>
                  <a:srgbClr val="F8FA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Neuron 2: . . | . . | . . . | → </a:t>
            </a:r>
            <a:r>
              <a:rPr b="0" i="0" lang="en-US" sz="1275" u="none" cap="none" strike="noStrike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[0, 0, 1, 0, 0, 1, 0, 0, 0, 1]</a:t>
            </a:r>
            <a:endParaRPr b="0" i="0" sz="1275" u="none" cap="none" strike="noStrike">
              <a:solidFill>
                <a:srgbClr val="38BDF8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marR="0" rtl="0" algn="l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75" u="none" cap="none" strike="noStrike">
                <a:solidFill>
                  <a:srgbClr val="F8FA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Neuron 3: . | . . | . | . . . → </a:t>
            </a:r>
            <a:r>
              <a:rPr b="0" i="0" lang="en-US" sz="1275" u="none" cap="none" strike="noStrike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[0, 1, 0, 0, 1, 0, 1, 0, 0, 0]</a:t>
            </a:r>
            <a:endParaRPr b="0" i="0" sz="1275" u="none" cap="none" strike="noStrike">
              <a:solidFill>
                <a:srgbClr val="38BDF8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marR="0" rtl="0" algn="l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75" u="none" cap="none" strike="noStrike">
                <a:solidFill>
                  <a:srgbClr val="F8FA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Neuron 4: | | . . . | . . | . → </a:t>
            </a:r>
            <a:r>
              <a:rPr b="0" i="0" lang="en-US" sz="1275" u="none" cap="none" strike="noStrike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[1, 1, 0, 0, 0, 1, 0, 0, 1, 0]</a:t>
            </a:r>
            <a:endParaRPr/>
          </a:p>
        </p:txBody>
      </p:sp>
      <p:sp>
        <p:nvSpPr>
          <p:cNvPr id="298" name="Google Shape;298;p32"/>
          <p:cNvSpPr txBox="1"/>
          <p:nvPr/>
        </p:nvSpPr>
        <p:spPr>
          <a:xfrm>
            <a:off x="6306249" y="4871784"/>
            <a:ext cx="5194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Each tick mark '|' is an electrical action potential recorded on a silicon electrode.</a:t>
            </a:r>
            <a:endParaRPr/>
          </a:p>
        </p:txBody>
      </p:sp>
      <p:sp>
        <p:nvSpPr>
          <p:cNvPr id="299" name="Google Shape;299;p32"/>
          <p:cNvSpPr txBox="1"/>
          <p:nvPr/>
        </p:nvSpPr>
        <p:spPr>
          <a:xfrm>
            <a:off x="571925" y="3785718"/>
            <a:ext cx="54135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 = [s₁, s₂, s₃, ... s_T] ∈ {0, 1}^T</a:t>
            </a:r>
            <a:endParaRPr/>
          </a:p>
        </p:txBody>
      </p:sp>
      <p:sp>
        <p:nvSpPr>
          <p:cNvPr id="300" name="Google Shape;300;p32"/>
          <p:cNvSpPr txBox="1"/>
          <p:nvPr/>
        </p:nvSpPr>
        <p:spPr>
          <a:xfrm>
            <a:off x="530500" y="4060268"/>
            <a:ext cx="4425900" cy="8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37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Where: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1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• </a:t>
            </a:r>
            <a:r>
              <a:rPr b="1" i="0" lang="en-US" sz="11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</a:t>
            </a:r>
            <a:r>
              <a:rPr b="0" i="0" lang="en-US" sz="11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is the binary spike train vector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1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• </a:t>
            </a:r>
            <a:r>
              <a:rPr b="1" i="0" lang="en-US" sz="11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sᵢ = 1</a:t>
            </a:r>
            <a:r>
              <a:rPr b="0" i="0" lang="en-US" sz="11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represents an action potential spike fired in bin i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1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• </a:t>
            </a:r>
            <a:r>
              <a:rPr b="1" i="0" lang="en-US" sz="11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sᵢ = 0</a:t>
            </a:r>
            <a:r>
              <a:rPr b="0" i="0" lang="en-US" sz="11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represents silence (no spike in that 1 ms bin)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1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• </a:t>
            </a:r>
            <a:r>
              <a:rPr b="1" i="0" lang="en-US" sz="11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T</a:t>
            </a:r>
            <a:r>
              <a:rPr b="0" i="0" lang="en-US" sz="11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is the total number of 1-millisecond time bins</a:t>
            </a:r>
            <a:endParaRPr/>
          </a:p>
        </p:txBody>
      </p:sp>
      <p:sp>
        <p:nvSpPr>
          <p:cNvPr id="301" name="Google Shape;301;p32"/>
          <p:cNvSpPr txBox="1"/>
          <p:nvPr/>
        </p:nvSpPr>
        <p:spPr>
          <a:xfrm>
            <a:off x="6254799" y="2268140"/>
            <a:ext cx="16192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SPIKE RASTER PLOT</a:t>
            </a:r>
            <a:endParaRPr/>
          </a:p>
        </p:txBody>
      </p:sp>
      <p:sp>
        <p:nvSpPr>
          <p:cNvPr id="302" name="Google Shape;302;p32"/>
          <p:cNvSpPr txBox="1"/>
          <p:nvPr/>
        </p:nvSpPr>
        <p:spPr>
          <a:xfrm>
            <a:off x="9991725" y="2272903"/>
            <a:ext cx="1702593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4 Neurons over 10 ms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33"/>
          <p:cNvSpPr/>
          <p:nvPr/>
        </p:nvSpPr>
        <p:spPr>
          <a:xfrm>
            <a:off x="609600" y="2245518"/>
            <a:ext cx="5102721" cy="3176587"/>
          </a:xfrm>
          <a:prstGeom prst="roundRect">
            <a:avLst>
              <a:gd fmla="val 3598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33"/>
          <p:cNvSpPr/>
          <p:nvPr/>
        </p:nvSpPr>
        <p:spPr>
          <a:xfrm>
            <a:off x="6017121" y="2728912"/>
            <a:ext cx="5565278" cy="2209800"/>
          </a:xfrm>
          <a:prstGeom prst="roundRect">
            <a:avLst>
              <a:gd fmla="val 5172" name="adj"/>
            </a:avLst>
          </a:prstGeom>
          <a:solidFill>
            <a:srgbClr val="EFF6FF"/>
          </a:solidFill>
          <a:ln cap="flat" cmpd="sng" w="9525">
            <a:solidFill>
              <a:srgbClr val="BFDB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33"/>
          <p:cNvSpPr/>
          <p:nvPr/>
        </p:nvSpPr>
        <p:spPr>
          <a:xfrm>
            <a:off x="847725" y="3588543"/>
            <a:ext cx="4626471" cy="1595437"/>
          </a:xfrm>
          <a:prstGeom prst="roundRect">
            <a:avLst>
              <a:gd fmla="val 4776" name="adj"/>
            </a:avLst>
          </a:prstGeom>
          <a:solidFill>
            <a:srgbClr val="ECFDF5"/>
          </a:solidFill>
          <a:ln cap="flat" cmpd="sng" w="9525">
            <a:solidFill>
              <a:srgbClr val="A7F3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33"/>
          <p:cNvSpPr/>
          <p:nvPr/>
        </p:nvSpPr>
        <p:spPr>
          <a:xfrm>
            <a:off x="6255246" y="3271837"/>
            <a:ext cx="5089028" cy="409575"/>
          </a:xfrm>
          <a:prstGeom prst="roundRect">
            <a:avLst>
              <a:gd fmla="val 13953" name="adj"/>
            </a:avLst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33"/>
          <p:cNvSpPr/>
          <p:nvPr/>
        </p:nvSpPr>
        <p:spPr>
          <a:xfrm>
            <a:off x="6255246" y="3776662"/>
            <a:ext cx="5089028" cy="609600"/>
          </a:xfrm>
          <a:prstGeom prst="roundRect">
            <a:avLst>
              <a:gd fmla="val 9375" name="adj"/>
            </a:avLst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33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563E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ACT 2: THE NEURAL ZOO • 07</a:t>
            </a:r>
            <a:endParaRPr/>
          </a:p>
        </p:txBody>
      </p:sp>
      <p:sp>
        <p:nvSpPr>
          <p:cNvPr id="313" name="Google Shape;313;p33"/>
          <p:cNvSpPr txBox="1"/>
          <p:nvPr/>
        </p:nvSpPr>
        <p:spPr>
          <a:xfrm>
            <a:off x="609600" y="685800"/>
            <a:ext cx="11582400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Data Type 3: Firing Rates — Tuning the Volume Dial</a:t>
            </a:r>
            <a:endParaRPr/>
          </a:p>
        </p:txBody>
      </p:sp>
      <p:sp>
        <p:nvSpPr>
          <p:cNvPr id="314" name="Google Shape;314;p33"/>
          <p:cNvSpPr txBox="1"/>
          <p:nvPr/>
        </p:nvSpPr>
        <p:spPr>
          <a:xfrm>
            <a:off x="838200" y="2474118"/>
            <a:ext cx="4740771" cy="27193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59669"/>
                </a:solidFill>
                <a:latin typeface="Inter"/>
                <a:ea typeface="Inter"/>
                <a:cs typeface="Inter"/>
                <a:sym typeface="Inter"/>
              </a:rPr>
              <a:t>RATE CODING</a:t>
            </a:r>
            <a:endParaRPr/>
          </a:p>
        </p:txBody>
      </p:sp>
      <p:sp>
        <p:nvSpPr>
          <p:cNvPr id="315" name="Google Shape;315;p33"/>
          <p:cNvSpPr txBox="1"/>
          <p:nvPr/>
        </p:nvSpPr>
        <p:spPr>
          <a:xfrm>
            <a:off x="847725" y="2750343"/>
            <a:ext cx="6072243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From Spikes to Speedometer</a:t>
            </a:r>
            <a:endParaRPr/>
          </a:p>
        </p:txBody>
      </p:sp>
      <p:sp>
        <p:nvSpPr>
          <p:cNvPr id="316" name="Google Shape;316;p33"/>
          <p:cNvSpPr txBox="1"/>
          <p:nvPr/>
        </p:nvSpPr>
        <p:spPr>
          <a:xfrm>
            <a:off x="847725" y="3093243"/>
            <a:ext cx="4721721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Instead of tracking every single click, count spikes per second (Hertz).</a:t>
            </a:r>
            <a:endParaRPr/>
          </a:p>
        </p:txBody>
      </p:sp>
      <p:sp>
        <p:nvSpPr>
          <p:cNvPr id="317" name="Google Shape;317;p33"/>
          <p:cNvSpPr txBox="1"/>
          <p:nvPr/>
        </p:nvSpPr>
        <p:spPr>
          <a:xfrm>
            <a:off x="6255246" y="2986087"/>
            <a:ext cx="16192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1D4ED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WHY DO WE SMOOTH?</a:t>
            </a:r>
            <a:endParaRPr/>
          </a:p>
        </p:txBody>
      </p:sp>
      <p:sp>
        <p:nvSpPr>
          <p:cNvPr id="318" name="Google Shape;318;p33"/>
          <p:cNvSpPr txBox="1"/>
          <p:nvPr/>
        </p:nvSpPr>
        <p:spPr>
          <a:xfrm>
            <a:off x="6255246" y="4500562"/>
            <a:ext cx="5936753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40AF"/>
                </a:solidFill>
                <a:latin typeface="Inter"/>
                <a:ea typeface="Inter"/>
                <a:cs typeface="Inter"/>
                <a:sym typeface="Inter"/>
              </a:rPr>
              <a:t>Example: Resting = 2 Hz, Looking at a cat = 45 Hz!</a:t>
            </a:r>
            <a:endParaRPr/>
          </a:p>
        </p:txBody>
      </p:sp>
      <p:sp>
        <p:nvSpPr>
          <p:cNvPr id="319" name="Google Shape;319;p33"/>
          <p:cNvSpPr txBox="1"/>
          <p:nvPr/>
        </p:nvSpPr>
        <p:spPr>
          <a:xfrm>
            <a:off x="1009650" y="3712368"/>
            <a:ext cx="5378276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65F4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r(t) = Spikes(t, t + Δt) / Δt</a:t>
            </a:r>
            <a:endParaRPr/>
          </a:p>
        </p:txBody>
      </p:sp>
      <p:sp>
        <p:nvSpPr>
          <p:cNvPr id="320" name="Google Shape;320;p33"/>
          <p:cNvSpPr txBox="1"/>
          <p:nvPr/>
        </p:nvSpPr>
        <p:spPr>
          <a:xfrm>
            <a:off x="1009650" y="3988593"/>
            <a:ext cx="4397871" cy="10715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37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064E3B"/>
                </a:solidFill>
                <a:latin typeface="Inter"/>
                <a:ea typeface="Inter"/>
                <a:cs typeface="Inter"/>
                <a:sym typeface="Inter"/>
              </a:rPr>
              <a:t>Where: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125" u="none" cap="none" strike="noStrike">
                <a:solidFill>
                  <a:srgbClr val="064E3B"/>
                </a:solidFill>
                <a:latin typeface="Inter"/>
                <a:ea typeface="Inter"/>
                <a:cs typeface="Inter"/>
                <a:sym typeface="Inter"/>
              </a:rPr>
              <a:t> • </a:t>
            </a:r>
            <a:r>
              <a:rPr b="1" i="0" lang="en-US" sz="1125" u="none" cap="none" strike="noStrike">
                <a:solidFill>
                  <a:srgbClr val="064E3B"/>
                </a:solidFill>
                <a:latin typeface="Inter"/>
                <a:ea typeface="Inter"/>
                <a:cs typeface="Inter"/>
                <a:sym typeface="Inter"/>
              </a:rPr>
              <a:t>r(t)</a:t>
            </a:r>
            <a:r>
              <a:rPr b="0" i="0" lang="en-US" sz="1125" u="none" cap="none" strike="noStrike">
                <a:solidFill>
                  <a:srgbClr val="064E3B"/>
                </a:solidFill>
                <a:latin typeface="Inter"/>
                <a:ea typeface="Inter"/>
                <a:cs typeface="Inter"/>
                <a:sym typeface="Inter"/>
              </a:rPr>
              <a:t> is the firing rate in Hertz (spikes per second)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125" u="none" cap="none" strike="noStrike">
                <a:solidFill>
                  <a:srgbClr val="064E3B"/>
                </a:solidFill>
                <a:latin typeface="Inter"/>
                <a:ea typeface="Inter"/>
                <a:cs typeface="Inter"/>
                <a:sym typeface="Inter"/>
              </a:rPr>
              <a:t> • </a:t>
            </a:r>
            <a:r>
              <a:rPr b="1" i="0" lang="en-US" sz="1125" u="none" cap="none" strike="noStrike">
                <a:solidFill>
                  <a:srgbClr val="064E3B"/>
                </a:solidFill>
                <a:latin typeface="Inter"/>
                <a:ea typeface="Inter"/>
                <a:cs typeface="Inter"/>
                <a:sym typeface="Inter"/>
              </a:rPr>
              <a:t>Δt</a:t>
            </a:r>
            <a:r>
              <a:rPr b="0" i="0" lang="en-US" sz="1125" u="none" cap="none" strike="noStrike">
                <a:solidFill>
                  <a:srgbClr val="064E3B"/>
                </a:solidFill>
                <a:latin typeface="Inter"/>
                <a:ea typeface="Inter"/>
                <a:cs typeface="Inter"/>
                <a:sym typeface="Inter"/>
              </a:rPr>
              <a:t> is the sliding time window (e.g. 0.1 seconds = 100 ms)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125" u="none" cap="none" strike="noStrike">
                <a:solidFill>
                  <a:srgbClr val="064E3B"/>
                </a:solidFill>
                <a:latin typeface="Inter"/>
                <a:ea typeface="Inter"/>
                <a:cs typeface="Inter"/>
                <a:sym typeface="Inter"/>
              </a:rPr>
              <a:t> • </a:t>
            </a:r>
            <a:r>
              <a:rPr b="1" i="0" lang="en-US" sz="1125" u="none" cap="none" strike="noStrike">
                <a:solidFill>
                  <a:srgbClr val="064E3B"/>
                </a:solidFill>
                <a:latin typeface="Inter"/>
                <a:ea typeface="Inter"/>
                <a:cs typeface="Inter"/>
                <a:sym typeface="Inter"/>
              </a:rPr>
              <a:t>Spikes</a:t>
            </a:r>
            <a:r>
              <a:rPr b="0" i="0" lang="en-US" sz="1125" u="none" cap="none" strike="noStrike">
                <a:solidFill>
                  <a:srgbClr val="064E3B"/>
                </a:solidFill>
                <a:latin typeface="Inter"/>
                <a:ea typeface="Inter"/>
                <a:cs typeface="Inter"/>
                <a:sym typeface="Inter"/>
              </a:rPr>
              <a:t> is the total count of action potentials inside that window</a:t>
            </a:r>
            <a:endParaRPr/>
          </a:p>
        </p:txBody>
      </p:sp>
      <p:sp>
        <p:nvSpPr>
          <p:cNvPr id="321" name="Google Shape;321;p33"/>
          <p:cNvSpPr txBox="1"/>
          <p:nvPr/>
        </p:nvSpPr>
        <p:spPr>
          <a:xfrm>
            <a:off x="6398121" y="3376612"/>
            <a:ext cx="5793878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• </a:t>
            </a:r>
            <a:r>
              <a:rPr b="1" i="0" lang="en-US" sz="13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Raw Spikes:</a:t>
            </a:r>
            <a:r>
              <a:rPr b="0" i="0" lang="en-US" sz="13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Jittery, noisy, hard to compare directly.</a:t>
            </a:r>
            <a:endParaRPr/>
          </a:p>
        </p:txBody>
      </p:sp>
      <p:sp>
        <p:nvSpPr>
          <p:cNvPr id="322" name="Google Shape;322;p33"/>
          <p:cNvSpPr txBox="1"/>
          <p:nvPr/>
        </p:nvSpPr>
        <p:spPr>
          <a:xfrm>
            <a:off x="6398121" y="3881437"/>
            <a:ext cx="4898528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• </a:t>
            </a:r>
            <a:r>
              <a:rPr b="1" i="0" lang="en-US" sz="13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Smoothed Rate:</a:t>
            </a:r>
            <a:r>
              <a:rPr b="0" i="0" lang="en-US" sz="13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Continuous curve representing signal strength!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34"/>
          <p:cNvSpPr/>
          <p:nvPr/>
        </p:nvSpPr>
        <p:spPr>
          <a:xfrm>
            <a:off x="609600" y="2843212"/>
            <a:ext cx="5111799" cy="1981200"/>
          </a:xfrm>
          <a:prstGeom prst="roundRect">
            <a:avLst>
              <a:gd fmla="val 5769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34"/>
          <p:cNvSpPr/>
          <p:nvPr/>
        </p:nvSpPr>
        <p:spPr>
          <a:xfrm>
            <a:off x="6026200" y="2510653"/>
            <a:ext cx="5556300" cy="3499500"/>
          </a:xfrm>
          <a:prstGeom prst="roundRect">
            <a:avLst>
              <a:gd fmla="val 4771" name="adj"/>
            </a:avLst>
          </a:prstGeom>
          <a:solidFill>
            <a:srgbClr val="0F17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34"/>
          <p:cNvSpPr/>
          <p:nvPr/>
        </p:nvSpPr>
        <p:spPr>
          <a:xfrm>
            <a:off x="6254800" y="3502829"/>
            <a:ext cx="5099100" cy="2082300"/>
          </a:xfrm>
          <a:prstGeom prst="roundRect">
            <a:avLst>
              <a:gd fmla="val 5860" name="adj"/>
            </a:avLst>
          </a:prstGeom>
          <a:solidFill>
            <a:srgbClr val="1D253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34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563E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ACT 2: THE NEURAL ZOO • 08</a:t>
            </a:r>
            <a:endParaRPr/>
          </a:p>
        </p:txBody>
      </p:sp>
      <p:sp>
        <p:nvSpPr>
          <p:cNvPr id="331" name="Google Shape;331;p34"/>
          <p:cNvSpPr txBox="1"/>
          <p:nvPr/>
        </p:nvSpPr>
        <p:spPr>
          <a:xfrm>
            <a:off x="609600" y="685800"/>
            <a:ext cx="11582400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Data Type 4: Population Activity — The Entire Choir</a:t>
            </a:r>
            <a:endParaRPr/>
          </a:p>
        </p:txBody>
      </p:sp>
      <p:sp>
        <p:nvSpPr>
          <p:cNvPr id="332" name="Google Shape;332;p34"/>
          <p:cNvSpPr txBox="1"/>
          <p:nvPr/>
        </p:nvSpPr>
        <p:spPr>
          <a:xfrm>
            <a:off x="838200" y="3071812"/>
            <a:ext cx="4749849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THE MULTI-CHANNEL REVOLUTION</a:t>
            </a:r>
            <a:endParaRPr/>
          </a:p>
        </p:txBody>
      </p:sp>
      <p:sp>
        <p:nvSpPr>
          <p:cNvPr id="333" name="Google Shape;333;p34"/>
          <p:cNvSpPr txBox="1"/>
          <p:nvPr/>
        </p:nvSpPr>
        <p:spPr>
          <a:xfrm>
            <a:off x="6254799" y="2843193"/>
            <a:ext cx="51942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POPULATION STATE VECTOR</a:t>
            </a:r>
            <a:endParaRPr/>
          </a:p>
        </p:txBody>
      </p:sp>
      <p:sp>
        <p:nvSpPr>
          <p:cNvPr id="334" name="Google Shape;334;p34"/>
          <p:cNvSpPr txBox="1"/>
          <p:nvPr/>
        </p:nvSpPr>
        <p:spPr>
          <a:xfrm>
            <a:off x="847725" y="3348037"/>
            <a:ext cx="6084158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Utah Arrays &amp; Neuropixels</a:t>
            </a:r>
            <a:endParaRPr/>
          </a:p>
        </p:txBody>
      </p:sp>
      <p:sp>
        <p:nvSpPr>
          <p:cNvPr id="335" name="Google Shape;335;p34"/>
          <p:cNvSpPr txBox="1"/>
          <p:nvPr/>
        </p:nvSpPr>
        <p:spPr>
          <a:xfrm>
            <a:off x="847725" y="3690937"/>
            <a:ext cx="4730799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Modern silicon probes contain hundreds of microscopic recording pads on a single shank.</a:t>
            </a:r>
            <a:endParaRPr/>
          </a:p>
        </p:txBody>
      </p:sp>
      <p:sp>
        <p:nvSpPr>
          <p:cNvPr id="336" name="Google Shape;336;p34"/>
          <p:cNvSpPr txBox="1"/>
          <p:nvPr/>
        </p:nvSpPr>
        <p:spPr>
          <a:xfrm>
            <a:off x="847725" y="4186237"/>
            <a:ext cx="4730799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We record </a:t>
            </a:r>
            <a:r>
              <a:rPr b="1" i="0" lang="en-US" sz="13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1,000 neurons simultaneously</a:t>
            </a:r>
            <a:r>
              <a:rPr b="0" i="0" lang="en-US" sz="13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in real time as an animal moves or makes decisions!</a:t>
            </a:r>
            <a:endParaRPr/>
          </a:p>
        </p:txBody>
      </p:sp>
      <p:sp>
        <p:nvSpPr>
          <p:cNvPr id="337" name="Google Shape;337;p34"/>
          <p:cNvSpPr txBox="1"/>
          <p:nvPr/>
        </p:nvSpPr>
        <p:spPr>
          <a:xfrm>
            <a:off x="6254799" y="3150393"/>
            <a:ext cx="59372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v(t) = [r₁(t), r₂(t), r₃(t), ... r_N(t)]ᵀ</a:t>
            </a:r>
            <a:endParaRPr/>
          </a:p>
        </p:txBody>
      </p:sp>
      <p:sp>
        <p:nvSpPr>
          <p:cNvPr id="338" name="Google Shape;338;p34"/>
          <p:cNvSpPr txBox="1"/>
          <p:nvPr/>
        </p:nvSpPr>
        <p:spPr>
          <a:xfrm>
            <a:off x="6467049" y="3614718"/>
            <a:ext cx="4927500" cy="185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37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Where:</a:t>
            </a:r>
            <a:endParaRPr b="1" i="0" sz="1125" u="none" cap="none" strike="noStrike">
              <a:solidFill>
                <a:srgbClr val="CBD5E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93722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12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• </a:t>
            </a:r>
            <a:r>
              <a:rPr b="1" i="0" lang="en-US" sz="112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v(t)</a:t>
            </a:r>
            <a:r>
              <a:rPr b="0" i="0" lang="en-US" sz="112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is the population state vector at exact moment t</a:t>
            </a:r>
            <a:endParaRPr b="0" i="0" sz="1125" u="none" cap="none" strike="noStrike">
              <a:solidFill>
                <a:srgbClr val="CBD5E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93722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12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• </a:t>
            </a:r>
            <a:r>
              <a:rPr b="1" i="0" lang="en-US" sz="112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rᵢ(t)</a:t>
            </a:r>
            <a:r>
              <a:rPr b="0" i="0" lang="en-US" sz="112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is the instantaneous firing rate of neuron #i</a:t>
            </a:r>
            <a:endParaRPr b="0" i="0" sz="1125" u="none" cap="none" strike="noStrike">
              <a:solidFill>
                <a:srgbClr val="CBD5E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93722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12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• </a:t>
            </a:r>
            <a:r>
              <a:rPr b="1" i="0" lang="en-US" sz="112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N</a:t>
            </a:r>
            <a:r>
              <a:rPr b="0" i="0" lang="en-US" sz="112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is the total number of recorded neurons (dimensions)</a:t>
            </a:r>
            <a:endParaRPr b="0" i="0" sz="1125" u="none" cap="none" strike="noStrike">
              <a:solidFill>
                <a:srgbClr val="CBD5E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93722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12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• </a:t>
            </a:r>
            <a:r>
              <a:rPr b="1" i="0" lang="en-US" sz="112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ᵀ (Transpose)</a:t>
            </a:r>
            <a:r>
              <a:rPr b="0" i="0" lang="en-US" sz="112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turns the horizontal list into a vertical column vector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35"/>
          <p:cNvSpPr/>
          <p:nvPr/>
        </p:nvSpPr>
        <p:spPr>
          <a:xfrm>
            <a:off x="609600" y="5905500"/>
            <a:ext cx="10972800" cy="495300"/>
          </a:xfrm>
          <a:prstGeom prst="roundRect">
            <a:avLst>
              <a:gd fmla="val 19230" name="adj"/>
            </a:avLst>
          </a:prstGeom>
          <a:solidFill>
            <a:srgbClr val="F8FAFC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35"/>
          <p:cNvSpPr/>
          <p:nvPr/>
        </p:nvSpPr>
        <p:spPr>
          <a:xfrm>
            <a:off x="574775" y="1095375"/>
            <a:ext cx="5334000" cy="2038500"/>
          </a:xfrm>
          <a:prstGeom prst="roundRect">
            <a:avLst>
              <a:gd fmla="val 5607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35"/>
          <p:cNvSpPr/>
          <p:nvPr/>
        </p:nvSpPr>
        <p:spPr>
          <a:xfrm>
            <a:off x="6220525" y="1095450"/>
            <a:ext cx="5334000" cy="2038500"/>
          </a:xfrm>
          <a:prstGeom prst="roundRect">
            <a:avLst>
              <a:gd fmla="val 5607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35"/>
          <p:cNvSpPr txBox="1"/>
          <p:nvPr/>
        </p:nvSpPr>
        <p:spPr>
          <a:xfrm>
            <a:off x="609600" y="457200"/>
            <a:ext cx="115824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563E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ACT 2: THE NEURAL ZOO • 09</a:t>
            </a:r>
            <a:endParaRPr/>
          </a:p>
        </p:txBody>
      </p:sp>
      <p:sp>
        <p:nvSpPr>
          <p:cNvPr id="347" name="Google Shape;347;p35"/>
          <p:cNvSpPr txBox="1"/>
          <p:nvPr/>
        </p:nvSpPr>
        <p:spPr>
          <a:xfrm>
            <a:off x="609600" y="685800"/>
            <a:ext cx="115824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Data Type 5: EEG &amp; fMRI — Non-Invasive Macro Signals</a:t>
            </a:r>
            <a:endParaRPr/>
          </a:p>
        </p:txBody>
      </p:sp>
      <p:sp>
        <p:nvSpPr>
          <p:cNvPr id="348" name="Google Shape;348;p35"/>
          <p:cNvSpPr txBox="1"/>
          <p:nvPr/>
        </p:nvSpPr>
        <p:spPr>
          <a:xfrm>
            <a:off x="822425" y="1343025"/>
            <a:ext cx="49341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D97706"/>
                </a:solidFill>
                <a:latin typeface="Inter"/>
                <a:ea typeface="Inter"/>
                <a:cs typeface="Inter"/>
                <a:sym typeface="Inter"/>
              </a:rPr>
              <a:t>EEG (ELECTROENCEPHALOGRAPHY)</a:t>
            </a:r>
            <a:endParaRPr/>
          </a:p>
        </p:txBody>
      </p:sp>
      <p:sp>
        <p:nvSpPr>
          <p:cNvPr id="349" name="Google Shape;349;p35"/>
          <p:cNvSpPr txBox="1"/>
          <p:nvPr/>
        </p:nvSpPr>
        <p:spPr>
          <a:xfrm>
            <a:off x="6468175" y="1343100"/>
            <a:ext cx="49341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DC2626"/>
                </a:solidFill>
                <a:latin typeface="Inter"/>
                <a:ea typeface="Inter"/>
                <a:cs typeface="Inter"/>
                <a:sym typeface="Inter"/>
              </a:rPr>
              <a:t>fMRI (FUNCTIONAL MRI)</a:t>
            </a:r>
            <a:endParaRPr/>
          </a:p>
        </p:txBody>
      </p:sp>
      <p:sp>
        <p:nvSpPr>
          <p:cNvPr id="350" name="Google Shape;350;p35"/>
          <p:cNvSpPr txBox="1"/>
          <p:nvPr/>
        </p:nvSpPr>
        <p:spPr>
          <a:xfrm>
            <a:off x="609600" y="6048375"/>
            <a:ext cx="10972800" cy="200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⚡ No matter the machine, neuroscientists turn all these signals into numbers, vectors, and matrices!</a:t>
            </a:r>
            <a:endParaRPr b="1" i="0" sz="1300">
              <a:solidFill>
                <a:srgbClr val="0F172A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351" name="Google Shape;351;p35"/>
          <p:cNvSpPr txBox="1"/>
          <p:nvPr/>
        </p:nvSpPr>
        <p:spPr>
          <a:xfrm>
            <a:off x="831950" y="1638300"/>
            <a:ext cx="63258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Scalp Electrodes</a:t>
            </a:r>
            <a:endParaRPr/>
          </a:p>
        </p:txBody>
      </p:sp>
      <p:sp>
        <p:nvSpPr>
          <p:cNvPr id="352" name="Google Shape;352;p35"/>
          <p:cNvSpPr txBox="1"/>
          <p:nvPr/>
        </p:nvSpPr>
        <p:spPr>
          <a:xfrm>
            <a:off x="831950" y="1981200"/>
            <a:ext cx="4914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Measures synchronized electrical waves passing through the skull.</a:t>
            </a:r>
            <a:endParaRPr/>
          </a:p>
        </p:txBody>
      </p:sp>
      <p:sp>
        <p:nvSpPr>
          <p:cNvPr id="353" name="Google Shape;353;p35"/>
          <p:cNvSpPr txBox="1"/>
          <p:nvPr/>
        </p:nvSpPr>
        <p:spPr>
          <a:xfrm>
            <a:off x="831950" y="2476500"/>
            <a:ext cx="4914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Data format:</a:t>
            </a:r>
            <a:r>
              <a:rPr b="0" i="0" lang="en-US" sz="13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64 sensors × 10,000 time points matrix. Great timing, fuzzy location.</a:t>
            </a:r>
            <a:endParaRPr/>
          </a:p>
        </p:txBody>
      </p:sp>
      <p:sp>
        <p:nvSpPr>
          <p:cNvPr id="354" name="Google Shape;354;p35"/>
          <p:cNvSpPr txBox="1"/>
          <p:nvPr/>
        </p:nvSpPr>
        <p:spPr>
          <a:xfrm>
            <a:off x="6477700" y="1638375"/>
            <a:ext cx="56865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Blood Oxygen</a:t>
            </a:r>
            <a:r>
              <a:rPr b="1" lang="en-US" sz="1650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 Level-Dependent </a:t>
            </a:r>
            <a:r>
              <a:rPr b="1" i="0" lang="en-US" sz="165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(BOLD)</a:t>
            </a:r>
            <a:endParaRPr/>
          </a:p>
        </p:txBody>
      </p:sp>
      <p:sp>
        <p:nvSpPr>
          <p:cNvPr id="355" name="Google Shape;355;p35"/>
          <p:cNvSpPr txBox="1"/>
          <p:nvPr/>
        </p:nvSpPr>
        <p:spPr>
          <a:xfrm>
            <a:off x="6477700" y="1981275"/>
            <a:ext cx="4914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Tracks oxygen-rich blood rushing to hungry active brain regions.</a:t>
            </a:r>
            <a:endParaRPr/>
          </a:p>
        </p:txBody>
      </p:sp>
      <p:sp>
        <p:nvSpPr>
          <p:cNvPr id="356" name="Google Shape;356;p35"/>
          <p:cNvSpPr txBox="1"/>
          <p:nvPr/>
        </p:nvSpPr>
        <p:spPr>
          <a:xfrm>
            <a:off x="6477700" y="2476575"/>
            <a:ext cx="4914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Data format:</a:t>
            </a:r>
            <a:r>
              <a:rPr b="0" i="0" lang="en-US" sz="13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100,000 3D voxels (cubes) sampled every 2 seconds. Great location, slow timing.</a:t>
            </a:r>
            <a:endParaRPr/>
          </a:p>
        </p:txBody>
      </p:sp>
      <p:graphicFrame>
        <p:nvGraphicFramePr>
          <p:cNvPr id="357" name="Google Shape;357;p35"/>
          <p:cNvGraphicFramePr/>
          <p:nvPr/>
        </p:nvGraphicFramePr>
        <p:xfrm>
          <a:off x="609600" y="32861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{8BF32FAD-5FC6-475A-90FC-75AD4E81BC82}</a:tableStyleId>
              </a:tblPr>
              <a:tblGrid>
                <a:gridCol w="2400300"/>
                <a:gridCol w="4286250"/>
                <a:gridCol w="4286250"/>
              </a:tblGrid>
              <a:tr h="427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>
                          <a:solidFill>
                            <a:srgbClr val="64748B"/>
                          </a:solidFill>
                          <a:highlight>
                            <a:srgbClr val="F8FAFC"/>
                          </a:highlight>
                        </a:rPr>
                        <a:t>Feature</a:t>
                      </a:r>
                      <a:endParaRPr b="1" sz="1050">
                        <a:solidFill>
                          <a:srgbClr val="64748B"/>
                        </a:solidFill>
                        <a:highlight>
                          <a:srgbClr val="F8FAFC"/>
                        </a:highlight>
                      </a:endParaRPr>
                    </a:p>
                  </a:txBody>
                  <a:tcPr marT="95250" marB="95250" marR="152400" marL="152400">
                    <a:lnB cap="flat" cmpd="sng" w="190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>
                          <a:solidFill>
                            <a:srgbClr val="D97706"/>
                          </a:solidFill>
                        </a:rPr>
                        <a:t>EEG</a:t>
                      </a:r>
                      <a:endParaRPr b="1" sz="1200">
                        <a:solidFill>
                          <a:srgbClr val="D97706"/>
                        </a:solidFill>
                      </a:endParaRPr>
                    </a:p>
                  </a:txBody>
                  <a:tcPr marT="95250" marB="95250" marR="152400" marL="152400">
                    <a:lnB cap="flat" cmpd="sng" w="190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>
                          <a:solidFill>
                            <a:srgbClr val="DC2626"/>
                          </a:solidFill>
                          <a:highlight>
                            <a:srgbClr val="F8FAFC"/>
                          </a:highlight>
                        </a:rPr>
                        <a:t>fMRI</a:t>
                      </a:r>
                      <a:endParaRPr b="1" sz="1200">
                        <a:solidFill>
                          <a:srgbClr val="DC2626"/>
                        </a:solidFill>
                        <a:highlight>
                          <a:srgbClr val="F8FAFC"/>
                        </a:highlight>
                      </a:endParaRPr>
                    </a:p>
                  </a:txBody>
                  <a:tcPr marT="95250" marB="95250" marR="152400" marL="152400">
                    <a:lnB cap="flat" cmpd="sng" w="190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386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>
                          <a:solidFill>
                            <a:srgbClr val="475569"/>
                          </a:solidFill>
                          <a:highlight>
                            <a:srgbClr val="FFFFFF"/>
                          </a:highlight>
                        </a:rPr>
                        <a:t>Basic measurement</a:t>
                      </a:r>
                      <a:endParaRPr b="0" sz="1100">
                        <a:solidFill>
                          <a:srgbClr val="475569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76200" marB="76200" marR="152400" marL="152400">
                    <a:lnT cap="flat" cmpd="sng" w="190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0F172A"/>
                          </a:solidFill>
                          <a:highlight>
                            <a:srgbClr val="FFFFFF"/>
                          </a:highlight>
                        </a:rPr>
                        <a:t>Electrode</a:t>
                      </a:r>
                      <a:endParaRPr sz="1100">
                        <a:solidFill>
                          <a:srgbClr val="0F172A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76200" marB="76200" marR="152400" marL="152400">
                    <a:lnT cap="flat" cmpd="sng" w="190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0F172A"/>
                          </a:solidFill>
                          <a:highlight>
                            <a:srgbClr val="FFFFFF"/>
                          </a:highlight>
                        </a:rPr>
                        <a:t>Voxel</a:t>
                      </a:r>
                      <a:endParaRPr sz="1100">
                        <a:solidFill>
                          <a:srgbClr val="0F172A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76200" marB="76200" marR="152400" marL="152400">
                    <a:lnT cap="flat" cmpd="sng" w="1905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86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>
                          <a:solidFill>
                            <a:srgbClr val="475569"/>
                          </a:solidFill>
                          <a:highlight>
                            <a:srgbClr val="F8FAFC"/>
                          </a:highlight>
                        </a:rPr>
                        <a:t>Spatial dimensions</a:t>
                      </a:r>
                      <a:endParaRPr b="0" sz="1100">
                        <a:solidFill>
                          <a:srgbClr val="475569"/>
                        </a:solidFill>
                        <a:highlight>
                          <a:srgbClr val="F8FAFC"/>
                        </a:highlight>
                      </a:endParaRPr>
                    </a:p>
                  </a:txBody>
                  <a:tcPr marT="76200" marB="76200" marR="152400" marL="152400"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0F172A"/>
                          </a:solidFill>
                          <a:highlight>
                            <a:srgbClr val="F8FAFC"/>
                          </a:highlight>
                        </a:rPr>
                        <a:t>Channels/electrodes</a:t>
                      </a:r>
                      <a:endParaRPr sz="1100">
                        <a:solidFill>
                          <a:srgbClr val="0F172A"/>
                        </a:solidFill>
                        <a:highlight>
                          <a:srgbClr val="F8FAFC"/>
                        </a:highlight>
                      </a:endParaRPr>
                    </a:p>
                  </a:txBody>
                  <a:tcPr marT="76200" marB="76200" marR="152400" marL="152400"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0F172A"/>
                          </a:solidFill>
                          <a:highlight>
                            <a:srgbClr val="F8FAFC"/>
                          </a:highlight>
                        </a:rPr>
                        <a:t>Thousands of voxels</a:t>
                      </a:r>
                      <a:endParaRPr sz="1100">
                        <a:solidFill>
                          <a:srgbClr val="0F172A"/>
                        </a:solidFill>
                        <a:highlight>
                          <a:srgbClr val="F8FAFC"/>
                        </a:highlight>
                      </a:endParaRPr>
                    </a:p>
                  </a:txBody>
                  <a:tcPr marT="76200" marB="76200" marR="152400" marL="152400"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386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>
                          <a:solidFill>
                            <a:srgbClr val="475569"/>
                          </a:solidFill>
                          <a:highlight>
                            <a:srgbClr val="FFFFFF"/>
                          </a:highlight>
                        </a:rPr>
                        <a:t>Data at one time</a:t>
                      </a:r>
                      <a:endParaRPr b="0" sz="1100">
                        <a:solidFill>
                          <a:srgbClr val="475569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76200" marB="76200" marR="152400" marL="152400"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0F172A"/>
                          </a:solidFill>
                          <a:highlight>
                            <a:srgbClr val="FFFFFF"/>
                          </a:highlight>
                        </a:rPr>
                        <a:t>Vector of electrode values</a:t>
                      </a:r>
                      <a:endParaRPr sz="1100">
                        <a:solidFill>
                          <a:srgbClr val="0F172A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76200" marB="76200" marR="152400" marL="152400"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0F172A"/>
                          </a:solidFill>
                          <a:highlight>
                            <a:srgbClr val="FFFFFF"/>
                          </a:highlight>
                        </a:rPr>
                        <a:t>Vector of voxel values</a:t>
                      </a:r>
                      <a:endParaRPr sz="1100">
                        <a:solidFill>
                          <a:srgbClr val="0F172A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76200" marB="76200" marR="152400" marL="152400"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86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>
                          <a:solidFill>
                            <a:srgbClr val="475569"/>
                          </a:solidFill>
                          <a:highlight>
                            <a:srgbClr val="F8FAFC"/>
                          </a:highlight>
                        </a:rPr>
                        <a:t>Example</a:t>
                      </a:r>
                      <a:endParaRPr b="0" sz="1100">
                        <a:solidFill>
                          <a:srgbClr val="475569"/>
                        </a:solidFill>
                        <a:highlight>
                          <a:srgbClr val="F8FAFC"/>
                        </a:highlight>
                      </a:endParaRPr>
                    </a:p>
                  </a:txBody>
                  <a:tcPr marT="76200" marB="76200" marR="152400" marL="152400"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0F172A"/>
                          </a:solidFill>
                          <a:highlight>
                            <a:srgbClr val="F8FAFC"/>
                          </a:highlight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8 × 200</a:t>
                      </a:r>
                      <a:endParaRPr sz="1100">
                        <a:solidFill>
                          <a:srgbClr val="0F172A"/>
                        </a:solidFill>
                        <a:highlight>
                          <a:srgbClr val="F8FAFC"/>
                        </a:highlight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T="76200" marB="76200" marR="152400" marL="152400"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0F172A"/>
                          </a:solidFill>
                          <a:highlight>
                            <a:srgbClr val="F8FAFC"/>
                          </a:highlight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64 × 100</a:t>
                      </a:r>
                      <a:endParaRPr sz="1100">
                        <a:solidFill>
                          <a:srgbClr val="0F172A"/>
                        </a:solidFill>
                        <a:highlight>
                          <a:srgbClr val="F8FAFC"/>
                        </a:highlight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T="76200" marB="76200" marR="152400" marL="152400"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407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>
                          <a:solidFill>
                            <a:srgbClr val="475569"/>
                          </a:solidFill>
                          <a:highlight>
                            <a:srgbClr val="FFFFFF"/>
                          </a:highlight>
                        </a:rPr>
                        <a:t>Main strength</a:t>
                      </a:r>
                      <a:endParaRPr b="0" sz="1100">
                        <a:solidFill>
                          <a:srgbClr val="475569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76200" marB="76200" marR="152400" marL="152400"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rgbClr val="D97706"/>
                          </a:solidFill>
                        </a:rPr>
                        <a:t>Excellent temporal resolution</a:t>
                      </a:r>
                      <a:endParaRPr b="1" sz="1100">
                        <a:solidFill>
                          <a:srgbClr val="D97706"/>
                        </a:solidFill>
                      </a:endParaRPr>
                    </a:p>
                  </a:txBody>
                  <a:tcPr marT="76200" marB="76200" marR="152400" marL="152400"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rgbClr val="DC2626"/>
                          </a:solidFill>
                          <a:highlight>
                            <a:srgbClr val="FFFFFF"/>
                          </a:highlight>
                        </a:rPr>
                        <a:t>Excellent spatial resolution</a:t>
                      </a:r>
                      <a:endParaRPr b="1" sz="1100">
                        <a:solidFill>
                          <a:srgbClr val="DC2626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76200" marB="76200" marR="152400" marL="152400"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36"/>
          <p:cNvSpPr/>
          <p:nvPr/>
        </p:nvSpPr>
        <p:spPr>
          <a:xfrm>
            <a:off x="609600" y="5981700"/>
            <a:ext cx="10972800" cy="4191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36"/>
          <p:cNvSpPr/>
          <p:nvPr/>
        </p:nvSpPr>
        <p:spPr>
          <a:xfrm>
            <a:off x="609600" y="457200"/>
            <a:ext cx="3724275" cy="304800"/>
          </a:xfrm>
          <a:prstGeom prst="roundRect">
            <a:avLst>
              <a:gd fmla="val 18750" name="adj"/>
            </a:avLst>
          </a:prstGeom>
          <a:solidFill>
            <a:srgbClr val="EFF6FF"/>
          </a:solidFill>
          <a:ln cap="flat" cmpd="sng" w="9525">
            <a:solidFill>
              <a:srgbClr val="BFDB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36"/>
          <p:cNvSpPr/>
          <p:nvPr/>
        </p:nvSpPr>
        <p:spPr>
          <a:xfrm>
            <a:off x="609600" y="2805112"/>
            <a:ext cx="5391150" cy="866775"/>
          </a:xfrm>
          <a:prstGeom prst="roundRect">
            <a:avLst>
              <a:gd fmla="val 13186" name="adj"/>
            </a:avLst>
          </a:prstGeom>
          <a:solidFill>
            <a:srgbClr val="F8FAFC"/>
          </a:solidFill>
          <a:ln cap="flat" cmpd="sng" w="1905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36"/>
          <p:cNvSpPr/>
          <p:nvPr/>
        </p:nvSpPr>
        <p:spPr>
          <a:xfrm>
            <a:off x="6191250" y="2805112"/>
            <a:ext cx="5391150" cy="866775"/>
          </a:xfrm>
          <a:prstGeom prst="roundRect">
            <a:avLst>
              <a:gd fmla="val 13186" name="adj"/>
            </a:avLst>
          </a:prstGeom>
          <a:solidFill>
            <a:srgbClr val="F8FAFC"/>
          </a:solidFill>
          <a:ln cap="flat" cmpd="sng" w="1905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36"/>
          <p:cNvSpPr/>
          <p:nvPr/>
        </p:nvSpPr>
        <p:spPr>
          <a:xfrm>
            <a:off x="609600" y="3862387"/>
            <a:ext cx="5391150" cy="866775"/>
          </a:xfrm>
          <a:prstGeom prst="roundRect">
            <a:avLst>
              <a:gd fmla="val 13186" name="adj"/>
            </a:avLst>
          </a:prstGeom>
          <a:solidFill>
            <a:srgbClr val="F8FAFC"/>
          </a:solidFill>
          <a:ln cap="flat" cmpd="sng" w="1905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36"/>
          <p:cNvSpPr/>
          <p:nvPr/>
        </p:nvSpPr>
        <p:spPr>
          <a:xfrm>
            <a:off x="6191250" y="3862387"/>
            <a:ext cx="5391150" cy="866775"/>
          </a:xfrm>
          <a:prstGeom prst="roundRect">
            <a:avLst>
              <a:gd fmla="val 13186" name="adj"/>
            </a:avLst>
          </a:prstGeom>
          <a:solidFill>
            <a:srgbClr val="F8FAFC"/>
          </a:solidFill>
          <a:ln cap="flat" cmpd="sng" w="1905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36"/>
          <p:cNvSpPr/>
          <p:nvPr/>
        </p:nvSpPr>
        <p:spPr>
          <a:xfrm>
            <a:off x="609600" y="5981700"/>
            <a:ext cx="38100" cy="419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36"/>
          <p:cNvSpPr/>
          <p:nvPr/>
        </p:nvSpPr>
        <p:spPr>
          <a:xfrm>
            <a:off x="819150" y="3028950"/>
            <a:ext cx="419100" cy="419100"/>
          </a:xfrm>
          <a:prstGeom prst="roundRect">
            <a:avLst>
              <a:gd fmla="val 18181" name="adj"/>
            </a:avLst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36"/>
          <p:cNvSpPr/>
          <p:nvPr/>
        </p:nvSpPr>
        <p:spPr>
          <a:xfrm>
            <a:off x="6400800" y="3028950"/>
            <a:ext cx="419100" cy="419100"/>
          </a:xfrm>
          <a:prstGeom prst="roundRect">
            <a:avLst>
              <a:gd fmla="val 18181" name="adj"/>
            </a:avLst>
          </a:prstGeom>
          <a:solidFill>
            <a:srgbClr val="0596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36"/>
          <p:cNvSpPr/>
          <p:nvPr/>
        </p:nvSpPr>
        <p:spPr>
          <a:xfrm>
            <a:off x="819150" y="4086225"/>
            <a:ext cx="419100" cy="419100"/>
          </a:xfrm>
          <a:prstGeom prst="roundRect">
            <a:avLst>
              <a:gd fmla="val 18181" name="adj"/>
            </a:avLst>
          </a:prstGeom>
          <a:solidFill>
            <a:srgbClr val="D9770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36"/>
          <p:cNvSpPr/>
          <p:nvPr/>
        </p:nvSpPr>
        <p:spPr>
          <a:xfrm>
            <a:off x="6400800" y="4086225"/>
            <a:ext cx="419100" cy="419100"/>
          </a:xfrm>
          <a:prstGeom prst="roundRect">
            <a:avLst>
              <a:gd fmla="val 18181" name="adj"/>
            </a:avLst>
          </a:prstGeom>
          <a:solidFill>
            <a:srgbClr val="7C3AE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73" name="Google Shape;373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2475" y="542925"/>
            <a:ext cx="104775" cy="133350"/>
          </a:xfrm>
          <a:prstGeom prst="rect">
            <a:avLst/>
          </a:prstGeom>
          <a:noFill/>
          <a:ln>
            <a:noFill/>
          </a:ln>
        </p:spPr>
      </p:pic>
      <p:sp>
        <p:nvSpPr>
          <p:cNvPr id="374" name="Google Shape;374;p36"/>
          <p:cNvSpPr txBox="1"/>
          <p:nvPr/>
        </p:nvSpPr>
        <p:spPr>
          <a:xfrm>
            <a:off x="609600" y="876300"/>
            <a:ext cx="115824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How Much Electrical Data Fires Inside You Each Second?</a:t>
            </a:r>
            <a:endParaRPr/>
          </a:p>
        </p:txBody>
      </p:sp>
      <p:sp>
        <p:nvSpPr>
          <p:cNvPr id="375" name="Google Shape;375;p36"/>
          <p:cNvSpPr txBox="1"/>
          <p:nvPr/>
        </p:nvSpPr>
        <p:spPr>
          <a:xfrm>
            <a:off x="609600" y="1352550"/>
            <a:ext cx="115824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86 billion neurons firing up to 200 spikes per second. What is the peak spike rate across the whole brain?</a:t>
            </a:r>
            <a:endParaRPr/>
          </a:p>
        </p:txBody>
      </p:sp>
      <p:sp>
        <p:nvSpPr>
          <p:cNvPr id="376" name="Google Shape;376;p36"/>
          <p:cNvSpPr txBox="1"/>
          <p:nvPr/>
        </p:nvSpPr>
        <p:spPr>
          <a:xfrm>
            <a:off x="838200" y="6096000"/>
            <a:ext cx="113538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1E40AF"/>
                </a:solidFill>
                <a:latin typeface="Inter"/>
                <a:ea typeface="Inter"/>
                <a:cs typeface="Inter"/>
                <a:sym typeface="Inter"/>
              </a:rPr>
              <a:t>💬 Lock in your guess! Raise 1, 2, 3, or 4 fingers before we enter the Neural Zoo!</a:t>
            </a:r>
            <a:endParaRPr/>
          </a:p>
        </p:txBody>
      </p:sp>
      <p:sp>
        <p:nvSpPr>
          <p:cNvPr id="377" name="Google Shape;377;p36"/>
          <p:cNvSpPr txBox="1"/>
          <p:nvPr/>
        </p:nvSpPr>
        <p:spPr>
          <a:xfrm>
            <a:off x="752475" y="523875"/>
            <a:ext cx="4298156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6192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563E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INTERACTIVE TEASER #1 • AUDIENCE CHALLENGE</a:t>
            </a:r>
            <a:endParaRPr/>
          </a:p>
        </p:txBody>
      </p:sp>
      <p:sp>
        <p:nvSpPr>
          <p:cNvPr id="378" name="Google Shape;378;p36"/>
          <p:cNvSpPr txBox="1"/>
          <p:nvPr/>
        </p:nvSpPr>
        <p:spPr>
          <a:xfrm>
            <a:off x="676275" y="3028950"/>
            <a:ext cx="704850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</a:t>
            </a:r>
            <a:endParaRPr/>
          </a:p>
        </p:txBody>
      </p:sp>
      <p:sp>
        <p:nvSpPr>
          <p:cNvPr id="379" name="Google Shape;379;p36"/>
          <p:cNvSpPr txBox="1"/>
          <p:nvPr/>
        </p:nvSpPr>
        <p:spPr>
          <a:xfrm>
            <a:off x="6257925" y="3028950"/>
            <a:ext cx="704850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B</a:t>
            </a:r>
            <a:endParaRPr/>
          </a:p>
        </p:txBody>
      </p:sp>
      <p:sp>
        <p:nvSpPr>
          <p:cNvPr id="380" name="Google Shape;380;p36"/>
          <p:cNvSpPr txBox="1"/>
          <p:nvPr/>
        </p:nvSpPr>
        <p:spPr>
          <a:xfrm>
            <a:off x="676275" y="4086225"/>
            <a:ext cx="704850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</a:t>
            </a:r>
            <a:endParaRPr/>
          </a:p>
        </p:txBody>
      </p:sp>
      <p:sp>
        <p:nvSpPr>
          <p:cNvPr id="381" name="Google Shape;381;p36"/>
          <p:cNvSpPr txBox="1"/>
          <p:nvPr/>
        </p:nvSpPr>
        <p:spPr>
          <a:xfrm>
            <a:off x="6257925" y="4086225"/>
            <a:ext cx="704850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</a:t>
            </a:r>
            <a:endParaRPr/>
          </a:p>
        </p:txBody>
      </p:sp>
      <p:sp>
        <p:nvSpPr>
          <p:cNvPr id="382" name="Google Shape;382;p36"/>
          <p:cNvSpPr txBox="1"/>
          <p:nvPr/>
        </p:nvSpPr>
        <p:spPr>
          <a:xfrm>
            <a:off x="1390650" y="3014662"/>
            <a:ext cx="35718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About 100,000 spikes</a:t>
            </a:r>
            <a:endParaRPr/>
          </a:p>
        </p:txBody>
      </p:sp>
      <p:sp>
        <p:nvSpPr>
          <p:cNvPr id="383" name="Google Shape;383;p36"/>
          <p:cNvSpPr txBox="1"/>
          <p:nvPr/>
        </p:nvSpPr>
        <p:spPr>
          <a:xfrm>
            <a:off x="1390650" y="3281362"/>
            <a:ext cx="3571875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Roughly the size of a small school district.</a:t>
            </a:r>
            <a:endParaRPr/>
          </a:p>
        </p:txBody>
      </p:sp>
      <p:sp>
        <p:nvSpPr>
          <p:cNvPr id="384" name="Google Shape;384;p36"/>
          <p:cNvSpPr txBox="1"/>
          <p:nvPr/>
        </p:nvSpPr>
        <p:spPr>
          <a:xfrm>
            <a:off x="6972300" y="3014662"/>
            <a:ext cx="4679156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About 10 Million spikes</a:t>
            </a:r>
            <a:endParaRPr/>
          </a:p>
        </p:txBody>
      </p:sp>
      <p:sp>
        <p:nvSpPr>
          <p:cNvPr id="385" name="Google Shape;385;p36"/>
          <p:cNvSpPr txBox="1"/>
          <p:nvPr/>
        </p:nvSpPr>
        <p:spPr>
          <a:xfrm>
            <a:off x="6972300" y="3281362"/>
            <a:ext cx="4679156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Similar to mobile messages sent worldwide per minute.</a:t>
            </a:r>
            <a:endParaRPr/>
          </a:p>
        </p:txBody>
      </p:sp>
      <p:sp>
        <p:nvSpPr>
          <p:cNvPr id="386" name="Google Shape;386;p36"/>
          <p:cNvSpPr txBox="1"/>
          <p:nvPr/>
        </p:nvSpPr>
        <p:spPr>
          <a:xfrm>
            <a:off x="1390650" y="4071937"/>
            <a:ext cx="3262312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Up to 17 Trillion spikes!</a:t>
            </a:r>
            <a:endParaRPr/>
          </a:p>
        </p:txBody>
      </p:sp>
      <p:sp>
        <p:nvSpPr>
          <p:cNvPr id="387" name="Google Shape;387;p36"/>
          <p:cNvSpPr txBox="1"/>
          <p:nvPr/>
        </p:nvSpPr>
        <p:spPr>
          <a:xfrm>
            <a:off x="1390650" y="4338637"/>
            <a:ext cx="3262312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86 Billion × ~200 maximum frequency!</a:t>
            </a:r>
            <a:endParaRPr/>
          </a:p>
        </p:txBody>
      </p:sp>
      <p:sp>
        <p:nvSpPr>
          <p:cNvPr id="388" name="Google Shape;388;p36"/>
          <p:cNvSpPr txBox="1"/>
          <p:nvPr/>
        </p:nvSpPr>
        <p:spPr>
          <a:xfrm>
            <a:off x="6972300" y="4071937"/>
            <a:ext cx="3345656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Exactly 86 Billion spikes</a:t>
            </a:r>
            <a:endParaRPr/>
          </a:p>
        </p:txBody>
      </p:sp>
      <p:sp>
        <p:nvSpPr>
          <p:cNvPr id="389" name="Google Shape;389;p36"/>
          <p:cNvSpPr txBox="1"/>
          <p:nvPr/>
        </p:nvSpPr>
        <p:spPr>
          <a:xfrm>
            <a:off x="6972300" y="4338637"/>
            <a:ext cx="3345656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One spike per cell every single second.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94" name="Google Shape;394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6588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95" name="Google Shape;395;p37"/>
          <p:cNvSpPr/>
          <p:nvPr/>
        </p:nvSpPr>
        <p:spPr>
          <a:xfrm>
            <a:off x="3614550" y="3148049"/>
            <a:ext cx="6128700" cy="762900"/>
          </a:xfrm>
          <a:prstGeom prst="roundRect">
            <a:avLst>
              <a:gd fmla="val 20338" name="adj"/>
            </a:avLst>
          </a:prstGeom>
          <a:solidFill>
            <a:srgbClr val="0F172A"/>
          </a:solidFill>
          <a:ln cap="flat" cmpd="sng" w="9525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37"/>
          <p:cNvSpPr txBox="1"/>
          <p:nvPr/>
        </p:nvSpPr>
        <p:spPr>
          <a:xfrm>
            <a:off x="4571993" y="3336602"/>
            <a:ext cx="4167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Python Lab Ready in Jupyter / </a:t>
            </a:r>
            <a:r>
              <a:rPr lang="en-US" sz="1200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Data Types Visualisation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38"/>
          <p:cNvSpPr/>
          <p:nvPr/>
        </p:nvSpPr>
        <p:spPr>
          <a:xfrm>
            <a:off x="609600" y="5972175"/>
            <a:ext cx="10972800" cy="428625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38"/>
          <p:cNvSpPr/>
          <p:nvPr/>
        </p:nvSpPr>
        <p:spPr>
          <a:xfrm>
            <a:off x="456325" y="1520101"/>
            <a:ext cx="3505200" cy="2253600"/>
          </a:xfrm>
          <a:prstGeom prst="roundRect">
            <a:avLst>
              <a:gd fmla="val 5613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38"/>
          <p:cNvSpPr/>
          <p:nvPr/>
        </p:nvSpPr>
        <p:spPr>
          <a:xfrm>
            <a:off x="4190125" y="1543900"/>
            <a:ext cx="3505200" cy="2253600"/>
          </a:xfrm>
          <a:prstGeom prst="roundRect">
            <a:avLst>
              <a:gd fmla="val 5747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38"/>
          <p:cNvSpPr/>
          <p:nvPr/>
        </p:nvSpPr>
        <p:spPr>
          <a:xfrm>
            <a:off x="7923925" y="1534375"/>
            <a:ext cx="3505200" cy="2239200"/>
          </a:xfrm>
          <a:prstGeom prst="roundRect">
            <a:avLst>
              <a:gd fmla="val 5693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38"/>
          <p:cNvSpPr/>
          <p:nvPr/>
        </p:nvSpPr>
        <p:spPr>
          <a:xfrm>
            <a:off x="609600" y="5972175"/>
            <a:ext cx="38100" cy="428625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38"/>
          <p:cNvSpPr/>
          <p:nvPr/>
        </p:nvSpPr>
        <p:spPr>
          <a:xfrm>
            <a:off x="675400" y="2691666"/>
            <a:ext cx="30672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38"/>
          <p:cNvSpPr/>
          <p:nvPr/>
        </p:nvSpPr>
        <p:spPr>
          <a:xfrm>
            <a:off x="4409200" y="2667854"/>
            <a:ext cx="30672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38"/>
          <p:cNvSpPr/>
          <p:nvPr/>
        </p:nvSpPr>
        <p:spPr>
          <a:xfrm>
            <a:off x="8143000" y="2677379"/>
            <a:ext cx="30672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38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563E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ACT 3: REPRESENTING NEURAL ACTIVITY • 10</a:t>
            </a:r>
            <a:endParaRPr/>
          </a:p>
        </p:txBody>
      </p:sp>
      <p:sp>
        <p:nvSpPr>
          <p:cNvPr id="410" name="Google Shape;410;p38"/>
          <p:cNvSpPr txBox="1"/>
          <p:nvPr/>
        </p:nvSpPr>
        <p:spPr>
          <a:xfrm>
            <a:off x="609600" y="685800"/>
            <a:ext cx="11582400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The Core Math Vocabulary: Just 3 Things!</a:t>
            </a:r>
            <a:endParaRPr/>
          </a:p>
        </p:txBody>
      </p:sp>
      <p:sp>
        <p:nvSpPr>
          <p:cNvPr id="411" name="Google Shape;411;p38"/>
          <p:cNvSpPr txBox="1"/>
          <p:nvPr/>
        </p:nvSpPr>
        <p:spPr>
          <a:xfrm>
            <a:off x="665875" y="1729641"/>
            <a:ext cx="31812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1. SCALAR (A NUMBER)</a:t>
            </a:r>
            <a:endParaRPr/>
          </a:p>
        </p:txBody>
      </p:sp>
      <p:sp>
        <p:nvSpPr>
          <p:cNvPr id="412" name="Google Shape;412;p38"/>
          <p:cNvSpPr txBox="1"/>
          <p:nvPr/>
        </p:nvSpPr>
        <p:spPr>
          <a:xfrm>
            <a:off x="4399675" y="1753454"/>
            <a:ext cx="31812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2. VECTOR (A LIST / ARROW)</a:t>
            </a:r>
            <a:endParaRPr/>
          </a:p>
        </p:txBody>
      </p:sp>
      <p:sp>
        <p:nvSpPr>
          <p:cNvPr id="413" name="Google Shape;413;p38"/>
          <p:cNvSpPr txBox="1"/>
          <p:nvPr/>
        </p:nvSpPr>
        <p:spPr>
          <a:xfrm>
            <a:off x="8133475" y="1743929"/>
            <a:ext cx="31812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DC2626"/>
                </a:solidFill>
                <a:latin typeface="Inter"/>
                <a:ea typeface="Inter"/>
                <a:cs typeface="Inter"/>
                <a:sym typeface="Inter"/>
              </a:rPr>
              <a:t>3. MATRIX (A SPREADSHEET)</a:t>
            </a:r>
            <a:endParaRPr/>
          </a:p>
        </p:txBody>
      </p:sp>
      <p:sp>
        <p:nvSpPr>
          <p:cNvPr id="414" name="Google Shape;414;p38"/>
          <p:cNvSpPr txBox="1"/>
          <p:nvPr/>
        </p:nvSpPr>
        <p:spPr>
          <a:xfrm>
            <a:off x="838200" y="6086475"/>
            <a:ext cx="113538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E40AF"/>
                </a:solidFill>
                <a:latin typeface="Inter"/>
                <a:ea typeface="Inter"/>
                <a:cs typeface="Inter"/>
                <a:sym typeface="Inter"/>
              </a:rPr>
              <a:t>That's it! In linear algebra, everything in your brain is either a number, a list, or a table.</a:t>
            </a:r>
            <a:endParaRPr/>
          </a:p>
        </p:txBody>
      </p:sp>
      <p:sp>
        <p:nvSpPr>
          <p:cNvPr id="415" name="Google Shape;415;p38"/>
          <p:cNvSpPr txBox="1"/>
          <p:nvPr/>
        </p:nvSpPr>
        <p:spPr>
          <a:xfrm>
            <a:off x="675400" y="2024916"/>
            <a:ext cx="3833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 = 5.2 Hz</a:t>
            </a:r>
            <a:endParaRPr/>
          </a:p>
        </p:txBody>
      </p:sp>
      <p:sp>
        <p:nvSpPr>
          <p:cNvPr id="416" name="Google Shape;416;p38"/>
          <p:cNvSpPr txBox="1"/>
          <p:nvPr/>
        </p:nvSpPr>
        <p:spPr>
          <a:xfrm>
            <a:off x="675400" y="2415441"/>
            <a:ext cx="38337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Just one single measurement.</a:t>
            </a:r>
            <a:endParaRPr/>
          </a:p>
        </p:txBody>
      </p:sp>
      <p:sp>
        <p:nvSpPr>
          <p:cNvPr id="417" name="Google Shape;417;p38"/>
          <p:cNvSpPr txBox="1"/>
          <p:nvPr/>
        </p:nvSpPr>
        <p:spPr>
          <a:xfrm>
            <a:off x="675400" y="2767866"/>
            <a:ext cx="3162300" cy="84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Where:</a:t>
            </a:r>
            <a:endParaRPr b="1" i="0" sz="1050" u="none" cap="none" strike="noStrike">
              <a:solidFill>
                <a:srgbClr val="64748B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81666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 • </a:t>
            </a:r>
            <a:r>
              <a:rPr b="1" i="0" lang="en-US" sz="10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r</a:t>
            </a:r>
            <a:r>
              <a:rPr b="0" i="0" lang="en-US" sz="10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 is a scalar (single number)</a:t>
            </a:r>
            <a:endParaRPr b="0" i="0" sz="1050" u="none" cap="none" strike="noStrike">
              <a:solidFill>
                <a:srgbClr val="64748B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81666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 • Firing rate of Neuron A right now</a:t>
            </a:r>
            <a:endParaRPr/>
          </a:p>
        </p:txBody>
      </p:sp>
      <p:sp>
        <p:nvSpPr>
          <p:cNvPr id="418" name="Google Shape;418;p38"/>
          <p:cNvSpPr txBox="1"/>
          <p:nvPr/>
        </p:nvSpPr>
        <p:spPr>
          <a:xfrm>
            <a:off x="4409200" y="2048729"/>
            <a:ext cx="38337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v = [5.2, 0.1, 8.7]ᵀ</a:t>
            </a:r>
            <a:endParaRPr/>
          </a:p>
        </p:txBody>
      </p:sp>
      <p:sp>
        <p:nvSpPr>
          <p:cNvPr id="419" name="Google Shape;419;p38"/>
          <p:cNvSpPr txBox="1"/>
          <p:nvPr/>
        </p:nvSpPr>
        <p:spPr>
          <a:xfrm>
            <a:off x="4409200" y="2391629"/>
            <a:ext cx="38337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 snapshot of a group of neurons.</a:t>
            </a:r>
            <a:endParaRPr/>
          </a:p>
        </p:txBody>
      </p:sp>
      <p:sp>
        <p:nvSpPr>
          <p:cNvPr id="420" name="Google Shape;420;p38"/>
          <p:cNvSpPr txBox="1"/>
          <p:nvPr/>
        </p:nvSpPr>
        <p:spPr>
          <a:xfrm>
            <a:off x="4409200" y="2744054"/>
            <a:ext cx="3162300" cy="84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Where:</a:t>
            </a:r>
            <a:endParaRPr b="1" i="0" sz="1050" u="none" cap="none" strike="noStrike">
              <a:solidFill>
                <a:srgbClr val="64748B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81666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 • </a:t>
            </a:r>
            <a:r>
              <a:rPr b="1" i="0" lang="en-US" sz="10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v</a:t>
            </a:r>
            <a:r>
              <a:rPr b="0" i="0" lang="en-US" sz="10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 is a 3D state vector</a:t>
            </a:r>
            <a:endParaRPr b="0" i="0" sz="1050" u="none" cap="none" strike="noStrike">
              <a:solidFill>
                <a:srgbClr val="64748B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81666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 • Rates of Neurons A, B, and C together</a:t>
            </a:r>
            <a:endParaRPr/>
          </a:p>
        </p:txBody>
      </p:sp>
      <p:sp>
        <p:nvSpPr>
          <p:cNvPr id="421" name="Google Shape;421;p38"/>
          <p:cNvSpPr txBox="1"/>
          <p:nvPr/>
        </p:nvSpPr>
        <p:spPr>
          <a:xfrm>
            <a:off x="8143000" y="2039204"/>
            <a:ext cx="38337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X ∈ ℝ^(N × T)</a:t>
            </a:r>
            <a:endParaRPr/>
          </a:p>
        </p:txBody>
      </p:sp>
      <p:sp>
        <p:nvSpPr>
          <p:cNvPr id="422" name="Google Shape;422;p38"/>
          <p:cNvSpPr txBox="1"/>
          <p:nvPr/>
        </p:nvSpPr>
        <p:spPr>
          <a:xfrm>
            <a:off x="8143000" y="2401154"/>
            <a:ext cx="38337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 stack of snapshots over time.</a:t>
            </a:r>
            <a:endParaRPr/>
          </a:p>
        </p:txBody>
      </p:sp>
      <p:sp>
        <p:nvSpPr>
          <p:cNvPr id="423" name="Google Shape;423;p38"/>
          <p:cNvSpPr txBox="1"/>
          <p:nvPr/>
        </p:nvSpPr>
        <p:spPr>
          <a:xfrm>
            <a:off x="8143000" y="2753579"/>
            <a:ext cx="3162300" cy="84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Where:</a:t>
            </a:r>
            <a:endParaRPr b="1" i="0" sz="1050" u="none" cap="none" strike="noStrike">
              <a:solidFill>
                <a:srgbClr val="64748B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81666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 • </a:t>
            </a:r>
            <a:r>
              <a:rPr b="1" i="0" lang="en-US" sz="10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N</a:t>
            </a:r>
            <a:r>
              <a:rPr b="0" i="0" lang="en-US" sz="10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 = number of recorded neurons</a:t>
            </a:r>
            <a:endParaRPr b="0" i="0" sz="1050" u="none" cap="none" strike="noStrike">
              <a:solidFill>
                <a:srgbClr val="64748B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81666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 • </a:t>
            </a:r>
            <a:r>
              <a:rPr b="1" i="0" lang="en-US" sz="10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T</a:t>
            </a:r>
            <a:r>
              <a:rPr b="0" i="0" lang="en-US" sz="10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 = time steps; </a:t>
            </a:r>
            <a:r>
              <a:rPr b="1" i="0" lang="en-US" sz="10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ℝ</a:t>
            </a:r>
            <a:r>
              <a:rPr b="0" i="0" lang="en-US" sz="10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 = real numbers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39"/>
          <p:cNvSpPr/>
          <p:nvPr/>
        </p:nvSpPr>
        <p:spPr>
          <a:xfrm>
            <a:off x="609600" y="2414587"/>
            <a:ext cx="5334000" cy="2876550"/>
          </a:xfrm>
          <a:prstGeom prst="roundRect">
            <a:avLst>
              <a:gd fmla="val 3973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39"/>
          <p:cNvSpPr/>
          <p:nvPr/>
        </p:nvSpPr>
        <p:spPr>
          <a:xfrm>
            <a:off x="6248400" y="2890837"/>
            <a:ext cx="5334000" cy="1924050"/>
          </a:xfrm>
          <a:prstGeom prst="roundRect">
            <a:avLst>
              <a:gd fmla="val 5940" name="adj"/>
            </a:avLst>
          </a:prstGeom>
          <a:solidFill>
            <a:srgbClr val="EFF6FF"/>
          </a:solidFill>
          <a:ln cap="flat" cmpd="sng" w="9525">
            <a:solidFill>
              <a:srgbClr val="BFDB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39"/>
          <p:cNvSpPr/>
          <p:nvPr/>
        </p:nvSpPr>
        <p:spPr>
          <a:xfrm>
            <a:off x="866775" y="3795712"/>
            <a:ext cx="4819650" cy="542925"/>
          </a:xfrm>
          <a:prstGeom prst="roundRect">
            <a:avLst>
              <a:gd fmla="val 10526" name="adj"/>
            </a:avLst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39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563E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ACT 3: REPRESENTING NEURAL ACTIVITY • 11</a:t>
            </a:r>
            <a:endParaRPr/>
          </a:p>
        </p:txBody>
      </p:sp>
      <p:sp>
        <p:nvSpPr>
          <p:cNvPr id="432" name="Google Shape;432;p39"/>
          <p:cNvSpPr txBox="1"/>
          <p:nvPr/>
        </p:nvSpPr>
        <p:spPr>
          <a:xfrm>
            <a:off x="609600" y="685800"/>
            <a:ext cx="11582400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Level 1: Tracking One Neuron Over Time</a:t>
            </a:r>
            <a:endParaRPr/>
          </a:p>
        </p:txBody>
      </p:sp>
      <p:sp>
        <p:nvSpPr>
          <p:cNvPr id="433" name="Google Shape;433;p39"/>
          <p:cNvSpPr txBox="1"/>
          <p:nvPr/>
        </p:nvSpPr>
        <p:spPr>
          <a:xfrm>
            <a:off x="857250" y="2662237"/>
            <a:ext cx="4933950" cy="2381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ONE CELL'S HEARTBEAT</a:t>
            </a:r>
            <a:endParaRPr/>
          </a:p>
        </p:txBody>
      </p:sp>
      <p:sp>
        <p:nvSpPr>
          <p:cNvPr id="434" name="Google Shape;434;p39"/>
          <p:cNvSpPr txBox="1"/>
          <p:nvPr/>
        </p:nvSpPr>
        <p:spPr>
          <a:xfrm>
            <a:off x="866775" y="2957512"/>
            <a:ext cx="632579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The Single-Neuron Vector</a:t>
            </a:r>
            <a:endParaRPr/>
          </a:p>
        </p:txBody>
      </p:sp>
      <p:sp>
        <p:nvSpPr>
          <p:cNvPr id="435" name="Google Shape;435;p39"/>
          <p:cNvSpPr txBox="1"/>
          <p:nvPr/>
        </p:nvSpPr>
        <p:spPr>
          <a:xfrm>
            <a:off x="866775" y="3300412"/>
            <a:ext cx="49149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If we record Neuron #1 for 5 seconds at 1 Hz intervals, we get 5 scalar numbers in a row:</a:t>
            </a:r>
            <a:endParaRPr/>
          </a:p>
        </p:txBody>
      </p:sp>
      <p:sp>
        <p:nvSpPr>
          <p:cNvPr id="436" name="Google Shape;436;p39"/>
          <p:cNvSpPr txBox="1"/>
          <p:nvPr/>
        </p:nvSpPr>
        <p:spPr>
          <a:xfrm>
            <a:off x="981075" y="3910012"/>
            <a:ext cx="46863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F172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x₁ = [4, 8, 15, 7, 2] Hz</a:t>
            </a:r>
            <a:endParaRPr/>
          </a:p>
        </p:txBody>
      </p:sp>
      <p:sp>
        <p:nvSpPr>
          <p:cNvPr id="437" name="Google Shape;437;p39"/>
          <p:cNvSpPr txBox="1"/>
          <p:nvPr/>
        </p:nvSpPr>
        <p:spPr>
          <a:xfrm>
            <a:off x="866775" y="4433887"/>
            <a:ext cx="4914900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Where: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1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• </a:t>
            </a:r>
            <a:r>
              <a:rPr b="1" i="0" lang="en-US" sz="11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x₁</a:t>
            </a:r>
            <a:r>
              <a:rPr b="0" i="0" lang="en-US" sz="11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is a 1 × 5 time-series vector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1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• Elements are firing rates at t = 1s, 2s, 3s, 4s, 5s</a:t>
            </a:r>
            <a:endParaRPr/>
          </a:p>
        </p:txBody>
      </p:sp>
      <p:sp>
        <p:nvSpPr>
          <p:cNvPr id="438" name="Google Shape;438;p39"/>
          <p:cNvSpPr txBox="1"/>
          <p:nvPr/>
        </p:nvSpPr>
        <p:spPr>
          <a:xfrm>
            <a:off x="6505575" y="3167062"/>
            <a:ext cx="23812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1D4ED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WHAT CAN WE DO WITH THIS?</a:t>
            </a:r>
            <a:endParaRPr/>
          </a:p>
        </p:txBody>
      </p:sp>
      <p:sp>
        <p:nvSpPr>
          <p:cNvPr id="439" name="Google Shape;439;p39"/>
          <p:cNvSpPr txBox="1"/>
          <p:nvPr/>
        </p:nvSpPr>
        <p:spPr>
          <a:xfrm>
            <a:off x="6505575" y="3452812"/>
            <a:ext cx="568642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• </a:t>
            </a:r>
            <a:r>
              <a:rPr b="1" i="0" lang="en-US" sz="13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Mean Firing Rate:</a:t>
            </a:r>
            <a:r>
              <a:rPr b="0" i="0" lang="en-US" sz="13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Sum elements and divide by T.</a:t>
            </a:r>
            <a:endParaRPr/>
          </a:p>
        </p:txBody>
      </p:sp>
      <p:sp>
        <p:nvSpPr>
          <p:cNvPr id="440" name="Google Shape;440;p39"/>
          <p:cNvSpPr txBox="1"/>
          <p:nvPr/>
        </p:nvSpPr>
        <p:spPr>
          <a:xfrm>
            <a:off x="6505575" y="3748087"/>
            <a:ext cx="568642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• </a:t>
            </a:r>
            <a:r>
              <a:rPr b="1" i="0" lang="en-US" sz="13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Burstiness (Variance):</a:t>
            </a:r>
            <a:r>
              <a:rPr b="0" i="0" lang="en-US" sz="13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How much the rate fluctuates.</a:t>
            </a:r>
            <a:endParaRPr/>
          </a:p>
        </p:txBody>
      </p:sp>
      <p:sp>
        <p:nvSpPr>
          <p:cNvPr id="441" name="Google Shape;441;p39"/>
          <p:cNvSpPr txBox="1"/>
          <p:nvPr/>
        </p:nvSpPr>
        <p:spPr>
          <a:xfrm>
            <a:off x="6505575" y="4043362"/>
            <a:ext cx="4914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40"/>
          <p:cNvSpPr/>
          <p:nvPr/>
        </p:nvSpPr>
        <p:spPr>
          <a:xfrm>
            <a:off x="609600" y="2709862"/>
            <a:ext cx="5343525" cy="2286000"/>
          </a:xfrm>
          <a:prstGeom prst="roundRect">
            <a:avLst>
              <a:gd fmla="val 5000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40"/>
          <p:cNvSpPr/>
          <p:nvPr/>
        </p:nvSpPr>
        <p:spPr>
          <a:xfrm>
            <a:off x="6257925" y="2738437"/>
            <a:ext cx="5324475" cy="2228850"/>
          </a:xfrm>
          <a:prstGeom prst="roundRect">
            <a:avLst>
              <a:gd fmla="val 5128" name="adj"/>
            </a:avLst>
          </a:prstGeom>
          <a:solidFill>
            <a:srgbClr val="0F17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40"/>
          <p:cNvSpPr/>
          <p:nvPr/>
        </p:nvSpPr>
        <p:spPr>
          <a:xfrm>
            <a:off x="6505575" y="3290887"/>
            <a:ext cx="4829175" cy="419100"/>
          </a:xfrm>
          <a:prstGeom prst="roundRect">
            <a:avLst>
              <a:gd fmla="val 13636" name="adj"/>
            </a:avLst>
          </a:prstGeom>
          <a:solidFill>
            <a:srgbClr val="13283F"/>
          </a:solidFill>
          <a:ln cap="flat" cmpd="sng" w="9525">
            <a:solidFill>
              <a:srgbClr val="1B49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40"/>
          <p:cNvSpPr/>
          <p:nvPr/>
        </p:nvSpPr>
        <p:spPr>
          <a:xfrm>
            <a:off x="6505575" y="3805237"/>
            <a:ext cx="4829175" cy="419100"/>
          </a:xfrm>
          <a:prstGeom prst="roundRect">
            <a:avLst>
              <a:gd fmla="val 13636" name="adj"/>
            </a:avLst>
          </a:prstGeom>
          <a:solidFill>
            <a:srgbClr val="261B2F"/>
          </a:solidFill>
          <a:ln cap="flat" cmpd="sng" w="9525">
            <a:solidFill>
              <a:srgbClr val="5423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40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563E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ACT 3: REPRESENTING NEURAL ACTIVITY • 12</a:t>
            </a:r>
            <a:endParaRPr/>
          </a:p>
        </p:txBody>
      </p:sp>
      <p:sp>
        <p:nvSpPr>
          <p:cNvPr id="451" name="Google Shape;451;p40"/>
          <p:cNvSpPr txBox="1"/>
          <p:nvPr/>
        </p:nvSpPr>
        <p:spPr>
          <a:xfrm>
            <a:off x="609600" y="685800"/>
            <a:ext cx="11582400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Level 2: The State Vector — One Instant in the Brain</a:t>
            </a:r>
            <a:endParaRPr/>
          </a:p>
        </p:txBody>
      </p:sp>
      <p:sp>
        <p:nvSpPr>
          <p:cNvPr id="452" name="Google Shape;452;p40"/>
          <p:cNvSpPr txBox="1"/>
          <p:nvPr/>
        </p:nvSpPr>
        <p:spPr>
          <a:xfrm>
            <a:off x="857250" y="2957512"/>
            <a:ext cx="4943475" cy="179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DC2626"/>
                </a:solidFill>
                <a:latin typeface="Inter"/>
                <a:ea typeface="Inter"/>
                <a:cs typeface="Inter"/>
                <a:sym typeface="Inter"/>
              </a:rPr>
              <a:t>THE POLAROID PHOTO ANALOGY</a:t>
            </a:r>
            <a:endParaRPr/>
          </a:p>
        </p:txBody>
      </p:sp>
      <p:sp>
        <p:nvSpPr>
          <p:cNvPr id="453" name="Google Shape;453;p40"/>
          <p:cNvSpPr txBox="1"/>
          <p:nvPr/>
        </p:nvSpPr>
        <p:spPr>
          <a:xfrm>
            <a:off x="866775" y="3252787"/>
            <a:ext cx="6338292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Freezing Time</a:t>
            </a:r>
            <a:endParaRPr/>
          </a:p>
        </p:txBody>
      </p:sp>
      <p:sp>
        <p:nvSpPr>
          <p:cNvPr id="454" name="Google Shape;454;p40"/>
          <p:cNvSpPr txBox="1"/>
          <p:nvPr/>
        </p:nvSpPr>
        <p:spPr>
          <a:xfrm>
            <a:off x="866775" y="3595687"/>
            <a:ext cx="6036468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Hit the pause button at time t = 2.45 seconds.</a:t>
            </a:r>
            <a:endParaRPr/>
          </a:p>
        </p:txBody>
      </p:sp>
      <p:sp>
        <p:nvSpPr>
          <p:cNvPr id="455" name="Google Shape;455;p40"/>
          <p:cNvSpPr txBox="1"/>
          <p:nvPr/>
        </p:nvSpPr>
        <p:spPr>
          <a:xfrm>
            <a:off x="866775" y="3890962"/>
            <a:ext cx="492442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Look at all N neurons right now. Their firing rates stack into a column vector:</a:t>
            </a:r>
            <a:endParaRPr/>
          </a:p>
        </p:txBody>
      </p:sp>
      <p:sp>
        <p:nvSpPr>
          <p:cNvPr id="456" name="Google Shape;456;p40"/>
          <p:cNvSpPr txBox="1"/>
          <p:nvPr/>
        </p:nvSpPr>
        <p:spPr>
          <a:xfrm>
            <a:off x="866775" y="4386262"/>
            <a:ext cx="6036468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563E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v(t) = [r₁, r₂, r₃, ... r_N]ᵀ</a:t>
            </a:r>
            <a:endParaRPr/>
          </a:p>
        </p:txBody>
      </p:sp>
      <p:sp>
        <p:nvSpPr>
          <p:cNvPr id="457" name="Google Shape;457;p40"/>
          <p:cNvSpPr txBox="1"/>
          <p:nvPr/>
        </p:nvSpPr>
        <p:spPr>
          <a:xfrm>
            <a:off x="6505575" y="3005137"/>
            <a:ext cx="31432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EVERY THOUGHT HAS A UNIQUE VECTOR</a:t>
            </a:r>
            <a:endParaRPr/>
          </a:p>
        </p:txBody>
      </p:sp>
      <p:sp>
        <p:nvSpPr>
          <p:cNvPr id="458" name="Google Shape;458;p40"/>
          <p:cNvSpPr txBox="1"/>
          <p:nvPr/>
        </p:nvSpPr>
        <p:spPr>
          <a:xfrm>
            <a:off x="6505575" y="4338637"/>
            <a:ext cx="4924425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Different patterns of activation mean completely different mental states!</a:t>
            </a:r>
            <a:endParaRPr/>
          </a:p>
        </p:txBody>
      </p:sp>
      <p:sp>
        <p:nvSpPr>
          <p:cNvPr id="459" name="Google Shape;459;p40"/>
          <p:cNvSpPr txBox="1"/>
          <p:nvPr/>
        </p:nvSpPr>
        <p:spPr>
          <a:xfrm>
            <a:off x="6648450" y="3395662"/>
            <a:ext cx="55435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7DD3FC"/>
                </a:solidFill>
                <a:latin typeface="Inter"/>
                <a:ea typeface="Inter"/>
                <a:cs typeface="Inter"/>
                <a:sym typeface="Inter"/>
              </a:rPr>
              <a:t>• Seeing a Pizza: v_pizza = [24, 2, 88, 5, 0]ᵀ</a:t>
            </a:r>
            <a:endParaRPr/>
          </a:p>
        </p:txBody>
      </p:sp>
      <p:sp>
        <p:nvSpPr>
          <p:cNvPr id="460" name="Google Shape;460;p40"/>
          <p:cNvSpPr txBox="1"/>
          <p:nvPr/>
        </p:nvSpPr>
        <p:spPr>
          <a:xfrm>
            <a:off x="6648450" y="3910012"/>
            <a:ext cx="55435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DA4AF"/>
                </a:solidFill>
                <a:latin typeface="Inter"/>
                <a:ea typeface="Inter"/>
                <a:cs typeface="Inter"/>
                <a:sym typeface="Inter"/>
              </a:rPr>
              <a:t>• Raising Your Left Hand: v_move = [0, 65, 3, 40, 12]ᵀ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41"/>
          <p:cNvSpPr/>
          <p:nvPr/>
        </p:nvSpPr>
        <p:spPr>
          <a:xfrm>
            <a:off x="609600" y="2146101"/>
            <a:ext cx="5805785" cy="3375273"/>
          </a:xfrm>
          <a:prstGeom prst="roundRect">
            <a:avLst>
              <a:gd fmla="val 3386" name="adj"/>
            </a:avLst>
          </a:prstGeom>
          <a:solidFill>
            <a:srgbClr val="0F17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41"/>
          <p:cNvSpPr/>
          <p:nvPr/>
        </p:nvSpPr>
        <p:spPr>
          <a:xfrm>
            <a:off x="838200" y="2660451"/>
            <a:ext cx="5348585" cy="1600051"/>
          </a:xfrm>
          <a:prstGeom prst="roundRect">
            <a:avLst>
              <a:gd fmla="val 4762" name="adj"/>
            </a:avLst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41"/>
          <p:cNvSpPr/>
          <p:nvPr/>
        </p:nvSpPr>
        <p:spPr>
          <a:xfrm>
            <a:off x="838200" y="4355752"/>
            <a:ext cx="5348585" cy="937021"/>
          </a:xfrm>
          <a:prstGeom prst="roundRect">
            <a:avLst>
              <a:gd fmla="val 6099" name="adj"/>
            </a:avLst>
          </a:prstGeom>
          <a:solidFill>
            <a:srgbClr val="1D253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41"/>
          <p:cNvSpPr/>
          <p:nvPr/>
        </p:nvSpPr>
        <p:spPr>
          <a:xfrm>
            <a:off x="6720185" y="2662237"/>
            <a:ext cx="4862214" cy="1104900"/>
          </a:xfrm>
          <a:prstGeom prst="roundRect">
            <a:avLst>
              <a:gd fmla="val 10344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41"/>
          <p:cNvSpPr/>
          <p:nvPr/>
        </p:nvSpPr>
        <p:spPr>
          <a:xfrm>
            <a:off x="6720185" y="3900487"/>
            <a:ext cx="4862214" cy="1104900"/>
          </a:xfrm>
          <a:prstGeom prst="roundRect">
            <a:avLst>
              <a:gd fmla="val 10344" name="adj"/>
            </a:avLst>
          </a:prstGeom>
          <a:solidFill>
            <a:srgbClr val="EFF6FF"/>
          </a:solidFill>
          <a:ln cap="flat" cmpd="sng" w="9525">
            <a:solidFill>
              <a:srgbClr val="BFDB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41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563E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ACT 3: REPRESENTING NEURAL ACTIVITY • 13</a:t>
            </a:r>
            <a:endParaRPr/>
          </a:p>
        </p:txBody>
      </p:sp>
      <p:sp>
        <p:nvSpPr>
          <p:cNvPr id="471" name="Google Shape;471;p41"/>
          <p:cNvSpPr txBox="1"/>
          <p:nvPr/>
        </p:nvSpPr>
        <p:spPr>
          <a:xfrm>
            <a:off x="609600" y="685800"/>
            <a:ext cx="11582400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Level 3: The Neural Data Matrix (Neurons × Time)</a:t>
            </a:r>
            <a:endParaRPr/>
          </a:p>
        </p:txBody>
      </p:sp>
      <p:sp>
        <p:nvSpPr>
          <p:cNvPr id="472" name="Google Shape;472;p41"/>
          <p:cNvSpPr txBox="1"/>
          <p:nvPr/>
        </p:nvSpPr>
        <p:spPr>
          <a:xfrm>
            <a:off x="952500" y="2774751"/>
            <a:ext cx="5215235" cy="13714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8FA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           t₁   t₂   t₃   t₄   t₅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F8FA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Neuron 1: [ 5.2, 8.1, 7.9, 2.0, 1.1 ]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F8FA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Neuron 2: [ 0.1, 0.4, 0.2, 9.5, 8.2 ]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F8FA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Neuron 3: [ 8.7, 4.3, 5.0, 0.1, 0.0 ]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F8FA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Neuron 4: [ 1.0, 2.2, 1.8, 4.5, 3.9 ]</a:t>
            </a:r>
            <a:endParaRPr/>
          </a:p>
        </p:txBody>
      </p:sp>
      <p:sp>
        <p:nvSpPr>
          <p:cNvPr id="473" name="Google Shape;473;p41"/>
          <p:cNvSpPr txBox="1"/>
          <p:nvPr/>
        </p:nvSpPr>
        <p:spPr>
          <a:xfrm>
            <a:off x="952500" y="4451002"/>
            <a:ext cx="5215235" cy="7465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Where: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• </a:t>
            </a:r>
            <a:r>
              <a:rPr b="1" i="0" lang="en-US" sz="10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X</a:t>
            </a:r>
            <a:r>
              <a:rPr b="0" i="0" lang="en-US" sz="10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is the complete data matrix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• </a:t>
            </a:r>
            <a:r>
              <a:rPr b="1" i="0" lang="en-US" sz="10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N</a:t>
            </a:r>
            <a:r>
              <a:rPr b="0" i="0" lang="en-US" sz="10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is rows (neurons); </a:t>
            </a:r>
            <a:r>
              <a:rPr b="1" i="0" lang="en-US" sz="10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</a:t>
            </a:r>
            <a:r>
              <a:rPr b="0" i="0" lang="en-US" sz="10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is columns (time steps)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• </a:t>
            </a:r>
            <a:r>
              <a:rPr b="1" i="0" lang="en-US" sz="10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X_ij</a:t>
            </a:r>
            <a:r>
              <a:rPr b="0" i="0" lang="en-US" sz="10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is the firing rate of neuron i at time point j</a:t>
            </a:r>
            <a:endParaRPr/>
          </a:p>
        </p:txBody>
      </p:sp>
      <p:sp>
        <p:nvSpPr>
          <p:cNvPr id="474" name="Google Shape;474;p41"/>
          <p:cNvSpPr txBox="1"/>
          <p:nvPr/>
        </p:nvSpPr>
        <p:spPr>
          <a:xfrm>
            <a:off x="838200" y="2374701"/>
            <a:ext cx="1964531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MATRIX X ∈ ℝ^(N × T)</a:t>
            </a:r>
            <a:endParaRPr/>
          </a:p>
        </p:txBody>
      </p:sp>
      <p:sp>
        <p:nvSpPr>
          <p:cNvPr id="475" name="Google Shape;475;p41"/>
          <p:cNvSpPr txBox="1"/>
          <p:nvPr/>
        </p:nvSpPr>
        <p:spPr>
          <a:xfrm>
            <a:off x="4719935" y="2388989"/>
            <a:ext cx="1833562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4 Neurons × 5 Seconds</a:t>
            </a:r>
            <a:endParaRPr/>
          </a:p>
        </p:txBody>
      </p:sp>
      <p:sp>
        <p:nvSpPr>
          <p:cNvPr id="476" name="Google Shape;476;p41"/>
          <p:cNvSpPr txBox="1"/>
          <p:nvPr/>
        </p:nvSpPr>
        <p:spPr>
          <a:xfrm>
            <a:off x="6920210" y="2862262"/>
            <a:ext cx="5271789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Looking Across Rows</a:t>
            </a:r>
            <a:endParaRPr/>
          </a:p>
        </p:txBody>
      </p:sp>
      <p:sp>
        <p:nvSpPr>
          <p:cNvPr id="477" name="Google Shape;477;p41"/>
          <p:cNvSpPr txBox="1"/>
          <p:nvPr/>
        </p:nvSpPr>
        <p:spPr>
          <a:xfrm>
            <a:off x="6920210" y="3167062"/>
            <a:ext cx="4557414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Each row is the complete life story of one single neuron across the session.</a:t>
            </a:r>
            <a:endParaRPr/>
          </a:p>
        </p:txBody>
      </p:sp>
      <p:sp>
        <p:nvSpPr>
          <p:cNvPr id="478" name="Google Shape;478;p41"/>
          <p:cNvSpPr txBox="1"/>
          <p:nvPr/>
        </p:nvSpPr>
        <p:spPr>
          <a:xfrm>
            <a:off x="6920210" y="4100512"/>
            <a:ext cx="5271789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40AF"/>
                </a:solidFill>
                <a:latin typeface="Space Grotesk"/>
                <a:ea typeface="Space Grotesk"/>
                <a:cs typeface="Space Grotesk"/>
                <a:sym typeface="Space Grotesk"/>
              </a:rPr>
              <a:t>Looking Down Columns</a:t>
            </a:r>
            <a:endParaRPr/>
          </a:p>
        </p:txBody>
      </p:sp>
      <p:sp>
        <p:nvSpPr>
          <p:cNvPr id="479" name="Google Shape;479;p41"/>
          <p:cNvSpPr txBox="1"/>
          <p:nvPr/>
        </p:nvSpPr>
        <p:spPr>
          <a:xfrm>
            <a:off x="6920210" y="4405312"/>
            <a:ext cx="4557414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3A8A"/>
                </a:solidFill>
                <a:latin typeface="Inter"/>
                <a:ea typeface="Inter"/>
                <a:cs typeface="Inter"/>
                <a:sym typeface="Inter"/>
              </a:rPr>
              <a:t>Each column is a snapshot state vector of the entire brain choir at that instant.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42"/>
          <p:cNvSpPr/>
          <p:nvPr/>
        </p:nvSpPr>
        <p:spPr>
          <a:xfrm>
            <a:off x="609600" y="2314575"/>
            <a:ext cx="4902844" cy="3057525"/>
          </a:xfrm>
          <a:prstGeom prst="roundRect">
            <a:avLst>
              <a:gd fmla="val 3738" name="adj"/>
            </a:avLst>
          </a:prstGeom>
          <a:solidFill>
            <a:srgbClr val="0F17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42"/>
          <p:cNvSpPr/>
          <p:nvPr/>
        </p:nvSpPr>
        <p:spPr>
          <a:xfrm>
            <a:off x="5817244" y="2452687"/>
            <a:ext cx="5765155" cy="2781300"/>
          </a:xfrm>
          <a:prstGeom prst="roundRect">
            <a:avLst>
              <a:gd fmla="val 4109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486" name="Google Shape;486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55369" y="2976562"/>
            <a:ext cx="5288905" cy="1524000"/>
          </a:xfrm>
          <a:prstGeom prst="rect">
            <a:avLst/>
          </a:prstGeom>
          <a:noFill/>
          <a:ln>
            <a:noFill/>
          </a:ln>
        </p:spPr>
      </p:pic>
      <p:sp>
        <p:nvSpPr>
          <p:cNvPr id="487" name="Google Shape;487;p42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563E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ACT 3: REPRESENTING NEURAL ACTIVITY • 14</a:t>
            </a:r>
            <a:endParaRPr/>
          </a:p>
        </p:txBody>
      </p:sp>
      <p:sp>
        <p:nvSpPr>
          <p:cNvPr id="488" name="Google Shape;488;p42"/>
          <p:cNvSpPr txBox="1"/>
          <p:nvPr/>
        </p:nvSpPr>
        <p:spPr>
          <a:xfrm>
            <a:off x="609600" y="685800"/>
            <a:ext cx="11582400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Mind-Blowing Leap: Brain States as Coordinates</a:t>
            </a:r>
            <a:endParaRPr/>
          </a:p>
        </p:txBody>
      </p:sp>
      <p:sp>
        <p:nvSpPr>
          <p:cNvPr id="489" name="Google Shape;489;p42"/>
          <p:cNvSpPr txBox="1"/>
          <p:nvPr/>
        </p:nvSpPr>
        <p:spPr>
          <a:xfrm>
            <a:off x="857250" y="2562225"/>
            <a:ext cx="4502794" cy="2562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MINECRAFT / 3D GRAPHICS ANALOGY</a:t>
            </a:r>
            <a:endParaRPr/>
          </a:p>
        </p:txBody>
      </p:sp>
      <p:sp>
        <p:nvSpPr>
          <p:cNvPr id="490" name="Google Shape;490;p42"/>
          <p:cNvSpPr txBox="1"/>
          <p:nvPr/>
        </p:nvSpPr>
        <p:spPr>
          <a:xfrm>
            <a:off x="857250" y="2867025"/>
            <a:ext cx="4502794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8FA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Player = (X, Y, Z)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F8FA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Brain State = (</a:t>
            </a:r>
            <a:r>
              <a:rPr b="0" i="0" lang="en-US" sz="1800" u="none" cap="none" strike="noStrike">
                <a:solidFill>
                  <a:srgbClr val="60A5F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Neuron 1</a:t>
            </a:r>
            <a:r>
              <a:rPr b="0" i="0" lang="en-US" sz="1800" u="none" cap="none" strike="noStrike">
                <a:solidFill>
                  <a:srgbClr val="F8FA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, </a:t>
            </a:r>
            <a:r>
              <a:rPr b="0" i="0" lang="en-US" sz="1800" u="none" cap="none" strike="noStrike">
                <a:solidFill>
                  <a:srgbClr val="34D39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Neuron 2</a:t>
            </a:r>
            <a:r>
              <a:rPr b="0" i="0" lang="en-US" sz="1800" u="none" cap="none" strike="noStrike">
                <a:solidFill>
                  <a:srgbClr val="F8FA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, </a:t>
            </a:r>
            <a:r>
              <a:rPr b="0" i="0" lang="en-US" sz="1800" u="none" cap="none" strike="noStrike">
                <a:solidFill>
                  <a:srgbClr val="F472B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Neuron 3</a:t>
            </a:r>
            <a:r>
              <a:rPr b="0" i="0" lang="en-US" sz="1800" u="none" cap="none" strike="noStrike">
                <a:solidFill>
                  <a:srgbClr val="F8FA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</a:t>
            </a:r>
            <a:endParaRPr/>
          </a:p>
        </p:txBody>
      </p:sp>
      <p:sp>
        <p:nvSpPr>
          <p:cNvPr id="491" name="Google Shape;491;p42"/>
          <p:cNvSpPr txBox="1"/>
          <p:nvPr/>
        </p:nvSpPr>
        <p:spPr>
          <a:xfrm>
            <a:off x="857250" y="4010025"/>
            <a:ext cx="4502794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Imagine each neuron is one axis in a 3D coordinate grid.</a:t>
            </a:r>
            <a:endParaRPr/>
          </a:p>
        </p:txBody>
      </p:sp>
      <p:sp>
        <p:nvSpPr>
          <p:cNvPr id="492" name="Google Shape;492;p42"/>
          <p:cNvSpPr txBox="1"/>
          <p:nvPr/>
        </p:nvSpPr>
        <p:spPr>
          <a:xfrm>
            <a:off x="857250" y="4524375"/>
            <a:ext cx="4502794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If Neuron 1 fires at 5 Hz, Neuron 2 at 8 Hz, and Neuron 3 at 1 Hz, your brain is sitting at coordinate (5, 8, 1)!</a:t>
            </a:r>
            <a:endParaRPr/>
          </a:p>
        </p:txBody>
      </p:sp>
      <p:sp>
        <p:nvSpPr>
          <p:cNvPr id="493" name="Google Shape;493;p42"/>
          <p:cNvSpPr txBox="1"/>
          <p:nvPr/>
        </p:nvSpPr>
        <p:spPr>
          <a:xfrm>
            <a:off x="6055369" y="4595812"/>
            <a:ext cx="538415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As you think, move, or sleep, this dot glides through space tracing a continuous curve!</a:t>
            </a:r>
            <a:endParaRPr/>
          </a:p>
        </p:txBody>
      </p:sp>
      <p:sp>
        <p:nvSpPr>
          <p:cNvPr id="494" name="Google Shape;494;p42"/>
          <p:cNvSpPr txBox="1"/>
          <p:nvPr/>
        </p:nvSpPr>
        <p:spPr>
          <a:xfrm>
            <a:off x="6055369" y="2690812"/>
            <a:ext cx="20002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563E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3D NEURAL STATE SPACE</a:t>
            </a:r>
            <a:endParaRPr/>
          </a:p>
        </p:txBody>
      </p:sp>
      <p:sp>
        <p:nvSpPr>
          <p:cNvPr id="495" name="Google Shape;495;p42"/>
          <p:cNvSpPr txBox="1"/>
          <p:nvPr/>
        </p:nvSpPr>
        <p:spPr>
          <a:xfrm>
            <a:off x="9191625" y="2695575"/>
            <a:ext cx="2690812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Neuron 1 vs Neuron 2 vs Neuron 3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43"/>
          <p:cNvSpPr/>
          <p:nvPr/>
        </p:nvSpPr>
        <p:spPr>
          <a:xfrm>
            <a:off x="609600" y="2819400"/>
            <a:ext cx="5353050" cy="2066925"/>
          </a:xfrm>
          <a:prstGeom prst="roundRect">
            <a:avLst>
              <a:gd fmla="val 5529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43"/>
          <p:cNvSpPr/>
          <p:nvPr/>
        </p:nvSpPr>
        <p:spPr>
          <a:xfrm>
            <a:off x="6267450" y="2747962"/>
            <a:ext cx="5314950" cy="2209800"/>
          </a:xfrm>
          <a:prstGeom prst="roundRect">
            <a:avLst>
              <a:gd fmla="val 5172" name="adj"/>
            </a:avLst>
          </a:prstGeom>
          <a:solidFill>
            <a:srgbClr val="EFF6FF"/>
          </a:solidFill>
          <a:ln cap="flat" cmpd="sng" w="9525">
            <a:solidFill>
              <a:srgbClr val="BFDB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43"/>
          <p:cNvSpPr/>
          <p:nvPr/>
        </p:nvSpPr>
        <p:spPr>
          <a:xfrm>
            <a:off x="6505575" y="3290887"/>
            <a:ext cx="4838700" cy="409575"/>
          </a:xfrm>
          <a:prstGeom prst="roundRect">
            <a:avLst>
              <a:gd fmla="val 13953" name="adj"/>
            </a:avLst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43"/>
          <p:cNvSpPr/>
          <p:nvPr/>
        </p:nvSpPr>
        <p:spPr>
          <a:xfrm>
            <a:off x="6505575" y="3795712"/>
            <a:ext cx="4838700" cy="409575"/>
          </a:xfrm>
          <a:prstGeom prst="roundRect">
            <a:avLst>
              <a:gd fmla="val 13953" name="adj"/>
            </a:avLst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43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563E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ACT 3: REPRESENTING NEURAL ACTIVITY • 15</a:t>
            </a:r>
            <a:endParaRPr/>
          </a:p>
        </p:txBody>
      </p:sp>
      <p:sp>
        <p:nvSpPr>
          <p:cNvPr id="505" name="Google Shape;505;p43"/>
          <p:cNvSpPr txBox="1"/>
          <p:nvPr/>
        </p:nvSpPr>
        <p:spPr>
          <a:xfrm>
            <a:off x="609600" y="685800"/>
            <a:ext cx="11582400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Tracing Thought Curves: Neural Trajectories</a:t>
            </a:r>
            <a:endParaRPr/>
          </a:p>
        </p:txBody>
      </p:sp>
      <p:sp>
        <p:nvSpPr>
          <p:cNvPr id="506" name="Google Shape;506;p43"/>
          <p:cNvSpPr txBox="1"/>
          <p:nvPr/>
        </p:nvSpPr>
        <p:spPr>
          <a:xfrm>
            <a:off x="857250" y="3067050"/>
            <a:ext cx="4953000" cy="1571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THE LIVING TRAJECTORY</a:t>
            </a:r>
            <a:endParaRPr/>
          </a:p>
        </p:txBody>
      </p:sp>
      <p:sp>
        <p:nvSpPr>
          <p:cNvPr id="507" name="Google Shape;507;p43"/>
          <p:cNvSpPr txBox="1"/>
          <p:nvPr/>
        </p:nvSpPr>
        <p:spPr>
          <a:xfrm>
            <a:off x="866775" y="3362325"/>
            <a:ext cx="6350793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Thoughts in Motion</a:t>
            </a:r>
            <a:endParaRPr/>
          </a:p>
        </p:txBody>
      </p:sp>
      <p:sp>
        <p:nvSpPr>
          <p:cNvPr id="508" name="Google Shape;508;p43"/>
          <p:cNvSpPr txBox="1"/>
          <p:nvPr/>
        </p:nvSpPr>
        <p:spPr>
          <a:xfrm>
            <a:off x="866775" y="3705225"/>
            <a:ext cx="49339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As you execute an action (like throwing a basketball), your firing rates continuously evolve.</a:t>
            </a:r>
            <a:endParaRPr/>
          </a:p>
        </p:txBody>
      </p:sp>
      <p:sp>
        <p:nvSpPr>
          <p:cNvPr id="509" name="Google Shape;509;p43"/>
          <p:cNvSpPr txBox="1"/>
          <p:nvPr/>
        </p:nvSpPr>
        <p:spPr>
          <a:xfrm>
            <a:off x="866775" y="4200525"/>
            <a:ext cx="493395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The sequence of points </a:t>
            </a:r>
            <a:r>
              <a:rPr b="1" i="0" lang="en-US" sz="13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v(t₁), v(t₂), v(t₃)...</a:t>
            </a:r>
            <a:r>
              <a:rPr b="0" i="0" lang="en-US" sz="13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traces a smooth, looping ribbon through state space!</a:t>
            </a:r>
            <a:endParaRPr/>
          </a:p>
        </p:txBody>
      </p:sp>
      <p:sp>
        <p:nvSpPr>
          <p:cNvPr id="510" name="Google Shape;510;p43"/>
          <p:cNvSpPr txBox="1"/>
          <p:nvPr/>
        </p:nvSpPr>
        <p:spPr>
          <a:xfrm>
            <a:off x="6505575" y="3005137"/>
            <a:ext cx="1524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1D4ED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WHY THIS MATTERS</a:t>
            </a:r>
            <a:endParaRPr/>
          </a:p>
        </p:txBody>
      </p:sp>
      <p:sp>
        <p:nvSpPr>
          <p:cNvPr id="511" name="Google Shape;511;p43"/>
          <p:cNvSpPr txBox="1"/>
          <p:nvPr/>
        </p:nvSpPr>
        <p:spPr>
          <a:xfrm>
            <a:off x="6505575" y="4319587"/>
            <a:ext cx="49339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40AF"/>
                </a:solidFill>
                <a:latin typeface="Inter"/>
                <a:ea typeface="Inter"/>
                <a:cs typeface="Inter"/>
                <a:sym typeface="Inter"/>
              </a:rPr>
              <a:t>By watching the path, an AI decoder knows what you will do before your arm even moves!</a:t>
            </a:r>
            <a:endParaRPr/>
          </a:p>
        </p:txBody>
      </p:sp>
      <p:sp>
        <p:nvSpPr>
          <p:cNvPr id="512" name="Google Shape;512;p43"/>
          <p:cNvSpPr txBox="1"/>
          <p:nvPr/>
        </p:nvSpPr>
        <p:spPr>
          <a:xfrm>
            <a:off x="6648450" y="3395662"/>
            <a:ext cx="55435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• </a:t>
            </a:r>
            <a:r>
              <a:rPr b="1" i="0" lang="en-US" sz="13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Reach Left:</a:t>
            </a:r>
            <a:r>
              <a:rPr b="0" i="0" lang="en-US" sz="13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Trajectory loops counter-clockwise.</a:t>
            </a:r>
            <a:endParaRPr/>
          </a:p>
        </p:txBody>
      </p:sp>
      <p:sp>
        <p:nvSpPr>
          <p:cNvPr id="513" name="Google Shape;513;p43"/>
          <p:cNvSpPr txBox="1"/>
          <p:nvPr/>
        </p:nvSpPr>
        <p:spPr>
          <a:xfrm>
            <a:off x="6648450" y="3900487"/>
            <a:ext cx="55435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• </a:t>
            </a:r>
            <a:r>
              <a:rPr b="1" i="0" lang="en-US" sz="13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Reach Right:</a:t>
            </a:r>
            <a:r>
              <a:rPr b="0" i="0" lang="en-US" sz="13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Trajectory loops clockwise!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p44"/>
          <p:cNvSpPr/>
          <p:nvPr/>
        </p:nvSpPr>
        <p:spPr>
          <a:xfrm>
            <a:off x="609600" y="5981700"/>
            <a:ext cx="10972800" cy="4191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p44"/>
          <p:cNvSpPr/>
          <p:nvPr/>
        </p:nvSpPr>
        <p:spPr>
          <a:xfrm>
            <a:off x="609600" y="457200"/>
            <a:ext cx="3600450" cy="304800"/>
          </a:xfrm>
          <a:prstGeom prst="roundRect">
            <a:avLst>
              <a:gd fmla="val 18750" name="adj"/>
            </a:avLst>
          </a:prstGeom>
          <a:solidFill>
            <a:srgbClr val="EFF6FF"/>
          </a:solidFill>
          <a:ln cap="flat" cmpd="sng" w="9525">
            <a:solidFill>
              <a:srgbClr val="BFDB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44"/>
          <p:cNvSpPr/>
          <p:nvPr/>
        </p:nvSpPr>
        <p:spPr>
          <a:xfrm>
            <a:off x="609600" y="2905125"/>
            <a:ext cx="5391150" cy="866775"/>
          </a:xfrm>
          <a:prstGeom prst="roundRect">
            <a:avLst>
              <a:gd fmla="val 13186" name="adj"/>
            </a:avLst>
          </a:prstGeom>
          <a:solidFill>
            <a:srgbClr val="F8FAFC"/>
          </a:solidFill>
          <a:ln cap="flat" cmpd="sng" w="1905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44"/>
          <p:cNvSpPr/>
          <p:nvPr/>
        </p:nvSpPr>
        <p:spPr>
          <a:xfrm>
            <a:off x="6191250" y="2905125"/>
            <a:ext cx="5391150" cy="866775"/>
          </a:xfrm>
          <a:prstGeom prst="roundRect">
            <a:avLst>
              <a:gd fmla="val 13186" name="adj"/>
            </a:avLst>
          </a:prstGeom>
          <a:solidFill>
            <a:srgbClr val="F8FAFC"/>
          </a:solidFill>
          <a:ln cap="flat" cmpd="sng" w="1905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p44"/>
          <p:cNvSpPr/>
          <p:nvPr/>
        </p:nvSpPr>
        <p:spPr>
          <a:xfrm>
            <a:off x="609600" y="3962400"/>
            <a:ext cx="5391150" cy="866775"/>
          </a:xfrm>
          <a:prstGeom prst="roundRect">
            <a:avLst>
              <a:gd fmla="val 13186" name="adj"/>
            </a:avLst>
          </a:prstGeom>
          <a:solidFill>
            <a:srgbClr val="F8FAFC"/>
          </a:solidFill>
          <a:ln cap="flat" cmpd="sng" w="1905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p44"/>
          <p:cNvSpPr/>
          <p:nvPr/>
        </p:nvSpPr>
        <p:spPr>
          <a:xfrm>
            <a:off x="6191250" y="3962400"/>
            <a:ext cx="5391150" cy="866775"/>
          </a:xfrm>
          <a:prstGeom prst="roundRect">
            <a:avLst>
              <a:gd fmla="val 13186" name="adj"/>
            </a:avLst>
          </a:prstGeom>
          <a:solidFill>
            <a:srgbClr val="F8FAFC"/>
          </a:solidFill>
          <a:ln cap="flat" cmpd="sng" w="1905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p44"/>
          <p:cNvSpPr/>
          <p:nvPr/>
        </p:nvSpPr>
        <p:spPr>
          <a:xfrm>
            <a:off x="609600" y="5981700"/>
            <a:ext cx="38100" cy="419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" name="Google Shape;525;p44"/>
          <p:cNvSpPr/>
          <p:nvPr/>
        </p:nvSpPr>
        <p:spPr>
          <a:xfrm>
            <a:off x="819150" y="3128962"/>
            <a:ext cx="419100" cy="419100"/>
          </a:xfrm>
          <a:prstGeom prst="roundRect">
            <a:avLst>
              <a:gd fmla="val 18181" name="adj"/>
            </a:avLst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6" name="Google Shape;526;p44"/>
          <p:cNvSpPr/>
          <p:nvPr/>
        </p:nvSpPr>
        <p:spPr>
          <a:xfrm>
            <a:off x="6400800" y="3128962"/>
            <a:ext cx="419100" cy="419100"/>
          </a:xfrm>
          <a:prstGeom prst="roundRect">
            <a:avLst>
              <a:gd fmla="val 18181" name="adj"/>
            </a:avLst>
          </a:prstGeom>
          <a:solidFill>
            <a:srgbClr val="0596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" name="Google Shape;527;p44"/>
          <p:cNvSpPr/>
          <p:nvPr/>
        </p:nvSpPr>
        <p:spPr>
          <a:xfrm>
            <a:off x="819150" y="4186237"/>
            <a:ext cx="419100" cy="419100"/>
          </a:xfrm>
          <a:prstGeom prst="roundRect">
            <a:avLst>
              <a:gd fmla="val 18181" name="adj"/>
            </a:avLst>
          </a:prstGeom>
          <a:solidFill>
            <a:srgbClr val="D9770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p44"/>
          <p:cNvSpPr/>
          <p:nvPr/>
        </p:nvSpPr>
        <p:spPr>
          <a:xfrm>
            <a:off x="6400800" y="4186237"/>
            <a:ext cx="419100" cy="419100"/>
          </a:xfrm>
          <a:prstGeom prst="roundRect">
            <a:avLst>
              <a:gd fmla="val 18181" name="adj"/>
            </a:avLst>
          </a:prstGeom>
          <a:solidFill>
            <a:srgbClr val="7C3AE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529" name="Google Shape;529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2475" y="542925"/>
            <a:ext cx="133350" cy="133350"/>
          </a:xfrm>
          <a:prstGeom prst="rect">
            <a:avLst/>
          </a:prstGeom>
          <a:noFill/>
          <a:ln>
            <a:noFill/>
          </a:ln>
        </p:spPr>
      </p:pic>
      <p:sp>
        <p:nvSpPr>
          <p:cNvPr id="530" name="Google Shape;530;p44"/>
          <p:cNvSpPr txBox="1"/>
          <p:nvPr/>
        </p:nvSpPr>
        <p:spPr>
          <a:xfrm>
            <a:off x="609600" y="876300"/>
            <a:ext cx="115824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The 300-Neuron Coordinate Riddle</a:t>
            </a:r>
            <a:endParaRPr/>
          </a:p>
        </p:txBody>
      </p:sp>
      <p:sp>
        <p:nvSpPr>
          <p:cNvPr id="531" name="Google Shape;531;p44"/>
          <p:cNvSpPr txBox="1"/>
          <p:nvPr/>
        </p:nvSpPr>
        <p:spPr>
          <a:xfrm>
            <a:off x="609600" y="1352550"/>
            <a:ext cx="110680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 silicon probe records 300 neurons at the exact same millisecond. In math, how many coordinate axes do you need to plot this single snapshot?</a:t>
            </a:r>
            <a:endParaRPr/>
          </a:p>
        </p:txBody>
      </p:sp>
      <p:sp>
        <p:nvSpPr>
          <p:cNvPr id="532" name="Google Shape;532;p44"/>
          <p:cNvSpPr txBox="1"/>
          <p:nvPr/>
        </p:nvSpPr>
        <p:spPr>
          <a:xfrm>
            <a:off x="838200" y="6096000"/>
            <a:ext cx="11353800" cy="19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1E40AF"/>
                </a:solidFill>
                <a:latin typeface="Inter"/>
                <a:ea typeface="Inter"/>
                <a:cs typeface="Inter"/>
                <a:sym typeface="Inter"/>
              </a:rPr>
              <a:t>💬 What do you think? </a:t>
            </a:r>
            <a:endParaRPr/>
          </a:p>
        </p:txBody>
      </p:sp>
      <p:sp>
        <p:nvSpPr>
          <p:cNvPr id="533" name="Google Shape;533;p44"/>
          <p:cNvSpPr txBox="1"/>
          <p:nvPr/>
        </p:nvSpPr>
        <p:spPr>
          <a:xfrm>
            <a:off x="752475" y="523875"/>
            <a:ext cx="414337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905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563E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INTERACTIVE TEASER #2 • SPATIAL THINKING</a:t>
            </a:r>
            <a:endParaRPr/>
          </a:p>
        </p:txBody>
      </p:sp>
      <p:sp>
        <p:nvSpPr>
          <p:cNvPr id="534" name="Google Shape;534;p44"/>
          <p:cNvSpPr txBox="1"/>
          <p:nvPr/>
        </p:nvSpPr>
        <p:spPr>
          <a:xfrm>
            <a:off x="676275" y="3128962"/>
            <a:ext cx="704850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</a:t>
            </a:r>
            <a:endParaRPr/>
          </a:p>
        </p:txBody>
      </p:sp>
      <p:sp>
        <p:nvSpPr>
          <p:cNvPr id="535" name="Google Shape;535;p44"/>
          <p:cNvSpPr txBox="1"/>
          <p:nvPr/>
        </p:nvSpPr>
        <p:spPr>
          <a:xfrm>
            <a:off x="6257925" y="3128962"/>
            <a:ext cx="704850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B</a:t>
            </a:r>
            <a:endParaRPr/>
          </a:p>
        </p:txBody>
      </p:sp>
      <p:sp>
        <p:nvSpPr>
          <p:cNvPr id="536" name="Google Shape;536;p44"/>
          <p:cNvSpPr txBox="1"/>
          <p:nvPr/>
        </p:nvSpPr>
        <p:spPr>
          <a:xfrm>
            <a:off x="676275" y="4186237"/>
            <a:ext cx="704850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</a:t>
            </a:r>
            <a:endParaRPr/>
          </a:p>
        </p:txBody>
      </p:sp>
      <p:sp>
        <p:nvSpPr>
          <p:cNvPr id="537" name="Google Shape;537;p44"/>
          <p:cNvSpPr txBox="1"/>
          <p:nvPr/>
        </p:nvSpPr>
        <p:spPr>
          <a:xfrm>
            <a:off x="6257925" y="4186237"/>
            <a:ext cx="704850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</a:t>
            </a:r>
            <a:endParaRPr/>
          </a:p>
        </p:txBody>
      </p:sp>
      <p:sp>
        <p:nvSpPr>
          <p:cNvPr id="538" name="Google Shape;538;p44"/>
          <p:cNvSpPr txBox="1"/>
          <p:nvPr/>
        </p:nvSpPr>
        <p:spPr>
          <a:xfrm>
            <a:off x="1390650" y="3114675"/>
            <a:ext cx="4631531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3 Axes (X, Y, Z)</a:t>
            </a:r>
            <a:endParaRPr/>
          </a:p>
        </p:txBody>
      </p:sp>
      <p:sp>
        <p:nvSpPr>
          <p:cNvPr id="539" name="Google Shape;539;p44"/>
          <p:cNvSpPr txBox="1"/>
          <p:nvPr/>
        </p:nvSpPr>
        <p:spPr>
          <a:xfrm>
            <a:off x="1390650" y="3381375"/>
            <a:ext cx="4631531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Because physical reality has only 3 spatial dimensions.</a:t>
            </a:r>
            <a:endParaRPr/>
          </a:p>
        </p:txBody>
      </p:sp>
      <p:sp>
        <p:nvSpPr>
          <p:cNvPr id="540" name="Google Shape;540;p44"/>
          <p:cNvSpPr txBox="1"/>
          <p:nvPr/>
        </p:nvSpPr>
        <p:spPr>
          <a:xfrm>
            <a:off x="6972300" y="3114675"/>
            <a:ext cx="4024312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300 Axes!</a:t>
            </a:r>
            <a:endParaRPr/>
          </a:p>
        </p:txBody>
      </p:sp>
      <p:sp>
        <p:nvSpPr>
          <p:cNvPr id="541" name="Google Shape;541;p44"/>
          <p:cNvSpPr txBox="1"/>
          <p:nvPr/>
        </p:nvSpPr>
        <p:spPr>
          <a:xfrm>
            <a:off x="6972300" y="3381375"/>
            <a:ext cx="4024312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Each neuron is an independent coordinate axis.</a:t>
            </a:r>
            <a:endParaRPr/>
          </a:p>
        </p:txBody>
      </p:sp>
      <p:sp>
        <p:nvSpPr>
          <p:cNvPr id="542" name="Google Shape;542;p44"/>
          <p:cNvSpPr txBox="1"/>
          <p:nvPr/>
        </p:nvSpPr>
        <p:spPr>
          <a:xfrm>
            <a:off x="1390650" y="4171950"/>
            <a:ext cx="4417218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Just 1 Axis</a:t>
            </a:r>
            <a:endParaRPr/>
          </a:p>
        </p:txBody>
      </p:sp>
      <p:sp>
        <p:nvSpPr>
          <p:cNvPr id="543" name="Google Shape;543;p44"/>
          <p:cNvSpPr txBox="1"/>
          <p:nvPr/>
        </p:nvSpPr>
        <p:spPr>
          <a:xfrm>
            <a:off x="1390650" y="4438650"/>
            <a:ext cx="4417218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Average all 300 neurons into one combined number.</a:t>
            </a:r>
            <a:endParaRPr/>
          </a:p>
        </p:txBody>
      </p:sp>
      <p:sp>
        <p:nvSpPr>
          <p:cNvPr id="544" name="Google Shape;544;p44"/>
          <p:cNvSpPr txBox="1"/>
          <p:nvPr/>
        </p:nvSpPr>
        <p:spPr>
          <a:xfrm>
            <a:off x="6972300" y="4171950"/>
            <a:ext cx="3369468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2 Axes (Row &amp; Col)</a:t>
            </a:r>
            <a:endParaRPr/>
          </a:p>
        </p:txBody>
      </p:sp>
      <p:sp>
        <p:nvSpPr>
          <p:cNvPr id="545" name="Google Shape;545;p44"/>
          <p:cNvSpPr txBox="1"/>
          <p:nvPr/>
        </p:nvSpPr>
        <p:spPr>
          <a:xfrm>
            <a:off x="6972300" y="4438650"/>
            <a:ext cx="3369468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Like a spreadsheet table on your laptop.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550" name="Google Shape;550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51" name="Google Shape;551;p45"/>
          <p:cNvSpPr/>
          <p:nvPr/>
        </p:nvSpPr>
        <p:spPr>
          <a:xfrm>
            <a:off x="3647500" y="3148049"/>
            <a:ext cx="6095700" cy="769500"/>
          </a:xfrm>
          <a:prstGeom prst="roundRect">
            <a:avLst>
              <a:gd fmla="val 20338" name="adj"/>
            </a:avLst>
          </a:prstGeom>
          <a:solidFill>
            <a:srgbClr val="0F172A"/>
          </a:solidFill>
          <a:ln cap="flat" cmpd="sng" w="9525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2" name="Google Shape;552;p45"/>
          <p:cNvSpPr txBox="1"/>
          <p:nvPr/>
        </p:nvSpPr>
        <p:spPr>
          <a:xfrm>
            <a:off x="4571993" y="3336602"/>
            <a:ext cx="4167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Python Lab Ready in Jupyter / </a:t>
            </a:r>
            <a:r>
              <a:rPr lang="en-US" sz="1200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Firing rates Calculation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p46"/>
          <p:cNvSpPr/>
          <p:nvPr/>
        </p:nvSpPr>
        <p:spPr>
          <a:xfrm>
            <a:off x="609600" y="2486025"/>
            <a:ext cx="5102721" cy="2714625"/>
          </a:xfrm>
          <a:prstGeom prst="roundRect">
            <a:avLst>
              <a:gd fmla="val 4210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8" name="Google Shape;558;p46"/>
          <p:cNvSpPr/>
          <p:nvPr/>
        </p:nvSpPr>
        <p:spPr>
          <a:xfrm>
            <a:off x="6017121" y="2667000"/>
            <a:ext cx="5565278" cy="2352675"/>
          </a:xfrm>
          <a:prstGeom prst="roundRect">
            <a:avLst>
              <a:gd fmla="val 4858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46"/>
          <p:cNvSpPr/>
          <p:nvPr/>
        </p:nvSpPr>
        <p:spPr>
          <a:xfrm>
            <a:off x="847725" y="3438525"/>
            <a:ext cx="4626471" cy="1028700"/>
          </a:xfrm>
          <a:prstGeom prst="roundRect">
            <a:avLst>
              <a:gd fmla="val 7407" name="adj"/>
            </a:avLst>
          </a:prstGeom>
          <a:solidFill>
            <a:srgbClr val="EFF6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560" name="Google Shape;560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55246" y="3171825"/>
            <a:ext cx="5089028" cy="133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61" name="Google Shape;561;p46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563E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ACT 4: BRAIN PHYSICS • 16</a:t>
            </a:r>
            <a:endParaRPr/>
          </a:p>
        </p:txBody>
      </p:sp>
      <p:sp>
        <p:nvSpPr>
          <p:cNvPr id="562" name="Google Shape;562;p46"/>
          <p:cNvSpPr txBox="1"/>
          <p:nvPr/>
        </p:nvSpPr>
        <p:spPr>
          <a:xfrm>
            <a:off x="609600" y="685800"/>
            <a:ext cx="11582400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Vector Addition: How Dendrites Add Signals Together</a:t>
            </a:r>
            <a:endParaRPr/>
          </a:p>
        </p:txBody>
      </p:sp>
      <p:sp>
        <p:nvSpPr>
          <p:cNvPr id="563" name="Google Shape;563;p46"/>
          <p:cNvSpPr txBox="1"/>
          <p:nvPr/>
        </p:nvSpPr>
        <p:spPr>
          <a:xfrm>
            <a:off x="838200" y="2714625"/>
            <a:ext cx="4740771" cy="2257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THE BIOLOGY &amp; MATH</a:t>
            </a:r>
            <a:endParaRPr/>
          </a:p>
        </p:txBody>
      </p:sp>
      <p:sp>
        <p:nvSpPr>
          <p:cNvPr id="564" name="Google Shape;564;p46"/>
          <p:cNvSpPr txBox="1"/>
          <p:nvPr/>
        </p:nvSpPr>
        <p:spPr>
          <a:xfrm>
            <a:off x="847725" y="3009900"/>
            <a:ext cx="5783088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0F172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 = a + b</a:t>
            </a:r>
            <a:endParaRPr/>
          </a:p>
        </p:txBody>
      </p:sp>
      <p:sp>
        <p:nvSpPr>
          <p:cNvPr id="565" name="Google Shape;565;p46"/>
          <p:cNvSpPr txBox="1"/>
          <p:nvPr/>
        </p:nvSpPr>
        <p:spPr>
          <a:xfrm>
            <a:off x="981075" y="3552825"/>
            <a:ext cx="4455021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1E3A8A"/>
                </a:solidFill>
                <a:latin typeface="Inter"/>
                <a:ea typeface="Inter"/>
                <a:cs typeface="Inter"/>
                <a:sym typeface="Inter"/>
              </a:rPr>
              <a:t>Where: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125" u="none" cap="none" strike="noStrike">
                <a:solidFill>
                  <a:srgbClr val="1E3A8A"/>
                </a:solidFill>
                <a:latin typeface="Inter"/>
                <a:ea typeface="Inter"/>
                <a:cs typeface="Inter"/>
                <a:sym typeface="Inter"/>
              </a:rPr>
              <a:t> • </a:t>
            </a:r>
            <a:r>
              <a:rPr b="1" i="0" lang="en-US" sz="1125" u="none" cap="none" strike="noStrike">
                <a:solidFill>
                  <a:srgbClr val="1E3A8A"/>
                </a:solidFill>
                <a:latin typeface="Inter"/>
                <a:ea typeface="Inter"/>
                <a:cs typeface="Inter"/>
                <a:sym typeface="Inter"/>
              </a:rPr>
              <a:t>a</a:t>
            </a:r>
            <a:r>
              <a:rPr b="0" i="0" lang="en-US" sz="1125" u="none" cap="none" strike="noStrike">
                <a:solidFill>
                  <a:srgbClr val="1E3A8A"/>
                </a:solidFill>
                <a:latin typeface="Inter"/>
                <a:ea typeface="Inter"/>
                <a:cs typeface="Inter"/>
                <a:sym typeface="Inter"/>
              </a:rPr>
              <a:t> is the input vector from sensory pathway 1 (e.g. sight)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125" u="none" cap="none" strike="noStrike">
                <a:solidFill>
                  <a:srgbClr val="1E3A8A"/>
                </a:solidFill>
                <a:latin typeface="Inter"/>
                <a:ea typeface="Inter"/>
                <a:cs typeface="Inter"/>
                <a:sym typeface="Inter"/>
              </a:rPr>
              <a:t> • </a:t>
            </a:r>
            <a:r>
              <a:rPr b="1" i="0" lang="en-US" sz="1125" u="none" cap="none" strike="noStrike">
                <a:solidFill>
                  <a:srgbClr val="1E3A8A"/>
                </a:solidFill>
                <a:latin typeface="Inter"/>
                <a:ea typeface="Inter"/>
                <a:cs typeface="Inter"/>
                <a:sym typeface="Inter"/>
              </a:rPr>
              <a:t>b</a:t>
            </a:r>
            <a:r>
              <a:rPr b="0" i="0" lang="en-US" sz="1125" u="none" cap="none" strike="noStrike">
                <a:solidFill>
                  <a:srgbClr val="1E3A8A"/>
                </a:solidFill>
                <a:latin typeface="Inter"/>
                <a:ea typeface="Inter"/>
                <a:cs typeface="Inter"/>
                <a:sym typeface="Inter"/>
              </a:rPr>
              <a:t> is the input vector from sensory pathway 2 (e.g. sound)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125" u="none" cap="none" strike="noStrike">
                <a:solidFill>
                  <a:srgbClr val="1E3A8A"/>
                </a:solidFill>
                <a:latin typeface="Inter"/>
                <a:ea typeface="Inter"/>
                <a:cs typeface="Inter"/>
                <a:sym typeface="Inter"/>
              </a:rPr>
              <a:t> • </a:t>
            </a:r>
            <a:r>
              <a:rPr b="1" i="0" lang="en-US" sz="1125" u="none" cap="none" strike="noStrike">
                <a:solidFill>
                  <a:srgbClr val="1E3A8A"/>
                </a:solidFill>
                <a:latin typeface="Inter"/>
                <a:ea typeface="Inter"/>
                <a:cs typeface="Inter"/>
                <a:sym typeface="Inter"/>
              </a:rPr>
              <a:t>c</a:t>
            </a:r>
            <a:r>
              <a:rPr b="0" i="0" lang="en-US" sz="1125" u="none" cap="none" strike="noStrike">
                <a:solidFill>
                  <a:srgbClr val="1E3A8A"/>
                </a:solidFill>
                <a:latin typeface="Inter"/>
                <a:ea typeface="Inter"/>
                <a:cs typeface="Inter"/>
                <a:sym typeface="Inter"/>
              </a:rPr>
              <a:t> is the combined synaptic voltage arriving at the cell body</a:t>
            </a:r>
            <a:endParaRPr/>
          </a:p>
        </p:txBody>
      </p:sp>
      <p:sp>
        <p:nvSpPr>
          <p:cNvPr id="566" name="Google Shape;566;p46"/>
          <p:cNvSpPr txBox="1"/>
          <p:nvPr/>
        </p:nvSpPr>
        <p:spPr>
          <a:xfrm>
            <a:off x="847725" y="4562475"/>
            <a:ext cx="4721721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If Pathway A gives +2 mV and Pathway B gives +3 mV, the cell body adds them to +5 mV!</a:t>
            </a:r>
            <a:endParaRPr/>
          </a:p>
        </p:txBody>
      </p:sp>
      <p:sp>
        <p:nvSpPr>
          <p:cNvPr id="567" name="Google Shape;567;p46"/>
          <p:cNvSpPr txBox="1"/>
          <p:nvPr/>
        </p:nvSpPr>
        <p:spPr>
          <a:xfrm>
            <a:off x="6255246" y="2905125"/>
            <a:ext cx="5936753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THE PARALLELOGRAM RULE</a:t>
            </a:r>
            <a:endParaRPr/>
          </a:p>
        </p:txBody>
      </p:sp>
      <p:sp>
        <p:nvSpPr>
          <p:cNvPr id="568" name="Google Shape;568;p46"/>
          <p:cNvSpPr txBox="1"/>
          <p:nvPr/>
        </p:nvSpPr>
        <p:spPr>
          <a:xfrm>
            <a:off x="6255246" y="4581525"/>
            <a:ext cx="5936753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Blue (sight) + Green (sound) = Red (combined sensation)!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72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p47"/>
          <p:cNvSpPr/>
          <p:nvPr/>
        </p:nvSpPr>
        <p:spPr>
          <a:xfrm>
            <a:off x="609600" y="5981700"/>
            <a:ext cx="10972800" cy="4191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4" name="Google Shape;574;p47"/>
          <p:cNvSpPr/>
          <p:nvPr/>
        </p:nvSpPr>
        <p:spPr>
          <a:xfrm>
            <a:off x="609600" y="457200"/>
            <a:ext cx="3448050" cy="304800"/>
          </a:xfrm>
          <a:prstGeom prst="roundRect">
            <a:avLst>
              <a:gd fmla="val 18750" name="adj"/>
            </a:avLst>
          </a:prstGeom>
          <a:solidFill>
            <a:srgbClr val="EFF6FF"/>
          </a:solidFill>
          <a:ln cap="flat" cmpd="sng" w="9525">
            <a:solidFill>
              <a:srgbClr val="BFDB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5" name="Google Shape;575;p47"/>
          <p:cNvSpPr/>
          <p:nvPr/>
        </p:nvSpPr>
        <p:spPr>
          <a:xfrm>
            <a:off x="609600" y="2905125"/>
            <a:ext cx="5391150" cy="866775"/>
          </a:xfrm>
          <a:prstGeom prst="roundRect">
            <a:avLst>
              <a:gd fmla="val 13186" name="adj"/>
            </a:avLst>
          </a:prstGeom>
          <a:solidFill>
            <a:srgbClr val="F8FAFC"/>
          </a:solidFill>
          <a:ln cap="flat" cmpd="sng" w="1905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6" name="Google Shape;576;p47"/>
          <p:cNvSpPr/>
          <p:nvPr/>
        </p:nvSpPr>
        <p:spPr>
          <a:xfrm>
            <a:off x="6191250" y="2905125"/>
            <a:ext cx="5391150" cy="866775"/>
          </a:xfrm>
          <a:prstGeom prst="roundRect">
            <a:avLst>
              <a:gd fmla="val 13186" name="adj"/>
            </a:avLst>
          </a:prstGeom>
          <a:solidFill>
            <a:srgbClr val="F8FAFC"/>
          </a:solidFill>
          <a:ln cap="flat" cmpd="sng" w="1905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7" name="Google Shape;577;p47"/>
          <p:cNvSpPr/>
          <p:nvPr/>
        </p:nvSpPr>
        <p:spPr>
          <a:xfrm>
            <a:off x="609600" y="3962400"/>
            <a:ext cx="5391150" cy="866775"/>
          </a:xfrm>
          <a:prstGeom prst="roundRect">
            <a:avLst>
              <a:gd fmla="val 13186" name="adj"/>
            </a:avLst>
          </a:prstGeom>
          <a:solidFill>
            <a:srgbClr val="F8FAFC"/>
          </a:solidFill>
          <a:ln cap="flat" cmpd="sng" w="1905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8" name="Google Shape;578;p47"/>
          <p:cNvSpPr/>
          <p:nvPr/>
        </p:nvSpPr>
        <p:spPr>
          <a:xfrm>
            <a:off x="6191250" y="3962400"/>
            <a:ext cx="5391150" cy="866775"/>
          </a:xfrm>
          <a:prstGeom prst="roundRect">
            <a:avLst>
              <a:gd fmla="val 13186" name="adj"/>
            </a:avLst>
          </a:prstGeom>
          <a:solidFill>
            <a:srgbClr val="F8FAFC"/>
          </a:solidFill>
          <a:ln cap="flat" cmpd="sng" w="1905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9" name="Google Shape;579;p47"/>
          <p:cNvSpPr/>
          <p:nvPr/>
        </p:nvSpPr>
        <p:spPr>
          <a:xfrm>
            <a:off x="609600" y="5981700"/>
            <a:ext cx="38100" cy="419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0" name="Google Shape;580;p47"/>
          <p:cNvSpPr/>
          <p:nvPr/>
        </p:nvSpPr>
        <p:spPr>
          <a:xfrm>
            <a:off x="819150" y="3128962"/>
            <a:ext cx="419100" cy="419100"/>
          </a:xfrm>
          <a:prstGeom prst="roundRect">
            <a:avLst>
              <a:gd fmla="val 18181" name="adj"/>
            </a:avLst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1" name="Google Shape;581;p47"/>
          <p:cNvSpPr/>
          <p:nvPr/>
        </p:nvSpPr>
        <p:spPr>
          <a:xfrm>
            <a:off x="6400800" y="3128962"/>
            <a:ext cx="419100" cy="419100"/>
          </a:xfrm>
          <a:prstGeom prst="roundRect">
            <a:avLst>
              <a:gd fmla="val 18181" name="adj"/>
            </a:avLst>
          </a:prstGeom>
          <a:solidFill>
            <a:srgbClr val="0596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2" name="Google Shape;582;p47"/>
          <p:cNvSpPr/>
          <p:nvPr/>
        </p:nvSpPr>
        <p:spPr>
          <a:xfrm>
            <a:off x="819150" y="4186237"/>
            <a:ext cx="419100" cy="419100"/>
          </a:xfrm>
          <a:prstGeom prst="roundRect">
            <a:avLst>
              <a:gd fmla="val 18181" name="adj"/>
            </a:avLst>
          </a:prstGeom>
          <a:solidFill>
            <a:srgbClr val="D9770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3" name="Google Shape;583;p47"/>
          <p:cNvSpPr/>
          <p:nvPr/>
        </p:nvSpPr>
        <p:spPr>
          <a:xfrm>
            <a:off x="6400800" y="4186237"/>
            <a:ext cx="419100" cy="419100"/>
          </a:xfrm>
          <a:prstGeom prst="roundRect">
            <a:avLst>
              <a:gd fmla="val 18181" name="adj"/>
            </a:avLst>
          </a:prstGeom>
          <a:solidFill>
            <a:srgbClr val="7C3AE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584" name="Google Shape;584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2475" y="542925"/>
            <a:ext cx="133350" cy="133350"/>
          </a:xfrm>
          <a:prstGeom prst="rect">
            <a:avLst/>
          </a:prstGeom>
          <a:noFill/>
          <a:ln>
            <a:noFill/>
          </a:ln>
        </p:spPr>
      </p:pic>
      <p:sp>
        <p:nvSpPr>
          <p:cNvPr id="585" name="Google Shape;585;p47"/>
          <p:cNvSpPr txBox="1"/>
          <p:nvPr/>
        </p:nvSpPr>
        <p:spPr>
          <a:xfrm>
            <a:off x="609600" y="876300"/>
            <a:ext cx="115824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Combining Senses: Sight + Sound</a:t>
            </a:r>
            <a:endParaRPr/>
          </a:p>
        </p:txBody>
      </p:sp>
      <p:sp>
        <p:nvSpPr>
          <p:cNvPr id="586" name="Google Shape;586;p47"/>
          <p:cNvSpPr txBox="1"/>
          <p:nvPr/>
        </p:nvSpPr>
        <p:spPr>
          <a:xfrm>
            <a:off x="609600" y="1352550"/>
            <a:ext cx="110680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You see an ice cream truck (Sight Vector: [4, 6]) and hear its music (Sound Vector: [2, 1]). What operation does a dendrite perform to merge them?</a:t>
            </a:r>
            <a:endParaRPr/>
          </a:p>
        </p:txBody>
      </p:sp>
      <p:sp>
        <p:nvSpPr>
          <p:cNvPr id="587" name="Google Shape;587;p47"/>
          <p:cNvSpPr txBox="1"/>
          <p:nvPr/>
        </p:nvSpPr>
        <p:spPr>
          <a:xfrm>
            <a:off x="838200" y="6096000"/>
            <a:ext cx="113538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1E40AF"/>
                </a:solidFill>
                <a:latin typeface="Inter"/>
                <a:ea typeface="Inter"/>
                <a:cs typeface="Inter"/>
                <a:sym typeface="Inter"/>
              </a:rPr>
              <a:t>💬 Pick your formula: How does nature add voltages?</a:t>
            </a:r>
            <a:endParaRPr/>
          </a:p>
        </p:txBody>
      </p:sp>
      <p:sp>
        <p:nvSpPr>
          <p:cNvPr id="588" name="Google Shape;588;p47"/>
          <p:cNvSpPr txBox="1"/>
          <p:nvPr/>
        </p:nvSpPr>
        <p:spPr>
          <a:xfrm>
            <a:off x="752475" y="523875"/>
            <a:ext cx="395287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905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563E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INTERACTIVE TEASER #3 • SENSORY FUSION</a:t>
            </a:r>
            <a:endParaRPr/>
          </a:p>
        </p:txBody>
      </p:sp>
      <p:sp>
        <p:nvSpPr>
          <p:cNvPr id="589" name="Google Shape;589;p47"/>
          <p:cNvSpPr txBox="1"/>
          <p:nvPr/>
        </p:nvSpPr>
        <p:spPr>
          <a:xfrm>
            <a:off x="676275" y="3128962"/>
            <a:ext cx="704850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</a:t>
            </a:r>
            <a:endParaRPr/>
          </a:p>
        </p:txBody>
      </p:sp>
      <p:sp>
        <p:nvSpPr>
          <p:cNvPr id="590" name="Google Shape;590;p47"/>
          <p:cNvSpPr txBox="1"/>
          <p:nvPr/>
        </p:nvSpPr>
        <p:spPr>
          <a:xfrm>
            <a:off x="6257925" y="3128962"/>
            <a:ext cx="704850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B</a:t>
            </a:r>
            <a:endParaRPr/>
          </a:p>
        </p:txBody>
      </p:sp>
      <p:sp>
        <p:nvSpPr>
          <p:cNvPr id="591" name="Google Shape;591;p47"/>
          <p:cNvSpPr txBox="1"/>
          <p:nvPr/>
        </p:nvSpPr>
        <p:spPr>
          <a:xfrm>
            <a:off x="676275" y="4186237"/>
            <a:ext cx="704850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</a:t>
            </a:r>
            <a:endParaRPr/>
          </a:p>
        </p:txBody>
      </p:sp>
      <p:sp>
        <p:nvSpPr>
          <p:cNvPr id="592" name="Google Shape;592;p47"/>
          <p:cNvSpPr txBox="1"/>
          <p:nvPr/>
        </p:nvSpPr>
        <p:spPr>
          <a:xfrm>
            <a:off x="6257925" y="4186237"/>
            <a:ext cx="704850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</a:t>
            </a:r>
            <a:endParaRPr/>
          </a:p>
        </p:txBody>
      </p:sp>
      <p:sp>
        <p:nvSpPr>
          <p:cNvPr id="593" name="Google Shape;593;p47"/>
          <p:cNvSpPr txBox="1"/>
          <p:nvPr/>
        </p:nvSpPr>
        <p:spPr>
          <a:xfrm>
            <a:off x="1390650" y="3114675"/>
            <a:ext cx="4226718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Vector Addition: [6, 7]</a:t>
            </a:r>
            <a:endParaRPr/>
          </a:p>
        </p:txBody>
      </p:sp>
      <p:sp>
        <p:nvSpPr>
          <p:cNvPr id="594" name="Google Shape;594;p47"/>
          <p:cNvSpPr txBox="1"/>
          <p:nvPr/>
        </p:nvSpPr>
        <p:spPr>
          <a:xfrm>
            <a:off x="1390650" y="3381375"/>
            <a:ext cx="4226718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Synaptic electrical charges sum together directly.</a:t>
            </a:r>
            <a:endParaRPr/>
          </a:p>
        </p:txBody>
      </p:sp>
      <p:sp>
        <p:nvSpPr>
          <p:cNvPr id="595" name="Google Shape;595;p47"/>
          <p:cNvSpPr txBox="1"/>
          <p:nvPr/>
        </p:nvSpPr>
        <p:spPr>
          <a:xfrm>
            <a:off x="6972300" y="3114675"/>
            <a:ext cx="2964656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Vector Division</a:t>
            </a:r>
            <a:endParaRPr/>
          </a:p>
        </p:txBody>
      </p:sp>
      <p:sp>
        <p:nvSpPr>
          <p:cNvPr id="596" name="Google Shape;596;p47"/>
          <p:cNvSpPr txBox="1"/>
          <p:nvPr/>
        </p:nvSpPr>
        <p:spPr>
          <a:xfrm>
            <a:off x="6972300" y="3381375"/>
            <a:ext cx="2964656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Divide sight by sound to normalize.</a:t>
            </a:r>
            <a:endParaRPr/>
          </a:p>
        </p:txBody>
      </p:sp>
      <p:sp>
        <p:nvSpPr>
          <p:cNvPr id="597" name="Google Shape;597;p47"/>
          <p:cNvSpPr txBox="1"/>
          <p:nvPr/>
        </p:nvSpPr>
        <p:spPr>
          <a:xfrm>
            <a:off x="1390650" y="4171950"/>
            <a:ext cx="29051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Scalar Subtraction: [2, 5]</a:t>
            </a:r>
            <a:endParaRPr/>
          </a:p>
        </p:txBody>
      </p:sp>
      <p:sp>
        <p:nvSpPr>
          <p:cNvPr id="598" name="Google Shape;598;p47"/>
          <p:cNvSpPr txBox="1"/>
          <p:nvPr/>
        </p:nvSpPr>
        <p:spPr>
          <a:xfrm>
            <a:off x="1390650" y="4438650"/>
            <a:ext cx="2905125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Sound cancels out parts of sight.</a:t>
            </a:r>
            <a:endParaRPr/>
          </a:p>
        </p:txBody>
      </p:sp>
      <p:sp>
        <p:nvSpPr>
          <p:cNvPr id="599" name="Google Shape;599;p47"/>
          <p:cNvSpPr txBox="1"/>
          <p:nvPr/>
        </p:nvSpPr>
        <p:spPr>
          <a:xfrm>
            <a:off x="6972300" y="4171950"/>
            <a:ext cx="3476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Matrix Inversion</a:t>
            </a:r>
            <a:endParaRPr/>
          </a:p>
        </p:txBody>
      </p:sp>
      <p:sp>
        <p:nvSpPr>
          <p:cNvPr id="600" name="Google Shape;600;p47"/>
          <p:cNvSpPr txBox="1"/>
          <p:nvPr/>
        </p:nvSpPr>
        <p:spPr>
          <a:xfrm>
            <a:off x="6972300" y="4438650"/>
            <a:ext cx="3476625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Invert both sensory channels backwards.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04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p48"/>
          <p:cNvSpPr/>
          <p:nvPr/>
        </p:nvSpPr>
        <p:spPr>
          <a:xfrm>
            <a:off x="609600" y="2476500"/>
            <a:ext cx="5334000" cy="2733675"/>
          </a:xfrm>
          <a:prstGeom prst="roundRect">
            <a:avLst>
              <a:gd fmla="val 4181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6" name="Google Shape;606;p48"/>
          <p:cNvSpPr/>
          <p:nvPr/>
        </p:nvSpPr>
        <p:spPr>
          <a:xfrm>
            <a:off x="6248400" y="2847975"/>
            <a:ext cx="5334000" cy="1990725"/>
          </a:xfrm>
          <a:prstGeom prst="roundRect">
            <a:avLst>
              <a:gd fmla="val 5741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7" name="Google Shape;607;p48"/>
          <p:cNvSpPr/>
          <p:nvPr/>
        </p:nvSpPr>
        <p:spPr>
          <a:xfrm>
            <a:off x="847725" y="3429000"/>
            <a:ext cx="4857750" cy="1047750"/>
          </a:xfrm>
          <a:prstGeom prst="roundRect">
            <a:avLst>
              <a:gd fmla="val 7272" name="adj"/>
            </a:avLst>
          </a:prstGeom>
          <a:solidFill>
            <a:srgbClr val="FEF2F2"/>
          </a:solidFill>
          <a:ln cap="flat" cmpd="sng" w="9525">
            <a:solidFill>
              <a:srgbClr val="FECA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8" name="Google Shape;608;p48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563E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ACT 4: BRAIN PHYSICS • 17</a:t>
            </a:r>
            <a:endParaRPr/>
          </a:p>
        </p:txBody>
      </p:sp>
      <p:sp>
        <p:nvSpPr>
          <p:cNvPr id="609" name="Google Shape;609;p48"/>
          <p:cNvSpPr txBox="1"/>
          <p:nvPr/>
        </p:nvSpPr>
        <p:spPr>
          <a:xfrm>
            <a:off x="609600" y="685800"/>
            <a:ext cx="11582400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Scalar Multiplication: The Brain's Volume Knob</a:t>
            </a:r>
            <a:endParaRPr/>
          </a:p>
        </p:txBody>
      </p:sp>
      <p:sp>
        <p:nvSpPr>
          <p:cNvPr id="610" name="Google Shape;610;p48"/>
          <p:cNvSpPr txBox="1"/>
          <p:nvPr/>
        </p:nvSpPr>
        <p:spPr>
          <a:xfrm>
            <a:off x="838200" y="2705100"/>
            <a:ext cx="4972050" cy="2276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DC2626"/>
                </a:solidFill>
                <a:latin typeface="Inter"/>
                <a:ea typeface="Inter"/>
                <a:cs typeface="Inter"/>
                <a:sym typeface="Inter"/>
              </a:rPr>
              <a:t>THE SCALING FORMULA</a:t>
            </a:r>
            <a:endParaRPr/>
          </a:p>
        </p:txBody>
      </p:sp>
      <p:sp>
        <p:nvSpPr>
          <p:cNvPr id="611" name="Google Shape;611;p48"/>
          <p:cNvSpPr txBox="1"/>
          <p:nvPr/>
        </p:nvSpPr>
        <p:spPr>
          <a:xfrm>
            <a:off x="847725" y="3000375"/>
            <a:ext cx="6072187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0F172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w = α · v</a:t>
            </a:r>
            <a:endParaRPr/>
          </a:p>
        </p:txBody>
      </p:sp>
      <p:sp>
        <p:nvSpPr>
          <p:cNvPr id="612" name="Google Shape;612;p48"/>
          <p:cNvSpPr txBox="1"/>
          <p:nvPr/>
        </p:nvSpPr>
        <p:spPr>
          <a:xfrm>
            <a:off x="981075" y="3543300"/>
            <a:ext cx="4686300" cy="819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991B1B"/>
                </a:solidFill>
                <a:latin typeface="Inter"/>
                <a:ea typeface="Inter"/>
                <a:cs typeface="Inter"/>
                <a:sym typeface="Inter"/>
              </a:rPr>
              <a:t>Where: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125" u="none" cap="none" strike="noStrike">
                <a:solidFill>
                  <a:srgbClr val="991B1B"/>
                </a:solidFill>
                <a:latin typeface="Inter"/>
                <a:ea typeface="Inter"/>
                <a:cs typeface="Inter"/>
                <a:sym typeface="Inter"/>
              </a:rPr>
              <a:t> • </a:t>
            </a:r>
            <a:r>
              <a:rPr b="1" i="0" lang="en-US" sz="1125" u="none" cap="none" strike="noStrike">
                <a:solidFill>
                  <a:srgbClr val="991B1B"/>
                </a:solidFill>
                <a:latin typeface="Inter"/>
                <a:ea typeface="Inter"/>
                <a:cs typeface="Inter"/>
                <a:sym typeface="Inter"/>
              </a:rPr>
              <a:t>v</a:t>
            </a:r>
            <a:r>
              <a:rPr b="0" i="0" lang="en-US" sz="1125" u="none" cap="none" strike="noStrike">
                <a:solidFill>
                  <a:srgbClr val="991B1B"/>
                </a:solidFill>
                <a:latin typeface="Inter"/>
                <a:ea typeface="Inter"/>
                <a:cs typeface="Inter"/>
                <a:sym typeface="Inter"/>
              </a:rPr>
              <a:t> is the baseline neural activity vector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125" u="none" cap="none" strike="noStrike">
                <a:solidFill>
                  <a:srgbClr val="991B1B"/>
                </a:solidFill>
                <a:latin typeface="Inter"/>
                <a:ea typeface="Inter"/>
                <a:cs typeface="Inter"/>
                <a:sym typeface="Inter"/>
              </a:rPr>
              <a:t> • </a:t>
            </a:r>
            <a:r>
              <a:rPr b="1" i="0" lang="en-US" sz="1125" u="none" cap="none" strike="noStrike">
                <a:solidFill>
                  <a:srgbClr val="991B1B"/>
                </a:solidFill>
                <a:latin typeface="Inter"/>
                <a:ea typeface="Inter"/>
                <a:cs typeface="Inter"/>
                <a:sym typeface="Inter"/>
              </a:rPr>
              <a:t>α (alpha)</a:t>
            </a:r>
            <a:r>
              <a:rPr b="0" i="0" lang="en-US" sz="1125" u="none" cap="none" strike="noStrike">
                <a:solidFill>
                  <a:srgbClr val="991B1B"/>
                </a:solidFill>
                <a:latin typeface="Inter"/>
                <a:ea typeface="Inter"/>
                <a:cs typeface="Inter"/>
                <a:sym typeface="Inter"/>
              </a:rPr>
              <a:t> is the scalar gain multiplier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125" u="none" cap="none" strike="noStrike">
                <a:solidFill>
                  <a:srgbClr val="991B1B"/>
                </a:solidFill>
                <a:latin typeface="Inter"/>
                <a:ea typeface="Inter"/>
                <a:cs typeface="Inter"/>
                <a:sym typeface="Inter"/>
              </a:rPr>
              <a:t> • </a:t>
            </a:r>
            <a:r>
              <a:rPr b="1" i="0" lang="en-US" sz="1125" u="none" cap="none" strike="noStrike">
                <a:solidFill>
                  <a:srgbClr val="991B1B"/>
                </a:solidFill>
                <a:latin typeface="Inter"/>
                <a:ea typeface="Inter"/>
                <a:cs typeface="Inter"/>
                <a:sym typeface="Inter"/>
              </a:rPr>
              <a:t>w</a:t>
            </a:r>
            <a:r>
              <a:rPr b="0" i="0" lang="en-US" sz="1125" u="none" cap="none" strike="noStrike">
                <a:solidFill>
                  <a:srgbClr val="991B1B"/>
                </a:solidFill>
                <a:latin typeface="Inter"/>
                <a:ea typeface="Inter"/>
                <a:cs typeface="Inter"/>
                <a:sym typeface="Inter"/>
              </a:rPr>
              <a:t> is the resulting scaled neural response vector</a:t>
            </a:r>
            <a:endParaRPr/>
          </a:p>
        </p:txBody>
      </p:sp>
      <p:sp>
        <p:nvSpPr>
          <p:cNvPr id="613" name="Google Shape;613;p48"/>
          <p:cNvSpPr txBox="1"/>
          <p:nvPr/>
        </p:nvSpPr>
        <p:spPr>
          <a:xfrm>
            <a:off x="847725" y="4572000"/>
            <a:ext cx="4953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The arrow gets longer or shorter, but points in the exact same direction!</a:t>
            </a:r>
            <a:endParaRPr/>
          </a:p>
        </p:txBody>
      </p:sp>
      <p:sp>
        <p:nvSpPr>
          <p:cNvPr id="614" name="Google Shape;614;p48"/>
          <p:cNvSpPr txBox="1"/>
          <p:nvPr/>
        </p:nvSpPr>
        <p:spPr>
          <a:xfrm>
            <a:off x="6486525" y="3105150"/>
            <a:ext cx="29527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5966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BIOLOGY: ATTENTION &amp; ADRENALINE</a:t>
            </a:r>
            <a:endParaRPr/>
          </a:p>
        </p:txBody>
      </p:sp>
      <p:sp>
        <p:nvSpPr>
          <p:cNvPr id="615" name="Google Shape;615;p48"/>
          <p:cNvSpPr txBox="1"/>
          <p:nvPr/>
        </p:nvSpPr>
        <p:spPr>
          <a:xfrm>
            <a:off x="6486525" y="4200525"/>
            <a:ext cx="4953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You still see the same cat or ball; it's just sharper or dimmer in your mind!</a:t>
            </a:r>
            <a:endParaRPr/>
          </a:p>
        </p:txBody>
      </p:sp>
      <p:sp>
        <p:nvSpPr>
          <p:cNvPr id="616" name="Google Shape;616;p48"/>
          <p:cNvSpPr txBox="1"/>
          <p:nvPr/>
        </p:nvSpPr>
        <p:spPr>
          <a:xfrm>
            <a:off x="6486525" y="3390900"/>
            <a:ext cx="4953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• </a:t>
            </a:r>
            <a:r>
              <a:rPr b="1" i="0" lang="en-US" sz="13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Dopamine / Adrenaline:</a:t>
            </a:r>
            <a:r>
              <a:rPr b="0" i="0" lang="en-US" sz="13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α = 2.0 (boosts alertness and loudness).</a:t>
            </a:r>
            <a:endParaRPr/>
          </a:p>
        </p:txBody>
      </p:sp>
      <p:sp>
        <p:nvSpPr>
          <p:cNvPr id="617" name="Google Shape;617;p48"/>
          <p:cNvSpPr txBox="1"/>
          <p:nvPr/>
        </p:nvSpPr>
        <p:spPr>
          <a:xfrm>
            <a:off x="6486525" y="3886200"/>
            <a:ext cx="570547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• </a:t>
            </a:r>
            <a:r>
              <a:rPr b="1" i="0" lang="en-US" sz="13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Sleepiness / Drowsiness:</a:t>
            </a:r>
            <a:r>
              <a:rPr b="0" i="0" lang="en-US" sz="13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α = 0.4 (turns down volume).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2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p49"/>
          <p:cNvSpPr/>
          <p:nvPr/>
        </p:nvSpPr>
        <p:spPr>
          <a:xfrm>
            <a:off x="609600" y="2250876"/>
            <a:ext cx="5547121" cy="3165871"/>
          </a:xfrm>
          <a:prstGeom prst="roundRect">
            <a:avLst>
              <a:gd fmla="val 3610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3" name="Google Shape;623;p49"/>
          <p:cNvSpPr/>
          <p:nvPr/>
        </p:nvSpPr>
        <p:spPr>
          <a:xfrm>
            <a:off x="6461521" y="2709862"/>
            <a:ext cx="5120878" cy="2247900"/>
          </a:xfrm>
          <a:prstGeom prst="roundRect">
            <a:avLst>
              <a:gd fmla="val 5084" name="adj"/>
            </a:avLst>
          </a:prstGeom>
          <a:solidFill>
            <a:srgbClr val="EFF6FF"/>
          </a:solidFill>
          <a:ln cap="flat" cmpd="sng" w="9525">
            <a:solidFill>
              <a:srgbClr val="BFDB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4" name="Google Shape;624;p49"/>
          <p:cNvSpPr/>
          <p:nvPr/>
        </p:nvSpPr>
        <p:spPr>
          <a:xfrm>
            <a:off x="828675" y="3384351"/>
            <a:ext cx="5108971" cy="937021"/>
          </a:xfrm>
          <a:prstGeom prst="roundRect">
            <a:avLst>
              <a:gd fmla="val 8132" name="adj"/>
            </a:avLst>
          </a:prstGeom>
          <a:solidFill>
            <a:srgbClr val="EFF6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5" name="Google Shape;625;p49"/>
          <p:cNvSpPr/>
          <p:nvPr/>
        </p:nvSpPr>
        <p:spPr>
          <a:xfrm>
            <a:off x="6699646" y="3586162"/>
            <a:ext cx="4644628" cy="638175"/>
          </a:xfrm>
          <a:prstGeom prst="roundRect">
            <a:avLst>
              <a:gd fmla="val 8955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6" name="Google Shape;626;p49"/>
          <p:cNvSpPr/>
          <p:nvPr/>
        </p:nvSpPr>
        <p:spPr>
          <a:xfrm>
            <a:off x="828675" y="4416623"/>
            <a:ext cx="5108971" cy="361950"/>
          </a:xfrm>
          <a:prstGeom prst="roundRect">
            <a:avLst>
              <a:gd fmla="val 15789" name="adj"/>
            </a:avLst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7" name="Google Shape;627;p49"/>
          <p:cNvSpPr/>
          <p:nvPr/>
        </p:nvSpPr>
        <p:spPr>
          <a:xfrm>
            <a:off x="828675" y="4835723"/>
            <a:ext cx="5108971" cy="361950"/>
          </a:xfrm>
          <a:prstGeom prst="roundRect">
            <a:avLst>
              <a:gd fmla="val 15789" name="adj"/>
            </a:avLst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628" name="Google Shape;628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99646" y="2957512"/>
            <a:ext cx="2857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629" name="Google Shape;629;p49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563E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ACT 4: BRAIN PHYSICS • 18</a:t>
            </a:r>
            <a:endParaRPr/>
          </a:p>
        </p:txBody>
      </p:sp>
      <p:sp>
        <p:nvSpPr>
          <p:cNvPr id="630" name="Google Shape;630;p49"/>
          <p:cNvSpPr txBox="1"/>
          <p:nvPr/>
        </p:nvSpPr>
        <p:spPr>
          <a:xfrm>
            <a:off x="609600" y="685800"/>
            <a:ext cx="11582400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The Dot Product: Do These Signals Agree?</a:t>
            </a:r>
            <a:endParaRPr/>
          </a:p>
        </p:txBody>
      </p:sp>
      <p:sp>
        <p:nvSpPr>
          <p:cNvPr id="631" name="Google Shape;631;p49"/>
          <p:cNvSpPr txBox="1"/>
          <p:nvPr/>
        </p:nvSpPr>
        <p:spPr>
          <a:xfrm>
            <a:off x="828675" y="2489001"/>
            <a:ext cx="11239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563E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THE FORMULA</a:t>
            </a:r>
            <a:endParaRPr/>
          </a:p>
        </p:txBody>
      </p:sp>
      <p:sp>
        <p:nvSpPr>
          <p:cNvPr id="632" name="Google Shape;632;p49"/>
          <p:cNvSpPr txBox="1"/>
          <p:nvPr/>
        </p:nvSpPr>
        <p:spPr>
          <a:xfrm>
            <a:off x="828675" y="2736651"/>
            <a:ext cx="5204221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F172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 · b = (a₁ × b₁) + (a₂ × b₂) + ... + (a_N × b_N)</a:t>
            </a:r>
            <a:endParaRPr/>
          </a:p>
        </p:txBody>
      </p:sp>
      <p:sp>
        <p:nvSpPr>
          <p:cNvPr id="633" name="Google Shape;633;p49"/>
          <p:cNvSpPr txBox="1"/>
          <p:nvPr/>
        </p:nvSpPr>
        <p:spPr>
          <a:xfrm>
            <a:off x="962025" y="3479601"/>
            <a:ext cx="4937521" cy="7465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1E3A8A"/>
                </a:solidFill>
                <a:latin typeface="Inter"/>
                <a:ea typeface="Inter"/>
                <a:cs typeface="Inter"/>
                <a:sym typeface="Inter"/>
              </a:rPr>
              <a:t>Where: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50" u="none" cap="none" strike="noStrike">
                <a:solidFill>
                  <a:srgbClr val="1E3A8A"/>
                </a:solidFill>
                <a:latin typeface="Inter"/>
                <a:ea typeface="Inter"/>
                <a:cs typeface="Inter"/>
                <a:sym typeface="Inter"/>
              </a:rPr>
              <a:t> • </a:t>
            </a:r>
            <a:r>
              <a:rPr b="1" i="0" lang="en-US" sz="1050" u="none" cap="none" strike="noStrike">
                <a:solidFill>
                  <a:srgbClr val="1E3A8A"/>
                </a:solidFill>
                <a:latin typeface="Inter"/>
                <a:ea typeface="Inter"/>
                <a:cs typeface="Inter"/>
                <a:sym typeface="Inter"/>
              </a:rPr>
              <a:t>a</a:t>
            </a:r>
            <a:r>
              <a:rPr b="0" i="0" lang="en-US" sz="1050" u="none" cap="none" strike="noStrike">
                <a:solidFill>
                  <a:srgbClr val="1E3A8A"/>
                </a:solidFill>
                <a:latin typeface="Inter"/>
                <a:ea typeface="Inter"/>
                <a:cs typeface="Inter"/>
                <a:sym typeface="Inter"/>
              </a:rPr>
              <a:t> and </a:t>
            </a:r>
            <a:r>
              <a:rPr b="1" i="0" lang="en-US" sz="1050" u="none" cap="none" strike="noStrike">
                <a:solidFill>
                  <a:srgbClr val="1E3A8A"/>
                </a:solidFill>
                <a:latin typeface="Inter"/>
                <a:ea typeface="Inter"/>
                <a:cs typeface="Inter"/>
                <a:sym typeface="Inter"/>
              </a:rPr>
              <a:t>b</a:t>
            </a:r>
            <a:r>
              <a:rPr b="0" i="0" lang="en-US" sz="1050" u="none" cap="none" strike="noStrike">
                <a:solidFill>
                  <a:srgbClr val="1E3A8A"/>
                </a:solidFill>
                <a:latin typeface="Inter"/>
                <a:ea typeface="Inter"/>
                <a:cs typeface="Inter"/>
                <a:sym typeface="Inter"/>
              </a:rPr>
              <a:t> are two neural state vectors of length N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50" u="none" cap="none" strike="noStrike">
                <a:solidFill>
                  <a:srgbClr val="1E3A8A"/>
                </a:solidFill>
                <a:latin typeface="Inter"/>
                <a:ea typeface="Inter"/>
                <a:cs typeface="Inter"/>
                <a:sym typeface="Inter"/>
              </a:rPr>
              <a:t> • </a:t>
            </a:r>
            <a:r>
              <a:rPr b="1" i="0" lang="en-US" sz="1050" u="none" cap="none" strike="noStrike">
                <a:solidFill>
                  <a:srgbClr val="1E3A8A"/>
                </a:solidFill>
                <a:latin typeface="Inter"/>
                <a:ea typeface="Inter"/>
                <a:cs typeface="Inter"/>
                <a:sym typeface="Inter"/>
              </a:rPr>
              <a:t>aᵢ</a:t>
            </a:r>
            <a:r>
              <a:rPr b="0" i="0" lang="en-US" sz="1050" u="none" cap="none" strike="noStrike">
                <a:solidFill>
                  <a:srgbClr val="1E3A8A"/>
                </a:solidFill>
                <a:latin typeface="Inter"/>
                <a:ea typeface="Inter"/>
                <a:cs typeface="Inter"/>
                <a:sym typeface="Inter"/>
              </a:rPr>
              <a:t> and </a:t>
            </a:r>
            <a:r>
              <a:rPr b="1" i="0" lang="en-US" sz="1050" u="none" cap="none" strike="noStrike">
                <a:solidFill>
                  <a:srgbClr val="1E3A8A"/>
                </a:solidFill>
                <a:latin typeface="Inter"/>
                <a:ea typeface="Inter"/>
                <a:cs typeface="Inter"/>
                <a:sym typeface="Inter"/>
              </a:rPr>
              <a:t>bᵢ</a:t>
            </a:r>
            <a:r>
              <a:rPr b="0" i="0" lang="en-US" sz="1050" u="none" cap="none" strike="noStrike">
                <a:solidFill>
                  <a:srgbClr val="1E3A8A"/>
                </a:solidFill>
                <a:latin typeface="Inter"/>
                <a:ea typeface="Inter"/>
                <a:cs typeface="Inter"/>
                <a:sym typeface="Inter"/>
              </a:rPr>
              <a:t> are the firing rates of neuron i in states a and b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50" u="none" cap="none" strike="noStrike">
                <a:solidFill>
                  <a:srgbClr val="1E3A8A"/>
                </a:solidFill>
                <a:latin typeface="Inter"/>
                <a:ea typeface="Inter"/>
                <a:cs typeface="Inter"/>
                <a:sym typeface="Inter"/>
              </a:rPr>
              <a:t> • </a:t>
            </a:r>
            <a:r>
              <a:rPr b="1" i="0" lang="en-US" sz="1050" u="none" cap="none" strike="noStrike">
                <a:solidFill>
                  <a:srgbClr val="1E3A8A"/>
                </a:solidFill>
                <a:latin typeface="Inter"/>
                <a:ea typeface="Inter"/>
                <a:cs typeface="Inter"/>
                <a:sym typeface="Inter"/>
              </a:rPr>
              <a:t>a · b</a:t>
            </a:r>
            <a:r>
              <a:rPr b="0" i="0" lang="en-US" sz="1050" u="none" cap="none" strike="noStrike">
                <a:solidFill>
                  <a:srgbClr val="1E3A8A"/>
                </a:solidFill>
                <a:latin typeface="Inter"/>
                <a:ea typeface="Inter"/>
                <a:cs typeface="Inter"/>
                <a:sym typeface="Inter"/>
              </a:rPr>
              <a:t> is the scalar dot product measuring total alignment</a:t>
            </a:r>
            <a:endParaRPr/>
          </a:p>
        </p:txBody>
      </p:sp>
      <p:sp>
        <p:nvSpPr>
          <p:cNvPr id="634" name="Google Shape;634;p49"/>
          <p:cNvSpPr txBox="1"/>
          <p:nvPr/>
        </p:nvSpPr>
        <p:spPr>
          <a:xfrm>
            <a:off x="6699646" y="3290887"/>
            <a:ext cx="5492353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3A8A"/>
                </a:solidFill>
                <a:latin typeface="Inter"/>
                <a:ea typeface="Inter"/>
                <a:cs typeface="Inter"/>
                <a:sym typeface="Inter"/>
              </a:rPr>
              <a:t>Imagine two motor control signals in your arm:</a:t>
            </a:r>
            <a:endParaRPr/>
          </a:p>
        </p:txBody>
      </p:sp>
      <p:sp>
        <p:nvSpPr>
          <p:cNvPr id="635" name="Google Shape;635;p49"/>
          <p:cNvSpPr txBox="1"/>
          <p:nvPr/>
        </p:nvSpPr>
        <p:spPr>
          <a:xfrm>
            <a:off x="6214318" y="3681412"/>
            <a:ext cx="5615285" cy="447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0F172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v₁ = [1, 1] (Reach Left)  |  v₂ = [1, -1] (Reach Right)</a:t>
            </a:r>
            <a:endParaRPr/>
          </a:p>
        </p:txBody>
      </p:sp>
      <p:sp>
        <p:nvSpPr>
          <p:cNvPr id="636" name="Google Shape;636;p49"/>
          <p:cNvSpPr txBox="1"/>
          <p:nvPr/>
        </p:nvSpPr>
        <p:spPr>
          <a:xfrm>
            <a:off x="6699646" y="4319587"/>
            <a:ext cx="4739878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40AF"/>
                </a:solidFill>
                <a:latin typeface="Inter"/>
                <a:ea typeface="Inter"/>
                <a:cs typeface="Inter"/>
                <a:sym typeface="Inter"/>
              </a:rPr>
              <a:t>What is their dot product? If you plan to reach left, will your right arm muscles get triggered by mistake?</a:t>
            </a:r>
            <a:endParaRPr/>
          </a:p>
        </p:txBody>
      </p:sp>
      <p:sp>
        <p:nvSpPr>
          <p:cNvPr id="637" name="Google Shape;637;p49"/>
          <p:cNvSpPr txBox="1"/>
          <p:nvPr/>
        </p:nvSpPr>
        <p:spPr>
          <a:xfrm>
            <a:off x="7080646" y="2947987"/>
            <a:ext cx="2537817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40AF"/>
                </a:solidFill>
                <a:latin typeface="Space Grotesk"/>
                <a:ea typeface="Space Grotesk"/>
                <a:cs typeface="Space Grotesk"/>
                <a:sym typeface="Space Grotesk"/>
              </a:rPr>
              <a:t>💬 30-Second Puzzle</a:t>
            </a:r>
            <a:endParaRPr/>
          </a:p>
        </p:txBody>
      </p:sp>
      <p:sp>
        <p:nvSpPr>
          <p:cNvPr id="638" name="Google Shape;638;p49"/>
          <p:cNvSpPr txBox="1"/>
          <p:nvPr/>
        </p:nvSpPr>
        <p:spPr>
          <a:xfrm>
            <a:off x="952500" y="4502348"/>
            <a:ext cx="6076652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66534"/>
                </a:solidFill>
                <a:latin typeface="Inter"/>
                <a:ea typeface="Inter"/>
                <a:cs typeface="Inter"/>
                <a:sym typeface="Inter"/>
              </a:rPr>
              <a:t>• </a:t>
            </a:r>
            <a:r>
              <a:rPr b="1" i="0" lang="en-US" sz="1200" u="none" cap="none" strike="noStrike">
                <a:solidFill>
                  <a:srgbClr val="166534"/>
                </a:solidFill>
                <a:latin typeface="Inter"/>
                <a:ea typeface="Inter"/>
                <a:cs typeface="Inter"/>
                <a:sym typeface="Inter"/>
              </a:rPr>
              <a:t>Positive &amp; Big:</a:t>
            </a:r>
            <a:r>
              <a:rPr b="0" i="0" lang="en-US" sz="1200" u="none" cap="none" strike="noStrike">
                <a:solidFill>
                  <a:srgbClr val="166534"/>
                </a:solidFill>
                <a:latin typeface="Inter"/>
                <a:ea typeface="Inter"/>
                <a:cs typeface="Inter"/>
                <a:sym typeface="Inter"/>
              </a:rPr>
              <a:t> Both neurons fire together (Strong Agreement)</a:t>
            </a:r>
            <a:endParaRPr/>
          </a:p>
        </p:txBody>
      </p:sp>
      <p:sp>
        <p:nvSpPr>
          <p:cNvPr id="639" name="Google Shape;639;p49"/>
          <p:cNvSpPr txBox="1"/>
          <p:nvPr/>
        </p:nvSpPr>
        <p:spPr>
          <a:xfrm>
            <a:off x="952500" y="4921448"/>
            <a:ext cx="6076652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 </a:t>
            </a:r>
            <a:r>
              <a:rPr b="1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Zero:</a:t>
            </a: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90° Perpendicular / Orthogonal (Zero Overlap)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43" name="Shape 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Google Shape;644;p50"/>
          <p:cNvSpPr/>
          <p:nvPr/>
        </p:nvSpPr>
        <p:spPr>
          <a:xfrm>
            <a:off x="609600" y="2719387"/>
            <a:ext cx="5104507" cy="2266950"/>
          </a:xfrm>
          <a:prstGeom prst="roundRect">
            <a:avLst>
              <a:gd fmla="val 5042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5" name="Google Shape;645;p50"/>
          <p:cNvSpPr/>
          <p:nvPr/>
        </p:nvSpPr>
        <p:spPr>
          <a:xfrm>
            <a:off x="6018907" y="2655689"/>
            <a:ext cx="5563492" cy="2394346"/>
          </a:xfrm>
          <a:prstGeom prst="roundRect">
            <a:avLst>
              <a:gd fmla="val 4773" name="adj"/>
            </a:avLst>
          </a:prstGeom>
          <a:solidFill>
            <a:srgbClr val="EFF6FF"/>
          </a:solidFill>
          <a:ln cap="flat" cmpd="sng" w="9525">
            <a:solidFill>
              <a:srgbClr val="BFDB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6" name="Google Shape;646;p50"/>
          <p:cNvSpPr/>
          <p:nvPr/>
        </p:nvSpPr>
        <p:spPr>
          <a:xfrm>
            <a:off x="866775" y="3776662"/>
            <a:ext cx="4590157" cy="438150"/>
          </a:xfrm>
          <a:prstGeom prst="roundRect">
            <a:avLst>
              <a:gd fmla="val 17391" name="adj"/>
            </a:avLst>
          </a:prstGeom>
          <a:solidFill>
            <a:srgbClr val="DCFCE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7" name="Google Shape;647;p50"/>
          <p:cNvSpPr/>
          <p:nvPr/>
        </p:nvSpPr>
        <p:spPr>
          <a:xfrm>
            <a:off x="6276082" y="4145160"/>
            <a:ext cx="5049142" cy="647700"/>
          </a:xfrm>
          <a:prstGeom prst="roundRect">
            <a:avLst>
              <a:gd fmla="val 8823" name="adj"/>
            </a:avLst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8" name="Google Shape;648;p50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563E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ACT 4: BRAIN PHYSICS • 19</a:t>
            </a:r>
            <a:endParaRPr/>
          </a:p>
        </p:txBody>
      </p:sp>
      <p:sp>
        <p:nvSpPr>
          <p:cNvPr id="649" name="Google Shape;649;p50"/>
          <p:cNvSpPr txBox="1"/>
          <p:nvPr/>
        </p:nvSpPr>
        <p:spPr>
          <a:xfrm>
            <a:off x="609600" y="685800"/>
            <a:ext cx="11582400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The Answer: Orthogonal "Secret Channels"</a:t>
            </a:r>
            <a:endParaRPr/>
          </a:p>
        </p:txBody>
      </p:sp>
      <p:sp>
        <p:nvSpPr>
          <p:cNvPr id="650" name="Google Shape;650;p50"/>
          <p:cNvSpPr txBox="1"/>
          <p:nvPr/>
        </p:nvSpPr>
        <p:spPr>
          <a:xfrm>
            <a:off x="857250" y="2967037"/>
            <a:ext cx="4704457" cy="1771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59669"/>
                </a:solidFill>
                <a:latin typeface="Inter"/>
                <a:ea typeface="Inter"/>
                <a:cs typeface="Inter"/>
                <a:sym typeface="Inter"/>
              </a:rPr>
              <a:t>THE CALCULATION</a:t>
            </a:r>
            <a:endParaRPr/>
          </a:p>
        </p:txBody>
      </p:sp>
      <p:sp>
        <p:nvSpPr>
          <p:cNvPr id="651" name="Google Shape;651;p50"/>
          <p:cNvSpPr txBox="1"/>
          <p:nvPr/>
        </p:nvSpPr>
        <p:spPr>
          <a:xfrm>
            <a:off x="6266557" y="2903339"/>
            <a:ext cx="5163442" cy="18990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REAL BIOLOGY: MOTOR GATING</a:t>
            </a:r>
            <a:endParaRPr/>
          </a:p>
        </p:txBody>
      </p:sp>
      <p:sp>
        <p:nvSpPr>
          <p:cNvPr id="652" name="Google Shape;652;p50"/>
          <p:cNvSpPr txBox="1"/>
          <p:nvPr/>
        </p:nvSpPr>
        <p:spPr>
          <a:xfrm>
            <a:off x="866775" y="3300412"/>
            <a:ext cx="5737696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0F172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v₁ · v₂ = (1)(1) + (1)(-1) = 0</a:t>
            </a:r>
            <a:endParaRPr/>
          </a:p>
        </p:txBody>
      </p:sp>
      <p:sp>
        <p:nvSpPr>
          <p:cNvPr id="653" name="Google Shape;653;p50"/>
          <p:cNvSpPr txBox="1"/>
          <p:nvPr/>
        </p:nvSpPr>
        <p:spPr>
          <a:xfrm>
            <a:off x="866775" y="4329112"/>
            <a:ext cx="4685407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Because the dot product is exactly ZERO, the two signals have zero crosstalk!</a:t>
            </a:r>
            <a:endParaRPr/>
          </a:p>
        </p:txBody>
      </p:sp>
      <p:sp>
        <p:nvSpPr>
          <p:cNvPr id="654" name="Google Shape;654;p50"/>
          <p:cNvSpPr txBox="1"/>
          <p:nvPr/>
        </p:nvSpPr>
        <p:spPr>
          <a:xfrm>
            <a:off x="6276082" y="3198614"/>
            <a:ext cx="5915917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75" u="none" cap="none" strike="noStrike">
                <a:solidFill>
                  <a:srgbClr val="1E40AF"/>
                </a:solidFill>
                <a:latin typeface="Space Grotesk"/>
                <a:ea typeface="Space Grotesk"/>
                <a:cs typeface="Space Grotesk"/>
                <a:sym typeface="Space Grotesk"/>
              </a:rPr>
              <a:t>Why You Don't Fidget While Thinking</a:t>
            </a:r>
            <a:endParaRPr/>
          </a:p>
        </p:txBody>
      </p:sp>
      <p:sp>
        <p:nvSpPr>
          <p:cNvPr id="655" name="Google Shape;655;p50"/>
          <p:cNvSpPr txBox="1"/>
          <p:nvPr/>
        </p:nvSpPr>
        <p:spPr>
          <a:xfrm>
            <a:off x="6276082" y="3531989"/>
            <a:ext cx="5144392" cy="4798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3A8A"/>
                </a:solidFill>
                <a:latin typeface="Inter"/>
                <a:ea typeface="Inter"/>
                <a:cs typeface="Inter"/>
                <a:sym typeface="Inter"/>
              </a:rPr>
              <a:t>When preparing to catch a ball, your brain plans the movement in an </a:t>
            </a:r>
            <a:r>
              <a:rPr b="1" i="0" lang="en-US" sz="1350" u="none" cap="none" strike="noStrike">
                <a:solidFill>
                  <a:srgbClr val="1E3A8A"/>
                </a:solidFill>
                <a:latin typeface="Inter"/>
                <a:ea typeface="Inter"/>
                <a:cs typeface="Inter"/>
                <a:sym typeface="Inter"/>
              </a:rPr>
              <a:t>orthogonal null space</a:t>
            </a:r>
            <a:r>
              <a:rPr b="0" i="0" lang="en-US" sz="1350" u="none" cap="none" strike="noStrike">
                <a:solidFill>
                  <a:srgbClr val="1E3A8A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/>
          </a:p>
        </p:txBody>
      </p:sp>
      <p:sp>
        <p:nvSpPr>
          <p:cNvPr id="656" name="Google Shape;656;p50"/>
          <p:cNvSpPr txBox="1"/>
          <p:nvPr/>
        </p:nvSpPr>
        <p:spPr>
          <a:xfrm>
            <a:off x="981075" y="3890962"/>
            <a:ext cx="5451946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66534"/>
                </a:solidFill>
                <a:latin typeface="Inter"/>
                <a:ea typeface="Inter"/>
                <a:cs typeface="Inter"/>
                <a:sym typeface="Inter"/>
              </a:rPr>
              <a:t>Dot Product = 0 ⟹ Angle = 90° (Orthogonal)</a:t>
            </a:r>
            <a:endParaRPr/>
          </a:p>
        </p:txBody>
      </p:sp>
      <p:sp>
        <p:nvSpPr>
          <p:cNvPr id="657" name="Google Shape;657;p50"/>
          <p:cNvSpPr txBox="1"/>
          <p:nvPr/>
        </p:nvSpPr>
        <p:spPr>
          <a:xfrm>
            <a:off x="6418957" y="4268985"/>
            <a:ext cx="4858642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Zero projection to spinal cord = Your muscles stay perfectly calm until you decide to launch!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6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p51"/>
          <p:cNvSpPr/>
          <p:nvPr/>
        </p:nvSpPr>
        <p:spPr>
          <a:xfrm>
            <a:off x="609600" y="2505226"/>
            <a:ext cx="5796600" cy="3383700"/>
          </a:xfrm>
          <a:prstGeom prst="roundRect">
            <a:avLst>
              <a:gd fmla="val 4301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3" name="Google Shape;663;p51"/>
          <p:cNvSpPr/>
          <p:nvPr/>
        </p:nvSpPr>
        <p:spPr>
          <a:xfrm>
            <a:off x="828675" y="3343423"/>
            <a:ext cx="5358556" cy="1123652"/>
          </a:xfrm>
          <a:prstGeom prst="roundRect">
            <a:avLst>
              <a:gd fmla="val 6781" name="adj"/>
            </a:avLst>
          </a:prstGeom>
          <a:solidFill>
            <a:srgbClr val="EFF6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4" name="Google Shape;664;p51"/>
          <p:cNvSpPr/>
          <p:nvPr/>
        </p:nvSpPr>
        <p:spPr>
          <a:xfrm>
            <a:off x="6711106" y="2833687"/>
            <a:ext cx="4871293" cy="1104900"/>
          </a:xfrm>
          <a:prstGeom prst="roundRect">
            <a:avLst>
              <a:gd fmla="val 10344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5" name="Google Shape;665;p51"/>
          <p:cNvSpPr/>
          <p:nvPr/>
        </p:nvSpPr>
        <p:spPr>
          <a:xfrm>
            <a:off x="6711106" y="4071937"/>
            <a:ext cx="4871293" cy="762000"/>
          </a:xfrm>
          <a:prstGeom prst="roundRect">
            <a:avLst>
              <a:gd fmla="val 15000" name="adj"/>
            </a:avLst>
          </a:prstGeom>
          <a:solidFill>
            <a:srgbClr val="FDF2F8"/>
          </a:solidFill>
          <a:ln cap="flat" cmpd="sng" w="9525">
            <a:solidFill>
              <a:srgbClr val="FBCF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6" name="Google Shape;666;p51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563E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ACT 4: BRAIN PHYSICS • 20</a:t>
            </a:r>
            <a:endParaRPr/>
          </a:p>
        </p:txBody>
      </p:sp>
      <p:sp>
        <p:nvSpPr>
          <p:cNvPr id="667" name="Google Shape;667;p51"/>
          <p:cNvSpPr txBox="1"/>
          <p:nvPr/>
        </p:nvSpPr>
        <p:spPr>
          <a:xfrm>
            <a:off x="609600" y="685800"/>
            <a:ext cx="11582400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Cosine Similarity: Recognizing Patterns in Any Light</a:t>
            </a:r>
            <a:endParaRPr/>
          </a:p>
        </p:txBody>
      </p:sp>
      <p:sp>
        <p:nvSpPr>
          <p:cNvPr id="668" name="Google Shape;668;p51"/>
          <p:cNvSpPr txBox="1"/>
          <p:nvPr/>
        </p:nvSpPr>
        <p:spPr>
          <a:xfrm>
            <a:off x="819150" y="2714773"/>
            <a:ext cx="5472856" cy="22380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COSINE SIMILARITY FORMULA</a:t>
            </a:r>
            <a:endParaRPr/>
          </a:p>
        </p:txBody>
      </p:sp>
      <p:sp>
        <p:nvSpPr>
          <p:cNvPr id="669" name="Google Shape;669;p51"/>
          <p:cNvSpPr txBox="1"/>
          <p:nvPr/>
        </p:nvSpPr>
        <p:spPr>
          <a:xfrm>
            <a:off x="828675" y="2990998"/>
            <a:ext cx="669819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cos(θ) = (a · b) / (||a|| × ||b||)</a:t>
            </a:r>
            <a:endParaRPr/>
          </a:p>
        </p:txBody>
      </p:sp>
      <p:sp>
        <p:nvSpPr>
          <p:cNvPr id="670" name="Google Shape;670;p51"/>
          <p:cNvSpPr txBox="1"/>
          <p:nvPr/>
        </p:nvSpPr>
        <p:spPr>
          <a:xfrm>
            <a:off x="962025" y="3438673"/>
            <a:ext cx="5187000" cy="15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1E3A8A"/>
                </a:solidFill>
                <a:latin typeface="Inter"/>
                <a:ea typeface="Inter"/>
                <a:cs typeface="Inter"/>
                <a:sym typeface="Inter"/>
              </a:rPr>
              <a:t>Where:</a:t>
            </a:r>
            <a:endParaRPr b="1" i="0" sz="1050" u="none" cap="none" strike="noStrike">
              <a:solidFill>
                <a:srgbClr val="1E3A8A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81666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50" u="none" cap="none" strike="noStrike">
                <a:solidFill>
                  <a:srgbClr val="1E3A8A"/>
                </a:solidFill>
                <a:latin typeface="Inter"/>
                <a:ea typeface="Inter"/>
                <a:cs typeface="Inter"/>
                <a:sym typeface="Inter"/>
              </a:rPr>
              <a:t> • </a:t>
            </a:r>
            <a:r>
              <a:rPr b="1" i="0" lang="en-US" sz="1050" u="none" cap="none" strike="noStrike">
                <a:solidFill>
                  <a:srgbClr val="1E3A8A"/>
                </a:solidFill>
                <a:latin typeface="Inter"/>
                <a:ea typeface="Inter"/>
                <a:cs typeface="Inter"/>
                <a:sym typeface="Inter"/>
              </a:rPr>
              <a:t>cos(θ)</a:t>
            </a:r>
            <a:r>
              <a:rPr b="0" i="0" lang="en-US" sz="1050" u="none" cap="none" strike="noStrike">
                <a:solidFill>
                  <a:srgbClr val="1E3A8A"/>
                </a:solidFill>
                <a:latin typeface="Inter"/>
                <a:ea typeface="Inter"/>
                <a:cs typeface="Inter"/>
                <a:sym typeface="Inter"/>
              </a:rPr>
              <a:t> is the similarity score (ranging from -1.0 to +1.0)</a:t>
            </a:r>
            <a:endParaRPr b="0" i="0" sz="1050" u="none" cap="none" strike="noStrike">
              <a:solidFill>
                <a:srgbClr val="1E3A8A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81666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50" u="none" cap="none" strike="noStrike">
                <a:solidFill>
                  <a:srgbClr val="1E3A8A"/>
                </a:solidFill>
                <a:latin typeface="Inter"/>
                <a:ea typeface="Inter"/>
                <a:cs typeface="Inter"/>
                <a:sym typeface="Inter"/>
              </a:rPr>
              <a:t> • </a:t>
            </a:r>
            <a:r>
              <a:rPr b="1" i="0" lang="en-US" sz="1050" u="none" cap="none" strike="noStrike">
                <a:solidFill>
                  <a:srgbClr val="1E3A8A"/>
                </a:solidFill>
                <a:latin typeface="Inter"/>
                <a:ea typeface="Inter"/>
                <a:cs typeface="Inter"/>
                <a:sym typeface="Inter"/>
              </a:rPr>
              <a:t>a · b</a:t>
            </a:r>
            <a:r>
              <a:rPr b="0" i="0" lang="en-US" sz="1050" u="none" cap="none" strike="noStrike">
                <a:solidFill>
                  <a:srgbClr val="1E3A8A"/>
                </a:solidFill>
                <a:latin typeface="Inter"/>
                <a:ea typeface="Inter"/>
                <a:cs typeface="Inter"/>
                <a:sym typeface="Inter"/>
              </a:rPr>
              <a:t> is the raw dot product</a:t>
            </a:r>
            <a:endParaRPr b="0" i="0" sz="1050" u="none" cap="none" strike="noStrike">
              <a:solidFill>
                <a:srgbClr val="1E3A8A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81666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50" u="none" cap="none" strike="noStrike">
                <a:solidFill>
                  <a:srgbClr val="1E3A8A"/>
                </a:solidFill>
                <a:latin typeface="Inter"/>
                <a:ea typeface="Inter"/>
                <a:cs typeface="Inter"/>
                <a:sym typeface="Inter"/>
              </a:rPr>
              <a:t> • </a:t>
            </a:r>
            <a:r>
              <a:rPr b="1" i="0" lang="en-US" sz="1050" u="none" cap="none" strike="noStrike">
                <a:solidFill>
                  <a:srgbClr val="1E3A8A"/>
                </a:solidFill>
                <a:latin typeface="Inter"/>
                <a:ea typeface="Inter"/>
                <a:cs typeface="Inter"/>
                <a:sym typeface="Inter"/>
              </a:rPr>
              <a:t>||a||</a:t>
            </a:r>
            <a:r>
              <a:rPr b="0" i="0" lang="en-US" sz="1050" u="none" cap="none" strike="noStrike">
                <a:solidFill>
                  <a:srgbClr val="1E3A8A"/>
                </a:solidFill>
                <a:latin typeface="Inter"/>
                <a:ea typeface="Inter"/>
                <a:cs typeface="Inter"/>
                <a:sym typeface="Inter"/>
              </a:rPr>
              <a:t> is the length of vector a: √(a₁² + a₂² + ...)</a:t>
            </a:r>
            <a:endParaRPr b="0" i="0" sz="1050" u="none" cap="none" strike="noStrike">
              <a:solidFill>
                <a:srgbClr val="1E3A8A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81666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50" u="none" cap="none" strike="noStrike">
                <a:solidFill>
                  <a:srgbClr val="1E3A8A"/>
                </a:solidFill>
                <a:latin typeface="Inter"/>
                <a:ea typeface="Inter"/>
                <a:cs typeface="Inter"/>
                <a:sym typeface="Inter"/>
              </a:rPr>
              <a:t> • </a:t>
            </a:r>
            <a:r>
              <a:rPr b="1" i="0" lang="en-US" sz="1050" u="none" cap="none" strike="noStrike">
                <a:solidFill>
                  <a:srgbClr val="1E3A8A"/>
                </a:solidFill>
                <a:latin typeface="Inter"/>
                <a:ea typeface="Inter"/>
                <a:cs typeface="Inter"/>
                <a:sym typeface="Inter"/>
              </a:rPr>
              <a:t>||b||</a:t>
            </a:r>
            <a:r>
              <a:rPr b="0" i="0" lang="en-US" sz="1050" u="none" cap="none" strike="noStrike">
                <a:solidFill>
                  <a:srgbClr val="1E3A8A"/>
                </a:solidFill>
                <a:latin typeface="Inter"/>
                <a:ea typeface="Inter"/>
                <a:cs typeface="Inter"/>
                <a:sym typeface="Inter"/>
              </a:rPr>
              <a:t> is the length of vector b </a:t>
            </a:r>
            <a:r>
              <a:rPr lang="en-US" sz="1050">
                <a:solidFill>
                  <a:srgbClr val="1E3A8A"/>
                </a:solidFill>
                <a:latin typeface="Inter"/>
                <a:ea typeface="Inter"/>
                <a:cs typeface="Inter"/>
                <a:sym typeface="Inter"/>
              </a:rPr>
              <a:t>√(b₁² + b₂² + ...)</a:t>
            </a:r>
            <a:endParaRPr/>
          </a:p>
        </p:txBody>
      </p:sp>
      <p:sp>
        <p:nvSpPr>
          <p:cNvPr id="671" name="Google Shape;671;p51"/>
          <p:cNvSpPr txBox="1"/>
          <p:nvPr/>
        </p:nvSpPr>
        <p:spPr>
          <a:xfrm>
            <a:off x="828675" y="5391101"/>
            <a:ext cx="5453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Dim room: [2, 1] Hz  vs  Bright sun: [20, 10] Hz ⟹ </a:t>
            </a:r>
            <a:r>
              <a:rPr b="1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cos(θ) = 1.0 (Identical shape!)</a:t>
            </a:r>
            <a:endParaRPr/>
          </a:p>
        </p:txBody>
      </p:sp>
      <p:sp>
        <p:nvSpPr>
          <p:cNvPr id="672" name="Google Shape;672;p51"/>
          <p:cNvSpPr txBox="1"/>
          <p:nvPr/>
        </p:nvSpPr>
        <p:spPr>
          <a:xfrm>
            <a:off x="6911131" y="3033712"/>
            <a:ext cx="5280868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Why Visual Cortex Loves This</a:t>
            </a:r>
            <a:endParaRPr/>
          </a:p>
        </p:txBody>
      </p:sp>
      <p:sp>
        <p:nvSpPr>
          <p:cNvPr id="673" name="Google Shape;673;p51"/>
          <p:cNvSpPr txBox="1"/>
          <p:nvPr/>
        </p:nvSpPr>
        <p:spPr>
          <a:xfrm>
            <a:off x="6911131" y="3338512"/>
            <a:ext cx="4566493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You still recognize your best friend's face whether in candlelight or bright sunshine!</a:t>
            </a:r>
            <a:endParaRPr/>
          </a:p>
        </p:txBody>
      </p:sp>
      <p:sp>
        <p:nvSpPr>
          <p:cNvPr id="674" name="Google Shape;674;p51"/>
          <p:cNvSpPr txBox="1"/>
          <p:nvPr/>
        </p:nvSpPr>
        <p:spPr>
          <a:xfrm>
            <a:off x="6892081" y="4252912"/>
            <a:ext cx="4604593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D174D"/>
                </a:solidFill>
                <a:latin typeface="Inter"/>
                <a:ea typeface="Inter"/>
                <a:cs typeface="Inter"/>
                <a:sym typeface="Inter"/>
              </a:rPr>
              <a:t>Cosine similarity looks at the </a:t>
            </a:r>
            <a:r>
              <a:rPr b="1" i="0" lang="en-US" sz="1350" u="none" cap="none" strike="noStrike">
                <a:solidFill>
                  <a:srgbClr val="9D174D"/>
                </a:solidFill>
                <a:latin typeface="Inter"/>
                <a:ea typeface="Inter"/>
                <a:cs typeface="Inter"/>
                <a:sym typeface="Inter"/>
              </a:rPr>
              <a:t>shape of the pattern</a:t>
            </a:r>
            <a:r>
              <a:rPr b="0" i="0" lang="en-US" sz="1350" u="none" cap="none" strike="noStrike">
                <a:solidFill>
                  <a:srgbClr val="9D174D"/>
                </a:solidFill>
                <a:latin typeface="Inter"/>
                <a:ea typeface="Inter"/>
                <a:cs typeface="Inter"/>
                <a:sym typeface="Inter"/>
              </a:rPr>
              <a:t>, ignoring the raw brightness!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8" name="Shape 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679" name="Google Shape;679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80" name="Google Shape;680;p52"/>
          <p:cNvSpPr/>
          <p:nvPr/>
        </p:nvSpPr>
        <p:spPr>
          <a:xfrm>
            <a:off x="3614550" y="3148049"/>
            <a:ext cx="6128700" cy="762900"/>
          </a:xfrm>
          <a:prstGeom prst="roundRect">
            <a:avLst>
              <a:gd fmla="val 20338" name="adj"/>
            </a:avLst>
          </a:prstGeom>
          <a:solidFill>
            <a:srgbClr val="0F172A"/>
          </a:solidFill>
          <a:ln cap="flat" cmpd="sng" w="9525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1" name="Google Shape;681;p52"/>
          <p:cNvSpPr txBox="1"/>
          <p:nvPr/>
        </p:nvSpPr>
        <p:spPr>
          <a:xfrm>
            <a:off x="4571993" y="3336602"/>
            <a:ext cx="41673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Python Lab Ready in Jupyter /</a:t>
            </a:r>
            <a:r>
              <a:rPr lang="en-US" sz="1200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Operations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85" name="Shape 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86" name="Google Shape;686;p53"/>
          <p:cNvGrpSpPr/>
          <p:nvPr/>
        </p:nvGrpSpPr>
        <p:grpSpPr>
          <a:xfrm>
            <a:off x="609600" y="457200"/>
            <a:ext cx="10972800" cy="876300"/>
            <a:chOff x="0" y="0"/>
            <a:chExt cx="10972800" cy="876300"/>
          </a:xfrm>
        </p:grpSpPr>
        <p:sp>
          <p:nvSpPr>
            <p:cNvPr id="687" name="Google Shape;687;p53"/>
            <p:cNvSpPr/>
            <p:nvPr/>
          </p:nvSpPr>
          <p:spPr>
            <a:xfrm>
              <a:off x="0" y="0"/>
              <a:ext cx="2190900" cy="304800"/>
            </a:xfrm>
            <a:prstGeom prst="roundRect">
              <a:avLst>
                <a:gd fmla="val 50000" name="adj"/>
              </a:avLst>
            </a:prstGeom>
            <a:solidFill>
              <a:srgbClr val="EFF6FF"/>
            </a:solidFill>
            <a:ln cap="flat" cmpd="sng" w="9525">
              <a:solidFill>
                <a:srgbClr val="BFDBF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8" name="Google Shape;688;p53"/>
            <p:cNvSpPr txBox="1"/>
            <p:nvPr/>
          </p:nvSpPr>
          <p:spPr>
            <a:xfrm>
              <a:off x="0" y="0"/>
              <a:ext cx="21909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2563EB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⏰ 5-MINUTE BRAIN BREAK</a:t>
              </a:r>
              <a:endParaRPr b="1" sz="1000">
                <a:solidFill>
                  <a:srgbClr val="2563EB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</p:txBody>
        </p:sp>
        <p:sp>
          <p:nvSpPr>
            <p:cNvPr id="689" name="Google Shape;689;p53"/>
            <p:cNvSpPr txBox="1"/>
            <p:nvPr/>
          </p:nvSpPr>
          <p:spPr>
            <a:xfrm>
              <a:off x="0" y="419100"/>
              <a:ext cx="109728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800">
                  <a:solidFill>
                    <a:srgbClr val="0F172A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Halfway Brain Checkpoint</a:t>
              </a:r>
              <a:endParaRPr b="1" sz="2800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</p:grpSp>
      <p:grpSp>
        <p:nvGrpSpPr>
          <p:cNvPr id="690" name="Google Shape;690;p53"/>
          <p:cNvGrpSpPr/>
          <p:nvPr/>
        </p:nvGrpSpPr>
        <p:grpSpPr>
          <a:xfrm>
            <a:off x="609600" y="1562100"/>
            <a:ext cx="5257800" cy="3238500"/>
            <a:chOff x="0" y="0"/>
            <a:chExt cx="5257800" cy="3238500"/>
          </a:xfrm>
        </p:grpSpPr>
        <p:sp>
          <p:nvSpPr>
            <p:cNvPr id="691" name="Google Shape;691;p53"/>
            <p:cNvSpPr/>
            <p:nvPr/>
          </p:nvSpPr>
          <p:spPr>
            <a:xfrm>
              <a:off x="0" y="0"/>
              <a:ext cx="5257800" cy="3238500"/>
            </a:xfrm>
            <a:prstGeom prst="roundRect">
              <a:avLst>
                <a:gd fmla="val 4705" name="adj"/>
              </a:avLst>
            </a:prstGeom>
            <a:solidFill>
              <a:srgbClr val="0F172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2" name="Google Shape;692;p53"/>
            <p:cNvSpPr txBox="1"/>
            <p:nvPr/>
          </p:nvSpPr>
          <p:spPr>
            <a:xfrm>
              <a:off x="381000" y="342900"/>
              <a:ext cx="4495800" cy="255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38BDF8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THE CHECKPOINT QUESTION</a:t>
              </a:r>
              <a:endParaRPr b="1" sz="1100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F8FAFC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"If you record from 100 neurons in your motor cortex, how many dimensions is your coordinate space?"</a:t>
              </a:r>
              <a:endParaRPr b="1" sz="2000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94A3B8"/>
                  </a:solidFill>
                  <a:highlight>
                    <a:srgbClr val="1E293B"/>
                  </a:highlight>
                  <a:latin typeface="Inter"/>
                  <a:ea typeface="Inter"/>
                  <a:cs typeface="Inter"/>
                  <a:sym typeface="Inter"/>
                </a:rPr>
                <a:t>Tip: Each recorded neuron provides one independent axis of measurement.</a:t>
              </a:r>
              <a:endParaRPr b="0" sz="1100">
                <a:solidFill>
                  <a:srgbClr val="94A3B8"/>
                </a:solidFill>
                <a:highlight>
                  <a:srgbClr val="1E293B"/>
                </a:highlight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693" name="Google Shape;693;p53"/>
          <p:cNvGrpSpPr/>
          <p:nvPr/>
        </p:nvGrpSpPr>
        <p:grpSpPr>
          <a:xfrm>
            <a:off x="6096000" y="1562100"/>
            <a:ext cx="5486400" cy="3238500"/>
            <a:chOff x="0" y="0"/>
            <a:chExt cx="5486400" cy="3238500"/>
          </a:xfrm>
        </p:grpSpPr>
        <p:sp>
          <p:nvSpPr>
            <p:cNvPr id="694" name="Google Shape;694;p53"/>
            <p:cNvSpPr/>
            <p:nvPr/>
          </p:nvSpPr>
          <p:spPr>
            <a:xfrm>
              <a:off x="0" y="0"/>
              <a:ext cx="5486400" cy="3238500"/>
            </a:xfrm>
            <a:prstGeom prst="roundRect">
              <a:avLst>
                <a:gd fmla="val 4705" name="adj"/>
              </a:avLst>
            </a:prstGeom>
            <a:solidFill>
              <a:srgbClr val="EFF6FF"/>
            </a:solidFill>
            <a:ln cap="flat" cmpd="sng" w="9525">
              <a:solidFill>
                <a:srgbClr val="BFDBF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5" name="Google Shape;695;p53"/>
            <p:cNvSpPr txBox="1"/>
            <p:nvPr/>
          </p:nvSpPr>
          <p:spPr>
            <a:xfrm>
              <a:off x="381000" y="342900"/>
              <a:ext cx="4724400" cy="255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2563EB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VERIFIED ANSWER</a:t>
              </a:r>
              <a:endParaRPr b="1" sz="1100">
                <a:solidFill>
                  <a:srgbClr val="2563EB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-US" sz="4400">
                  <a:solidFill>
                    <a:srgbClr val="1E40AF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100</a:t>
              </a:r>
              <a:r>
                <a:rPr lang="en-US">
                  <a:latin typeface="Inter"/>
                  <a:ea typeface="Inter"/>
                  <a:cs typeface="Inter"/>
                  <a:sym typeface="Inter"/>
                </a:rPr>
                <a:t> </a:t>
              </a:r>
              <a:r>
                <a:rPr b="1" lang="en-US" sz="2000">
                  <a:solidFill>
                    <a:srgbClr val="1E3A8A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Dimensions!</a:t>
              </a:r>
              <a:endParaRPr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-US" sz="12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Next, we'll see how matrices, eigenvectors, and PCA untangle that 100D space.</a:t>
              </a:r>
              <a:endParaRPr b="0" sz="12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050">
                  <a:solidFill>
                    <a:srgbClr val="475569"/>
                  </a:solidFill>
                  <a:highlight>
                    <a:srgbClr val="FFFFFF"/>
                  </a:highlight>
                  <a:latin typeface="Inter Medium"/>
                  <a:ea typeface="Inter Medium"/>
                  <a:cs typeface="Inter Medium"/>
                  <a:sym typeface="Inter Medium"/>
                </a:rPr>
                <a:t>Key Takeaway: High-dimensional neural state spaces can be mapped onto lower-dimensional manifolds using linear algebra operations.</a:t>
              </a:r>
              <a:endParaRPr b="0" sz="1050">
                <a:solidFill>
                  <a:srgbClr val="475569"/>
                </a:solidFill>
                <a:highlight>
                  <a:srgbClr val="FFFFFF"/>
                </a:highlight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  <p:grpSp>
        <p:nvGrpSpPr>
          <p:cNvPr id="696" name="Google Shape;696;p53"/>
          <p:cNvGrpSpPr/>
          <p:nvPr/>
        </p:nvGrpSpPr>
        <p:grpSpPr>
          <a:xfrm>
            <a:off x="609600" y="5067300"/>
            <a:ext cx="10972800" cy="1143000"/>
            <a:chOff x="0" y="0"/>
            <a:chExt cx="10972800" cy="1143000"/>
          </a:xfrm>
        </p:grpSpPr>
        <p:sp>
          <p:nvSpPr>
            <p:cNvPr id="697" name="Google Shape;697;p53"/>
            <p:cNvSpPr/>
            <p:nvPr/>
          </p:nvSpPr>
          <p:spPr>
            <a:xfrm>
              <a:off x="0" y="0"/>
              <a:ext cx="10972800" cy="1143000"/>
            </a:xfrm>
            <a:prstGeom prst="roundRect">
              <a:avLst>
                <a:gd fmla="val 13333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8" name="Google Shape;698;p53"/>
            <p:cNvSpPr txBox="1"/>
            <p:nvPr/>
          </p:nvSpPr>
          <p:spPr>
            <a:xfrm>
              <a:off x="304800" y="228600"/>
              <a:ext cx="10363200" cy="68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900">
                  <a:solidFill>
                    <a:srgbClr val="F8FAFC"/>
                  </a:solidFill>
                  <a:highlight>
                    <a:srgbClr val="0F172A"/>
                  </a:highlight>
                  <a:latin typeface="JetBrains Mono"/>
                  <a:ea typeface="JetBrains Mono"/>
                  <a:cs typeface="JetBrains Mono"/>
                  <a:sym typeface="JetBrains Mono"/>
                </a:rPr>
                <a:t>UP NEXT</a:t>
              </a:r>
              <a:r>
                <a:rPr lang="en-US">
                  <a:latin typeface="Inter"/>
                  <a:ea typeface="Inter"/>
                  <a:cs typeface="Inter"/>
                  <a:sym typeface="Inter"/>
                </a:rPr>
                <a:t> </a:t>
              </a:r>
              <a:r>
                <a:rPr b="1" lang="en-US" sz="1800">
                  <a:solidFill>
                    <a:srgbClr val="0F172A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Synaptic Matrices, Covariance, and The Deep Dive on PCA!</a:t>
              </a:r>
              <a:endParaRPr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Get ready to transition from raw single-neuron counts to structured matrix operations.</a:t>
              </a:r>
              <a:endParaRPr b="0" sz="11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02" name="Shape 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" name="Google Shape;703;p54"/>
          <p:cNvSpPr/>
          <p:nvPr/>
        </p:nvSpPr>
        <p:spPr>
          <a:xfrm>
            <a:off x="1714500" y="4762500"/>
            <a:ext cx="8763000" cy="1638300"/>
          </a:xfrm>
          <a:prstGeom prst="roundRect">
            <a:avLst>
              <a:gd fmla="val 9302" name="adj"/>
            </a:avLst>
          </a:prstGeom>
          <a:solidFill>
            <a:srgbClr val="F8FAFC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4" name="Google Shape;704;p54"/>
          <p:cNvSpPr/>
          <p:nvPr/>
        </p:nvSpPr>
        <p:spPr>
          <a:xfrm>
            <a:off x="609600" y="1257753"/>
            <a:ext cx="5305500" cy="3386700"/>
          </a:xfrm>
          <a:prstGeom prst="roundRect">
            <a:avLst>
              <a:gd fmla="val 4588" name="adj"/>
            </a:avLst>
          </a:prstGeom>
          <a:solidFill>
            <a:srgbClr val="0F17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705" name="Google Shape;705;p54"/>
          <p:cNvGraphicFramePr/>
          <p:nvPr/>
        </p:nvGraphicFramePr>
        <p:xfrm>
          <a:off x="1905000" y="4857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{8BF32FAD-5FC6-475A-90FC-75AD4E81BC82}</a:tableStyleId>
              </a:tblPr>
              <a:tblGrid>
                <a:gridCol w="2095500"/>
                <a:gridCol w="2095500"/>
                <a:gridCol w="2095500"/>
                <a:gridCol w="2095500"/>
              </a:tblGrid>
              <a:tr h="482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rgbClr val="475569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Sensory 1</a:t>
                      </a:r>
                      <a:endParaRPr b="1" sz="1100">
                        <a:solidFill>
                          <a:srgbClr val="475569"/>
                        </a:solidFill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T="19050" marB="19050" marR="114300" marL="1143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rgbClr val="475569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Sensory 2</a:t>
                      </a:r>
                      <a:endParaRPr b="1" sz="1100">
                        <a:solidFill>
                          <a:srgbClr val="475569"/>
                        </a:solidFill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T="19050" marB="19050" marR="114300" marL="1143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rgbClr val="475569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Sensory 3</a:t>
                      </a:r>
                      <a:endParaRPr b="1" sz="1100">
                        <a:solidFill>
                          <a:srgbClr val="475569"/>
                        </a:solidFill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T="19050" marB="19050" marR="114300" marL="1143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26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>
                          <a:solidFill>
                            <a:srgbClr val="0F172A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Motor A</a:t>
                      </a:r>
                      <a:endParaRPr b="1" sz="1200">
                        <a:solidFill>
                          <a:srgbClr val="0F172A"/>
                        </a:solidFill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T="0" marB="0" marR="114300" marL="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>
                          <a:solidFill>
                            <a:srgbClr val="2563EB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0.8</a:t>
                      </a:r>
                      <a:endParaRPr b="1" sz="1400">
                        <a:solidFill>
                          <a:srgbClr val="2563EB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T="76200" marB="76200" marR="228600" marL="2286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>
                          <a:solidFill>
                            <a:srgbClr val="DC2626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-0.5</a:t>
                      </a:r>
                      <a:endParaRPr b="1" sz="1400">
                        <a:solidFill>
                          <a:srgbClr val="DC2626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T="76200" marB="76200" marR="228600" marL="2286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>
                          <a:solidFill>
                            <a:srgbClr val="2563EB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1.2</a:t>
                      </a:r>
                      <a:endParaRPr b="1" sz="1400">
                        <a:solidFill>
                          <a:srgbClr val="2563EB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T="76200" marB="76200" marR="228600" marL="2286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26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>
                          <a:solidFill>
                            <a:srgbClr val="0F172A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Motor B</a:t>
                      </a:r>
                      <a:endParaRPr b="1" sz="1200">
                        <a:solidFill>
                          <a:srgbClr val="0F172A"/>
                        </a:solidFill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T="0" marB="0" marR="114300" marL="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>
                          <a:solidFill>
                            <a:srgbClr val="DC2626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-0.2</a:t>
                      </a:r>
                      <a:endParaRPr b="1" sz="1400">
                        <a:solidFill>
                          <a:srgbClr val="DC2626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T="76200" marB="76200" marR="228600" marL="2286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>
                          <a:solidFill>
                            <a:srgbClr val="2563EB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1.5</a:t>
                      </a:r>
                      <a:endParaRPr b="1" sz="1400">
                        <a:solidFill>
                          <a:srgbClr val="2563EB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T="76200" marB="76200" marR="228600" marL="2286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>
                          <a:solidFill>
                            <a:srgbClr val="2563EB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0.1</a:t>
                      </a:r>
                      <a:endParaRPr b="1" sz="1400">
                        <a:solidFill>
                          <a:srgbClr val="2563EB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T="76200" marB="76200" marR="228600" marL="2286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706" name="Google Shape;706;p54"/>
          <p:cNvSpPr/>
          <p:nvPr/>
        </p:nvSpPr>
        <p:spPr>
          <a:xfrm>
            <a:off x="6219825" y="1331272"/>
            <a:ext cx="5362500" cy="3313200"/>
          </a:xfrm>
          <a:prstGeom prst="roundRect">
            <a:avLst>
              <a:gd fmla="val 4477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7" name="Google Shape;707;p54"/>
          <p:cNvSpPr/>
          <p:nvPr/>
        </p:nvSpPr>
        <p:spPr>
          <a:xfrm>
            <a:off x="838200" y="2219774"/>
            <a:ext cx="4848300" cy="2174100"/>
          </a:xfrm>
          <a:prstGeom prst="roundRect">
            <a:avLst>
              <a:gd fmla="val 5860" name="adj"/>
            </a:avLst>
          </a:prstGeom>
          <a:solidFill>
            <a:srgbClr val="1D253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8" name="Google Shape;708;p54"/>
          <p:cNvSpPr/>
          <p:nvPr/>
        </p:nvSpPr>
        <p:spPr>
          <a:xfrm>
            <a:off x="6476938" y="2980512"/>
            <a:ext cx="4848300" cy="647700"/>
          </a:xfrm>
          <a:prstGeom prst="roundRect">
            <a:avLst>
              <a:gd fmla="val 8823" name="adj"/>
            </a:avLst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9" name="Google Shape;709;p54"/>
          <p:cNvSpPr txBox="1"/>
          <p:nvPr/>
        </p:nvSpPr>
        <p:spPr>
          <a:xfrm>
            <a:off x="609600" y="457200"/>
            <a:ext cx="115824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563E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ACT 5: SYNAPTIC OPERATORS • 21</a:t>
            </a:r>
            <a:endParaRPr/>
          </a:p>
        </p:txBody>
      </p:sp>
      <p:sp>
        <p:nvSpPr>
          <p:cNvPr id="710" name="Google Shape;710;p54"/>
          <p:cNvSpPr txBox="1"/>
          <p:nvPr/>
        </p:nvSpPr>
        <p:spPr>
          <a:xfrm>
            <a:off x="609600" y="685800"/>
            <a:ext cx="115824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Synapses as a Matrix: The Neural Wiring Board</a:t>
            </a:r>
            <a:endParaRPr/>
          </a:p>
        </p:txBody>
      </p:sp>
      <p:sp>
        <p:nvSpPr>
          <p:cNvPr id="711" name="Google Shape;711;p54"/>
          <p:cNvSpPr txBox="1"/>
          <p:nvPr/>
        </p:nvSpPr>
        <p:spPr>
          <a:xfrm>
            <a:off x="838200" y="1486351"/>
            <a:ext cx="49434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INPUTS TO OUTPUTS</a:t>
            </a:r>
            <a:endParaRPr/>
          </a:p>
        </p:txBody>
      </p:sp>
      <p:sp>
        <p:nvSpPr>
          <p:cNvPr id="712" name="Google Shape;712;p54"/>
          <p:cNvSpPr txBox="1"/>
          <p:nvPr/>
        </p:nvSpPr>
        <p:spPr>
          <a:xfrm>
            <a:off x="838200" y="1772093"/>
            <a:ext cx="60603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8FA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y = W · x</a:t>
            </a:r>
            <a:endParaRPr/>
          </a:p>
        </p:txBody>
      </p:sp>
      <p:sp>
        <p:nvSpPr>
          <p:cNvPr id="713" name="Google Shape;713;p54"/>
          <p:cNvSpPr txBox="1"/>
          <p:nvPr/>
        </p:nvSpPr>
        <p:spPr>
          <a:xfrm>
            <a:off x="1009800" y="2379300"/>
            <a:ext cx="4676700" cy="185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37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Where:</a:t>
            </a:r>
            <a:endParaRPr b="1" i="0" sz="1125" u="none" cap="none" strike="noStrike">
              <a:solidFill>
                <a:srgbClr val="CBD5E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93722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12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• </a:t>
            </a:r>
            <a:r>
              <a:rPr b="1" i="0" lang="en-US" sz="112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x</a:t>
            </a:r>
            <a:r>
              <a:rPr b="0" i="0" lang="en-US" sz="112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is the input signal vector (sensory inputs from N neurons)</a:t>
            </a:r>
            <a:endParaRPr b="0" i="0" sz="1125" u="none" cap="none" strike="noStrike">
              <a:solidFill>
                <a:srgbClr val="CBD5E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93722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12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• </a:t>
            </a:r>
            <a:r>
              <a:rPr b="1" i="0" lang="en-US" sz="112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W</a:t>
            </a:r>
            <a:r>
              <a:rPr b="0" i="0" lang="en-US" sz="112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is the synaptic weight matrix of size M × N (wiring strengths)</a:t>
            </a:r>
            <a:endParaRPr b="0" i="0" sz="1125" u="none" cap="none" strike="noStrike">
              <a:solidFill>
                <a:srgbClr val="CBD5E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93722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12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• </a:t>
            </a:r>
            <a:r>
              <a:rPr b="1" i="0" lang="en-US" sz="112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y</a:t>
            </a:r>
            <a:r>
              <a:rPr b="0" i="0" lang="en-US" sz="112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is the output activity vector produced across M neurons</a:t>
            </a:r>
            <a:endParaRPr b="0" i="0" sz="1125" u="none" cap="none" strike="noStrike">
              <a:solidFill>
                <a:srgbClr val="CBD5E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93722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12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• </a:t>
            </a:r>
            <a:r>
              <a:rPr b="1" i="0" lang="en-US" sz="112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W_ij</a:t>
            </a:r>
            <a:r>
              <a:rPr b="0" i="0" lang="en-US" sz="112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is the synaptic strength connecting input j to output i</a:t>
            </a:r>
            <a:endParaRPr/>
          </a:p>
        </p:txBody>
      </p:sp>
      <p:sp>
        <p:nvSpPr>
          <p:cNvPr id="714" name="Google Shape;714;p54"/>
          <p:cNvSpPr txBox="1"/>
          <p:nvPr/>
        </p:nvSpPr>
        <p:spPr>
          <a:xfrm>
            <a:off x="6477000" y="1483962"/>
            <a:ext cx="57150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Matrix Multiplication in Plain English</a:t>
            </a:r>
            <a:endParaRPr/>
          </a:p>
        </p:txBody>
      </p:sp>
      <p:sp>
        <p:nvSpPr>
          <p:cNvPr id="715" name="Google Shape;715;p54"/>
          <p:cNvSpPr txBox="1"/>
          <p:nvPr/>
        </p:nvSpPr>
        <p:spPr>
          <a:xfrm>
            <a:off x="6476988" y="2319662"/>
            <a:ext cx="49434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Each row of matrix W is a list of synaptic weights for one single neuron.</a:t>
            </a:r>
            <a:endParaRPr/>
          </a:p>
        </p:txBody>
      </p:sp>
      <p:sp>
        <p:nvSpPr>
          <p:cNvPr id="716" name="Google Shape;716;p54"/>
          <p:cNvSpPr txBox="1"/>
          <p:nvPr/>
        </p:nvSpPr>
        <p:spPr>
          <a:xfrm>
            <a:off x="6429338" y="3848412"/>
            <a:ext cx="4943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Artificial Intelligence (like ChatGPT) uses this exact same formula: y = Wx!</a:t>
            </a:r>
            <a:endParaRPr/>
          </a:p>
        </p:txBody>
      </p:sp>
      <p:sp>
        <p:nvSpPr>
          <p:cNvPr id="717" name="Google Shape;717;p54"/>
          <p:cNvSpPr txBox="1"/>
          <p:nvPr/>
        </p:nvSpPr>
        <p:spPr>
          <a:xfrm>
            <a:off x="6600763" y="3104337"/>
            <a:ext cx="4695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When you learn something new, your brain simply updates the numbers inside matrix W!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1" name="Shape 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722" name="Google Shape;722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23" name="Google Shape;723;p55"/>
          <p:cNvSpPr/>
          <p:nvPr/>
        </p:nvSpPr>
        <p:spPr>
          <a:xfrm>
            <a:off x="3614550" y="3148049"/>
            <a:ext cx="6128700" cy="762900"/>
          </a:xfrm>
          <a:prstGeom prst="roundRect">
            <a:avLst>
              <a:gd fmla="val 20338" name="adj"/>
            </a:avLst>
          </a:prstGeom>
          <a:solidFill>
            <a:srgbClr val="0F172A"/>
          </a:solidFill>
          <a:ln cap="flat" cmpd="sng" w="9525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4" name="Google Shape;724;p55"/>
          <p:cNvSpPr txBox="1"/>
          <p:nvPr/>
        </p:nvSpPr>
        <p:spPr>
          <a:xfrm>
            <a:off x="4571993" y="3336602"/>
            <a:ext cx="4167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Python Lab Ready in Jupyter / Matrix </a:t>
            </a:r>
            <a:r>
              <a:rPr lang="en-US" sz="1200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Operations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Google Shape;729;p56"/>
          <p:cNvSpPr/>
          <p:nvPr/>
        </p:nvSpPr>
        <p:spPr>
          <a:xfrm>
            <a:off x="609600" y="5981700"/>
            <a:ext cx="10972800" cy="4191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0" name="Google Shape;730;p56"/>
          <p:cNvSpPr/>
          <p:nvPr/>
        </p:nvSpPr>
        <p:spPr>
          <a:xfrm>
            <a:off x="609600" y="457200"/>
            <a:ext cx="3676650" cy="304800"/>
          </a:xfrm>
          <a:prstGeom prst="roundRect">
            <a:avLst>
              <a:gd fmla="val 18750" name="adj"/>
            </a:avLst>
          </a:prstGeom>
          <a:solidFill>
            <a:srgbClr val="EFF6FF"/>
          </a:solidFill>
          <a:ln cap="flat" cmpd="sng" w="9525">
            <a:solidFill>
              <a:srgbClr val="BFDB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1" name="Google Shape;731;p56"/>
          <p:cNvSpPr/>
          <p:nvPr/>
        </p:nvSpPr>
        <p:spPr>
          <a:xfrm>
            <a:off x="752475" y="1847850"/>
            <a:ext cx="5391300" cy="866700"/>
          </a:xfrm>
          <a:prstGeom prst="roundRect">
            <a:avLst>
              <a:gd fmla="val 13186" name="adj"/>
            </a:avLst>
          </a:prstGeom>
          <a:solidFill>
            <a:srgbClr val="F8FAFC"/>
          </a:solidFill>
          <a:ln cap="flat" cmpd="sng" w="1905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2" name="Google Shape;732;p56"/>
          <p:cNvSpPr/>
          <p:nvPr/>
        </p:nvSpPr>
        <p:spPr>
          <a:xfrm>
            <a:off x="6334125" y="1847850"/>
            <a:ext cx="5391300" cy="866700"/>
          </a:xfrm>
          <a:prstGeom prst="roundRect">
            <a:avLst>
              <a:gd fmla="val 13186" name="adj"/>
            </a:avLst>
          </a:prstGeom>
          <a:solidFill>
            <a:srgbClr val="F8FAFC"/>
          </a:solidFill>
          <a:ln cap="flat" cmpd="sng" w="1905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3" name="Google Shape;733;p56"/>
          <p:cNvSpPr/>
          <p:nvPr/>
        </p:nvSpPr>
        <p:spPr>
          <a:xfrm>
            <a:off x="752475" y="2905125"/>
            <a:ext cx="5391300" cy="866700"/>
          </a:xfrm>
          <a:prstGeom prst="roundRect">
            <a:avLst>
              <a:gd fmla="val 13186" name="adj"/>
            </a:avLst>
          </a:prstGeom>
          <a:solidFill>
            <a:srgbClr val="F8FAFC"/>
          </a:solidFill>
          <a:ln cap="flat" cmpd="sng" w="1905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4" name="Google Shape;734;p56"/>
          <p:cNvSpPr/>
          <p:nvPr/>
        </p:nvSpPr>
        <p:spPr>
          <a:xfrm>
            <a:off x="6334125" y="2905125"/>
            <a:ext cx="5391300" cy="866700"/>
          </a:xfrm>
          <a:prstGeom prst="roundRect">
            <a:avLst>
              <a:gd fmla="val 13186" name="adj"/>
            </a:avLst>
          </a:prstGeom>
          <a:solidFill>
            <a:srgbClr val="F8FAFC"/>
          </a:solidFill>
          <a:ln cap="flat" cmpd="sng" w="1905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5" name="Google Shape;735;p56"/>
          <p:cNvSpPr/>
          <p:nvPr/>
        </p:nvSpPr>
        <p:spPr>
          <a:xfrm>
            <a:off x="609600" y="5981700"/>
            <a:ext cx="38100" cy="419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6" name="Google Shape;736;p56"/>
          <p:cNvSpPr/>
          <p:nvPr/>
        </p:nvSpPr>
        <p:spPr>
          <a:xfrm>
            <a:off x="962025" y="2071687"/>
            <a:ext cx="419100" cy="419100"/>
          </a:xfrm>
          <a:prstGeom prst="roundRect">
            <a:avLst>
              <a:gd fmla="val 18181" name="adj"/>
            </a:avLst>
          </a:prstGeom>
          <a:solidFill>
            <a:srgbClr val="DC262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7" name="Google Shape;737;p56"/>
          <p:cNvSpPr/>
          <p:nvPr/>
        </p:nvSpPr>
        <p:spPr>
          <a:xfrm>
            <a:off x="6543675" y="2071687"/>
            <a:ext cx="419100" cy="419100"/>
          </a:xfrm>
          <a:prstGeom prst="roundRect">
            <a:avLst>
              <a:gd fmla="val 18181" name="adj"/>
            </a:avLst>
          </a:prstGeom>
          <a:solidFill>
            <a:srgbClr val="0596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8" name="Google Shape;738;p56"/>
          <p:cNvSpPr/>
          <p:nvPr/>
        </p:nvSpPr>
        <p:spPr>
          <a:xfrm>
            <a:off x="962025" y="3128962"/>
            <a:ext cx="419100" cy="419100"/>
          </a:xfrm>
          <a:prstGeom prst="roundRect">
            <a:avLst>
              <a:gd fmla="val 18181" name="adj"/>
            </a:avLst>
          </a:prstGeom>
          <a:solidFill>
            <a:srgbClr val="64748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9" name="Google Shape;739;p56"/>
          <p:cNvSpPr/>
          <p:nvPr/>
        </p:nvSpPr>
        <p:spPr>
          <a:xfrm>
            <a:off x="6543675" y="3128962"/>
            <a:ext cx="419100" cy="419100"/>
          </a:xfrm>
          <a:prstGeom prst="roundRect">
            <a:avLst>
              <a:gd fmla="val 18181" name="adj"/>
            </a:avLst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740" name="Google Shape;740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2475" y="542925"/>
            <a:ext cx="133350" cy="133350"/>
          </a:xfrm>
          <a:prstGeom prst="rect">
            <a:avLst/>
          </a:prstGeom>
          <a:noFill/>
          <a:ln>
            <a:noFill/>
          </a:ln>
        </p:spPr>
      </p:pic>
      <p:sp>
        <p:nvSpPr>
          <p:cNvPr id="741" name="Google Shape;741;p56"/>
          <p:cNvSpPr txBox="1"/>
          <p:nvPr/>
        </p:nvSpPr>
        <p:spPr>
          <a:xfrm>
            <a:off x="609600" y="876300"/>
            <a:ext cx="115824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Biceps vs. Triceps: What's Their Covariance Sign?</a:t>
            </a:r>
            <a:endParaRPr/>
          </a:p>
        </p:txBody>
      </p:sp>
      <p:sp>
        <p:nvSpPr>
          <p:cNvPr id="742" name="Google Shape;742;p56"/>
          <p:cNvSpPr txBox="1"/>
          <p:nvPr/>
        </p:nvSpPr>
        <p:spPr>
          <a:xfrm>
            <a:off x="609600" y="1352550"/>
            <a:ext cx="110680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When you bend your elbow rapidly to drink water, Biceps fires hard while Triceps is forced to shut down. What sign is their covariance?</a:t>
            </a:r>
            <a:endParaRPr/>
          </a:p>
        </p:txBody>
      </p:sp>
      <p:sp>
        <p:nvSpPr>
          <p:cNvPr id="743" name="Google Shape;743;p56"/>
          <p:cNvSpPr txBox="1"/>
          <p:nvPr/>
        </p:nvSpPr>
        <p:spPr>
          <a:xfrm>
            <a:off x="838200" y="6096000"/>
            <a:ext cx="113538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1E40AF"/>
                </a:solidFill>
                <a:latin typeface="Inter"/>
                <a:ea typeface="Inter"/>
                <a:cs typeface="Inter"/>
                <a:sym typeface="Inter"/>
              </a:rPr>
              <a:t>💬 Cast your vote: Are they dancing together (+), seesawing (-), or strangers (0)?</a:t>
            </a:r>
            <a:endParaRPr/>
          </a:p>
        </p:txBody>
      </p:sp>
      <p:sp>
        <p:nvSpPr>
          <p:cNvPr id="744" name="Google Shape;744;p56"/>
          <p:cNvSpPr txBox="1"/>
          <p:nvPr/>
        </p:nvSpPr>
        <p:spPr>
          <a:xfrm>
            <a:off x="752475" y="523875"/>
            <a:ext cx="423862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905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563E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INTERACTIVE TEASER #4 • THE MUSCLE SEESAW</a:t>
            </a:r>
            <a:endParaRPr/>
          </a:p>
        </p:txBody>
      </p:sp>
      <p:sp>
        <p:nvSpPr>
          <p:cNvPr id="745" name="Google Shape;745;p56"/>
          <p:cNvSpPr txBox="1"/>
          <p:nvPr/>
        </p:nvSpPr>
        <p:spPr>
          <a:xfrm>
            <a:off x="819150" y="2071687"/>
            <a:ext cx="7050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</a:t>
            </a:r>
            <a:endParaRPr/>
          </a:p>
        </p:txBody>
      </p:sp>
      <p:sp>
        <p:nvSpPr>
          <p:cNvPr id="746" name="Google Shape;746;p56"/>
          <p:cNvSpPr txBox="1"/>
          <p:nvPr/>
        </p:nvSpPr>
        <p:spPr>
          <a:xfrm>
            <a:off x="6400800" y="2071687"/>
            <a:ext cx="7050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B</a:t>
            </a:r>
            <a:endParaRPr/>
          </a:p>
        </p:txBody>
      </p:sp>
      <p:sp>
        <p:nvSpPr>
          <p:cNvPr id="747" name="Google Shape;747;p56"/>
          <p:cNvSpPr txBox="1"/>
          <p:nvPr/>
        </p:nvSpPr>
        <p:spPr>
          <a:xfrm>
            <a:off x="819150" y="3128962"/>
            <a:ext cx="7050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</a:t>
            </a:r>
            <a:endParaRPr/>
          </a:p>
        </p:txBody>
      </p:sp>
      <p:sp>
        <p:nvSpPr>
          <p:cNvPr id="748" name="Google Shape;748;p56"/>
          <p:cNvSpPr txBox="1"/>
          <p:nvPr/>
        </p:nvSpPr>
        <p:spPr>
          <a:xfrm>
            <a:off x="6400800" y="3128962"/>
            <a:ext cx="7050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</a:t>
            </a:r>
            <a:endParaRPr/>
          </a:p>
        </p:txBody>
      </p:sp>
      <p:sp>
        <p:nvSpPr>
          <p:cNvPr id="749" name="Google Shape;749;p56"/>
          <p:cNvSpPr txBox="1"/>
          <p:nvPr/>
        </p:nvSpPr>
        <p:spPr>
          <a:xfrm>
            <a:off x="1533525" y="2057400"/>
            <a:ext cx="44769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Negative Covariance (-)</a:t>
            </a:r>
            <a:endParaRPr/>
          </a:p>
        </p:txBody>
      </p:sp>
      <p:sp>
        <p:nvSpPr>
          <p:cNvPr id="750" name="Google Shape;750;p56"/>
          <p:cNvSpPr txBox="1"/>
          <p:nvPr/>
        </p:nvSpPr>
        <p:spPr>
          <a:xfrm>
            <a:off x="1533525" y="2324100"/>
            <a:ext cx="44769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When one goes UP, the other goes DOWN (seesaw!).</a:t>
            </a:r>
            <a:endParaRPr/>
          </a:p>
        </p:txBody>
      </p:sp>
      <p:sp>
        <p:nvSpPr>
          <p:cNvPr id="751" name="Google Shape;751;p56"/>
          <p:cNvSpPr txBox="1"/>
          <p:nvPr/>
        </p:nvSpPr>
        <p:spPr>
          <a:xfrm>
            <a:off x="7115175" y="2057400"/>
            <a:ext cx="33696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Positive Covariance (+)</a:t>
            </a:r>
            <a:endParaRPr/>
          </a:p>
        </p:txBody>
      </p:sp>
      <p:sp>
        <p:nvSpPr>
          <p:cNvPr id="752" name="Google Shape;752;p56"/>
          <p:cNvSpPr txBox="1"/>
          <p:nvPr/>
        </p:nvSpPr>
        <p:spPr>
          <a:xfrm>
            <a:off x="7115175" y="2324100"/>
            <a:ext cx="33696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Both fire at maximum strength together.</a:t>
            </a:r>
            <a:endParaRPr/>
          </a:p>
        </p:txBody>
      </p:sp>
      <p:sp>
        <p:nvSpPr>
          <p:cNvPr id="753" name="Google Shape;753;p56"/>
          <p:cNvSpPr txBox="1"/>
          <p:nvPr/>
        </p:nvSpPr>
        <p:spPr>
          <a:xfrm>
            <a:off x="1533525" y="3114675"/>
            <a:ext cx="35004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Zero Covariance (0)</a:t>
            </a:r>
            <a:endParaRPr/>
          </a:p>
        </p:txBody>
      </p:sp>
      <p:sp>
        <p:nvSpPr>
          <p:cNvPr id="754" name="Google Shape;754;p56"/>
          <p:cNvSpPr txBox="1"/>
          <p:nvPr/>
        </p:nvSpPr>
        <p:spPr>
          <a:xfrm>
            <a:off x="1533525" y="3381375"/>
            <a:ext cx="35004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They are completely unrelated strangers.</a:t>
            </a:r>
            <a:endParaRPr/>
          </a:p>
        </p:txBody>
      </p:sp>
      <p:sp>
        <p:nvSpPr>
          <p:cNvPr id="755" name="Google Shape;755;p56"/>
          <p:cNvSpPr txBox="1"/>
          <p:nvPr/>
        </p:nvSpPr>
        <p:spPr>
          <a:xfrm>
            <a:off x="7115175" y="3114675"/>
            <a:ext cx="36315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Infinite Covariance (∞)</a:t>
            </a:r>
            <a:endParaRPr/>
          </a:p>
        </p:txBody>
      </p:sp>
      <p:sp>
        <p:nvSpPr>
          <p:cNvPr id="756" name="Google Shape;756;p56"/>
          <p:cNvSpPr txBox="1"/>
          <p:nvPr/>
        </p:nvSpPr>
        <p:spPr>
          <a:xfrm>
            <a:off x="7115175" y="3381375"/>
            <a:ext cx="36315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The mathematics completely breaks down.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60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57"/>
          <p:cNvSpPr/>
          <p:nvPr/>
        </p:nvSpPr>
        <p:spPr>
          <a:xfrm>
            <a:off x="609600" y="5981700"/>
            <a:ext cx="10972800" cy="4191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2" name="Google Shape;762;p57"/>
          <p:cNvSpPr/>
          <p:nvPr/>
        </p:nvSpPr>
        <p:spPr>
          <a:xfrm>
            <a:off x="609600" y="2633662"/>
            <a:ext cx="3505200" cy="1847850"/>
          </a:xfrm>
          <a:prstGeom prst="roundRect">
            <a:avLst>
              <a:gd fmla="val 6185" name="adj"/>
            </a:avLst>
          </a:prstGeom>
          <a:solidFill>
            <a:srgbClr val="F0FDF4"/>
          </a:solidFill>
          <a:ln cap="flat" cmpd="sng" w="9525">
            <a:solidFill>
              <a:srgbClr val="BBF7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3" name="Google Shape;763;p57"/>
          <p:cNvSpPr/>
          <p:nvPr/>
        </p:nvSpPr>
        <p:spPr>
          <a:xfrm>
            <a:off x="4343400" y="2633662"/>
            <a:ext cx="3505200" cy="1847850"/>
          </a:xfrm>
          <a:prstGeom prst="roundRect">
            <a:avLst>
              <a:gd fmla="val 6185" name="adj"/>
            </a:avLst>
          </a:prstGeom>
          <a:solidFill>
            <a:srgbClr val="FEF2F2"/>
          </a:solidFill>
          <a:ln cap="flat" cmpd="sng" w="9525">
            <a:solidFill>
              <a:srgbClr val="FECA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4" name="Google Shape;764;p57"/>
          <p:cNvSpPr/>
          <p:nvPr/>
        </p:nvSpPr>
        <p:spPr>
          <a:xfrm>
            <a:off x="8077200" y="2633662"/>
            <a:ext cx="3505200" cy="1847850"/>
          </a:xfrm>
          <a:prstGeom prst="roundRect">
            <a:avLst>
              <a:gd fmla="val 6185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5" name="Google Shape;765;p57"/>
          <p:cNvSpPr/>
          <p:nvPr/>
        </p:nvSpPr>
        <p:spPr>
          <a:xfrm>
            <a:off x="609600" y="5981700"/>
            <a:ext cx="38100" cy="419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6" name="Google Shape;766;p57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563E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ACT 6: HIDDEN RHYTHMS • 23</a:t>
            </a:r>
            <a:endParaRPr/>
          </a:p>
        </p:txBody>
      </p:sp>
      <p:sp>
        <p:nvSpPr>
          <p:cNvPr id="767" name="Google Shape;767;p57"/>
          <p:cNvSpPr txBox="1"/>
          <p:nvPr/>
        </p:nvSpPr>
        <p:spPr>
          <a:xfrm>
            <a:off x="609600" y="685800"/>
            <a:ext cx="11582400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Covariance in the Body: The Muscle Seesaw</a:t>
            </a:r>
            <a:endParaRPr/>
          </a:p>
        </p:txBody>
      </p:sp>
      <p:sp>
        <p:nvSpPr>
          <p:cNvPr id="768" name="Google Shape;768;p57"/>
          <p:cNvSpPr txBox="1"/>
          <p:nvPr/>
        </p:nvSpPr>
        <p:spPr>
          <a:xfrm>
            <a:off x="819150" y="2843212"/>
            <a:ext cx="3181350" cy="1428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166534"/>
                </a:solidFill>
                <a:latin typeface="Inter"/>
                <a:ea typeface="Inter"/>
                <a:cs typeface="Inter"/>
                <a:sym typeface="Inter"/>
              </a:rPr>
              <a:t>POSITIVE COVARIANCE (+)</a:t>
            </a:r>
            <a:endParaRPr/>
          </a:p>
        </p:txBody>
      </p:sp>
      <p:sp>
        <p:nvSpPr>
          <p:cNvPr id="769" name="Google Shape;769;p57"/>
          <p:cNvSpPr txBox="1"/>
          <p:nvPr/>
        </p:nvSpPr>
        <p:spPr>
          <a:xfrm>
            <a:off x="4552950" y="2843212"/>
            <a:ext cx="3181350" cy="1428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991B1B"/>
                </a:solidFill>
                <a:latin typeface="Inter"/>
                <a:ea typeface="Inter"/>
                <a:cs typeface="Inter"/>
                <a:sym typeface="Inter"/>
              </a:rPr>
              <a:t>NEGATIVE COVARIANCE (-)</a:t>
            </a:r>
            <a:endParaRPr/>
          </a:p>
        </p:txBody>
      </p:sp>
      <p:sp>
        <p:nvSpPr>
          <p:cNvPr id="770" name="Google Shape;770;p57"/>
          <p:cNvSpPr txBox="1"/>
          <p:nvPr/>
        </p:nvSpPr>
        <p:spPr>
          <a:xfrm>
            <a:off x="8286750" y="2843212"/>
            <a:ext cx="3181350" cy="1428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ZERO COVARIANCE (0)</a:t>
            </a:r>
            <a:endParaRPr/>
          </a:p>
        </p:txBody>
      </p:sp>
      <p:sp>
        <p:nvSpPr>
          <p:cNvPr id="771" name="Google Shape;771;p57"/>
          <p:cNvSpPr txBox="1"/>
          <p:nvPr/>
        </p:nvSpPr>
        <p:spPr>
          <a:xfrm>
            <a:off x="819150" y="6096000"/>
            <a:ext cx="113728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1E40AF"/>
                </a:solidFill>
                <a:latin typeface="Inter"/>
                <a:ea typeface="Inter"/>
                <a:cs typeface="Inter"/>
                <a:sym typeface="Inter"/>
              </a:rPr>
              <a:t>💡 Covariance answers: "Are these two neurons dancing together (+), playing seesaw (-), or total strangers (0)?"</a:t>
            </a:r>
            <a:endParaRPr/>
          </a:p>
        </p:txBody>
      </p:sp>
      <p:sp>
        <p:nvSpPr>
          <p:cNvPr id="772" name="Google Shape;772;p57"/>
          <p:cNvSpPr txBox="1"/>
          <p:nvPr/>
        </p:nvSpPr>
        <p:spPr>
          <a:xfrm>
            <a:off x="828675" y="3119437"/>
            <a:ext cx="4025503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The Joint Lock</a:t>
            </a:r>
            <a:endParaRPr/>
          </a:p>
        </p:txBody>
      </p:sp>
      <p:sp>
        <p:nvSpPr>
          <p:cNvPr id="773" name="Google Shape;773;p57"/>
          <p:cNvSpPr txBox="1"/>
          <p:nvPr/>
        </p:nvSpPr>
        <p:spPr>
          <a:xfrm>
            <a:off x="828675" y="3424237"/>
            <a:ext cx="31623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166534"/>
                </a:solidFill>
                <a:latin typeface="Inter"/>
                <a:ea typeface="Inter"/>
                <a:cs typeface="Inter"/>
                <a:sym typeface="Inter"/>
              </a:rPr>
              <a:t>Biceps and Triceps both fire hard together to lock your arm stiff.</a:t>
            </a:r>
            <a:endParaRPr/>
          </a:p>
        </p:txBody>
      </p:sp>
      <p:sp>
        <p:nvSpPr>
          <p:cNvPr id="774" name="Google Shape;774;p57"/>
          <p:cNvSpPr txBox="1"/>
          <p:nvPr/>
        </p:nvSpPr>
        <p:spPr>
          <a:xfrm>
            <a:off x="828675" y="3881437"/>
            <a:ext cx="31623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Trend:</a:t>
            </a: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When Neuron A increases, Neuron B increases too.</a:t>
            </a:r>
            <a:endParaRPr/>
          </a:p>
        </p:txBody>
      </p:sp>
      <p:sp>
        <p:nvSpPr>
          <p:cNvPr id="775" name="Google Shape;775;p57"/>
          <p:cNvSpPr txBox="1"/>
          <p:nvPr/>
        </p:nvSpPr>
        <p:spPr>
          <a:xfrm>
            <a:off x="4562475" y="3119437"/>
            <a:ext cx="4025503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The Reciprocal Seesaw</a:t>
            </a:r>
            <a:endParaRPr/>
          </a:p>
        </p:txBody>
      </p:sp>
      <p:sp>
        <p:nvSpPr>
          <p:cNvPr id="776" name="Google Shape;776;p57"/>
          <p:cNvSpPr txBox="1"/>
          <p:nvPr/>
        </p:nvSpPr>
        <p:spPr>
          <a:xfrm>
            <a:off x="4562475" y="3424237"/>
            <a:ext cx="31623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991B1B"/>
                </a:solidFill>
                <a:latin typeface="Inter"/>
                <a:ea typeface="Inter"/>
                <a:cs typeface="Inter"/>
                <a:sym typeface="Inter"/>
              </a:rPr>
              <a:t>To bend your elbow, Biceps fires while Triceps is forced to shut OFF!</a:t>
            </a:r>
            <a:endParaRPr/>
          </a:p>
        </p:txBody>
      </p:sp>
      <p:sp>
        <p:nvSpPr>
          <p:cNvPr id="777" name="Google Shape;777;p57"/>
          <p:cNvSpPr txBox="1"/>
          <p:nvPr/>
        </p:nvSpPr>
        <p:spPr>
          <a:xfrm>
            <a:off x="4562475" y="3881437"/>
            <a:ext cx="31623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Trend:</a:t>
            </a: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When Neuron A fires high, Neuron B drops to zero.</a:t>
            </a:r>
            <a:endParaRPr/>
          </a:p>
        </p:txBody>
      </p:sp>
      <p:sp>
        <p:nvSpPr>
          <p:cNvPr id="778" name="Google Shape;778;p57"/>
          <p:cNvSpPr txBox="1"/>
          <p:nvPr/>
        </p:nvSpPr>
        <p:spPr>
          <a:xfrm>
            <a:off x="8296275" y="3119437"/>
            <a:ext cx="3895725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Independent Strangers</a:t>
            </a:r>
            <a:endParaRPr/>
          </a:p>
        </p:txBody>
      </p:sp>
      <p:sp>
        <p:nvSpPr>
          <p:cNvPr id="779" name="Google Shape;779;p57"/>
          <p:cNvSpPr txBox="1"/>
          <p:nvPr/>
        </p:nvSpPr>
        <p:spPr>
          <a:xfrm>
            <a:off x="8296275" y="3424237"/>
            <a:ext cx="31623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Neuron in your eye watching a bird vs. neuron in your toe moving a sock.</a:t>
            </a:r>
            <a:endParaRPr/>
          </a:p>
        </p:txBody>
      </p:sp>
      <p:sp>
        <p:nvSpPr>
          <p:cNvPr id="780" name="Google Shape;780;p57"/>
          <p:cNvSpPr txBox="1"/>
          <p:nvPr/>
        </p:nvSpPr>
        <p:spPr>
          <a:xfrm>
            <a:off x="8296275" y="3881437"/>
            <a:ext cx="31623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Trend:</a:t>
            </a: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One neuron's firing tells you zero info about the other.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84" name="Shape 7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5" name="Google Shape;785;p58"/>
          <p:cNvSpPr/>
          <p:nvPr/>
        </p:nvSpPr>
        <p:spPr>
          <a:xfrm>
            <a:off x="609600" y="2514600"/>
            <a:ext cx="5565278" cy="2638425"/>
          </a:xfrm>
          <a:prstGeom prst="roundRect">
            <a:avLst>
              <a:gd fmla="val 4332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6" name="Google Shape;786;p58"/>
          <p:cNvSpPr/>
          <p:nvPr/>
        </p:nvSpPr>
        <p:spPr>
          <a:xfrm>
            <a:off x="6479678" y="2638425"/>
            <a:ext cx="5102721" cy="2390775"/>
          </a:xfrm>
          <a:prstGeom prst="roundRect">
            <a:avLst>
              <a:gd fmla="val 4780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7" name="Google Shape;787;p58"/>
          <p:cNvSpPr/>
          <p:nvPr/>
        </p:nvSpPr>
        <p:spPr>
          <a:xfrm>
            <a:off x="847725" y="3390900"/>
            <a:ext cx="5089028" cy="1428750"/>
          </a:xfrm>
          <a:prstGeom prst="roundRect">
            <a:avLst>
              <a:gd fmla="val 5333" name="adj"/>
            </a:avLst>
          </a:prstGeom>
          <a:solidFill>
            <a:srgbClr val="EFF6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8" name="Google Shape;788;p58"/>
          <p:cNvSpPr/>
          <p:nvPr/>
        </p:nvSpPr>
        <p:spPr>
          <a:xfrm>
            <a:off x="6717803" y="3971925"/>
            <a:ext cx="4626471" cy="819150"/>
          </a:xfrm>
          <a:prstGeom prst="roundRect">
            <a:avLst>
              <a:gd fmla="val 9302" name="adj"/>
            </a:avLst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9" name="Google Shape;789;p58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563E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ACT 6: HIDDEN RHYTHMS • 24</a:t>
            </a:r>
            <a:endParaRPr/>
          </a:p>
        </p:txBody>
      </p:sp>
      <p:sp>
        <p:nvSpPr>
          <p:cNvPr id="790" name="Google Shape;790;p58"/>
          <p:cNvSpPr txBox="1"/>
          <p:nvPr/>
        </p:nvSpPr>
        <p:spPr>
          <a:xfrm>
            <a:off x="609600" y="685800"/>
            <a:ext cx="11582400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The Covariance Matrix: The Brain's Friendship Graph</a:t>
            </a:r>
            <a:endParaRPr/>
          </a:p>
        </p:txBody>
      </p:sp>
      <p:sp>
        <p:nvSpPr>
          <p:cNvPr id="791" name="Google Shape;791;p58"/>
          <p:cNvSpPr txBox="1"/>
          <p:nvPr/>
        </p:nvSpPr>
        <p:spPr>
          <a:xfrm>
            <a:off x="838200" y="2743200"/>
            <a:ext cx="5203328" cy="2181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THE COVARIANCE MATRIX</a:t>
            </a:r>
            <a:endParaRPr/>
          </a:p>
        </p:txBody>
      </p:sp>
      <p:sp>
        <p:nvSpPr>
          <p:cNvPr id="792" name="Google Shape;792;p58"/>
          <p:cNvSpPr txBox="1"/>
          <p:nvPr/>
        </p:nvSpPr>
        <p:spPr>
          <a:xfrm>
            <a:off x="6708278" y="2867025"/>
            <a:ext cx="4740771" cy="1933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59669"/>
                </a:solidFill>
                <a:latin typeface="Inter"/>
                <a:ea typeface="Inter"/>
                <a:cs typeface="Inter"/>
                <a:sym typeface="Inter"/>
              </a:rPr>
              <a:t>HEBB'S RULE (1949)</a:t>
            </a:r>
            <a:endParaRPr/>
          </a:p>
        </p:txBody>
      </p:sp>
      <p:sp>
        <p:nvSpPr>
          <p:cNvPr id="793" name="Google Shape;793;p58"/>
          <p:cNvSpPr txBox="1"/>
          <p:nvPr/>
        </p:nvSpPr>
        <p:spPr>
          <a:xfrm>
            <a:off x="847725" y="3019425"/>
            <a:ext cx="6361286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 = (1 / T) X · Xᵀ</a:t>
            </a:r>
            <a:endParaRPr/>
          </a:p>
        </p:txBody>
      </p:sp>
      <p:sp>
        <p:nvSpPr>
          <p:cNvPr id="794" name="Google Shape;794;p58"/>
          <p:cNvSpPr txBox="1"/>
          <p:nvPr/>
        </p:nvSpPr>
        <p:spPr>
          <a:xfrm>
            <a:off x="981075" y="3505200"/>
            <a:ext cx="49175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1E3A8A"/>
                </a:solidFill>
                <a:latin typeface="Inter"/>
                <a:ea typeface="Inter"/>
                <a:cs typeface="Inter"/>
                <a:sym typeface="Inter"/>
              </a:rPr>
              <a:t>Where: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50" u="none" cap="none" strike="noStrike">
                <a:solidFill>
                  <a:srgbClr val="1E3A8A"/>
                </a:solidFill>
                <a:latin typeface="Inter"/>
                <a:ea typeface="Inter"/>
                <a:cs typeface="Inter"/>
                <a:sym typeface="Inter"/>
              </a:rPr>
              <a:t> • </a:t>
            </a:r>
            <a:r>
              <a:rPr b="1" i="0" lang="en-US" sz="1050" u="none" cap="none" strike="noStrike">
                <a:solidFill>
                  <a:srgbClr val="1E3A8A"/>
                </a:solidFill>
                <a:latin typeface="Inter"/>
                <a:ea typeface="Inter"/>
                <a:cs typeface="Inter"/>
                <a:sym typeface="Inter"/>
              </a:rPr>
              <a:t>C</a:t>
            </a:r>
            <a:r>
              <a:rPr b="0" i="0" lang="en-US" sz="1050" u="none" cap="none" strike="noStrike">
                <a:solidFill>
                  <a:srgbClr val="1E3A8A"/>
                </a:solidFill>
                <a:latin typeface="Inter"/>
                <a:ea typeface="Inter"/>
                <a:cs typeface="Inter"/>
                <a:sym typeface="Inter"/>
              </a:rPr>
              <a:t> is the square N × N covariance table (all neuron pairs)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50" u="none" cap="none" strike="noStrike">
                <a:solidFill>
                  <a:srgbClr val="1E3A8A"/>
                </a:solidFill>
                <a:latin typeface="Inter"/>
                <a:ea typeface="Inter"/>
                <a:cs typeface="Inter"/>
                <a:sym typeface="Inter"/>
              </a:rPr>
              <a:t> • </a:t>
            </a:r>
            <a:r>
              <a:rPr b="1" i="0" lang="en-US" sz="1050" u="none" cap="none" strike="noStrike">
                <a:solidFill>
                  <a:srgbClr val="1E3A8A"/>
                </a:solidFill>
                <a:latin typeface="Inter"/>
                <a:ea typeface="Inter"/>
                <a:cs typeface="Inter"/>
                <a:sym typeface="Inter"/>
              </a:rPr>
              <a:t>X</a:t>
            </a:r>
            <a:r>
              <a:rPr b="0" i="0" lang="en-US" sz="1050" u="none" cap="none" strike="noStrike">
                <a:solidFill>
                  <a:srgbClr val="1E3A8A"/>
                </a:solidFill>
                <a:latin typeface="Inter"/>
                <a:ea typeface="Inter"/>
                <a:cs typeface="Inter"/>
                <a:sym typeface="Inter"/>
              </a:rPr>
              <a:t> is the mean-centered neural activity (N neurons × T time points)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50" u="none" cap="none" strike="noStrike">
                <a:solidFill>
                  <a:srgbClr val="1E3A8A"/>
                </a:solidFill>
                <a:latin typeface="Inter"/>
                <a:ea typeface="Inter"/>
                <a:cs typeface="Inter"/>
                <a:sym typeface="Inter"/>
              </a:rPr>
              <a:t> • </a:t>
            </a:r>
            <a:r>
              <a:rPr b="1" i="0" lang="en-US" sz="1050" u="none" cap="none" strike="noStrike">
                <a:solidFill>
                  <a:srgbClr val="1E3A8A"/>
                </a:solidFill>
                <a:latin typeface="Inter"/>
                <a:ea typeface="Inter"/>
                <a:cs typeface="Inter"/>
                <a:sym typeface="Inter"/>
              </a:rPr>
              <a:t>Xᵀ</a:t>
            </a:r>
            <a:r>
              <a:rPr b="0" i="0" lang="en-US" sz="1050" u="none" cap="none" strike="noStrike">
                <a:solidFill>
                  <a:srgbClr val="1E3A8A"/>
                </a:solidFill>
                <a:latin typeface="Inter"/>
                <a:ea typeface="Inter"/>
                <a:cs typeface="Inter"/>
                <a:sym typeface="Inter"/>
              </a:rPr>
              <a:t> is the transpose of X (T time points × N neurons)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50" u="none" cap="none" strike="noStrike">
                <a:solidFill>
                  <a:srgbClr val="1E3A8A"/>
                </a:solidFill>
                <a:latin typeface="Inter"/>
                <a:ea typeface="Inter"/>
                <a:cs typeface="Inter"/>
                <a:sym typeface="Inter"/>
              </a:rPr>
              <a:t> • </a:t>
            </a:r>
            <a:r>
              <a:rPr b="1" i="0" lang="en-US" sz="1050" u="none" cap="none" strike="noStrike">
                <a:solidFill>
                  <a:srgbClr val="1E3A8A"/>
                </a:solidFill>
                <a:latin typeface="Inter"/>
                <a:ea typeface="Inter"/>
                <a:cs typeface="Inter"/>
                <a:sym typeface="Inter"/>
              </a:rPr>
              <a:t>T</a:t>
            </a:r>
            <a:r>
              <a:rPr b="0" i="0" lang="en-US" sz="1050" u="none" cap="none" strike="noStrike">
                <a:solidFill>
                  <a:srgbClr val="1E3A8A"/>
                </a:solidFill>
                <a:latin typeface="Inter"/>
                <a:ea typeface="Inter"/>
                <a:cs typeface="Inter"/>
                <a:sym typeface="Inter"/>
              </a:rPr>
              <a:t> is the total number of time bins recorded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50" u="none" cap="none" strike="noStrike">
                <a:solidFill>
                  <a:srgbClr val="1E3A8A"/>
                </a:solidFill>
                <a:latin typeface="Inter"/>
                <a:ea typeface="Inter"/>
                <a:cs typeface="Inter"/>
                <a:sym typeface="Inter"/>
              </a:rPr>
              <a:t> • </a:t>
            </a:r>
            <a:r>
              <a:rPr b="1" i="0" lang="en-US" sz="1050" u="none" cap="none" strike="noStrike">
                <a:solidFill>
                  <a:srgbClr val="1E3A8A"/>
                </a:solidFill>
                <a:latin typeface="Inter"/>
                <a:ea typeface="Inter"/>
                <a:cs typeface="Inter"/>
                <a:sym typeface="Inter"/>
              </a:rPr>
              <a:t>C_ij</a:t>
            </a:r>
            <a:r>
              <a:rPr b="0" i="0" lang="en-US" sz="1050" u="none" cap="none" strike="noStrike">
                <a:solidFill>
                  <a:srgbClr val="1E3A8A"/>
                </a:solidFill>
                <a:latin typeface="Inter"/>
                <a:ea typeface="Inter"/>
                <a:cs typeface="Inter"/>
                <a:sym typeface="Inter"/>
              </a:rPr>
              <a:t> is the covariance number between neuron #i and neuron #j</a:t>
            </a:r>
            <a:endParaRPr/>
          </a:p>
        </p:txBody>
      </p:sp>
      <p:sp>
        <p:nvSpPr>
          <p:cNvPr id="795" name="Google Shape;795;p58"/>
          <p:cNvSpPr txBox="1"/>
          <p:nvPr/>
        </p:nvSpPr>
        <p:spPr>
          <a:xfrm>
            <a:off x="6717803" y="3143250"/>
            <a:ext cx="5474196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75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"Fire Together, Wire Together"</a:t>
            </a:r>
            <a:endParaRPr/>
          </a:p>
        </p:txBody>
      </p:sp>
      <p:sp>
        <p:nvSpPr>
          <p:cNvPr id="796" name="Google Shape;796;p58"/>
          <p:cNvSpPr txBox="1"/>
          <p:nvPr/>
        </p:nvSpPr>
        <p:spPr>
          <a:xfrm>
            <a:off x="6717803" y="3476625"/>
            <a:ext cx="4721721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Neurons that repeatedly fire at the same time strengthen their physical synapses.</a:t>
            </a:r>
            <a:endParaRPr/>
          </a:p>
        </p:txBody>
      </p:sp>
      <p:sp>
        <p:nvSpPr>
          <p:cNvPr id="797" name="Google Shape;797;p58"/>
          <p:cNvSpPr txBox="1"/>
          <p:nvPr/>
        </p:nvSpPr>
        <p:spPr>
          <a:xfrm>
            <a:off x="6841628" y="4095750"/>
            <a:ext cx="4474071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The covariance matrix </a:t>
            </a:r>
            <a:r>
              <a:rPr b="1" i="0" lang="en-US" sz="1275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C</a:t>
            </a:r>
            <a:r>
              <a:rPr b="0" i="0" lang="en-US" sz="1275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is literally a quantitative snapshot of your brain's habits, memories, and learned skills!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1" name="Shape 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02" name="Google Shape;802;p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03" name="Google Shape;803;p59"/>
          <p:cNvSpPr/>
          <p:nvPr/>
        </p:nvSpPr>
        <p:spPr>
          <a:xfrm>
            <a:off x="3614550" y="3148049"/>
            <a:ext cx="6128700" cy="762900"/>
          </a:xfrm>
          <a:prstGeom prst="roundRect">
            <a:avLst>
              <a:gd fmla="val 20338" name="adj"/>
            </a:avLst>
          </a:prstGeom>
          <a:solidFill>
            <a:srgbClr val="0F172A"/>
          </a:solidFill>
          <a:ln cap="flat" cmpd="sng" w="9525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4" name="Google Shape;804;p59"/>
          <p:cNvSpPr txBox="1"/>
          <p:nvPr/>
        </p:nvSpPr>
        <p:spPr>
          <a:xfrm>
            <a:off x="4571993" y="3336602"/>
            <a:ext cx="4167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Python Lab Ready in Jupyter / </a:t>
            </a:r>
            <a:r>
              <a:rPr lang="en-US" sz="1200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Co-variance</a:t>
            </a:r>
            <a:r>
              <a:rPr b="0" i="0" lang="en-US" sz="1200" u="none" cap="none" strike="noStrike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lang="en-US" sz="1200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Operations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08" name="Shape 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9" name="Google Shape;809;p60"/>
          <p:cNvSpPr/>
          <p:nvPr/>
        </p:nvSpPr>
        <p:spPr>
          <a:xfrm>
            <a:off x="609600" y="2643187"/>
            <a:ext cx="5111799" cy="2381250"/>
          </a:xfrm>
          <a:prstGeom prst="roundRect">
            <a:avLst>
              <a:gd fmla="val 4800" name="adj"/>
            </a:avLst>
          </a:prstGeom>
          <a:solidFill>
            <a:srgbClr val="FEF2F2"/>
          </a:solidFill>
          <a:ln cap="flat" cmpd="sng" w="9525">
            <a:solidFill>
              <a:srgbClr val="FECA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0" name="Google Shape;810;p60"/>
          <p:cNvSpPr/>
          <p:nvPr/>
        </p:nvSpPr>
        <p:spPr>
          <a:xfrm>
            <a:off x="6026199" y="2650331"/>
            <a:ext cx="5556200" cy="2366962"/>
          </a:xfrm>
          <a:prstGeom prst="roundRect">
            <a:avLst>
              <a:gd fmla="val 4828" name="adj"/>
            </a:avLst>
          </a:prstGeom>
          <a:solidFill>
            <a:srgbClr val="0F17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1" name="Google Shape;811;p60"/>
          <p:cNvSpPr/>
          <p:nvPr/>
        </p:nvSpPr>
        <p:spPr>
          <a:xfrm>
            <a:off x="6254799" y="3202781"/>
            <a:ext cx="5099000" cy="723900"/>
          </a:xfrm>
          <a:prstGeom prst="rect">
            <a:avLst/>
          </a:prstGeom>
          <a:solidFill>
            <a:srgbClr val="13283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2" name="Google Shape;812;p60"/>
          <p:cNvSpPr/>
          <p:nvPr/>
        </p:nvSpPr>
        <p:spPr>
          <a:xfrm>
            <a:off x="6254799" y="3202781"/>
            <a:ext cx="38100" cy="7239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3" name="Google Shape;813;p60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DC262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ACT 6: HIDDEN RHYTHMS • 25 (THE MYSTERY)</a:t>
            </a:r>
            <a:endParaRPr/>
          </a:p>
        </p:txBody>
      </p:sp>
      <p:sp>
        <p:nvSpPr>
          <p:cNvPr id="814" name="Google Shape;814;p60"/>
          <p:cNvSpPr txBox="1"/>
          <p:nvPr/>
        </p:nvSpPr>
        <p:spPr>
          <a:xfrm>
            <a:off x="609600" y="685800"/>
            <a:ext cx="11582400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The Problem: The Twisting Neural Earthquake</a:t>
            </a:r>
            <a:endParaRPr/>
          </a:p>
        </p:txBody>
      </p:sp>
      <p:sp>
        <p:nvSpPr>
          <p:cNvPr id="815" name="Google Shape;815;p60"/>
          <p:cNvSpPr txBox="1"/>
          <p:nvPr/>
        </p:nvSpPr>
        <p:spPr>
          <a:xfrm>
            <a:off x="838200" y="2871787"/>
            <a:ext cx="4749900" cy="192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DC2626"/>
                </a:solidFill>
                <a:latin typeface="Inter"/>
                <a:ea typeface="Inter"/>
                <a:cs typeface="Inter"/>
                <a:sym typeface="Inter"/>
              </a:rPr>
              <a:t>THE DILEMMA: MATRIX ROTATION</a:t>
            </a:r>
            <a:endParaRPr/>
          </a:p>
        </p:txBody>
      </p:sp>
      <p:sp>
        <p:nvSpPr>
          <p:cNvPr id="816" name="Google Shape;816;p60"/>
          <p:cNvSpPr txBox="1"/>
          <p:nvPr/>
        </p:nvSpPr>
        <p:spPr>
          <a:xfrm>
            <a:off x="6254799" y="2878931"/>
            <a:ext cx="5194250" cy="19097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THE BIG SCIENTIFIC QUESTION</a:t>
            </a:r>
            <a:endParaRPr/>
          </a:p>
        </p:txBody>
      </p:sp>
      <p:sp>
        <p:nvSpPr>
          <p:cNvPr id="817" name="Google Shape;817;p60"/>
          <p:cNvSpPr txBox="1"/>
          <p:nvPr/>
        </p:nvSpPr>
        <p:spPr>
          <a:xfrm>
            <a:off x="847725" y="3148012"/>
            <a:ext cx="6084158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991B1B"/>
                </a:solidFill>
                <a:latin typeface="Space Grotesk"/>
                <a:ea typeface="Space Grotesk"/>
                <a:cs typeface="Space Grotesk"/>
                <a:sym typeface="Space Grotesk"/>
              </a:rPr>
              <a:t>Almost Everything Tilts!</a:t>
            </a:r>
            <a:endParaRPr/>
          </a:p>
        </p:txBody>
      </p:sp>
      <p:sp>
        <p:nvSpPr>
          <p:cNvPr id="818" name="Google Shape;818;p60"/>
          <p:cNvSpPr txBox="1"/>
          <p:nvPr/>
        </p:nvSpPr>
        <p:spPr>
          <a:xfrm>
            <a:off x="847725" y="3490912"/>
            <a:ext cx="4730799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When an electrical impulse runs through network matrix </a:t>
            </a:r>
            <a:r>
              <a:rPr b="1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</a:t>
            </a: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or </a:t>
            </a:r>
            <a:r>
              <a:rPr b="1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W</a:t>
            </a: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, it transforms almost every vector into a completely new direction.</a:t>
            </a:r>
            <a:endParaRPr/>
          </a:p>
        </p:txBody>
      </p:sp>
      <p:sp>
        <p:nvSpPr>
          <p:cNvPr id="819" name="Google Shape;819;p60"/>
          <p:cNvSpPr txBox="1"/>
          <p:nvPr/>
        </p:nvSpPr>
        <p:spPr>
          <a:xfrm>
            <a:off x="847725" y="4186237"/>
            <a:ext cx="4730799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7F1D1D"/>
                </a:solidFill>
                <a:latin typeface="Inter"/>
                <a:ea typeface="Inter"/>
                <a:cs typeface="Inter"/>
                <a:sym typeface="Inter"/>
              </a:rPr>
              <a:t>If every neural firing pattern gets twisted, stretched, and sheared, how does your brain maintain stable thoughts without falling into chaotic static?</a:t>
            </a:r>
            <a:endParaRPr/>
          </a:p>
        </p:txBody>
      </p:sp>
      <p:sp>
        <p:nvSpPr>
          <p:cNvPr id="820" name="Google Shape;820;p60"/>
          <p:cNvSpPr txBox="1"/>
          <p:nvPr/>
        </p:nvSpPr>
        <p:spPr>
          <a:xfrm>
            <a:off x="6254799" y="4060031"/>
            <a:ext cx="5194250" cy="7286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We need mathematical arrows that point along the steady backbone of the network — arrows that only stretch, but never drift off course.</a:t>
            </a:r>
            <a:endParaRPr/>
          </a:p>
        </p:txBody>
      </p:sp>
      <p:sp>
        <p:nvSpPr>
          <p:cNvPr id="821" name="Google Shape;821;p60"/>
          <p:cNvSpPr txBox="1"/>
          <p:nvPr/>
        </p:nvSpPr>
        <p:spPr>
          <a:xfrm>
            <a:off x="6445299" y="3317081"/>
            <a:ext cx="485135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7DD3FC"/>
                </a:solidFill>
                <a:latin typeface="Space Grotesk"/>
                <a:ea typeface="Space Grotesk"/>
                <a:cs typeface="Space Grotesk"/>
                <a:sym typeface="Space Grotesk"/>
              </a:rPr>
              <a:t>"Are there special, invariant axes in the brain that REFUSE to bend or rotate?"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25" name="Shape 8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6" name="Google Shape;826;p6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27" name="Google Shape;827;p61"/>
          <p:cNvGrpSpPr/>
          <p:nvPr/>
        </p:nvGrpSpPr>
        <p:grpSpPr>
          <a:xfrm>
            <a:off x="609600" y="381000"/>
            <a:ext cx="10972800" cy="609750"/>
            <a:chOff x="0" y="0"/>
            <a:chExt cx="10972800" cy="609750"/>
          </a:xfrm>
        </p:grpSpPr>
        <p:sp>
          <p:nvSpPr>
            <p:cNvPr id="828" name="Google Shape;828;p61"/>
            <p:cNvSpPr txBox="1"/>
            <p:nvPr/>
          </p:nvSpPr>
          <p:spPr>
            <a:xfrm>
              <a:off x="0" y="0"/>
              <a:ext cx="109728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50">
                  <a:solidFill>
                    <a:srgbClr val="059669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ACT 6: HIDDEN RHYTHMS • 26 (THE DISCOVERY)</a:t>
              </a:r>
              <a:endParaRPr b="1" sz="1050">
                <a:solidFill>
                  <a:srgbClr val="059669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</p:txBody>
        </p:sp>
        <p:sp>
          <p:nvSpPr>
            <p:cNvPr id="829" name="Google Shape;829;p61"/>
            <p:cNvSpPr txBox="1"/>
            <p:nvPr/>
          </p:nvSpPr>
          <p:spPr>
            <a:xfrm>
              <a:off x="0" y="209550"/>
              <a:ext cx="109728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600">
                  <a:solidFill>
                    <a:srgbClr val="0F172A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The Solution: Eigenvectors — The Unshakeable Axes</a:t>
              </a:r>
              <a:endParaRPr b="1" sz="2600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</p:grpSp>
      <p:grpSp>
        <p:nvGrpSpPr>
          <p:cNvPr id="830" name="Google Shape;830;p61"/>
          <p:cNvGrpSpPr/>
          <p:nvPr/>
        </p:nvGrpSpPr>
        <p:grpSpPr>
          <a:xfrm>
            <a:off x="609600" y="1143000"/>
            <a:ext cx="5334000" cy="3810000"/>
            <a:chOff x="0" y="0"/>
            <a:chExt cx="5334000" cy="3810000"/>
          </a:xfrm>
        </p:grpSpPr>
        <p:sp>
          <p:nvSpPr>
            <p:cNvPr id="831" name="Google Shape;831;p61"/>
            <p:cNvSpPr/>
            <p:nvPr/>
          </p:nvSpPr>
          <p:spPr>
            <a:xfrm>
              <a:off x="0" y="0"/>
              <a:ext cx="5334000" cy="3810000"/>
            </a:xfrm>
            <a:prstGeom prst="roundRect">
              <a:avLst>
                <a:gd fmla="val 4000" name="adj"/>
              </a:avLst>
            </a:prstGeom>
            <a:solidFill>
              <a:srgbClr val="F0FDF4"/>
            </a:solidFill>
            <a:ln cap="flat" cmpd="sng" w="14300">
              <a:solidFill>
                <a:srgbClr val="A7F3D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2" name="Google Shape;832;p61"/>
            <p:cNvSpPr txBox="1"/>
            <p:nvPr/>
          </p:nvSpPr>
          <p:spPr>
            <a:xfrm>
              <a:off x="228600" y="190500"/>
              <a:ext cx="48768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50">
                  <a:solidFill>
                    <a:srgbClr val="059669"/>
                  </a:solidFill>
                  <a:latin typeface="Inter"/>
                  <a:ea typeface="Inter"/>
                  <a:cs typeface="Inter"/>
                  <a:sym typeface="Inter"/>
                </a:rPr>
                <a:t>THE EIGEN EQUATION</a:t>
              </a:r>
              <a:endParaRPr b="1" sz="1050">
                <a:solidFill>
                  <a:srgbClr val="0596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833" name="Google Shape;833;p61"/>
            <p:cNvGrpSpPr/>
            <p:nvPr/>
          </p:nvGrpSpPr>
          <p:grpSpPr>
            <a:xfrm>
              <a:off x="228600" y="457200"/>
              <a:ext cx="4876800" cy="495300"/>
              <a:chOff x="0" y="0"/>
              <a:chExt cx="4876800" cy="495300"/>
            </a:xfrm>
          </p:grpSpPr>
          <p:sp>
            <p:nvSpPr>
              <p:cNvPr id="834" name="Google Shape;834;p61"/>
              <p:cNvSpPr/>
              <p:nvPr/>
            </p:nvSpPr>
            <p:spPr>
              <a:xfrm>
                <a:off x="0" y="0"/>
                <a:ext cx="4876800" cy="495300"/>
              </a:xfrm>
              <a:prstGeom prst="roundRect">
                <a:avLst>
                  <a:gd fmla="val 15384" name="adj"/>
                </a:avLst>
              </a:prstGeom>
              <a:solidFill>
                <a:srgbClr val="0F172A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5" name="Google Shape;835;p61"/>
              <p:cNvSpPr txBox="1"/>
              <p:nvPr/>
            </p:nvSpPr>
            <p:spPr>
              <a:xfrm>
                <a:off x="0" y="0"/>
                <a:ext cx="4876800" cy="495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2000">
                    <a:solidFill>
                      <a:srgbClr val="34D399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C · v = λ · v</a:t>
                </a:r>
                <a:endParaRPr b="1" sz="2000">
                  <a:solidFill>
                    <a:srgbClr val="34D399"/>
                  </a:solidFill>
                  <a:latin typeface="JetBrains Mono"/>
                  <a:ea typeface="JetBrains Mono"/>
                  <a:cs typeface="JetBrains Mono"/>
                  <a:sym typeface="JetBrains Mono"/>
                </a:endParaRPr>
              </a:p>
            </p:txBody>
          </p:sp>
        </p:grpSp>
        <p:sp>
          <p:nvSpPr>
            <p:cNvPr id="836" name="Google Shape;836;p61"/>
            <p:cNvSpPr txBox="1"/>
            <p:nvPr/>
          </p:nvSpPr>
          <p:spPr>
            <a:xfrm>
              <a:off x="228600" y="1066800"/>
              <a:ext cx="4876800" cy="190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064E3B"/>
                  </a:solidFill>
                  <a:latin typeface="Inter"/>
                  <a:ea typeface="Inter"/>
                  <a:cs typeface="Inter"/>
                  <a:sym typeface="Inter"/>
                </a:rPr>
                <a:t>Where:</a:t>
              </a:r>
              <a:endParaRPr b="1" sz="1100">
                <a:solidFill>
                  <a:srgbClr val="064E3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98450" lvl="0" marL="457200" rtl="0" algn="l">
                <a:spcBef>
                  <a:spcPts val="750"/>
                </a:spcBef>
                <a:spcAft>
                  <a:spcPts val="0"/>
                </a:spcAft>
                <a:buClr>
                  <a:srgbClr val="064E3B"/>
                </a:buClr>
                <a:buSzPts val="1100"/>
                <a:buFont typeface="Inter"/>
                <a:buChar char="●"/>
              </a:pPr>
              <a:r>
                <a:rPr b="1" lang="en-US" sz="1100">
                  <a:solidFill>
                    <a:srgbClr val="064E3B"/>
                  </a:solidFill>
                  <a:latin typeface="Inter"/>
                  <a:ea typeface="Inter"/>
                  <a:cs typeface="Inter"/>
                  <a:sym typeface="Inter"/>
                </a:rPr>
                <a:t>C</a:t>
              </a:r>
              <a:r>
                <a:rPr lang="en-US" sz="1100">
                  <a:solidFill>
                    <a:srgbClr val="064E3B"/>
                  </a:solidFill>
                  <a:latin typeface="Inter"/>
                  <a:ea typeface="Inter"/>
                  <a:cs typeface="Inter"/>
                  <a:sym typeface="Inter"/>
                </a:rPr>
                <a:t> is the N × N covariance matrix (all neuron connections)</a:t>
              </a:r>
              <a:endParaRPr sz="1100">
                <a:solidFill>
                  <a:srgbClr val="064E3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98450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064E3B"/>
                </a:buClr>
                <a:buSzPts val="1100"/>
                <a:buFont typeface="Inter"/>
                <a:buChar char="●"/>
              </a:pPr>
              <a:r>
                <a:rPr b="1" lang="en-US" sz="1100">
                  <a:solidFill>
                    <a:srgbClr val="064E3B"/>
                  </a:solidFill>
                  <a:latin typeface="Inter"/>
                  <a:ea typeface="Inter"/>
                  <a:cs typeface="Inter"/>
                  <a:sym typeface="Inter"/>
                </a:rPr>
                <a:t>v</a:t>
              </a:r>
              <a:r>
                <a:rPr lang="en-US" sz="1100">
                  <a:solidFill>
                    <a:srgbClr val="064E3B"/>
                  </a:solidFill>
                  <a:latin typeface="Inter"/>
                  <a:ea typeface="Inter"/>
                  <a:cs typeface="Inter"/>
                  <a:sym typeface="Inter"/>
                </a:rPr>
                <a:t> is an </a:t>
              </a:r>
              <a:r>
                <a:rPr i="1" lang="en-US" sz="1100">
                  <a:solidFill>
                    <a:srgbClr val="064E3B"/>
                  </a:solidFill>
                  <a:latin typeface="Inter"/>
                  <a:ea typeface="Inter"/>
                  <a:cs typeface="Inter"/>
                  <a:sym typeface="Inter"/>
                </a:rPr>
                <a:t>Eigenvector</a:t>
              </a:r>
              <a:r>
                <a:rPr lang="en-US" sz="1100">
                  <a:solidFill>
                    <a:srgbClr val="064E3B"/>
                  </a:solidFill>
                  <a:latin typeface="Inter"/>
                  <a:ea typeface="Inter"/>
                  <a:cs typeface="Inter"/>
                  <a:sym typeface="Inter"/>
                </a:rPr>
                <a:t> (an axis that DOES NOT rotate or bend!)</a:t>
              </a:r>
              <a:endParaRPr sz="1100">
                <a:solidFill>
                  <a:srgbClr val="064E3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98450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064E3B"/>
                </a:buClr>
                <a:buSzPts val="1100"/>
                <a:buFont typeface="Inter"/>
                <a:buChar char="●"/>
              </a:pPr>
              <a:r>
                <a:rPr b="1" lang="en-US" sz="1100">
                  <a:solidFill>
                    <a:srgbClr val="064E3B"/>
                  </a:solidFill>
                  <a:latin typeface="Inter"/>
                  <a:ea typeface="Inter"/>
                  <a:cs typeface="Inter"/>
                  <a:sym typeface="Inter"/>
                </a:rPr>
                <a:t>λ (Lambda)</a:t>
              </a:r>
              <a:r>
                <a:rPr lang="en-US" sz="1100">
                  <a:solidFill>
                    <a:srgbClr val="064E3B"/>
                  </a:solidFill>
                  <a:latin typeface="Inter"/>
                  <a:ea typeface="Inter"/>
                  <a:cs typeface="Inter"/>
                  <a:sym typeface="Inter"/>
                </a:rPr>
                <a:t> is the </a:t>
              </a:r>
              <a:r>
                <a:rPr i="1" lang="en-US" sz="1100">
                  <a:solidFill>
                    <a:srgbClr val="064E3B"/>
                  </a:solidFill>
                  <a:latin typeface="Inter"/>
                  <a:ea typeface="Inter"/>
                  <a:cs typeface="Inter"/>
                  <a:sym typeface="Inter"/>
                </a:rPr>
                <a:t>Eigenvalue</a:t>
              </a:r>
              <a:r>
                <a:rPr lang="en-US" sz="1100">
                  <a:solidFill>
                    <a:srgbClr val="064E3B"/>
                  </a:solidFill>
                  <a:latin typeface="Inter"/>
                  <a:ea typeface="Inter"/>
                  <a:cs typeface="Inter"/>
                  <a:sym typeface="Inter"/>
                </a:rPr>
                <a:t> (a single scalar multiplier)</a:t>
              </a:r>
              <a:endParaRPr sz="1100">
                <a:solidFill>
                  <a:srgbClr val="064E3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98450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064E3B"/>
                </a:buClr>
                <a:buSzPts val="1100"/>
                <a:buFont typeface="Inter"/>
                <a:buChar char="●"/>
              </a:pPr>
              <a:r>
                <a:rPr b="1" lang="en-US" sz="1100">
                  <a:solidFill>
                    <a:srgbClr val="064E3B"/>
                  </a:solidFill>
                  <a:latin typeface="Inter"/>
                  <a:ea typeface="Inter"/>
                  <a:cs typeface="Inter"/>
                  <a:sym typeface="Inter"/>
                </a:rPr>
                <a:t>C · v</a:t>
              </a:r>
              <a:r>
                <a:rPr lang="en-US" sz="1100">
                  <a:solidFill>
                    <a:srgbClr val="064E3B"/>
                  </a:solidFill>
                  <a:latin typeface="Inter"/>
                  <a:ea typeface="Inter"/>
                  <a:cs typeface="Inter"/>
                  <a:sym typeface="Inter"/>
                </a:rPr>
                <a:t> = complex matrix shearing that collapses into pure stretching </a:t>
              </a:r>
              <a:r>
                <a:rPr b="1" lang="en-US" sz="1100">
                  <a:solidFill>
                    <a:srgbClr val="064E3B"/>
                  </a:solidFill>
                  <a:latin typeface="Inter"/>
                  <a:ea typeface="Inter"/>
                  <a:cs typeface="Inter"/>
                  <a:sym typeface="Inter"/>
                </a:rPr>
                <a:t>λ · v</a:t>
              </a:r>
              <a:r>
                <a:rPr lang="en-US" sz="1100">
                  <a:solidFill>
                    <a:srgbClr val="064E3B"/>
                  </a:solidFill>
                  <a:latin typeface="Inter"/>
                  <a:ea typeface="Inter"/>
                  <a:cs typeface="Inter"/>
                  <a:sym typeface="Inter"/>
                </a:rPr>
                <a:t>!</a:t>
              </a:r>
              <a:endParaRPr sz="1100">
                <a:solidFill>
                  <a:srgbClr val="064E3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837" name="Google Shape;837;p61"/>
          <p:cNvGrpSpPr/>
          <p:nvPr/>
        </p:nvGrpSpPr>
        <p:grpSpPr>
          <a:xfrm>
            <a:off x="6248400" y="1143000"/>
            <a:ext cx="5334000" cy="3810000"/>
            <a:chOff x="0" y="0"/>
            <a:chExt cx="5334000" cy="3810000"/>
          </a:xfrm>
        </p:grpSpPr>
        <p:sp>
          <p:nvSpPr>
            <p:cNvPr id="838" name="Google Shape;838;p61"/>
            <p:cNvSpPr/>
            <p:nvPr/>
          </p:nvSpPr>
          <p:spPr>
            <a:xfrm>
              <a:off x="0" y="0"/>
              <a:ext cx="5334000" cy="3810000"/>
            </a:xfrm>
            <a:prstGeom prst="roundRect">
              <a:avLst>
                <a:gd fmla="val 4000" name="adj"/>
              </a:avLst>
            </a:prstGeom>
            <a:solidFill>
              <a:srgbClr val="0F172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9" name="Google Shape;839;p61"/>
            <p:cNvSpPr txBox="1"/>
            <p:nvPr/>
          </p:nvSpPr>
          <p:spPr>
            <a:xfrm>
              <a:off x="266700" y="228600"/>
              <a:ext cx="48006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50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rPr>
                <a:t>THE STABLE NEURAL CHOIR</a:t>
              </a:r>
              <a:endParaRPr b="1" sz="105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840" name="Google Shape;840;p61"/>
            <p:cNvSpPr txBox="1"/>
            <p:nvPr/>
          </p:nvSpPr>
          <p:spPr>
            <a:xfrm>
              <a:off x="266700" y="457200"/>
              <a:ext cx="48006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900">
                  <a:solidFill>
                    <a:srgbClr val="F8FAFC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Neurons Locked in Synchrony</a:t>
              </a:r>
              <a:endParaRPr b="1" sz="1900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grpSp>
          <p:nvGrpSpPr>
            <p:cNvPr id="841" name="Google Shape;841;p61"/>
            <p:cNvGrpSpPr/>
            <p:nvPr/>
          </p:nvGrpSpPr>
          <p:grpSpPr>
            <a:xfrm>
              <a:off x="266700" y="933450"/>
              <a:ext cx="4800600" cy="1143000"/>
              <a:chOff x="0" y="0"/>
              <a:chExt cx="4800600" cy="1143000"/>
            </a:xfrm>
          </p:grpSpPr>
          <p:sp>
            <p:nvSpPr>
              <p:cNvPr id="842" name="Google Shape;842;p61"/>
              <p:cNvSpPr/>
              <p:nvPr/>
            </p:nvSpPr>
            <p:spPr>
              <a:xfrm>
                <a:off x="0" y="0"/>
                <a:ext cx="4800600" cy="1143000"/>
              </a:xfrm>
              <a:prstGeom prst="roundRect">
                <a:avLst>
                  <a:gd fmla="val 8333" name="adj"/>
                </a:avLst>
              </a:prstGeom>
              <a:solidFill>
                <a:srgbClr val="1E293B"/>
              </a:solidFill>
              <a:ln cap="flat" cmpd="sng" w="9525">
                <a:solidFill>
                  <a:srgbClr val="33415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3" name="Google Shape;843;p61"/>
              <p:cNvSpPr/>
              <p:nvPr/>
            </p:nvSpPr>
            <p:spPr>
              <a:xfrm>
                <a:off x="0" y="0"/>
                <a:ext cx="38100" cy="1143000"/>
              </a:xfrm>
              <a:prstGeom prst="roundRect">
                <a:avLst>
                  <a:gd fmla="val 50000" name="adj"/>
                </a:avLst>
              </a:prstGeom>
              <a:solidFill>
                <a:srgbClr val="38BDF8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4" name="Google Shape;844;p61"/>
              <p:cNvSpPr txBox="1"/>
              <p:nvPr/>
            </p:nvSpPr>
            <p:spPr>
              <a:xfrm>
                <a:off x="190500" y="0"/>
                <a:ext cx="4419600" cy="1143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200">
                    <a:solidFill>
                      <a:srgbClr val="38BDF8"/>
                    </a:solidFill>
                    <a:latin typeface="Inter"/>
                    <a:ea typeface="Inter"/>
                    <a:cs typeface="Inter"/>
                    <a:sym typeface="Inter"/>
                  </a:rPr>
                  <a:t>Biological Cohesion</a:t>
                </a:r>
                <a:endParaRPr b="1" sz="1200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450"/>
                  </a:spcBef>
                  <a:spcAft>
                    <a:spcPts val="0"/>
                  </a:spcAft>
                  <a:buNone/>
                </a:pPr>
                <a:r>
                  <a:rPr lang="en-US" sz="1200">
                    <a:solidFill>
                      <a:srgbClr val="E2E8F0"/>
                    </a:solidFill>
                    <a:latin typeface="Inter"/>
                    <a:ea typeface="Inter"/>
                    <a:cs typeface="Inter"/>
                    <a:sym typeface="Inter"/>
                  </a:rPr>
                  <a:t>An eigenvector represents a dedicated team of neurons that agree to move together as a single biological unit.</a:t>
                </a:r>
                <a:endParaRPr sz="1200">
                  <a:solidFill>
                    <a:srgbClr val="E2E8F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845" name="Google Shape;845;p61"/>
            <p:cNvGrpSpPr/>
            <p:nvPr/>
          </p:nvGrpSpPr>
          <p:grpSpPr>
            <a:xfrm>
              <a:off x="266700" y="2266950"/>
              <a:ext cx="4800600" cy="1143000"/>
              <a:chOff x="0" y="0"/>
              <a:chExt cx="4800600" cy="1143000"/>
            </a:xfrm>
          </p:grpSpPr>
          <p:sp>
            <p:nvSpPr>
              <p:cNvPr id="846" name="Google Shape;846;p61"/>
              <p:cNvSpPr/>
              <p:nvPr/>
            </p:nvSpPr>
            <p:spPr>
              <a:xfrm>
                <a:off x="0" y="0"/>
                <a:ext cx="4800600" cy="1143000"/>
              </a:xfrm>
              <a:prstGeom prst="roundRect">
                <a:avLst>
                  <a:gd fmla="val 8333" name="adj"/>
                </a:avLst>
              </a:prstGeom>
              <a:solidFill>
                <a:srgbClr val="1E293B"/>
              </a:solidFill>
              <a:ln cap="flat" cmpd="sng" w="9525">
                <a:solidFill>
                  <a:srgbClr val="33415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7" name="Google Shape;847;p61"/>
              <p:cNvSpPr/>
              <p:nvPr/>
            </p:nvSpPr>
            <p:spPr>
              <a:xfrm>
                <a:off x="0" y="0"/>
                <a:ext cx="38100" cy="1143000"/>
              </a:xfrm>
              <a:prstGeom prst="roundRect">
                <a:avLst>
                  <a:gd fmla="val 50000" name="adj"/>
                </a:avLst>
              </a:prstGeom>
              <a:solidFill>
                <a:srgbClr val="34D399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8" name="Google Shape;848;p61"/>
              <p:cNvSpPr txBox="1"/>
              <p:nvPr/>
            </p:nvSpPr>
            <p:spPr>
              <a:xfrm>
                <a:off x="190500" y="0"/>
                <a:ext cx="4419600" cy="1143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200">
                    <a:solidFill>
                      <a:srgbClr val="34D399"/>
                    </a:solidFill>
                    <a:latin typeface="Inter"/>
                    <a:ea typeface="Inter"/>
                    <a:cs typeface="Inter"/>
                    <a:sym typeface="Inter"/>
                  </a:rPr>
                  <a:t>Invariance &amp; Stability</a:t>
                </a:r>
                <a:endParaRPr b="1" sz="1200">
                  <a:solidFill>
                    <a:srgbClr val="34D399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450"/>
                  </a:spcBef>
                  <a:spcAft>
                    <a:spcPts val="0"/>
                  </a:spcAft>
                  <a:buNone/>
                </a:pPr>
                <a:r>
                  <a:rPr lang="en-US" sz="1200">
                    <a:solidFill>
                      <a:srgbClr val="E2E8F0"/>
                    </a:solidFill>
                    <a:latin typeface="Inter"/>
                    <a:ea typeface="Inter"/>
                    <a:cs typeface="Inter"/>
                    <a:sym typeface="Inter"/>
                  </a:rPr>
                  <a:t>No matter how violently individual cells flutter, the eigenvector direction remains rock-solid!</a:t>
                </a:r>
                <a:endParaRPr sz="1200">
                  <a:solidFill>
                    <a:srgbClr val="E2E8F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849" name="Google Shape;849;p61"/>
          <p:cNvGrpSpPr/>
          <p:nvPr/>
        </p:nvGrpSpPr>
        <p:grpSpPr>
          <a:xfrm>
            <a:off x="609600" y="5162550"/>
            <a:ext cx="10972800" cy="1162200"/>
            <a:chOff x="0" y="0"/>
            <a:chExt cx="10972800" cy="1162200"/>
          </a:xfrm>
        </p:grpSpPr>
        <p:sp>
          <p:nvSpPr>
            <p:cNvPr id="850" name="Google Shape;850;p61"/>
            <p:cNvSpPr/>
            <p:nvPr/>
          </p:nvSpPr>
          <p:spPr>
            <a:xfrm>
              <a:off x="0" y="0"/>
              <a:ext cx="10972800" cy="1162200"/>
            </a:xfrm>
            <a:prstGeom prst="roundRect">
              <a:avLst>
                <a:gd fmla="val 9836" name="adj"/>
              </a:avLst>
            </a:prstGeom>
            <a:solidFill>
              <a:srgbClr val="F8FAFC"/>
            </a:solidFill>
            <a:ln cap="flat" cmpd="sng" w="9525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1" name="Google Shape;851;p61"/>
            <p:cNvSpPr/>
            <p:nvPr/>
          </p:nvSpPr>
          <p:spPr>
            <a:xfrm>
              <a:off x="0" y="0"/>
              <a:ext cx="57300" cy="1162200"/>
            </a:xfrm>
            <a:prstGeom prst="roundRect">
              <a:avLst>
                <a:gd fmla="val 50000" name="adj"/>
              </a:avLst>
            </a:prstGeom>
            <a:solidFill>
              <a:srgbClr val="05966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2" name="Google Shape;852;p61"/>
            <p:cNvSpPr txBox="1"/>
            <p:nvPr/>
          </p:nvSpPr>
          <p:spPr>
            <a:xfrm>
              <a:off x="266700" y="0"/>
              <a:ext cx="10477500" cy="1162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5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We have a covariance matrix describing how our neural signals move together. Now we are asking: </a:t>
              </a:r>
              <a:r>
                <a:rPr b="1" lang="en-US" sz="125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are there special directions through this data where the covariance matrix simply stretches the direction instead of changing it?</a:t>
              </a:r>
              <a:endParaRPr sz="125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56" name="Shape 8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7" name="Google Shape;857;p62"/>
          <p:cNvGrpSpPr/>
          <p:nvPr/>
        </p:nvGrpSpPr>
        <p:grpSpPr>
          <a:xfrm>
            <a:off x="609600" y="400050"/>
            <a:ext cx="10972800" cy="6039000"/>
            <a:chOff x="609600" y="400050"/>
            <a:chExt cx="10972800" cy="6039000"/>
          </a:xfrm>
        </p:grpSpPr>
        <p:grpSp>
          <p:nvGrpSpPr>
            <p:cNvPr id="858" name="Google Shape;858;p62"/>
            <p:cNvGrpSpPr/>
            <p:nvPr/>
          </p:nvGrpSpPr>
          <p:grpSpPr>
            <a:xfrm>
              <a:off x="609600" y="400050"/>
              <a:ext cx="10972800" cy="609750"/>
              <a:chOff x="0" y="0"/>
              <a:chExt cx="10972800" cy="609750"/>
            </a:xfrm>
          </p:grpSpPr>
          <p:sp>
            <p:nvSpPr>
              <p:cNvPr id="859" name="Google Shape;859;p62"/>
              <p:cNvSpPr txBox="1"/>
              <p:nvPr/>
            </p:nvSpPr>
            <p:spPr>
              <a:xfrm>
                <a:off x="0" y="0"/>
                <a:ext cx="109728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050">
                    <a:solidFill>
                      <a:srgbClr val="2563E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ACT 6: HIDDEN RHYTHMS • 27 (THE RANKING)</a:t>
                </a:r>
                <a:endParaRPr b="1" sz="1050">
                  <a:solidFill>
                    <a:srgbClr val="2563EB"/>
                  </a:solidFill>
                  <a:latin typeface="JetBrains Mono"/>
                  <a:ea typeface="JetBrains Mono"/>
                  <a:cs typeface="JetBrains Mono"/>
                  <a:sym typeface="JetBrains Mono"/>
                </a:endParaRPr>
              </a:p>
            </p:txBody>
          </p:sp>
          <p:sp>
            <p:nvSpPr>
              <p:cNvPr id="860" name="Google Shape;860;p62"/>
              <p:cNvSpPr txBox="1"/>
              <p:nvPr/>
            </p:nvSpPr>
            <p:spPr>
              <a:xfrm>
                <a:off x="0" y="209550"/>
                <a:ext cx="10972800" cy="400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2600">
                    <a:solidFill>
                      <a:srgbClr val="0F172A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Eigenvalues: Who Is Carrying the Band?</a:t>
                </a:r>
                <a:endParaRPr b="1" sz="2600">
                  <a:solidFill>
                    <a:srgbClr val="0F172A"/>
                  </a:solidFill>
                  <a:latin typeface="Space Grotesk"/>
                  <a:ea typeface="Space Grotesk"/>
                  <a:cs typeface="Space Grotesk"/>
                  <a:sym typeface="Space Grotesk"/>
                </a:endParaRPr>
              </a:p>
            </p:txBody>
          </p:sp>
        </p:grpSp>
        <p:grpSp>
          <p:nvGrpSpPr>
            <p:cNvPr id="861" name="Google Shape;861;p62"/>
            <p:cNvGrpSpPr/>
            <p:nvPr/>
          </p:nvGrpSpPr>
          <p:grpSpPr>
            <a:xfrm>
              <a:off x="609600" y="1200150"/>
              <a:ext cx="5257800" cy="3105300"/>
              <a:chOff x="0" y="0"/>
              <a:chExt cx="5257800" cy="3105300"/>
            </a:xfrm>
          </p:grpSpPr>
          <p:sp>
            <p:nvSpPr>
              <p:cNvPr id="862" name="Google Shape;862;p62"/>
              <p:cNvSpPr/>
              <p:nvPr/>
            </p:nvSpPr>
            <p:spPr>
              <a:xfrm>
                <a:off x="0" y="0"/>
                <a:ext cx="5257800" cy="3105300"/>
              </a:xfrm>
              <a:prstGeom prst="roundRect">
                <a:avLst>
                  <a:gd fmla="val 4294" name="adj"/>
                </a:avLst>
              </a:prstGeom>
              <a:solidFill>
                <a:srgbClr val="F0FDF4"/>
              </a:solidFill>
              <a:ln cap="flat" cmpd="sng" w="14300">
                <a:solidFill>
                  <a:srgbClr val="A7F3D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3" name="Google Shape;863;p62"/>
              <p:cNvSpPr txBox="1"/>
              <p:nvPr/>
            </p:nvSpPr>
            <p:spPr>
              <a:xfrm>
                <a:off x="228600" y="190500"/>
                <a:ext cx="48006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050">
                    <a:solidFill>
                      <a:srgbClr val="059669"/>
                    </a:solidFill>
                    <a:latin typeface="Inter"/>
                    <a:ea typeface="Inter"/>
                    <a:cs typeface="Inter"/>
                    <a:sym typeface="Inter"/>
                  </a:rPr>
                  <a:t>EIGENVALUES ARE POWER METERS</a:t>
                </a:r>
                <a:endParaRPr b="1" sz="1050">
                  <a:solidFill>
                    <a:srgbClr val="059669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64" name="Google Shape;864;p62"/>
              <p:cNvSpPr/>
              <p:nvPr/>
            </p:nvSpPr>
            <p:spPr>
              <a:xfrm>
                <a:off x="228600" y="457200"/>
                <a:ext cx="4800600" cy="457200"/>
              </a:xfrm>
              <a:prstGeom prst="roundRect">
                <a:avLst>
                  <a:gd fmla="val 16666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CBD5E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5" name="Google Shape;865;p62"/>
              <p:cNvSpPr txBox="1"/>
              <p:nvPr/>
            </p:nvSpPr>
            <p:spPr>
              <a:xfrm>
                <a:off x="228600" y="457200"/>
                <a:ext cx="4800600" cy="45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500">
                    <a:solidFill>
                      <a:srgbClr val="0F172A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λ₁ ≥ λ₂ ≥ λ₃ ≥ ... ≥ λ_N ≥ 0</a:t>
                </a:r>
                <a:endParaRPr b="1" sz="1500">
                  <a:solidFill>
                    <a:srgbClr val="0F172A"/>
                  </a:solidFill>
                  <a:latin typeface="JetBrains Mono"/>
                  <a:ea typeface="JetBrains Mono"/>
                  <a:cs typeface="JetBrains Mono"/>
                  <a:sym typeface="JetBrains Mono"/>
                </a:endParaRPr>
              </a:p>
            </p:txBody>
          </p:sp>
          <p:sp>
            <p:nvSpPr>
              <p:cNvPr id="866" name="Google Shape;866;p62"/>
              <p:cNvSpPr/>
              <p:nvPr/>
            </p:nvSpPr>
            <p:spPr>
              <a:xfrm>
                <a:off x="228600" y="1066800"/>
                <a:ext cx="4800600" cy="1733700"/>
              </a:xfrm>
              <a:prstGeom prst="roundRect">
                <a:avLst>
                  <a:gd fmla="val 5494" name="adj"/>
                </a:avLst>
              </a:prstGeom>
              <a:solidFill>
                <a:srgbClr val="FFFFFF">
                  <a:alpha val="70000"/>
                </a:srgbClr>
              </a:solidFill>
              <a:ln cap="flat" cmpd="sng" w="9525">
                <a:solidFill>
                  <a:srgbClr val="BBF7D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7" name="Google Shape;867;p62"/>
              <p:cNvSpPr txBox="1"/>
              <p:nvPr/>
            </p:nvSpPr>
            <p:spPr>
              <a:xfrm>
                <a:off x="381000" y="1181100"/>
                <a:ext cx="4495800" cy="1505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100">
                    <a:solidFill>
                      <a:srgbClr val="166534"/>
                    </a:solidFill>
                    <a:latin typeface="Inter"/>
                    <a:ea typeface="Inter"/>
                    <a:cs typeface="Inter"/>
                    <a:sym typeface="Inter"/>
                  </a:rPr>
                  <a:t>Where:</a:t>
                </a:r>
                <a:endParaRPr b="1" sz="1100">
                  <a:solidFill>
                    <a:srgbClr val="166534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050">
                    <a:solidFill>
                      <a:srgbClr val="166534"/>
                    </a:solidFill>
                    <a:latin typeface="Inter"/>
                    <a:ea typeface="Inter"/>
                    <a:cs typeface="Inter"/>
                    <a:sym typeface="Inter"/>
                  </a:rPr>
                  <a:t>• λ₁ (Lambda 1)</a:t>
                </a:r>
                <a:r>
                  <a:rPr b="0" lang="en-US" sz="1050">
                    <a:solidFill>
                      <a:srgbClr val="166534"/>
                    </a:solidFill>
                    <a:latin typeface="Inter"/>
                    <a:ea typeface="Inter"/>
                    <a:cs typeface="Inter"/>
                    <a:sym typeface="Inter"/>
                  </a:rPr>
                  <a:t> is the variance along the 1st eigenvector (loudest mode)</a:t>
                </a:r>
                <a:endParaRPr b="0" sz="1050">
                  <a:solidFill>
                    <a:srgbClr val="166534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050">
                    <a:solidFill>
                      <a:srgbClr val="166534"/>
                    </a:solidFill>
                    <a:latin typeface="Inter"/>
                    <a:ea typeface="Inter"/>
                    <a:cs typeface="Inter"/>
                    <a:sym typeface="Inter"/>
                  </a:rPr>
                  <a:t>• λ_total = Σ λᵢ</a:t>
                </a:r>
                <a:r>
                  <a:rPr b="0" lang="en-US" sz="1050">
                    <a:solidFill>
                      <a:srgbClr val="166534"/>
                    </a:solidFill>
                    <a:latin typeface="Inter"/>
                    <a:ea typeface="Inter"/>
                    <a:cs typeface="Inter"/>
                    <a:sym typeface="Inter"/>
                  </a:rPr>
                  <a:t> is the total electrical power of all neurons combined</a:t>
                </a:r>
                <a:endParaRPr b="0" sz="1050">
                  <a:solidFill>
                    <a:srgbClr val="166534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050">
                    <a:solidFill>
                      <a:srgbClr val="166534"/>
                    </a:solidFill>
                    <a:latin typeface="Inter"/>
                    <a:ea typeface="Inter"/>
                    <a:cs typeface="Inter"/>
                    <a:sym typeface="Inter"/>
                  </a:rPr>
                  <a:t>• Variance Explained %</a:t>
                </a:r>
                <a:r>
                  <a:rPr b="0" lang="en-US" sz="1050">
                    <a:solidFill>
                      <a:srgbClr val="166534"/>
                    </a:solidFill>
                    <a:latin typeface="Inter"/>
                    <a:ea typeface="Inter"/>
                    <a:cs typeface="Inter"/>
                    <a:sym typeface="Inter"/>
                  </a:rPr>
                  <a:t> = (λ₁ / λ_total) × 100%</a:t>
                </a:r>
                <a:endParaRPr b="0" sz="1050">
                  <a:solidFill>
                    <a:srgbClr val="166534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868" name="Google Shape;868;p62"/>
            <p:cNvGrpSpPr/>
            <p:nvPr/>
          </p:nvGrpSpPr>
          <p:grpSpPr>
            <a:xfrm>
              <a:off x="6057900" y="1200150"/>
              <a:ext cx="5524500" cy="3105300"/>
              <a:chOff x="0" y="0"/>
              <a:chExt cx="5524500" cy="3105300"/>
            </a:xfrm>
          </p:grpSpPr>
          <p:sp>
            <p:nvSpPr>
              <p:cNvPr id="869" name="Google Shape;869;p62"/>
              <p:cNvSpPr/>
              <p:nvPr/>
            </p:nvSpPr>
            <p:spPr>
              <a:xfrm>
                <a:off x="0" y="0"/>
                <a:ext cx="5524500" cy="3105300"/>
              </a:xfrm>
              <a:prstGeom prst="roundRect">
                <a:avLst>
                  <a:gd fmla="val 4294" name="adj"/>
                </a:avLst>
              </a:prstGeom>
              <a:solidFill>
                <a:srgbClr val="EFF6FF"/>
              </a:solidFill>
              <a:ln cap="flat" cmpd="sng" w="14300">
                <a:solidFill>
                  <a:srgbClr val="BFDBFE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0" name="Google Shape;870;p62"/>
              <p:cNvSpPr txBox="1"/>
              <p:nvPr/>
            </p:nvSpPr>
            <p:spPr>
              <a:xfrm>
                <a:off x="228600" y="190500"/>
                <a:ext cx="5067300" cy="247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600">
                    <a:solidFill>
                      <a:srgbClr val="1E40AF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The Symphony Power Rankings 🏆</a:t>
                </a:r>
                <a:endParaRPr b="1" sz="1600">
                  <a:solidFill>
                    <a:srgbClr val="1E40AF"/>
                  </a:solidFill>
                  <a:latin typeface="Space Grotesk"/>
                  <a:ea typeface="Space Grotesk"/>
                  <a:cs typeface="Space Grotesk"/>
                  <a:sym typeface="Space Grotesk"/>
                </a:endParaRPr>
              </a:p>
            </p:txBody>
          </p:sp>
          <p:sp>
            <p:nvSpPr>
              <p:cNvPr id="871" name="Google Shape;871;p62"/>
              <p:cNvSpPr txBox="1"/>
              <p:nvPr/>
            </p:nvSpPr>
            <p:spPr>
              <a:xfrm>
                <a:off x="228600" y="457200"/>
                <a:ext cx="50673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1150">
                    <a:solidFill>
                      <a:srgbClr val="1E3A8A"/>
                    </a:solidFill>
                    <a:latin typeface="Inter Medium"/>
                    <a:ea typeface="Inter Medium"/>
                    <a:cs typeface="Inter Medium"/>
                    <a:sym typeface="Inter Medium"/>
                  </a:rPr>
                  <a:t>In a brain recording with 100 neurons:</a:t>
                </a:r>
                <a:endParaRPr b="0" sz="1150">
                  <a:solidFill>
                    <a:srgbClr val="1E3A8A"/>
                  </a:solidFill>
                  <a:latin typeface="Inter Medium"/>
                  <a:ea typeface="Inter Medium"/>
                  <a:cs typeface="Inter Medium"/>
                  <a:sym typeface="Inter Medium"/>
                </a:endParaRPr>
              </a:p>
            </p:txBody>
          </p:sp>
          <p:sp>
            <p:nvSpPr>
              <p:cNvPr id="872" name="Google Shape;872;p62"/>
              <p:cNvSpPr/>
              <p:nvPr/>
            </p:nvSpPr>
            <p:spPr>
              <a:xfrm>
                <a:off x="228600" y="742950"/>
                <a:ext cx="5067300" cy="628800"/>
              </a:xfrm>
              <a:prstGeom prst="roundRect">
                <a:avLst>
                  <a:gd fmla="val 12121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93C5FD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3" name="Google Shape;873;p62"/>
              <p:cNvSpPr/>
              <p:nvPr/>
            </p:nvSpPr>
            <p:spPr>
              <a:xfrm>
                <a:off x="228600" y="742950"/>
                <a:ext cx="57300" cy="628800"/>
              </a:xfrm>
              <a:prstGeom prst="roundRect">
                <a:avLst>
                  <a:gd fmla="val 50000" name="adj"/>
                </a:avLst>
              </a:prstGeom>
              <a:solidFill>
                <a:srgbClr val="2563E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4" name="Google Shape;874;p62"/>
              <p:cNvSpPr txBox="1"/>
              <p:nvPr/>
            </p:nvSpPr>
            <p:spPr>
              <a:xfrm>
                <a:off x="400050" y="742950"/>
                <a:ext cx="4762500" cy="628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150">
                    <a:solidFill>
                      <a:srgbClr val="1D4ED8"/>
                    </a:solidFill>
                    <a:latin typeface="Inter"/>
                    <a:ea typeface="Inter"/>
                    <a:cs typeface="Inter"/>
                    <a:sym typeface="Inter"/>
                  </a:rPr>
                  <a:t>• Mode 1 (λ₁ = 60% power):</a:t>
                </a:r>
                <a:r>
                  <a:rPr b="0" lang="en-US" sz="1150">
                    <a:solidFill>
                      <a:srgbClr val="1E40AF"/>
                    </a:solidFill>
                    <a:latin typeface="Inter"/>
                    <a:ea typeface="Inter"/>
                    <a:cs typeface="Inter"/>
                    <a:sym typeface="Inter"/>
                  </a:rPr>
                  <a:t> The main bass groove (reach target).</a:t>
                </a:r>
                <a:endParaRPr b="0" sz="1150">
                  <a:solidFill>
                    <a:srgbClr val="1E40AF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75" name="Google Shape;875;p62"/>
              <p:cNvSpPr/>
              <p:nvPr/>
            </p:nvSpPr>
            <p:spPr>
              <a:xfrm>
                <a:off x="228600" y="1466850"/>
                <a:ext cx="5067300" cy="628800"/>
              </a:xfrm>
              <a:prstGeom prst="roundRect">
                <a:avLst>
                  <a:gd fmla="val 12121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CBD5E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6" name="Google Shape;876;p62"/>
              <p:cNvSpPr/>
              <p:nvPr/>
            </p:nvSpPr>
            <p:spPr>
              <a:xfrm>
                <a:off x="228600" y="1466850"/>
                <a:ext cx="57300" cy="628800"/>
              </a:xfrm>
              <a:prstGeom prst="roundRect">
                <a:avLst>
                  <a:gd fmla="val 50000" name="adj"/>
                </a:avLst>
              </a:prstGeom>
              <a:solidFill>
                <a:srgbClr val="3B82F6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7" name="Google Shape;877;p62"/>
              <p:cNvSpPr txBox="1"/>
              <p:nvPr/>
            </p:nvSpPr>
            <p:spPr>
              <a:xfrm>
                <a:off x="400050" y="1466850"/>
                <a:ext cx="4762500" cy="628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150">
                    <a:solidFill>
                      <a:srgbClr val="2563EB"/>
                    </a:solidFill>
                    <a:latin typeface="Inter"/>
                    <a:ea typeface="Inter"/>
                    <a:cs typeface="Inter"/>
                    <a:sym typeface="Inter"/>
                  </a:rPr>
                  <a:t>• Mode 2 (λ₂ = 25% power):</a:t>
                </a:r>
                <a:r>
                  <a:rPr b="0" lang="en-US" sz="1150">
                    <a:solidFill>
                      <a:srgbClr val="1E40AF"/>
                    </a:solidFill>
                    <a:latin typeface="Inter"/>
                    <a:ea typeface="Inter"/>
                    <a:cs typeface="Inter"/>
                    <a:sym typeface="Inter"/>
                  </a:rPr>
                  <a:t> The vocal melody (movement timing).</a:t>
                </a:r>
                <a:endParaRPr b="0" sz="1150">
                  <a:solidFill>
                    <a:srgbClr val="1E40AF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78" name="Google Shape;878;p62"/>
              <p:cNvSpPr/>
              <p:nvPr/>
            </p:nvSpPr>
            <p:spPr>
              <a:xfrm>
                <a:off x="228600" y="2190750"/>
                <a:ext cx="5067300" cy="628800"/>
              </a:xfrm>
              <a:prstGeom prst="roundRect">
                <a:avLst>
                  <a:gd fmla="val 12121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9" name="Google Shape;879;p62"/>
              <p:cNvSpPr/>
              <p:nvPr/>
            </p:nvSpPr>
            <p:spPr>
              <a:xfrm>
                <a:off x="228600" y="2190750"/>
                <a:ext cx="57300" cy="628800"/>
              </a:xfrm>
              <a:prstGeom prst="roundRect">
                <a:avLst>
                  <a:gd fmla="val 50000" name="adj"/>
                </a:avLst>
              </a:prstGeom>
              <a:solidFill>
                <a:srgbClr val="94A3B8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0" name="Google Shape;880;p62"/>
              <p:cNvSpPr txBox="1"/>
              <p:nvPr/>
            </p:nvSpPr>
            <p:spPr>
              <a:xfrm>
                <a:off x="400050" y="2190750"/>
                <a:ext cx="4762500" cy="628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150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rPr>
                  <a:t>• Modes 3 to 100 (&lt; 15% combined):</a:t>
                </a:r>
                <a:r>
                  <a:rPr b="0" lang="en-US" sz="1150">
                    <a:solidFill>
                      <a:srgbClr val="64748B"/>
                    </a:solidFill>
                    <a:latin typeface="Inter"/>
                    <a:ea typeface="Inter"/>
                    <a:cs typeface="Inter"/>
                    <a:sym typeface="Inter"/>
                  </a:rPr>
                  <a:t> Tiny background whispers &amp; noise!</a:t>
                </a:r>
                <a:endParaRPr b="0" sz="115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881" name="Google Shape;881;p62"/>
            <p:cNvGrpSpPr/>
            <p:nvPr/>
          </p:nvGrpSpPr>
          <p:grpSpPr>
            <a:xfrm>
              <a:off x="609600" y="4514850"/>
              <a:ext cx="5257800" cy="1924200"/>
              <a:chOff x="0" y="0"/>
              <a:chExt cx="5257800" cy="1924200"/>
            </a:xfrm>
          </p:grpSpPr>
          <p:sp>
            <p:nvSpPr>
              <p:cNvPr id="882" name="Google Shape;882;p62"/>
              <p:cNvSpPr/>
              <p:nvPr/>
            </p:nvSpPr>
            <p:spPr>
              <a:xfrm>
                <a:off x="0" y="0"/>
                <a:ext cx="5257800" cy="1924200"/>
              </a:xfrm>
              <a:prstGeom prst="roundRect">
                <a:avLst>
                  <a:gd fmla="val 5940" name="adj"/>
                </a:avLst>
              </a:prstGeom>
              <a:solidFill>
                <a:srgbClr val="FFFFFF"/>
              </a:solidFill>
              <a:ln cap="flat" cmpd="sng" w="14300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3" name="Google Shape;883;p62"/>
              <p:cNvSpPr/>
              <p:nvPr/>
            </p:nvSpPr>
            <p:spPr>
              <a:xfrm>
                <a:off x="0" y="0"/>
                <a:ext cx="57300" cy="1924200"/>
              </a:xfrm>
              <a:prstGeom prst="roundRect">
                <a:avLst>
                  <a:gd fmla="val 50000" name="adj"/>
                </a:avLst>
              </a:prstGeom>
              <a:solidFill>
                <a:srgbClr val="059669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4" name="Google Shape;884;p62"/>
              <p:cNvSpPr txBox="1"/>
              <p:nvPr/>
            </p:nvSpPr>
            <p:spPr>
              <a:xfrm>
                <a:off x="228600" y="190500"/>
                <a:ext cx="4800600" cy="1543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1300">
                    <a:solidFill>
                      <a:srgbClr val="334155"/>
                    </a:solidFill>
                    <a:latin typeface="Inter"/>
                    <a:ea typeface="Inter"/>
                    <a:cs typeface="Inter"/>
                    <a:sym typeface="Inter"/>
                  </a:rPr>
                  <a:t>Remember, an eigenvector is a special direction that the matrix does not rotate. The eigenvalue tells us what happens to that direction. It tells us how much that direction is stretched or shrunk.</a:t>
                </a:r>
                <a:endParaRPr b="0" sz="13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885" name="Google Shape;885;p62"/>
            <p:cNvGrpSpPr/>
            <p:nvPr/>
          </p:nvGrpSpPr>
          <p:grpSpPr>
            <a:xfrm>
              <a:off x="6057900" y="4514850"/>
              <a:ext cx="5524500" cy="1924200"/>
              <a:chOff x="0" y="0"/>
              <a:chExt cx="5524500" cy="1924200"/>
            </a:xfrm>
          </p:grpSpPr>
          <p:sp>
            <p:nvSpPr>
              <p:cNvPr id="886" name="Google Shape;886;p62"/>
              <p:cNvSpPr/>
              <p:nvPr/>
            </p:nvSpPr>
            <p:spPr>
              <a:xfrm>
                <a:off x="0" y="0"/>
                <a:ext cx="5524500" cy="1924200"/>
              </a:xfrm>
              <a:prstGeom prst="roundRect">
                <a:avLst>
                  <a:gd fmla="val 5940" name="adj"/>
                </a:avLst>
              </a:prstGeom>
              <a:solidFill>
                <a:srgbClr val="FFFFFF"/>
              </a:solidFill>
              <a:ln cap="flat" cmpd="sng" w="14300">
                <a:solidFill>
                  <a:srgbClr val="CBD5E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7" name="Google Shape;887;p62"/>
              <p:cNvSpPr/>
              <p:nvPr/>
            </p:nvSpPr>
            <p:spPr>
              <a:xfrm>
                <a:off x="0" y="114300"/>
                <a:ext cx="5524500" cy="304800"/>
              </a:xfrm>
              <a:custGeom>
                <a:rect b="b" l="l" r="r" t="t"/>
                <a:pathLst>
                  <a:path extrusionOk="0" h="120000" w="120000">
                    <a:moveTo>
                      <a:pt x="0" y="0"/>
                    </a:moveTo>
                    <a:lnTo>
                      <a:pt x="120000" y="0"/>
                    </a:lnTo>
                    <a:lnTo>
                      <a:pt x="120000" y="120000"/>
                    </a:lnTo>
                    <a:lnTo>
                      <a:pt x="0" y="120000"/>
                    </a:lnTo>
                    <a:close/>
                  </a:path>
                </a:pathLst>
              </a:custGeom>
              <a:solidFill>
                <a:srgbClr val="0F172A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8" name="Google Shape;888;p62"/>
              <p:cNvSpPr/>
              <p:nvPr/>
            </p:nvSpPr>
            <p:spPr>
              <a:xfrm>
                <a:off x="0" y="0"/>
                <a:ext cx="5524500" cy="419100"/>
              </a:xfrm>
              <a:prstGeom prst="roundRect">
                <a:avLst>
                  <a:gd fmla="val 27272" name="adj"/>
                </a:avLst>
              </a:prstGeom>
              <a:solidFill>
                <a:srgbClr val="0F172A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9" name="Google Shape;889;p62"/>
              <p:cNvSpPr txBox="1"/>
              <p:nvPr/>
            </p:nvSpPr>
            <p:spPr>
              <a:xfrm>
                <a:off x="152400" y="0"/>
                <a:ext cx="1524000" cy="419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100">
                    <a:solidFill>
                      <a:srgbClr val="F8FAFC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Eigenvalue</a:t>
                </a:r>
                <a:endParaRPr b="1" sz="1100">
                  <a:solidFill>
                    <a:srgbClr val="F8FAFC"/>
                  </a:solidFill>
                  <a:latin typeface="Space Grotesk"/>
                  <a:ea typeface="Space Grotesk"/>
                  <a:cs typeface="Space Grotesk"/>
                  <a:sym typeface="Space Grotesk"/>
                </a:endParaRPr>
              </a:p>
            </p:txBody>
          </p:sp>
          <p:sp>
            <p:nvSpPr>
              <p:cNvPr id="890" name="Google Shape;890;p62"/>
              <p:cNvSpPr txBox="1"/>
              <p:nvPr/>
            </p:nvSpPr>
            <p:spPr>
              <a:xfrm>
                <a:off x="1809750" y="0"/>
                <a:ext cx="3562200" cy="419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100">
                    <a:solidFill>
                      <a:srgbClr val="F8FAFC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Meaning</a:t>
                </a:r>
                <a:endParaRPr b="1" sz="1100">
                  <a:solidFill>
                    <a:srgbClr val="F8FAFC"/>
                  </a:solidFill>
                  <a:latin typeface="Space Grotesk"/>
                  <a:ea typeface="Space Grotesk"/>
                  <a:cs typeface="Space Grotesk"/>
                  <a:sym typeface="Space Grotesk"/>
                </a:endParaRPr>
              </a:p>
            </p:txBody>
          </p:sp>
          <p:cxnSp>
            <p:nvCxnSpPr>
              <p:cNvPr id="891" name="Google Shape;891;p62"/>
              <p:cNvCxnSpPr/>
              <p:nvPr/>
            </p:nvCxnSpPr>
            <p:spPr>
              <a:xfrm>
                <a:off x="152400" y="790575"/>
                <a:ext cx="5219700" cy="0"/>
              </a:xfrm>
              <a:prstGeom prst="straightConnector1">
                <a:avLst/>
              </a:prstGeom>
              <a:solidFill>
                <a:srgbClr val="FFFFFF"/>
              </a:solidFill>
              <a:ln cap="flat" cmpd="sng" w="9525">
                <a:solidFill>
                  <a:srgbClr val="F1F5F9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892" name="Google Shape;892;p62"/>
              <p:cNvCxnSpPr/>
              <p:nvPr/>
            </p:nvCxnSpPr>
            <p:spPr>
              <a:xfrm>
                <a:off x="152400" y="1162050"/>
                <a:ext cx="5219700" cy="0"/>
              </a:xfrm>
              <a:prstGeom prst="straightConnector1">
                <a:avLst/>
              </a:prstGeom>
              <a:solidFill>
                <a:srgbClr val="FFFFFF"/>
              </a:solidFill>
              <a:ln cap="flat" cmpd="sng" w="9525">
                <a:solidFill>
                  <a:srgbClr val="F1F5F9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893" name="Google Shape;893;p62"/>
              <p:cNvCxnSpPr/>
              <p:nvPr/>
            </p:nvCxnSpPr>
            <p:spPr>
              <a:xfrm>
                <a:off x="152400" y="1533525"/>
                <a:ext cx="5219700" cy="0"/>
              </a:xfrm>
              <a:prstGeom prst="straightConnector1">
                <a:avLst/>
              </a:prstGeom>
              <a:solidFill>
                <a:srgbClr val="FFFFFF"/>
              </a:solidFill>
              <a:ln cap="flat" cmpd="sng" w="9525">
                <a:solidFill>
                  <a:srgbClr val="F1F5F9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894" name="Google Shape;894;p62"/>
              <p:cNvSpPr txBox="1"/>
              <p:nvPr/>
            </p:nvSpPr>
            <p:spPr>
              <a:xfrm>
                <a:off x="152400" y="419100"/>
                <a:ext cx="1524000" cy="371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100">
                    <a:solidFill>
                      <a:srgbClr val="0F172A"/>
                    </a:solidFill>
                    <a:latin typeface="Inter"/>
                    <a:ea typeface="Inter"/>
                    <a:cs typeface="Inter"/>
                    <a:sym typeface="Inter"/>
                  </a:rPr>
                  <a:t>Large λ</a:t>
                </a:r>
                <a:endParaRPr b="1" sz="11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95" name="Google Shape;895;p62"/>
              <p:cNvSpPr txBox="1"/>
              <p:nvPr/>
            </p:nvSpPr>
            <p:spPr>
              <a:xfrm>
                <a:off x="1809750" y="419100"/>
                <a:ext cx="3562200" cy="371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1050">
                    <a:solidFill>
                      <a:srgbClr val="334155"/>
                    </a:solidFill>
                    <a:latin typeface="Inter"/>
                    <a:ea typeface="Inter"/>
                    <a:cs typeface="Inter"/>
                    <a:sym typeface="Inter"/>
                  </a:rPr>
                  <a:t>A lot of neural variability occurs in that direction</a:t>
                </a:r>
                <a:endParaRPr b="0" sz="105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96" name="Google Shape;896;p62"/>
              <p:cNvSpPr txBox="1"/>
              <p:nvPr/>
            </p:nvSpPr>
            <p:spPr>
              <a:xfrm>
                <a:off x="152400" y="790575"/>
                <a:ext cx="1524000" cy="371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100">
                    <a:solidFill>
                      <a:srgbClr val="0F172A"/>
                    </a:solidFill>
                    <a:latin typeface="Inter"/>
                    <a:ea typeface="Inter"/>
                    <a:cs typeface="Inter"/>
                    <a:sym typeface="Inter"/>
                  </a:rPr>
                  <a:t>Small λ</a:t>
                </a:r>
                <a:endParaRPr b="1" sz="11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97" name="Google Shape;897;p62"/>
              <p:cNvSpPr txBox="1"/>
              <p:nvPr/>
            </p:nvSpPr>
            <p:spPr>
              <a:xfrm>
                <a:off x="1809750" y="790575"/>
                <a:ext cx="3562200" cy="371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1050">
                    <a:solidFill>
                      <a:srgbClr val="334155"/>
                    </a:solidFill>
                    <a:latin typeface="Inter"/>
                    <a:ea typeface="Inter"/>
                    <a:cs typeface="Inter"/>
                    <a:sym typeface="Inter"/>
                  </a:rPr>
                  <a:t>Little neural variability occurs in that direction</a:t>
                </a:r>
                <a:endParaRPr b="0" sz="105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98" name="Google Shape;898;p62"/>
              <p:cNvSpPr txBox="1"/>
              <p:nvPr/>
            </p:nvSpPr>
            <p:spPr>
              <a:xfrm>
                <a:off x="152400" y="1162050"/>
                <a:ext cx="1524000" cy="371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100">
                    <a:solidFill>
                      <a:srgbClr val="0F172A"/>
                    </a:solidFill>
                    <a:latin typeface="Inter"/>
                    <a:ea typeface="Inter"/>
                    <a:cs typeface="Inter"/>
                    <a:sym typeface="Inter"/>
                  </a:rPr>
                  <a:t>Largest λ</a:t>
                </a:r>
                <a:endParaRPr b="1" sz="11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99" name="Google Shape;899;p62"/>
              <p:cNvSpPr txBox="1"/>
              <p:nvPr/>
            </p:nvSpPr>
            <p:spPr>
              <a:xfrm>
                <a:off x="1809750" y="1162050"/>
                <a:ext cx="3562200" cy="371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1050">
                    <a:solidFill>
                      <a:srgbClr val="334155"/>
                    </a:solidFill>
                    <a:latin typeface="Inter"/>
                    <a:ea typeface="Inter"/>
                    <a:cs typeface="Inter"/>
                    <a:sym typeface="Inter"/>
                  </a:rPr>
                  <a:t>Dominant pattern of coordinated activity</a:t>
                </a:r>
                <a:endParaRPr b="0" sz="105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00" name="Google Shape;900;p62"/>
              <p:cNvSpPr txBox="1"/>
              <p:nvPr/>
            </p:nvSpPr>
            <p:spPr>
              <a:xfrm>
                <a:off x="152400" y="1533525"/>
                <a:ext cx="1524000" cy="371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100">
                    <a:solidFill>
                      <a:srgbClr val="0F172A"/>
                    </a:solidFill>
                    <a:latin typeface="Inter"/>
                    <a:ea typeface="Inter"/>
                    <a:cs typeface="Inter"/>
                    <a:sym typeface="Inter"/>
                  </a:rPr>
                  <a:t>Sum of all λ</a:t>
                </a:r>
                <a:endParaRPr b="1" sz="11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01" name="Google Shape;901;p62"/>
              <p:cNvSpPr txBox="1"/>
              <p:nvPr/>
            </p:nvSpPr>
            <p:spPr>
              <a:xfrm>
                <a:off x="1809750" y="1533525"/>
                <a:ext cx="3562200" cy="371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1050">
                    <a:solidFill>
                      <a:srgbClr val="334155"/>
                    </a:solidFill>
                    <a:latin typeface="Inter"/>
                    <a:ea typeface="Inter"/>
                    <a:cs typeface="Inter"/>
                    <a:sym typeface="Inter"/>
                  </a:rPr>
                  <a:t>Total variance in the dataset</a:t>
                </a:r>
                <a:endParaRPr b="0" sz="105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05" name="Shape 9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6" name="Google Shape;906;p63"/>
          <p:cNvSpPr/>
          <p:nvPr/>
        </p:nvSpPr>
        <p:spPr>
          <a:xfrm>
            <a:off x="609600" y="5981700"/>
            <a:ext cx="10972800" cy="4191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7" name="Google Shape;907;p63"/>
          <p:cNvSpPr/>
          <p:nvPr/>
        </p:nvSpPr>
        <p:spPr>
          <a:xfrm>
            <a:off x="609600" y="457200"/>
            <a:ext cx="4152900" cy="304800"/>
          </a:xfrm>
          <a:prstGeom prst="roundRect">
            <a:avLst>
              <a:gd fmla="val 18750" name="adj"/>
            </a:avLst>
          </a:prstGeom>
          <a:solidFill>
            <a:srgbClr val="EFF6FF"/>
          </a:solidFill>
          <a:ln cap="flat" cmpd="sng" w="9525">
            <a:solidFill>
              <a:srgbClr val="BFDB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8" name="Google Shape;908;p63"/>
          <p:cNvSpPr/>
          <p:nvPr/>
        </p:nvSpPr>
        <p:spPr>
          <a:xfrm>
            <a:off x="609600" y="2905125"/>
            <a:ext cx="5391150" cy="866775"/>
          </a:xfrm>
          <a:prstGeom prst="roundRect">
            <a:avLst>
              <a:gd fmla="val 13186" name="adj"/>
            </a:avLst>
          </a:prstGeom>
          <a:solidFill>
            <a:srgbClr val="F8FAFC"/>
          </a:solidFill>
          <a:ln cap="flat" cmpd="sng" w="1905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9" name="Google Shape;909;p63"/>
          <p:cNvSpPr/>
          <p:nvPr/>
        </p:nvSpPr>
        <p:spPr>
          <a:xfrm>
            <a:off x="6191250" y="2905125"/>
            <a:ext cx="5391150" cy="866775"/>
          </a:xfrm>
          <a:prstGeom prst="roundRect">
            <a:avLst>
              <a:gd fmla="val 13186" name="adj"/>
            </a:avLst>
          </a:prstGeom>
          <a:solidFill>
            <a:srgbClr val="F8FAFC"/>
          </a:solidFill>
          <a:ln cap="flat" cmpd="sng" w="1905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0" name="Google Shape;910;p63"/>
          <p:cNvSpPr/>
          <p:nvPr/>
        </p:nvSpPr>
        <p:spPr>
          <a:xfrm>
            <a:off x="609600" y="3962400"/>
            <a:ext cx="5391150" cy="866775"/>
          </a:xfrm>
          <a:prstGeom prst="roundRect">
            <a:avLst>
              <a:gd fmla="val 13186" name="adj"/>
            </a:avLst>
          </a:prstGeom>
          <a:solidFill>
            <a:srgbClr val="F8FAFC"/>
          </a:solidFill>
          <a:ln cap="flat" cmpd="sng" w="1905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1" name="Google Shape;911;p63"/>
          <p:cNvSpPr/>
          <p:nvPr/>
        </p:nvSpPr>
        <p:spPr>
          <a:xfrm>
            <a:off x="6191250" y="3962400"/>
            <a:ext cx="5391150" cy="866775"/>
          </a:xfrm>
          <a:prstGeom prst="roundRect">
            <a:avLst>
              <a:gd fmla="val 13186" name="adj"/>
            </a:avLst>
          </a:prstGeom>
          <a:solidFill>
            <a:srgbClr val="F8FAFC"/>
          </a:solidFill>
          <a:ln cap="flat" cmpd="sng" w="1905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2" name="Google Shape;912;p63"/>
          <p:cNvSpPr/>
          <p:nvPr/>
        </p:nvSpPr>
        <p:spPr>
          <a:xfrm>
            <a:off x="609600" y="5981700"/>
            <a:ext cx="38100" cy="419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3" name="Google Shape;913;p63"/>
          <p:cNvSpPr/>
          <p:nvPr/>
        </p:nvSpPr>
        <p:spPr>
          <a:xfrm>
            <a:off x="819150" y="3128962"/>
            <a:ext cx="419100" cy="419100"/>
          </a:xfrm>
          <a:prstGeom prst="roundRect">
            <a:avLst>
              <a:gd fmla="val 18181" name="adj"/>
            </a:avLst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4" name="Google Shape;914;p63"/>
          <p:cNvSpPr/>
          <p:nvPr/>
        </p:nvSpPr>
        <p:spPr>
          <a:xfrm>
            <a:off x="6400800" y="3128962"/>
            <a:ext cx="419100" cy="419100"/>
          </a:xfrm>
          <a:prstGeom prst="roundRect">
            <a:avLst>
              <a:gd fmla="val 18181" name="adj"/>
            </a:avLst>
          </a:prstGeom>
          <a:solidFill>
            <a:srgbClr val="0596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5" name="Google Shape;915;p63"/>
          <p:cNvSpPr/>
          <p:nvPr/>
        </p:nvSpPr>
        <p:spPr>
          <a:xfrm>
            <a:off x="819150" y="4186237"/>
            <a:ext cx="419100" cy="419100"/>
          </a:xfrm>
          <a:prstGeom prst="roundRect">
            <a:avLst>
              <a:gd fmla="val 18181" name="adj"/>
            </a:avLst>
          </a:prstGeom>
          <a:solidFill>
            <a:srgbClr val="D9770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6" name="Google Shape;916;p63"/>
          <p:cNvSpPr/>
          <p:nvPr/>
        </p:nvSpPr>
        <p:spPr>
          <a:xfrm>
            <a:off x="6400800" y="4186237"/>
            <a:ext cx="419100" cy="419100"/>
          </a:xfrm>
          <a:prstGeom prst="roundRect">
            <a:avLst>
              <a:gd fmla="val 18181" name="adj"/>
            </a:avLst>
          </a:prstGeom>
          <a:solidFill>
            <a:srgbClr val="7C3AE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917" name="Google Shape;917;p6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2475" y="542925"/>
            <a:ext cx="152400" cy="133350"/>
          </a:xfrm>
          <a:prstGeom prst="rect">
            <a:avLst/>
          </a:prstGeom>
          <a:noFill/>
          <a:ln>
            <a:noFill/>
          </a:ln>
        </p:spPr>
      </p:pic>
      <p:sp>
        <p:nvSpPr>
          <p:cNvPr id="918" name="Google Shape;918;p63"/>
          <p:cNvSpPr txBox="1"/>
          <p:nvPr/>
        </p:nvSpPr>
        <p:spPr>
          <a:xfrm>
            <a:off x="609600" y="876300"/>
            <a:ext cx="115824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Can 1,000 Neurons Collapse to Just 2 Numbers?</a:t>
            </a:r>
            <a:endParaRPr/>
          </a:p>
        </p:txBody>
      </p:sp>
      <p:sp>
        <p:nvSpPr>
          <p:cNvPr id="919" name="Google Shape;919;p63"/>
          <p:cNvSpPr txBox="1"/>
          <p:nvPr/>
        </p:nvSpPr>
        <p:spPr>
          <a:xfrm>
            <a:off x="609600" y="1352550"/>
            <a:ext cx="110680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You record 1,000 neurons while reaching for a strawberry. How many Principal Components (PCs) are needed to explain 80%+ of the movement command?</a:t>
            </a:r>
            <a:endParaRPr/>
          </a:p>
        </p:txBody>
      </p:sp>
      <p:sp>
        <p:nvSpPr>
          <p:cNvPr id="920" name="Google Shape;920;p63"/>
          <p:cNvSpPr txBox="1"/>
          <p:nvPr/>
        </p:nvSpPr>
        <p:spPr>
          <a:xfrm>
            <a:off x="838200" y="6096000"/>
            <a:ext cx="113538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1E40AF"/>
                </a:solidFill>
                <a:latin typeface="Inter"/>
                <a:ea typeface="Inter"/>
                <a:cs typeface="Inter"/>
                <a:sym typeface="Inter"/>
              </a:rPr>
              <a:t>💬 What's your intuition? Prepare to witness the 1,000-Neuron Spaghetti Disaster!</a:t>
            </a:r>
            <a:endParaRPr/>
          </a:p>
        </p:txBody>
      </p:sp>
      <p:sp>
        <p:nvSpPr>
          <p:cNvPr id="921" name="Google Shape;921;p63"/>
          <p:cNvSpPr txBox="1"/>
          <p:nvPr/>
        </p:nvSpPr>
        <p:spPr>
          <a:xfrm>
            <a:off x="752475" y="523875"/>
            <a:ext cx="4833937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0955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563E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INTERACTIVE TEASER #5 • DIMENSIONALITY SHOWDOWN</a:t>
            </a:r>
            <a:endParaRPr/>
          </a:p>
        </p:txBody>
      </p:sp>
      <p:sp>
        <p:nvSpPr>
          <p:cNvPr id="922" name="Google Shape;922;p63"/>
          <p:cNvSpPr txBox="1"/>
          <p:nvPr/>
        </p:nvSpPr>
        <p:spPr>
          <a:xfrm>
            <a:off x="676275" y="3128962"/>
            <a:ext cx="704850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</a:t>
            </a:r>
            <a:endParaRPr/>
          </a:p>
        </p:txBody>
      </p:sp>
      <p:sp>
        <p:nvSpPr>
          <p:cNvPr id="923" name="Google Shape;923;p63"/>
          <p:cNvSpPr txBox="1"/>
          <p:nvPr/>
        </p:nvSpPr>
        <p:spPr>
          <a:xfrm>
            <a:off x="6257925" y="3128962"/>
            <a:ext cx="704850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B</a:t>
            </a:r>
            <a:endParaRPr/>
          </a:p>
        </p:txBody>
      </p:sp>
      <p:sp>
        <p:nvSpPr>
          <p:cNvPr id="924" name="Google Shape;924;p63"/>
          <p:cNvSpPr txBox="1"/>
          <p:nvPr/>
        </p:nvSpPr>
        <p:spPr>
          <a:xfrm>
            <a:off x="676275" y="4186237"/>
            <a:ext cx="704850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</a:t>
            </a:r>
            <a:endParaRPr/>
          </a:p>
        </p:txBody>
      </p:sp>
      <p:sp>
        <p:nvSpPr>
          <p:cNvPr id="925" name="Google Shape;925;p63"/>
          <p:cNvSpPr txBox="1"/>
          <p:nvPr/>
        </p:nvSpPr>
        <p:spPr>
          <a:xfrm>
            <a:off x="6257925" y="4186237"/>
            <a:ext cx="704850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</a:t>
            </a:r>
            <a:endParaRPr/>
          </a:p>
        </p:txBody>
      </p:sp>
      <p:sp>
        <p:nvSpPr>
          <p:cNvPr id="926" name="Google Shape;926;p63"/>
          <p:cNvSpPr txBox="1"/>
          <p:nvPr/>
        </p:nvSpPr>
        <p:spPr>
          <a:xfrm>
            <a:off x="1390650" y="3114675"/>
            <a:ext cx="3774281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All 1,000 PCs</a:t>
            </a:r>
            <a:endParaRPr/>
          </a:p>
        </p:txBody>
      </p:sp>
      <p:sp>
        <p:nvSpPr>
          <p:cNvPr id="927" name="Google Shape;927;p63"/>
          <p:cNvSpPr txBox="1"/>
          <p:nvPr/>
        </p:nvSpPr>
        <p:spPr>
          <a:xfrm>
            <a:off x="1390650" y="3381375"/>
            <a:ext cx="3774281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Every neuron does something totally unique.</a:t>
            </a:r>
            <a:endParaRPr/>
          </a:p>
        </p:txBody>
      </p:sp>
      <p:sp>
        <p:nvSpPr>
          <p:cNvPr id="928" name="Google Shape;928;p63"/>
          <p:cNvSpPr txBox="1"/>
          <p:nvPr/>
        </p:nvSpPr>
        <p:spPr>
          <a:xfrm>
            <a:off x="6972300" y="3114675"/>
            <a:ext cx="5219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Just 2 or 3 PCs!</a:t>
            </a:r>
            <a:endParaRPr/>
          </a:p>
        </p:txBody>
      </p:sp>
      <p:sp>
        <p:nvSpPr>
          <p:cNvPr id="929" name="Google Shape;929;p63"/>
          <p:cNvSpPr txBox="1"/>
          <p:nvPr/>
        </p:nvSpPr>
        <p:spPr>
          <a:xfrm>
            <a:off x="6972300" y="3381375"/>
            <a:ext cx="521970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Coordinated teamwork compresses 1,000D into a flat 2D plane!</a:t>
            </a:r>
            <a:endParaRPr/>
          </a:p>
        </p:txBody>
      </p:sp>
      <p:sp>
        <p:nvSpPr>
          <p:cNvPr id="930" name="Google Shape;930;p63"/>
          <p:cNvSpPr txBox="1"/>
          <p:nvPr/>
        </p:nvSpPr>
        <p:spPr>
          <a:xfrm>
            <a:off x="1390650" y="4171950"/>
            <a:ext cx="3988593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Exactly 500 PCs</a:t>
            </a:r>
            <a:endParaRPr/>
          </a:p>
        </p:txBody>
      </p:sp>
      <p:sp>
        <p:nvSpPr>
          <p:cNvPr id="931" name="Google Shape;931;p63"/>
          <p:cNvSpPr txBox="1"/>
          <p:nvPr/>
        </p:nvSpPr>
        <p:spPr>
          <a:xfrm>
            <a:off x="1390650" y="4438650"/>
            <a:ext cx="3988593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Always exactly half of the recorded population.</a:t>
            </a:r>
            <a:endParaRPr/>
          </a:p>
        </p:txBody>
      </p:sp>
      <p:sp>
        <p:nvSpPr>
          <p:cNvPr id="932" name="Google Shape;932;p63"/>
          <p:cNvSpPr txBox="1"/>
          <p:nvPr/>
        </p:nvSpPr>
        <p:spPr>
          <a:xfrm>
            <a:off x="6972300" y="4171950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Zero PCs</a:t>
            </a:r>
            <a:endParaRPr/>
          </a:p>
        </p:txBody>
      </p:sp>
      <p:sp>
        <p:nvSpPr>
          <p:cNvPr id="933" name="Google Shape;933;p63"/>
          <p:cNvSpPr txBox="1"/>
          <p:nvPr/>
        </p:nvSpPr>
        <p:spPr>
          <a:xfrm>
            <a:off x="6972300" y="4438650"/>
            <a:ext cx="457200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Neural noise cannot be compressed by linear algebra.</a:t>
            </a:r>
            <a:endParaRPr/>
          </a:p>
        </p:txBody>
      </p:sp>
      <p:pic>
        <p:nvPicPr>
          <p:cNvPr descr="image.png" id="934" name="Google Shape;934;p6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35" name="Google Shape;935;p63"/>
          <p:cNvSpPr/>
          <p:nvPr/>
        </p:nvSpPr>
        <p:spPr>
          <a:xfrm>
            <a:off x="3614550" y="3148049"/>
            <a:ext cx="6128700" cy="762900"/>
          </a:xfrm>
          <a:prstGeom prst="roundRect">
            <a:avLst>
              <a:gd fmla="val 20338" name="adj"/>
            </a:avLst>
          </a:prstGeom>
          <a:solidFill>
            <a:srgbClr val="0F172A"/>
          </a:solidFill>
          <a:ln cap="flat" cmpd="sng" w="9525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6" name="Google Shape;936;p63"/>
          <p:cNvSpPr txBox="1"/>
          <p:nvPr/>
        </p:nvSpPr>
        <p:spPr>
          <a:xfrm>
            <a:off x="4571993" y="3336602"/>
            <a:ext cx="4167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Python Lab Ready in Jupyter / </a:t>
            </a:r>
            <a:r>
              <a:rPr lang="en-US" sz="1200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Eigenvectors and Eigenvalues</a:t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40" name="Shape 9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1" name="Google Shape;941;p64"/>
          <p:cNvSpPr/>
          <p:nvPr/>
        </p:nvSpPr>
        <p:spPr>
          <a:xfrm>
            <a:off x="609600" y="2400300"/>
            <a:ext cx="5111799" cy="2867025"/>
          </a:xfrm>
          <a:prstGeom prst="roundRect">
            <a:avLst>
              <a:gd fmla="val 3986" name="adj"/>
            </a:avLst>
          </a:prstGeom>
          <a:solidFill>
            <a:srgbClr val="FEF2F2"/>
          </a:solidFill>
          <a:ln cap="flat" cmpd="sng" w="9525">
            <a:solidFill>
              <a:srgbClr val="FECA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2" name="Google Shape;942;p64"/>
          <p:cNvSpPr/>
          <p:nvPr/>
        </p:nvSpPr>
        <p:spPr>
          <a:xfrm>
            <a:off x="6026199" y="2600325"/>
            <a:ext cx="5556200" cy="2466975"/>
          </a:xfrm>
          <a:prstGeom prst="roundRect">
            <a:avLst>
              <a:gd fmla="val 4633" name="adj"/>
            </a:avLst>
          </a:prstGeom>
          <a:solidFill>
            <a:srgbClr val="0F17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3" name="Google Shape;943;p64"/>
          <p:cNvSpPr/>
          <p:nvPr/>
        </p:nvSpPr>
        <p:spPr>
          <a:xfrm>
            <a:off x="847725" y="4438650"/>
            <a:ext cx="4635549" cy="590550"/>
          </a:xfrm>
          <a:prstGeom prst="roundRect">
            <a:avLst>
              <a:gd fmla="val 9677" name="adj"/>
            </a:avLst>
          </a:prstGeom>
          <a:solidFill>
            <a:srgbClr val="FFFFFF"/>
          </a:solidFill>
          <a:ln cap="flat" cmpd="sng" w="9525">
            <a:solidFill>
              <a:srgbClr val="FCA5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4" name="Google Shape;944;p64"/>
          <p:cNvSpPr/>
          <p:nvPr/>
        </p:nvSpPr>
        <p:spPr>
          <a:xfrm>
            <a:off x="6254799" y="4438650"/>
            <a:ext cx="5099000" cy="400050"/>
          </a:xfrm>
          <a:prstGeom prst="roundRect">
            <a:avLst>
              <a:gd fmla="val 14285" name="adj"/>
            </a:avLst>
          </a:prstGeom>
          <a:solidFill>
            <a:srgbClr val="153049"/>
          </a:solidFill>
          <a:ln cap="flat" cmpd="sng" w="9525">
            <a:solidFill>
              <a:srgbClr val="1B49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5" name="Google Shape;945;p64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DC262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ACT 7: DIMENSIONALITY REDUCTION • 28 (THE PROBLEM)</a:t>
            </a:r>
            <a:endParaRPr/>
          </a:p>
        </p:txBody>
      </p:sp>
      <p:sp>
        <p:nvSpPr>
          <p:cNvPr id="946" name="Google Shape;946;p64"/>
          <p:cNvSpPr txBox="1"/>
          <p:nvPr/>
        </p:nvSpPr>
        <p:spPr>
          <a:xfrm>
            <a:off x="609600" y="685800"/>
            <a:ext cx="11582400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The Problem: The 1,000-Neuron Spaghetti Disaster</a:t>
            </a:r>
            <a:endParaRPr/>
          </a:p>
        </p:txBody>
      </p:sp>
      <p:sp>
        <p:nvSpPr>
          <p:cNvPr id="947" name="Google Shape;947;p64"/>
          <p:cNvSpPr txBox="1"/>
          <p:nvPr/>
        </p:nvSpPr>
        <p:spPr>
          <a:xfrm>
            <a:off x="838200" y="2628900"/>
            <a:ext cx="4749849" cy="2409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DC2626"/>
                </a:solidFill>
                <a:latin typeface="Inter"/>
                <a:ea typeface="Inter"/>
                <a:cs typeface="Inter"/>
                <a:sym typeface="Inter"/>
              </a:rPr>
              <a:t>THE EXPERIMENTAL CRISIS</a:t>
            </a:r>
            <a:endParaRPr/>
          </a:p>
        </p:txBody>
      </p:sp>
      <p:sp>
        <p:nvSpPr>
          <p:cNvPr id="948" name="Google Shape;948;p64"/>
          <p:cNvSpPr txBox="1"/>
          <p:nvPr/>
        </p:nvSpPr>
        <p:spPr>
          <a:xfrm>
            <a:off x="6254799" y="2828925"/>
            <a:ext cx="5194250" cy="2009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THE PARADOX</a:t>
            </a:r>
            <a:endParaRPr/>
          </a:p>
        </p:txBody>
      </p:sp>
      <p:sp>
        <p:nvSpPr>
          <p:cNvPr id="949" name="Google Shape;949;p64"/>
          <p:cNvSpPr txBox="1"/>
          <p:nvPr/>
        </p:nvSpPr>
        <p:spPr>
          <a:xfrm>
            <a:off x="847725" y="2905125"/>
            <a:ext cx="6084158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991B1B"/>
                </a:solidFill>
                <a:latin typeface="Space Grotesk"/>
                <a:ea typeface="Space Grotesk"/>
                <a:cs typeface="Space Grotesk"/>
                <a:sym typeface="Space Grotesk"/>
              </a:rPr>
              <a:t>Reaching for a Strawberry</a:t>
            </a:r>
            <a:endParaRPr/>
          </a:p>
        </p:txBody>
      </p:sp>
      <p:sp>
        <p:nvSpPr>
          <p:cNvPr id="950" name="Google Shape;950;p64"/>
          <p:cNvSpPr txBox="1"/>
          <p:nvPr/>
        </p:nvSpPr>
        <p:spPr>
          <a:xfrm>
            <a:off x="847725" y="3248025"/>
            <a:ext cx="4730799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 monkey reaches in 8 simple directions: Left, Right, Up, Down...</a:t>
            </a:r>
            <a:endParaRPr/>
          </a:p>
        </p:txBody>
      </p:sp>
      <p:sp>
        <p:nvSpPr>
          <p:cNvPr id="951" name="Google Shape;951;p64"/>
          <p:cNvSpPr txBox="1"/>
          <p:nvPr/>
        </p:nvSpPr>
        <p:spPr>
          <a:xfrm>
            <a:off x="847725" y="3743325"/>
            <a:ext cx="4730799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7F1D1D"/>
                </a:solidFill>
                <a:latin typeface="Inter"/>
                <a:ea typeface="Inter"/>
                <a:cs typeface="Inter"/>
                <a:sym typeface="Inter"/>
              </a:rPr>
              <a:t>You record 1,000 neurons simultaneously. If you plot all 1,000 line traces on one chart, you get a catastrophic blizzard of crisscrossing lines!</a:t>
            </a:r>
            <a:endParaRPr/>
          </a:p>
        </p:txBody>
      </p:sp>
      <p:sp>
        <p:nvSpPr>
          <p:cNvPr id="952" name="Google Shape;952;p64"/>
          <p:cNvSpPr txBox="1"/>
          <p:nvPr/>
        </p:nvSpPr>
        <p:spPr>
          <a:xfrm>
            <a:off x="6254799" y="3095625"/>
            <a:ext cx="59372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75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Simple Act, Giant Matrix</a:t>
            </a:r>
            <a:endParaRPr/>
          </a:p>
        </p:txBody>
      </p:sp>
      <p:sp>
        <p:nvSpPr>
          <p:cNvPr id="953" name="Google Shape;953;p64"/>
          <p:cNvSpPr txBox="1"/>
          <p:nvPr/>
        </p:nvSpPr>
        <p:spPr>
          <a:xfrm>
            <a:off x="6254799" y="3429000"/>
            <a:ext cx="59372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The arm only moves on a flat 2D tabletop (X and Y coordinates).</a:t>
            </a:r>
            <a:endParaRPr/>
          </a:p>
        </p:txBody>
      </p:sp>
      <p:sp>
        <p:nvSpPr>
          <p:cNvPr id="954" name="Google Shape;954;p64"/>
          <p:cNvSpPr txBox="1"/>
          <p:nvPr/>
        </p:nvSpPr>
        <p:spPr>
          <a:xfrm>
            <a:off x="6254799" y="3733800"/>
            <a:ext cx="51942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Why does the brain need 1,000 neurons for a 2D reach? And how can math collapse this 1,000D spaghetti down to the clean 2D truth?</a:t>
            </a:r>
            <a:endParaRPr/>
          </a:p>
        </p:txBody>
      </p:sp>
      <p:sp>
        <p:nvSpPr>
          <p:cNvPr id="955" name="Google Shape;955;p64"/>
          <p:cNvSpPr txBox="1"/>
          <p:nvPr/>
        </p:nvSpPr>
        <p:spPr>
          <a:xfrm>
            <a:off x="952500" y="4543425"/>
            <a:ext cx="4521249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B91C1C"/>
                </a:solidFill>
                <a:latin typeface="Inter"/>
                <a:ea typeface="Inter"/>
                <a:cs typeface="Inter"/>
                <a:sym typeface="Inter"/>
              </a:rPr>
              <a:t>Human eyes cannot find meaning in a 1,000-dimensional graph.</a:t>
            </a:r>
            <a:endParaRPr/>
          </a:p>
        </p:txBody>
      </p:sp>
      <p:sp>
        <p:nvSpPr>
          <p:cNvPr id="956" name="Google Shape;956;p64"/>
          <p:cNvSpPr txBox="1"/>
          <p:nvPr/>
        </p:nvSpPr>
        <p:spPr>
          <a:xfrm>
            <a:off x="6397674" y="4543425"/>
            <a:ext cx="579432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7DD3FC"/>
                </a:solidFill>
                <a:latin typeface="Inter"/>
                <a:ea typeface="Inter"/>
                <a:cs typeface="Inter"/>
                <a:sym typeface="Inter"/>
              </a:rPr>
              <a:t>Enter the hero: </a:t>
            </a:r>
            <a:r>
              <a:rPr b="1" i="0" lang="en-US" sz="1200" u="none" cap="none" strike="noStrike">
                <a:solidFill>
                  <a:srgbClr val="7DD3FC"/>
                </a:solidFill>
                <a:latin typeface="Inter"/>
                <a:ea typeface="Inter"/>
                <a:cs typeface="Inter"/>
                <a:sym typeface="Inter"/>
              </a:rPr>
              <a:t>Principal Component Analysis (PCA)!</a:t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60" name="Shape 9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1" name="Google Shape;961;p65"/>
          <p:cNvSpPr/>
          <p:nvPr/>
        </p:nvSpPr>
        <p:spPr>
          <a:xfrm>
            <a:off x="609600" y="6172200"/>
            <a:ext cx="10972800" cy="457200"/>
          </a:xfrm>
          <a:prstGeom prst="roundRect">
            <a:avLst>
              <a:gd fmla="val 16666" name="adj"/>
            </a:avLst>
          </a:prstGeom>
          <a:solidFill>
            <a:srgbClr val="EFF6FF"/>
          </a:solidFill>
          <a:ln cap="flat" cmpd="sng" w="9525">
            <a:solidFill>
              <a:srgbClr val="BFDB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2" name="Google Shape;962;p65"/>
          <p:cNvSpPr/>
          <p:nvPr/>
        </p:nvSpPr>
        <p:spPr>
          <a:xfrm>
            <a:off x="609600" y="1238250"/>
            <a:ext cx="2571900" cy="1619100"/>
          </a:xfrm>
          <a:prstGeom prst="roundRect">
            <a:avLst>
              <a:gd fmla="val 7058" name="adj"/>
            </a:avLst>
          </a:prstGeom>
          <a:solidFill>
            <a:srgbClr val="F8FAFC"/>
          </a:solidFill>
          <a:ln cap="flat" cmpd="sng" w="143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3" name="Google Shape;963;p65"/>
          <p:cNvSpPr/>
          <p:nvPr/>
        </p:nvSpPr>
        <p:spPr>
          <a:xfrm>
            <a:off x="3409950" y="1238250"/>
            <a:ext cx="2571900" cy="1619100"/>
          </a:xfrm>
          <a:prstGeom prst="roundRect">
            <a:avLst>
              <a:gd fmla="val 7058" name="adj"/>
            </a:avLst>
          </a:prstGeom>
          <a:solidFill>
            <a:srgbClr val="F8FAFC"/>
          </a:solidFill>
          <a:ln cap="flat" cmpd="sng" w="143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4" name="Google Shape;964;p65"/>
          <p:cNvSpPr/>
          <p:nvPr/>
        </p:nvSpPr>
        <p:spPr>
          <a:xfrm>
            <a:off x="6210300" y="1238250"/>
            <a:ext cx="2571900" cy="1619100"/>
          </a:xfrm>
          <a:prstGeom prst="roundRect">
            <a:avLst>
              <a:gd fmla="val 7058" name="adj"/>
            </a:avLst>
          </a:prstGeom>
          <a:solidFill>
            <a:srgbClr val="F8FAFC"/>
          </a:solidFill>
          <a:ln cap="flat" cmpd="sng" w="143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5" name="Google Shape;965;p65"/>
          <p:cNvSpPr/>
          <p:nvPr/>
        </p:nvSpPr>
        <p:spPr>
          <a:xfrm>
            <a:off x="9010650" y="1238250"/>
            <a:ext cx="2571900" cy="1619100"/>
          </a:xfrm>
          <a:prstGeom prst="roundRect">
            <a:avLst>
              <a:gd fmla="val 7058" name="adj"/>
            </a:avLst>
          </a:prstGeom>
          <a:solidFill>
            <a:srgbClr val="F0FDF4"/>
          </a:solidFill>
          <a:ln cap="flat" cmpd="sng" w="14300">
            <a:solidFill>
              <a:srgbClr val="86EF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6" name="Google Shape;966;p65"/>
          <p:cNvSpPr txBox="1"/>
          <p:nvPr/>
        </p:nvSpPr>
        <p:spPr>
          <a:xfrm>
            <a:off x="609600" y="457200"/>
            <a:ext cx="115824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5966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ACT 7: DIMENSIONALITY REDUCTION • 29 (THE SOLUTION)</a:t>
            </a:r>
            <a:endParaRPr/>
          </a:p>
        </p:txBody>
      </p:sp>
      <p:sp>
        <p:nvSpPr>
          <p:cNvPr id="967" name="Google Shape;967;p65"/>
          <p:cNvSpPr txBox="1"/>
          <p:nvPr/>
        </p:nvSpPr>
        <p:spPr>
          <a:xfrm>
            <a:off x="609600" y="685800"/>
            <a:ext cx="115824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The Solution: PCA Step-by-Step</a:t>
            </a:r>
            <a:endParaRPr/>
          </a:p>
        </p:txBody>
      </p:sp>
      <p:sp>
        <p:nvSpPr>
          <p:cNvPr id="968" name="Google Shape;968;p65"/>
          <p:cNvSpPr txBox="1"/>
          <p:nvPr/>
        </p:nvSpPr>
        <p:spPr>
          <a:xfrm>
            <a:off x="762000" y="1390650"/>
            <a:ext cx="2267100" cy="130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50">
                <a:solidFill>
                  <a:srgbClr val="2563E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STEP 1: CENTER X_c = X - μ</a:t>
            </a:r>
            <a:endParaRPr b="1" sz="850">
              <a:solidFill>
                <a:srgbClr val="2563EB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969" name="Google Shape;969;p65"/>
          <p:cNvSpPr txBox="1"/>
          <p:nvPr/>
        </p:nvSpPr>
        <p:spPr>
          <a:xfrm>
            <a:off x="3562350" y="1390650"/>
            <a:ext cx="2267100" cy="120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86">
                <a:solidFill>
                  <a:srgbClr val="05966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STEP 2: COVARIANCE C = (1/T) X_c X_cᵀ</a:t>
            </a:r>
            <a:endParaRPr b="1" sz="786">
              <a:solidFill>
                <a:srgbClr val="059669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970" name="Google Shape;970;p65"/>
          <p:cNvSpPr txBox="1"/>
          <p:nvPr/>
        </p:nvSpPr>
        <p:spPr>
          <a:xfrm>
            <a:off x="6362700" y="1390650"/>
            <a:ext cx="2267100" cy="130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50">
                <a:solidFill>
                  <a:srgbClr val="D9770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STEP 3: EIGEN-DECOMPOSE</a:t>
            </a:r>
            <a:endParaRPr b="1" sz="850">
              <a:solidFill>
                <a:srgbClr val="D97706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971" name="Google Shape;971;p65"/>
          <p:cNvSpPr txBox="1"/>
          <p:nvPr/>
        </p:nvSpPr>
        <p:spPr>
          <a:xfrm>
            <a:off x="9163050" y="1390650"/>
            <a:ext cx="2267100" cy="130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50">
                <a:solidFill>
                  <a:srgbClr val="16653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STEP 4: PROJECT Y = V_kᵀ · X_c</a:t>
            </a:r>
            <a:endParaRPr b="1" sz="850">
              <a:solidFill>
                <a:srgbClr val="166534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972" name="Google Shape;972;p65"/>
          <p:cNvSpPr txBox="1"/>
          <p:nvPr/>
        </p:nvSpPr>
        <p:spPr>
          <a:xfrm>
            <a:off x="762000" y="1638300"/>
            <a:ext cx="2267100" cy="207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Subtract the Mean</a:t>
            </a:r>
            <a:endParaRPr b="1" sz="1350">
              <a:solidFill>
                <a:srgbClr val="0F172A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973" name="Google Shape;973;p65"/>
          <p:cNvSpPr txBox="1"/>
          <p:nvPr/>
        </p:nvSpPr>
        <p:spPr>
          <a:xfrm>
            <a:off x="762000" y="1924050"/>
            <a:ext cx="2267100" cy="323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Shift the center of the cloud to (0,0) so we only measure change.</a:t>
            </a:r>
            <a:endParaRPr b="0" sz="105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74" name="Google Shape;974;p65"/>
          <p:cNvSpPr txBox="1"/>
          <p:nvPr/>
        </p:nvSpPr>
        <p:spPr>
          <a:xfrm>
            <a:off x="3562350" y="1638300"/>
            <a:ext cx="2267100" cy="207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Build Table C</a:t>
            </a:r>
            <a:endParaRPr b="1" sz="1350">
              <a:solidFill>
                <a:srgbClr val="0F172A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975" name="Google Shape;975;p65"/>
          <p:cNvSpPr txBox="1"/>
          <p:nvPr/>
        </p:nvSpPr>
        <p:spPr>
          <a:xfrm>
            <a:off x="3562350" y="1924050"/>
            <a:ext cx="2267100" cy="323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Measure how every neuron pairs up with every other neuron.</a:t>
            </a:r>
            <a:endParaRPr b="0" sz="105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76" name="Google Shape;976;p65"/>
          <p:cNvSpPr txBox="1"/>
          <p:nvPr/>
        </p:nvSpPr>
        <p:spPr>
          <a:xfrm>
            <a:off x="6362700" y="1638300"/>
            <a:ext cx="2267100" cy="207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Find PC Axes</a:t>
            </a:r>
            <a:endParaRPr b="1" sz="1350">
              <a:solidFill>
                <a:srgbClr val="0F172A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977" name="Google Shape;977;p65"/>
          <p:cNvSpPr txBox="1"/>
          <p:nvPr/>
        </p:nvSpPr>
        <p:spPr>
          <a:xfrm>
            <a:off x="6362700" y="1924050"/>
            <a:ext cx="2267100" cy="323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Solve C v = λ v. Pick top eigenvectors with largest λ.</a:t>
            </a:r>
            <a:endParaRPr b="0" sz="105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78" name="Google Shape;978;p65"/>
          <p:cNvSpPr txBox="1"/>
          <p:nvPr/>
        </p:nvSpPr>
        <p:spPr>
          <a:xfrm>
            <a:off x="9163050" y="1638300"/>
            <a:ext cx="2267100" cy="207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Drop to 2D</a:t>
            </a:r>
            <a:endParaRPr b="1" sz="1350">
              <a:solidFill>
                <a:srgbClr val="0F172A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979" name="Google Shape;979;p65"/>
          <p:cNvSpPr txBox="1"/>
          <p:nvPr/>
        </p:nvSpPr>
        <p:spPr>
          <a:xfrm>
            <a:off x="9163050" y="1924050"/>
            <a:ext cx="2267100" cy="323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50">
                <a:solidFill>
                  <a:srgbClr val="166534"/>
                </a:solidFill>
                <a:latin typeface="Inter Medium"/>
                <a:ea typeface="Inter Medium"/>
                <a:cs typeface="Inter Medium"/>
                <a:sym typeface="Inter Medium"/>
              </a:rPr>
              <a:t>Project original data onto new axes: 1,000D becomes 2D!</a:t>
            </a:r>
            <a:endParaRPr b="0" sz="1050">
              <a:solidFill>
                <a:srgbClr val="166534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980" name="Google Shape;980;p65"/>
          <p:cNvSpPr txBox="1"/>
          <p:nvPr/>
        </p:nvSpPr>
        <p:spPr>
          <a:xfrm>
            <a:off x="762000" y="6315075"/>
            <a:ext cx="3429000" cy="161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1E40A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PROJECTION FORMULA: Y = V_kᵀ · X</a:t>
            </a:r>
            <a:endParaRPr b="1" sz="1050">
              <a:solidFill>
                <a:srgbClr val="1E40AF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981" name="Google Shape;981;p65"/>
          <p:cNvSpPr txBox="1"/>
          <p:nvPr/>
        </p:nvSpPr>
        <p:spPr>
          <a:xfrm>
            <a:off x="4286250" y="6315075"/>
            <a:ext cx="7048500" cy="146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50">
                <a:solidFill>
                  <a:srgbClr val="1E3A8A"/>
                </a:solidFill>
                <a:latin typeface="Inter"/>
                <a:ea typeface="Inter"/>
                <a:cs typeface="Inter"/>
                <a:sym typeface="Inter"/>
              </a:rPr>
              <a:t>Where:</a:t>
            </a:r>
            <a:r>
              <a:rPr b="0" lang="en-US" sz="950">
                <a:solidFill>
                  <a:srgbClr val="1E3A8A"/>
                </a:solidFill>
                <a:latin typeface="Inter"/>
                <a:ea typeface="Inter"/>
                <a:cs typeface="Inter"/>
                <a:sym typeface="Inter"/>
              </a:rPr>
              <a:t> X = original (1000 × T), V_k = top k eigenvectors (1000 × k), Y = low-D trajectory (k × T)</a:t>
            </a:r>
            <a:endParaRPr b="0" sz="950">
              <a:solidFill>
                <a:srgbClr val="1E3A8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aphicFrame>
        <p:nvGraphicFramePr>
          <p:cNvPr id="982" name="Google Shape;982;p65"/>
          <p:cNvGraphicFramePr/>
          <p:nvPr/>
        </p:nvGraphicFramePr>
        <p:xfrm>
          <a:off x="609600" y="3048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{8BF32FAD-5FC6-475A-90FC-75AD4E81BC82}</a:tableStyleId>
              </a:tblPr>
              <a:tblGrid>
                <a:gridCol w="3291850"/>
                <a:gridCol w="7680950"/>
                <a:gridCol w="0"/>
              </a:tblGrid>
              <a:tr h="492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rgbClr val="475569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Symbol</a:t>
                      </a:r>
                      <a:endParaRPr b="1" sz="1000">
                        <a:solidFill>
                          <a:srgbClr val="475569"/>
                        </a:solidFill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T="114300" marB="114300" marR="171450" marL="171450"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rgbClr val="475569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Name</a:t>
                      </a:r>
                      <a:endParaRPr b="1" sz="1000">
                        <a:solidFill>
                          <a:srgbClr val="475569"/>
                        </a:solidFill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T="114300" marB="114300" marR="171450" marL="171450"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rgbClr val="475569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Meaning</a:t>
                      </a:r>
                      <a:endParaRPr b="1" sz="1000">
                        <a:solidFill>
                          <a:srgbClr val="475569"/>
                        </a:solidFill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T="114300" marB="114300" marR="171450" marL="171450"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2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>
                          <a:solidFill>
                            <a:srgbClr val="2563EB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Xc</a:t>
                      </a:r>
                      <a:endParaRPr b="1" sz="1050">
                        <a:solidFill>
                          <a:srgbClr val="2563EB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T="114300" marB="114300" marR="171450" marL="171450"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1F5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>
                          <a:solidFill>
                            <a:srgbClr val="0F172A"/>
                          </a:solidFill>
                        </a:rPr>
                        <a:t>Centered data matrix</a:t>
                      </a:r>
                      <a:endParaRPr b="0" sz="1050">
                        <a:solidFill>
                          <a:srgbClr val="0F172A"/>
                        </a:solidFill>
                      </a:endParaRPr>
                    </a:p>
                  </a:txBody>
                  <a:tcPr marT="114300" marB="114300" marR="171450" marL="171450"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1F5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>
                          <a:solidFill>
                            <a:srgbClr val="334155"/>
                          </a:solidFill>
                        </a:rPr>
                        <a:t>Original neural data after subtracting the mean from each neuron/signal</a:t>
                      </a:r>
                      <a:endParaRPr sz="1050">
                        <a:solidFill>
                          <a:srgbClr val="334155"/>
                        </a:solidFill>
                      </a:endParaRPr>
                    </a:p>
                  </a:txBody>
                  <a:tcPr marT="114300" marB="114300" marR="171450" marL="171450"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1F5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2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>
                          <a:solidFill>
                            <a:srgbClr val="059669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Vk</a:t>
                      </a:r>
                      <a:endParaRPr b="1" sz="1050">
                        <a:solidFill>
                          <a:srgbClr val="059669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T="114300" marB="114300" marR="171450" marL="171450">
                    <a:lnT cap="flat" cmpd="sng" w="9525">
                      <a:solidFill>
                        <a:srgbClr val="F1F5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1F5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>
                          <a:solidFill>
                            <a:srgbClr val="0F172A"/>
                          </a:solidFill>
                        </a:rPr>
                        <a:t>Top k eigenvectors</a:t>
                      </a:r>
                      <a:endParaRPr b="0" sz="1050">
                        <a:solidFill>
                          <a:srgbClr val="0F172A"/>
                        </a:solidFill>
                      </a:endParaRPr>
                    </a:p>
                  </a:txBody>
                  <a:tcPr marT="114300" marB="114300" marR="171450" marL="171450">
                    <a:lnT cap="flat" cmpd="sng" w="9525">
                      <a:solidFill>
                        <a:srgbClr val="F1F5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1F5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>
                          <a:solidFill>
                            <a:srgbClr val="334155"/>
                          </a:solidFill>
                        </a:rPr>
                        <a:t>The k most important PCA directions</a:t>
                      </a:r>
                      <a:endParaRPr sz="1050">
                        <a:solidFill>
                          <a:srgbClr val="334155"/>
                        </a:solidFill>
                      </a:endParaRPr>
                    </a:p>
                  </a:txBody>
                  <a:tcPr marT="114300" marB="114300" marR="171450" marL="171450">
                    <a:lnT cap="flat" cmpd="sng" w="9525">
                      <a:solidFill>
                        <a:srgbClr val="F1F5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1F5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2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>
                          <a:solidFill>
                            <a:srgbClr val="166534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V_kᵀ</a:t>
                      </a:r>
                      <a:endParaRPr b="1" sz="1050">
                        <a:solidFill>
                          <a:srgbClr val="166534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T="114300" marB="114300" marR="171450" marL="171450">
                    <a:lnT cap="flat" cmpd="sng" w="9525">
                      <a:solidFill>
                        <a:srgbClr val="F1F5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1F5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>
                          <a:solidFill>
                            <a:srgbClr val="0F172A"/>
                          </a:solidFill>
                        </a:rPr>
                        <a:t>Transpose of the eigenvector matrix</a:t>
                      </a:r>
                      <a:endParaRPr b="0" sz="1050">
                        <a:solidFill>
                          <a:srgbClr val="0F172A"/>
                        </a:solidFill>
                      </a:endParaRPr>
                    </a:p>
                  </a:txBody>
                  <a:tcPr marT="114300" marB="114300" marR="171450" marL="171450">
                    <a:lnT cap="flat" cmpd="sng" w="9525">
                      <a:solidFill>
                        <a:srgbClr val="F1F5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1F5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>
                          <a:solidFill>
                            <a:srgbClr val="334155"/>
                          </a:solidFill>
                        </a:rPr>
                        <a:t>Arranges those PCA directions as rows so we can project the data onto them</a:t>
                      </a:r>
                      <a:endParaRPr sz="1050">
                        <a:solidFill>
                          <a:srgbClr val="334155"/>
                        </a:solidFill>
                      </a:endParaRPr>
                    </a:p>
                  </a:txBody>
                  <a:tcPr marT="114300" marB="114300" marR="171450" marL="171450">
                    <a:lnT cap="flat" cmpd="sng" w="9525">
                      <a:solidFill>
                        <a:srgbClr val="F1F5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1F5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2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>
                          <a:solidFill>
                            <a:srgbClr val="D97706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Y</a:t>
                      </a:r>
                      <a:endParaRPr b="1" sz="1050">
                        <a:solidFill>
                          <a:srgbClr val="D97706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T="114300" marB="114300" marR="171450" marL="171450">
                    <a:lnT cap="flat" cmpd="sng" w="9525">
                      <a:solidFill>
                        <a:srgbClr val="F1F5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1F5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>
                          <a:solidFill>
                            <a:srgbClr val="0F172A"/>
                          </a:solidFill>
                        </a:rPr>
                        <a:t>Projected data / PCA scores</a:t>
                      </a:r>
                      <a:endParaRPr b="0" sz="1050">
                        <a:solidFill>
                          <a:srgbClr val="0F172A"/>
                        </a:solidFill>
                      </a:endParaRPr>
                    </a:p>
                  </a:txBody>
                  <a:tcPr marT="114300" marB="114300" marR="171450" marL="171450">
                    <a:lnT cap="flat" cmpd="sng" w="9525">
                      <a:solidFill>
                        <a:srgbClr val="F1F5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1F5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>
                          <a:solidFill>
                            <a:srgbClr val="334155"/>
                          </a:solidFill>
                        </a:rPr>
                        <a:t>The original high-dimensional neural activity represented in the lower-dimensional PCA space</a:t>
                      </a:r>
                      <a:endParaRPr sz="1050">
                        <a:solidFill>
                          <a:srgbClr val="334155"/>
                        </a:solidFill>
                      </a:endParaRPr>
                    </a:p>
                  </a:txBody>
                  <a:tcPr marT="114300" marB="114300" marR="171450" marL="171450">
                    <a:lnT cap="flat" cmpd="sng" w="9525">
                      <a:solidFill>
                        <a:srgbClr val="F1F5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1F5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2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>
                          <a:solidFill>
                            <a:srgbClr val="7C3AED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k</a:t>
                      </a:r>
                      <a:endParaRPr b="1" sz="1050">
                        <a:solidFill>
                          <a:srgbClr val="7C3AED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T="114300" marB="114300" marR="171450" marL="171450">
                    <a:lnT cap="flat" cmpd="sng" w="9525">
                      <a:solidFill>
                        <a:srgbClr val="F1F5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>
                          <a:solidFill>
                            <a:srgbClr val="0F172A"/>
                          </a:solidFill>
                        </a:rPr>
                        <a:t>Number of components</a:t>
                      </a:r>
                      <a:endParaRPr b="0" sz="1050">
                        <a:solidFill>
                          <a:srgbClr val="0F172A"/>
                        </a:solidFill>
                      </a:endParaRPr>
                    </a:p>
                  </a:txBody>
                  <a:tcPr marT="114300" marB="114300" marR="171450" marL="171450">
                    <a:lnT cap="flat" cmpd="sng" w="9525">
                      <a:solidFill>
                        <a:srgbClr val="F1F5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>
                          <a:solidFill>
                            <a:srgbClr val="334155"/>
                          </a:solidFill>
                        </a:rPr>
                        <a:t>How many principal components we keep</a:t>
                      </a:r>
                      <a:endParaRPr sz="1050">
                        <a:solidFill>
                          <a:srgbClr val="334155"/>
                        </a:solidFill>
                      </a:endParaRPr>
                    </a:p>
                  </a:txBody>
                  <a:tcPr marT="114300" marB="114300" marR="171450" marL="171450">
                    <a:lnT cap="flat" cmpd="sng" w="9525">
                      <a:solidFill>
                        <a:srgbClr val="F1F5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86" name="Shape 9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7" name="Google Shape;987;p66"/>
          <p:cNvSpPr/>
          <p:nvPr/>
        </p:nvSpPr>
        <p:spPr>
          <a:xfrm>
            <a:off x="609600" y="2557462"/>
            <a:ext cx="5092749" cy="2552700"/>
          </a:xfrm>
          <a:prstGeom prst="roundRect">
            <a:avLst>
              <a:gd fmla="val 4477" name="adj"/>
            </a:avLst>
          </a:prstGeom>
          <a:solidFill>
            <a:srgbClr val="0F17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8" name="Google Shape;988;p66"/>
          <p:cNvSpPr/>
          <p:nvPr/>
        </p:nvSpPr>
        <p:spPr>
          <a:xfrm>
            <a:off x="6007149" y="2762250"/>
            <a:ext cx="5575250" cy="2143125"/>
          </a:xfrm>
          <a:prstGeom prst="roundRect">
            <a:avLst>
              <a:gd fmla="val 5333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9" name="Google Shape;989;p66"/>
          <p:cNvSpPr/>
          <p:nvPr/>
        </p:nvSpPr>
        <p:spPr>
          <a:xfrm>
            <a:off x="6245274" y="4076700"/>
            <a:ext cx="5099000" cy="590550"/>
          </a:xfrm>
          <a:prstGeom prst="roundRect">
            <a:avLst>
              <a:gd fmla="val 9677" name="adj"/>
            </a:avLst>
          </a:prstGeom>
          <a:solidFill>
            <a:srgbClr val="ECFDF5"/>
          </a:solidFill>
          <a:ln cap="flat" cmpd="sng" w="9525">
            <a:solidFill>
              <a:srgbClr val="A7F3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990" name="Google Shape;990;p6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200" y="3033712"/>
            <a:ext cx="4635549" cy="1428750"/>
          </a:xfrm>
          <a:prstGeom prst="rect">
            <a:avLst/>
          </a:prstGeom>
          <a:noFill/>
          <a:ln>
            <a:noFill/>
          </a:ln>
        </p:spPr>
      </p:pic>
      <p:sp>
        <p:nvSpPr>
          <p:cNvPr id="991" name="Google Shape;991;p66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5966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ACT 7: DIMENSIONALITY REDUCTION • 30 (THE BREAKTHROUGH)</a:t>
            </a:r>
            <a:endParaRPr/>
          </a:p>
        </p:txBody>
      </p:sp>
      <p:sp>
        <p:nvSpPr>
          <p:cNvPr id="992" name="Google Shape;992;p66"/>
          <p:cNvSpPr txBox="1"/>
          <p:nvPr/>
        </p:nvSpPr>
        <p:spPr>
          <a:xfrm>
            <a:off x="609600" y="685800"/>
            <a:ext cx="11582400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The Revelation: Spaghetti Untangled into Clockwork!</a:t>
            </a:r>
            <a:endParaRPr/>
          </a:p>
        </p:txBody>
      </p:sp>
      <p:sp>
        <p:nvSpPr>
          <p:cNvPr id="993" name="Google Shape;993;p66"/>
          <p:cNvSpPr txBox="1"/>
          <p:nvPr/>
        </p:nvSpPr>
        <p:spPr>
          <a:xfrm>
            <a:off x="6235749" y="2990850"/>
            <a:ext cx="5213300" cy="1685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59669"/>
                </a:solidFill>
                <a:latin typeface="Inter"/>
                <a:ea typeface="Inter"/>
                <a:cs typeface="Inter"/>
                <a:sym typeface="Inter"/>
              </a:rPr>
              <a:t>WHAT PCA REVEALED</a:t>
            </a:r>
            <a:endParaRPr/>
          </a:p>
        </p:txBody>
      </p:sp>
      <p:sp>
        <p:nvSpPr>
          <p:cNvPr id="994" name="Google Shape;994;p66"/>
          <p:cNvSpPr txBox="1"/>
          <p:nvPr/>
        </p:nvSpPr>
        <p:spPr>
          <a:xfrm>
            <a:off x="838200" y="4519612"/>
            <a:ext cx="4730799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Blue Loop = Reach Left • Red Loop = Reach Right (Churchland et al., 2012)</a:t>
            </a:r>
            <a:endParaRPr/>
          </a:p>
        </p:txBody>
      </p:sp>
      <p:sp>
        <p:nvSpPr>
          <p:cNvPr id="995" name="Google Shape;995;p66"/>
          <p:cNvSpPr txBox="1"/>
          <p:nvPr/>
        </p:nvSpPr>
        <p:spPr>
          <a:xfrm>
            <a:off x="6245274" y="3267075"/>
            <a:ext cx="594672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75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The Brain is an Analog Clockwork Engine</a:t>
            </a:r>
            <a:endParaRPr/>
          </a:p>
        </p:txBody>
      </p:sp>
      <p:sp>
        <p:nvSpPr>
          <p:cNvPr id="996" name="Google Shape;996;p66"/>
          <p:cNvSpPr txBox="1"/>
          <p:nvPr/>
        </p:nvSpPr>
        <p:spPr>
          <a:xfrm>
            <a:off x="6245274" y="3600450"/>
            <a:ext cx="519425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The 1,000-neuron spaghetti wasn't random noise. It was a 2D mechanical clock turning in a hidden plane!</a:t>
            </a:r>
            <a:endParaRPr/>
          </a:p>
        </p:txBody>
      </p:sp>
      <p:sp>
        <p:nvSpPr>
          <p:cNvPr id="997" name="Google Shape;997;p66"/>
          <p:cNvSpPr txBox="1"/>
          <p:nvPr/>
        </p:nvSpPr>
        <p:spPr>
          <a:xfrm>
            <a:off x="838200" y="2786062"/>
            <a:ext cx="21907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PC SPACE (MOTOR CORTEX)</a:t>
            </a:r>
            <a:endParaRPr/>
          </a:p>
        </p:txBody>
      </p:sp>
      <p:sp>
        <p:nvSpPr>
          <p:cNvPr id="998" name="Google Shape;998;p66"/>
          <p:cNvSpPr txBox="1"/>
          <p:nvPr/>
        </p:nvSpPr>
        <p:spPr>
          <a:xfrm>
            <a:off x="4206924" y="2790825"/>
            <a:ext cx="1583531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Rotational Dynamics</a:t>
            </a:r>
            <a:endParaRPr/>
          </a:p>
        </p:txBody>
      </p:sp>
      <p:sp>
        <p:nvSpPr>
          <p:cNvPr id="999" name="Google Shape;999;p66"/>
          <p:cNvSpPr txBox="1"/>
          <p:nvPr/>
        </p:nvSpPr>
        <p:spPr>
          <a:xfrm>
            <a:off x="6369099" y="4181475"/>
            <a:ext cx="4946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65F46"/>
                </a:solidFill>
                <a:latin typeface="Inter"/>
                <a:ea typeface="Inter"/>
                <a:cs typeface="Inter"/>
                <a:sym typeface="Inter"/>
              </a:rPr>
              <a:t>Just 2 Principal Components explained </a:t>
            </a:r>
            <a:r>
              <a:rPr b="1" lang="en-US" sz="1200">
                <a:solidFill>
                  <a:srgbClr val="065F46"/>
                </a:solidFill>
                <a:latin typeface="Inter"/>
                <a:ea typeface="Inter"/>
                <a:cs typeface="Inter"/>
                <a:sym typeface="Inter"/>
              </a:rPr>
              <a:t>large</a:t>
            </a:r>
            <a:r>
              <a:rPr b="1" i="0" lang="en-US" sz="1200" u="none" cap="none" strike="noStrike">
                <a:solidFill>
                  <a:srgbClr val="065F46"/>
                </a:solidFill>
                <a:latin typeface="Inter"/>
                <a:ea typeface="Inter"/>
                <a:cs typeface="Inter"/>
                <a:sym typeface="Inter"/>
              </a:rPr>
              <a:t>% of the entire population's movement command!</a:t>
            </a: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03" name="Shape 10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4" name="Google Shape;1004;p67"/>
          <p:cNvSpPr/>
          <p:nvPr/>
        </p:nvSpPr>
        <p:spPr>
          <a:xfrm>
            <a:off x="609600" y="5981700"/>
            <a:ext cx="10972800" cy="4191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5" name="Google Shape;1005;p67"/>
          <p:cNvSpPr/>
          <p:nvPr/>
        </p:nvSpPr>
        <p:spPr>
          <a:xfrm>
            <a:off x="609600" y="457200"/>
            <a:ext cx="3676650" cy="304800"/>
          </a:xfrm>
          <a:prstGeom prst="roundRect">
            <a:avLst>
              <a:gd fmla="val 18750" name="adj"/>
            </a:avLst>
          </a:prstGeom>
          <a:solidFill>
            <a:srgbClr val="EFF6FF"/>
          </a:solidFill>
          <a:ln cap="flat" cmpd="sng" w="9525">
            <a:solidFill>
              <a:srgbClr val="BFDB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6" name="Google Shape;1006;p67"/>
          <p:cNvSpPr/>
          <p:nvPr/>
        </p:nvSpPr>
        <p:spPr>
          <a:xfrm>
            <a:off x="609600" y="2909887"/>
            <a:ext cx="5391150" cy="866775"/>
          </a:xfrm>
          <a:prstGeom prst="roundRect">
            <a:avLst>
              <a:gd fmla="val 13186" name="adj"/>
            </a:avLst>
          </a:prstGeom>
          <a:solidFill>
            <a:srgbClr val="F8FAFC"/>
          </a:solidFill>
          <a:ln cap="flat" cmpd="sng" w="1905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7" name="Google Shape;1007;p67"/>
          <p:cNvSpPr/>
          <p:nvPr/>
        </p:nvSpPr>
        <p:spPr>
          <a:xfrm>
            <a:off x="6191250" y="2909887"/>
            <a:ext cx="5391150" cy="866775"/>
          </a:xfrm>
          <a:prstGeom prst="roundRect">
            <a:avLst>
              <a:gd fmla="val 13186" name="adj"/>
            </a:avLst>
          </a:prstGeom>
          <a:solidFill>
            <a:srgbClr val="F8FAFC"/>
          </a:solidFill>
          <a:ln cap="flat" cmpd="sng" w="1905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8" name="Google Shape;1008;p67"/>
          <p:cNvSpPr/>
          <p:nvPr/>
        </p:nvSpPr>
        <p:spPr>
          <a:xfrm>
            <a:off x="609600" y="3967162"/>
            <a:ext cx="5391150" cy="866775"/>
          </a:xfrm>
          <a:prstGeom prst="roundRect">
            <a:avLst>
              <a:gd fmla="val 13186" name="adj"/>
            </a:avLst>
          </a:prstGeom>
          <a:solidFill>
            <a:srgbClr val="F8FAFC"/>
          </a:solidFill>
          <a:ln cap="flat" cmpd="sng" w="1905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9" name="Google Shape;1009;p67"/>
          <p:cNvSpPr/>
          <p:nvPr/>
        </p:nvSpPr>
        <p:spPr>
          <a:xfrm>
            <a:off x="6191250" y="3967162"/>
            <a:ext cx="5391150" cy="866775"/>
          </a:xfrm>
          <a:prstGeom prst="roundRect">
            <a:avLst>
              <a:gd fmla="val 13186" name="adj"/>
            </a:avLst>
          </a:prstGeom>
          <a:solidFill>
            <a:srgbClr val="F8FAFC"/>
          </a:solidFill>
          <a:ln cap="flat" cmpd="sng" w="1905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0" name="Google Shape;1010;p67"/>
          <p:cNvSpPr/>
          <p:nvPr/>
        </p:nvSpPr>
        <p:spPr>
          <a:xfrm>
            <a:off x="609600" y="5981700"/>
            <a:ext cx="38100" cy="419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1" name="Google Shape;1011;p67"/>
          <p:cNvSpPr/>
          <p:nvPr/>
        </p:nvSpPr>
        <p:spPr>
          <a:xfrm>
            <a:off x="819150" y="3133725"/>
            <a:ext cx="419100" cy="419100"/>
          </a:xfrm>
          <a:prstGeom prst="roundRect">
            <a:avLst>
              <a:gd fmla="val 18181" name="adj"/>
            </a:avLst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2" name="Google Shape;1012;p67"/>
          <p:cNvSpPr/>
          <p:nvPr/>
        </p:nvSpPr>
        <p:spPr>
          <a:xfrm>
            <a:off x="6400800" y="3133725"/>
            <a:ext cx="419100" cy="419100"/>
          </a:xfrm>
          <a:prstGeom prst="roundRect">
            <a:avLst>
              <a:gd fmla="val 18181" name="adj"/>
            </a:avLst>
          </a:prstGeom>
          <a:solidFill>
            <a:srgbClr val="0596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3" name="Google Shape;1013;p67"/>
          <p:cNvSpPr/>
          <p:nvPr/>
        </p:nvSpPr>
        <p:spPr>
          <a:xfrm>
            <a:off x="819150" y="4191000"/>
            <a:ext cx="419100" cy="419100"/>
          </a:xfrm>
          <a:prstGeom prst="roundRect">
            <a:avLst>
              <a:gd fmla="val 18181" name="adj"/>
            </a:avLst>
          </a:prstGeom>
          <a:solidFill>
            <a:srgbClr val="D9770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4" name="Google Shape;1014;p67"/>
          <p:cNvSpPr/>
          <p:nvPr/>
        </p:nvSpPr>
        <p:spPr>
          <a:xfrm>
            <a:off x="6400800" y="4191000"/>
            <a:ext cx="419100" cy="419100"/>
          </a:xfrm>
          <a:prstGeom prst="roundRect">
            <a:avLst>
              <a:gd fmla="val 18181" name="adj"/>
            </a:avLst>
          </a:prstGeom>
          <a:solidFill>
            <a:srgbClr val="7C3AE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015" name="Google Shape;1015;p6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2475" y="542925"/>
            <a:ext cx="133350" cy="133350"/>
          </a:xfrm>
          <a:prstGeom prst="rect">
            <a:avLst/>
          </a:prstGeom>
          <a:noFill/>
          <a:ln>
            <a:noFill/>
          </a:ln>
        </p:spPr>
      </p:pic>
      <p:sp>
        <p:nvSpPr>
          <p:cNvPr id="1016" name="Google Shape;1016;p67"/>
          <p:cNvSpPr txBox="1"/>
          <p:nvPr/>
        </p:nvSpPr>
        <p:spPr>
          <a:xfrm>
            <a:off x="609600" y="876300"/>
            <a:ext cx="115824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BCI Decoder Riddle: What Matrix Shape Steers a Cursor?</a:t>
            </a:r>
            <a:endParaRPr/>
          </a:p>
        </p:txBody>
      </p:sp>
      <p:sp>
        <p:nvSpPr>
          <p:cNvPr id="1017" name="Google Shape;1017;p67"/>
          <p:cNvSpPr txBox="1"/>
          <p:nvPr/>
        </p:nvSpPr>
        <p:spPr>
          <a:xfrm>
            <a:off x="609600" y="1352550"/>
            <a:ext cx="11068050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We record 128 neurons (vector r of length 128) and want to control a 2D cursor velocity [Vx, Vy]ᵀ. What dimensions must matrix W have so that v = W · r?</a:t>
            </a:r>
            <a:endParaRPr/>
          </a:p>
        </p:txBody>
      </p:sp>
      <p:sp>
        <p:nvSpPr>
          <p:cNvPr id="1018" name="Google Shape;1018;p67"/>
          <p:cNvSpPr txBox="1"/>
          <p:nvPr/>
        </p:nvSpPr>
        <p:spPr>
          <a:xfrm>
            <a:off x="838200" y="6096000"/>
            <a:ext cx="113538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1E40AF"/>
                </a:solidFill>
                <a:latin typeface="Inter"/>
                <a:ea typeface="Inter"/>
                <a:cs typeface="Inter"/>
                <a:sym typeface="Inter"/>
              </a:rPr>
              <a:t>💬 Call out your matrix dimension: How do we turn 128 inputs into 2 outputs?</a:t>
            </a:r>
            <a:endParaRPr/>
          </a:p>
        </p:txBody>
      </p:sp>
      <p:sp>
        <p:nvSpPr>
          <p:cNvPr id="1019" name="Google Shape;1019;p67"/>
          <p:cNvSpPr txBox="1"/>
          <p:nvPr/>
        </p:nvSpPr>
        <p:spPr>
          <a:xfrm>
            <a:off x="752475" y="523875"/>
            <a:ext cx="423862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905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563E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INTERACTIVE TEASER #6 • NEURO-ENGINEERING</a:t>
            </a:r>
            <a:endParaRPr/>
          </a:p>
        </p:txBody>
      </p:sp>
      <p:sp>
        <p:nvSpPr>
          <p:cNvPr id="1020" name="Google Shape;1020;p67"/>
          <p:cNvSpPr txBox="1"/>
          <p:nvPr/>
        </p:nvSpPr>
        <p:spPr>
          <a:xfrm>
            <a:off x="676275" y="3133725"/>
            <a:ext cx="704850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</a:t>
            </a:r>
            <a:endParaRPr/>
          </a:p>
        </p:txBody>
      </p:sp>
      <p:sp>
        <p:nvSpPr>
          <p:cNvPr id="1021" name="Google Shape;1021;p67"/>
          <p:cNvSpPr txBox="1"/>
          <p:nvPr/>
        </p:nvSpPr>
        <p:spPr>
          <a:xfrm>
            <a:off x="6257925" y="3133725"/>
            <a:ext cx="704850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B</a:t>
            </a:r>
            <a:endParaRPr/>
          </a:p>
        </p:txBody>
      </p:sp>
      <p:sp>
        <p:nvSpPr>
          <p:cNvPr id="1022" name="Google Shape;1022;p67"/>
          <p:cNvSpPr txBox="1"/>
          <p:nvPr/>
        </p:nvSpPr>
        <p:spPr>
          <a:xfrm>
            <a:off x="676275" y="4191000"/>
            <a:ext cx="704850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</a:t>
            </a:r>
            <a:endParaRPr/>
          </a:p>
        </p:txBody>
      </p:sp>
      <p:sp>
        <p:nvSpPr>
          <p:cNvPr id="1023" name="Google Shape;1023;p67"/>
          <p:cNvSpPr txBox="1"/>
          <p:nvPr/>
        </p:nvSpPr>
        <p:spPr>
          <a:xfrm>
            <a:off x="6257925" y="4191000"/>
            <a:ext cx="704850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</a:t>
            </a:r>
            <a:endParaRPr/>
          </a:p>
        </p:txBody>
      </p:sp>
      <p:sp>
        <p:nvSpPr>
          <p:cNvPr id="1024" name="Google Shape;1024;p67"/>
          <p:cNvSpPr txBox="1"/>
          <p:nvPr/>
        </p:nvSpPr>
        <p:spPr>
          <a:xfrm>
            <a:off x="1390650" y="3119437"/>
            <a:ext cx="4643437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2 × 128 Matrix</a:t>
            </a:r>
            <a:endParaRPr/>
          </a:p>
        </p:txBody>
      </p:sp>
      <p:sp>
        <p:nvSpPr>
          <p:cNvPr id="1025" name="Google Shape;1025;p67"/>
          <p:cNvSpPr txBox="1"/>
          <p:nvPr/>
        </p:nvSpPr>
        <p:spPr>
          <a:xfrm>
            <a:off x="1390650" y="3386137"/>
            <a:ext cx="4643437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(2 rows for Vx &amp; Vy) × (128 columns for neuron inputs).</a:t>
            </a:r>
            <a:endParaRPr/>
          </a:p>
        </p:txBody>
      </p:sp>
      <p:sp>
        <p:nvSpPr>
          <p:cNvPr id="1026" name="Google Shape;1026;p67"/>
          <p:cNvSpPr txBox="1"/>
          <p:nvPr/>
        </p:nvSpPr>
        <p:spPr>
          <a:xfrm>
            <a:off x="6972300" y="3119437"/>
            <a:ext cx="4226718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128 × 128 Matrix</a:t>
            </a:r>
            <a:endParaRPr/>
          </a:p>
        </p:txBody>
      </p:sp>
      <p:sp>
        <p:nvSpPr>
          <p:cNvPr id="1027" name="Google Shape;1027;p67"/>
          <p:cNvSpPr txBox="1"/>
          <p:nvPr/>
        </p:nvSpPr>
        <p:spPr>
          <a:xfrm>
            <a:off x="6972300" y="3386137"/>
            <a:ext cx="4226718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Square matrix mapping all neurons to themselves.</a:t>
            </a:r>
            <a:endParaRPr/>
          </a:p>
        </p:txBody>
      </p:sp>
      <p:sp>
        <p:nvSpPr>
          <p:cNvPr id="1028" name="Google Shape;1028;p67"/>
          <p:cNvSpPr txBox="1"/>
          <p:nvPr/>
        </p:nvSpPr>
        <p:spPr>
          <a:xfrm>
            <a:off x="1390650" y="4176712"/>
            <a:ext cx="2131218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128 × 2 Matrix</a:t>
            </a:r>
            <a:endParaRPr/>
          </a:p>
        </p:txBody>
      </p:sp>
      <p:sp>
        <p:nvSpPr>
          <p:cNvPr id="1029" name="Google Shape;1029;p67"/>
          <p:cNvSpPr txBox="1"/>
          <p:nvPr/>
        </p:nvSpPr>
        <p:spPr>
          <a:xfrm>
            <a:off x="1390650" y="4443412"/>
            <a:ext cx="2131218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(128 rows) × (2 columns).</a:t>
            </a:r>
            <a:endParaRPr/>
          </a:p>
        </p:txBody>
      </p:sp>
      <p:sp>
        <p:nvSpPr>
          <p:cNvPr id="1030" name="Google Shape;1030;p67"/>
          <p:cNvSpPr txBox="1"/>
          <p:nvPr/>
        </p:nvSpPr>
        <p:spPr>
          <a:xfrm>
            <a:off x="6972300" y="4176712"/>
            <a:ext cx="2964656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1 × 1 Scalar</a:t>
            </a:r>
            <a:endParaRPr/>
          </a:p>
        </p:txBody>
      </p:sp>
      <p:sp>
        <p:nvSpPr>
          <p:cNvPr id="1031" name="Google Shape;1031;p67"/>
          <p:cNvSpPr txBox="1"/>
          <p:nvPr/>
        </p:nvSpPr>
        <p:spPr>
          <a:xfrm>
            <a:off x="6972300" y="4443412"/>
            <a:ext cx="2964656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Just a single volume dial multiplier.</a:t>
            </a:r>
            <a:endParaRPr/>
          </a:p>
        </p:txBody>
      </p:sp>
      <p:sp>
        <p:nvSpPr>
          <p:cNvPr id="1032" name="Google Shape;1032;p67"/>
          <p:cNvSpPr/>
          <p:nvPr/>
        </p:nvSpPr>
        <p:spPr>
          <a:xfrm>
            <a:off x="609600" y="5981700"/>
            <a:ext cx="10972800" cy="4191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3" name="Google Shape;1033;p67"/>
          <p:cNvSpPr/>
          <p:nvPr/>
        </p:nvSpPr>
        <p:spPr>
          <a:xfrm>
            <a:off x="609600" y="457200"/>
            <a:ext cx="4152900" cy="304800"/>
          </a:xfrm>
          <a:prstGeom prst="roundRect">
            <a:avLst>
              <a:gd fmla="val 18750" name="adj"/>
            </a:avLst>
          </a:prstGeom>
          <a:solidFill>
            <a:srgbClr val="EFF6FF"/>
          </a:solidFill>
          <a:ln cap="flat" cmpd="sng" w="9525">
            <a:solidFill>
              <a:srgbClr val="BFDB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4" name="Google Shape;1034;p67"/>
          <p:cNvSpPr/>
          <p:nvPr/>
        </p:nvSpPr>
        <p:spPr>
          <a:xfrm>
            <a:off x="609600" y="2905125"/>
            <a:ext cx="5391300" cy="866700"/>
          </a:xfrm>
          <a:prstGeom prst="roundRect">
            <a:avLst>
              <a:gd fmla="val 13186" name="adj"/>
            </a:avLst>
          </a:prstGeom>
          <a:solidFill>
            <a:srgbClr val="F8FAFC"/>
          </a:solidFill>
          <a:ln cap="flat" cmpd="sng" w="1905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5" name="Google Shape;1035;p67"/>
          <p:cNvSpPr/>
          <p:nvPr/>
        </p:nvSpPr>
        <p:spPr>
          <a:xfrm>
            <a:off x="6191250" y="2905125"/>
            <a:ext cx="5391300" cy="866700"/>
          </a:xfrm>
          <a:prstGeom prst="roundRect">
            <a:avLst>
              <a:gd fmla="val 13186" name="adj"/>
            </a:avLst>
          </a:prstGeom>
          <a:solidFill>
            <a:srgbClr val="F8FAFC"/>
          </a:solidFill>
          <a:ln cap="flat" cmpd="sng" w="1905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6" name="Google Shape;1036;p67"/>
          <p:cNvSpPr/>
          <p:nvPr/>
        </p:nvSpPr>
        <p:spPr>
          <a:xfrm>
            <a:off x="609600" y="3962400"/>
            <a:ext cx="5391300" cy="866700"/>
          </a:xfrm>
          <a:prstGeom prst="roundRect">
            <a:avLst>
              <a:gd fmla="val 13186" name="adj"/>
            </a:avLst>
          </a:prstGeom>
          <a:solidFill>
            <a:srgbClr val="F8FAFC"/>
          </a:solidFill>
          <a:ln cap="flat" cmpd="sng" w="1905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7" name="Google Shape;1037;p67"/>
          <p:cNvSpPr/>
          <p:nvPr/>
        </p:nvSpPr>
        <p:spPr>
          <a:xfrm>
            <a:off x="6191250" y="3962400"/>
            <a:ext cx="5391300" cy="866700"/>
          </a:xfrm>
          <a:prstGeom prst="roundRect">
            <a:avLst>
              <a:gd fmla="val 13186" name="adj"/>
            </a:avLst>
          </a:prstGeom>
          <a:solidFill>
            <a:srgbClr val="F8FAFC"/>
          </a:solidFill>
          <a:ln cap="flat" cmpd="sng" w="1905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8" name="Google Shape;1038;p67"/>
          <p:cNvSpPr/>
          <p:nvPr/>
        </p:nvSpPr>
        <p:spPr>
          <a:xfrm>
            <a:off x="609600" y="5981700"/>
            <a:ext cx="38100" cy="419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9" name="Google Shape;1039;p67"/>
          <p:cNvSpPr/>
          <p:nvPr/>
        </p:nvSpPr>
        <p:spPr>
          <a:xfrm>
            <a:off x="819150" y="3128962"/>
            <a:ext cx="419100" cy="419100"/>
          </a:xfrm>
          <a:prstGeom prst="roundRect">
            <a:avLst>
              <a:gd fmla="val 18181" name="adj"/>
            </a:avLst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0" name="Google Shape;1040;p67"/>
          <p:cNvSpPr/>
          <p:nvPr/>
        </p:nvSpPr>
        <p:spPr>
          <a:xfrm>
            <a:off x="6400800" y="3128962"/>
            <a:ext cx="419100" cy="419100"/>
          </a:xfrm>
          <a:prstGeom prst="roundRect">
            <a:avLst>
              <a:gd fmla="val 18181" name="adj"/>
            </a:avLst>
          </a:prstGeom>
          <a:solidFill>
            <a:srgbClr val="0596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1" name="Google Shape;1041;p67"/>
          <p:cNvSpPr/>
          <p:nvPr/>
        </p:nvSpPr>
        <p:spPr>
          <a:xfrm>
            <a:off x="819150" y="4186237"/>
            <a:ext cx="419100" cy="419100"/>
          </a:xfrm>
          <a:prstGeom prst="roundRect">
            <a:avLst>
              <a:gd fmla="val 18181" name="adj"/>
            </a:avLst>
          </a:prstGeom>
          <a:solidFill>
            <a:srgbClr val="D9770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2" name="Google Shape;1042;p67"/>
          <p:cNvSpPr/>
          <p:nvPr/>
        </p:nvSpPr>
        <p:spPr>
          <a:xfrm>
            <a:off x="6400800" y="4186237"/>
            <a:ext cx="419100" cy="419100"/>
          </a:xfrm>
          <a:prstGeom prst="roundRect">
            <a:avLst>
              <a:gd fmla="val 18181" name="adj"/>
            </a:avLst>
          </a:prstGeom>
          <a:solidFill>
            <a:srgbClr val="7C3AE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043" name="Google Shape;1043;p6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2475" y="542925"/>
            <a:ext cx="152400" cy="133350"/>
          </a:xfrm>
          <a:prstGeom prst="rect">
            <a:avLst/>
          </a:prstGeom>
          <a:noFill/>
          <a:ln>
            <a:noFill/>
          </a:ln>
        </p:spPr>
      </p:pic>
      <p:sp>
        <p:nvSpPr>
          <p:cNvPr id="1044" name="Google Shape;1044;p67"/>
          <p:cNvSpPr txBox="1"/>
          <p:nvPr/>
        </p:nvSpPr>
        <p:spPr>
          <a:xfrm>
            <a:off x="609600" y="876300"/>
            <a:ext cx="11582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Can 1,000 Neurons Collapse to Just 2 Numbers?</a:t>
            </a:r>
            <a:endParaRPr/>
          </a:p>
        </p:txBody>
      </p:sp>
      <p:sp>
        <p:nvSpPr>
          <p:cNvPr id="1045" name="Google Shape;1045;p67"/>
          <p:cNvSpPr txBox="1"/>
          <p:nvPr/>
        </p:nvSpPr>
        <p:spPr>
          <a:xfrm>
            <a:off x="609600" y="1352550"/>
            <a:ext cx="110682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You record 1,000 neurons while reaching for a strawberry. How many Principal Components (PCs) are needed to explain 80%+ of the movement command?</a:t>
            </a:r>
            <a:endParaRPr/>
          </a:p>
        </p:txBody>
      </p:sp>
      <p:sp>
        <p:nvSpPr>
          <p:cNvPr id="1046" name="Google Shape;1046;p67"/>
          <p:cNvSpPr txBox="1"/>
          <p:nvPr/>
        </p:nvSpPr>
        <p:spPr>
          <a:xfrm>
            <a:off x="838200" y="6096000"/>
            <a:ext cx="11353800" cy="19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1E40AF"/>
                </a:solidFill>
                <a:latin typeface="Inter"/>
                <a:ea typeface="Inter"/>
                <a:cs typeface="Inter"/>
                <a:sym typeface="Inter"/>
              </a:rPr>
              <a:t>💬 What's your intuition? Prepare to witness the 1,000-Neuron Spaghetti Disaster!</a:t>
            </a:r>
            <a:endParaRPr/>
          </a:p>
        </p:txBody>
      </p:sp>
      <p:sp>
        <p:nvSpPr>
          <p:cNvPr id="1047" name="Google Shape;1047;p67"/>
          <p:cNvSpPr txBox="1"/>
          <p:nvPr/>
        </p:nvSpPr>
        <p:spPr>
          <a:xfrm>
            <a:off x="752475" y="523875"/>
            <a:ext cx="48339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0955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563E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INTERACTIVE TEASER #5 • DIMENSIONALITY SHOWDOWN</a:t>
            </a:r>
            <a:endParaRPr/>
          </a:p>
        </p:txBody>
      </p:sp>
      <p:sp>
        <p:nvSpPr>
          <p:cNvPr id="1048" name="Google Shape;1048;p67"/>
          <p:cNvSpPr txBox="1"/>
          <p:nvPr/>
        </p:nvSpPr>
        <p:spPr>
          <a:xfrm>
            <a:off x="676275" y="3128962"/>
            <a:ext cx="7050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</a:t>
            </a:r>
            <a:endParaRPr/>
          </a:p>
        </p:txBody>
      </p:sp>
      <p:sp>
        <p:nvSpPr>
          <p:cNvPr id="1049" name="Google Shape;1049;p67"/>
          <p:cNvSpPr txBox="1"/>
          <p:nvPr/>
        </p:nvSpPr>
        <p:spPr>
          <a:xfrm>
            <a:off x="6257925" y="3128962"/>
            <a:ext cx="7050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B</a:t>
            </a:r>
            <a:endParaRPr/>
          </a:p>
        </p:txBody>
      </p:sp>
      <p:sp>
        <p:nvSpPr>
          <p:cNvPr id="1050" name="Google Shape;1050;p67"/>
          <p:cNvSpPr txBox="1"/>
          <p:nvPr/>
        </p:nvSpPr>
        <p:spPr>
          <a:xfrm>
            <a:off x="676275" y="4186237"/>
            <a:ext cx="7050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</a:t>
            </a:r>
            <a:endParaRPr/>
          </a:p>
        </p:txBody>
      </p:sp>
      <p:sp>
        <p:nvSpPr>
          <p:cNvPr id="1051" name="Google Shape;1051;p67"/>
          <p:cNvSpPr txBox="1"/>
          <p:nvPr/>
        </p:nvSpPr>
        <p:spPr>
          <a:xfrm>
            <a:off x="6257925" y="4186237"/>
            <a:ext cx="7050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</a:t>
            </a:r>
            <a:endParaRPr/>
          </a:p>
        </p:txBody>
      </p:sp>
      <p:sp>
        <p:nvSpPr>
          <p:cNvPr id="1052" name="Google Shape;1052;p67"/>
          <p:cNvSpPr txBox="1"/>
          <p:nvPr/>
        </p:nvSpPr>
        <p:spPr>
          <a:xfrm>
            <a:off x="1390650" y="3114675"/>
            <a:ext cx="37743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All 1,000 PCs</a:t>
            </a:r>
            <a:endParaRPr/>
          </a:p>
        </p:txBody>
      </p:sp>
      <p:sp>
        <p:nvSpPr>
          <p:cNvPr id="1053" name="Google Shape;1053;p67"/>
          <p:cNvSpPr txBox="1"/>
          <p:nvPr/>
        </p:nvSpPr>
        <p:spPr>
          <a:xfrm>
            <a:off x="1390650" y="3381375"/>
            <a:ext cx="37743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Every neuron does something totally unique.</a:t>
            </a:r>
            <a:endParaRPr/>
          </a:p>
        </p:txBody>
      </p:sp>
      <p:sp>
        <p:nvSpPr>
          <p:cNvPr id="1054" name="Google Shape;1054;p67"/>
          <p:cNvSpPr txBox="1"/>
          <p:nvPr/>
        </p:nvSpPr>
        <p:spPr>
          <a:xfrm>
            <a:off x="6972300" y="3114675"/>
            <a:ext cx="52197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Just 2 or 3 PCs!</a:t>
            </a:r>
            <a:endParaRPr/>
          </a:p>
        </p:txBody>
      </p:sp>
      <p:sp>
        <p:nvSpPr>
          <p:cNvPr id="1055" name="Google Shape;1055;p67"/>
          <p:cNvSpPr txBox="1"/>
          <p:nvPr/>
        </p:nvSpPr>
        <p:spPr>
          <a:xfrm>
            <a:off x="6972300" y="3381375"/>
            <a:ext cx="52197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Coordinated teamwork compresses 1,000D into a flat 2D plane!</a:t>
            </a:r>
            <a:endParaRPr/>
          </a:p>
        </p:txBody>
      </p:sp>
      <p:sp>
        <p:nvSpPr>
          <p:cNvPr id="1056" name="Google Shape;1056;p67"/>
          <p:cNvSpPr txBox="1"/>
          <p:nvPr/>
        </p:nvSpPr>
        <p:spPr>
          <a:xfrm>
            <a:off x="1390650" y="4171950"/>
            <a:ext cx="39885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Exactly 500 PCs</a:t>
            </a:r>
            <a:endParaRPr/>
          </a:p>
        </p:txBody>
      </p:sp>
      <p:sp>
        <p:nvSpPr>
          <p:cNvPr id="1057" name="Google Shape;1057;p67"/>
          <p:cNvSpPr txBox="1"/>
          <p:nvPr/>
        </p:nvSpPr>
        <p:spPr>
          <a:xfrm>
            <a:off x="1390650" y="4438650"/>
            <a:ext cx="39885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Always exactly half of the recorded population.</a:t>
            </a:r>
            <a:endParaRPr/>
          </a:p>
        </p:txBody>
      </p:sp>
      <p:sp>
        <p:nvSpPr>
          <p:cNvPr id="1058" name="Google Shape;1058;p67"/>
          <p:cNvSpPr txBox="1"/>
          <p:nvPr/>
        </p:nvSpPr>
        <p:spPr>
          <a:xfrm>
            <a:off x="6972300" y="4171950"/>
            <a:ext cx="45720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Zero PCs</a:t>
            </a:r>
            <a:endParaRPr/>
          </a:p>
        </p:txBody>
      </p:sp>
      <p:sp>
        <p:nvSpPr>
          <p:cNvPr id="1059" name="Google Shape;1059;p67"/>
          <p:cNvSpPr txBox="1"/>
          <p:nvPr/>
        </p:nvSpPr>
        <p:spPr>
          <a:xfrm>
            <a:off x="6972300" y="4438650"/>
            <a:ext cx="45720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Neural noise cannot be compressed by linear algebra.</a:t>
            </a:r>
            <a:endParaRPr/>
          </a:p>
        </p:txBody>
      </p:sp>
      <p:pic>
        <p:nvPicPr>
          <p:cNvPr descr="image.png" id="1060" name="Google Shape;1060;p6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61" name="Google Shape;1061;p67"/>
          <p:cNvSpPr/>
          <p:nvPr/>
        </p:nvSpPr>
        <p:spPr>
          <a:xfrm>
            <a:off x="3614550" y="3148049"/>
            <a:ext cx="6128700" cy="762900"/>
          </a:xfrm>
          <a:prstGeom prst="roundRect">
            <a:avLst>
              <a:gd fmla="val 20338" name="adj"/>
            </a:avLst>
          </a:prstGeom>
          <a:solidFill>
            <a:srgbClr val="0F172A"/>
          </a:solidFill>
          <a:ln cap="flat" cmpd="sng" w="9525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2" name="Google Shape;1062;p67"/>
          <p:cNvSpPr txBox="1"/>
          <p:nvPr/>
        </p:nvSpPr>
        <p:spPr>
          <a:xfrm>
            <a:off x="4571993" y="3336602"/>
            <a:ext cx="4167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Python Lab Ready in Jupyter / </a:t>
            </a:r>
            <a:r>
              <a:rPr lang="en-US" sz="1200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Principal Components Analysis</a:t>
            </a:r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66" name="Shape 10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7" name="Google Shape;1067;p68"/>
          <p:cNvSpPr/>
          <p:nvPr/>
        </p:nvSpPr>
        <p:spPr>
          <a:xfrm>
            <a:off x="609600" y="1285875"/>
            <a:ext cx="5295900" cy="3762300"/>
          </a:xfrm>
          <a:prstGeom prst="roundRect">
            <a:avLst>
              <a:gd fmla="val 3037" name="adj"/>
            </a:avLst>
          </a:prstGeom>
          <a:solidFill>
            <a:srgbClr val="FEF2F2"/>
          </a:solidFill>
          <a:ln cap="flat" cmpd="sng" w="9525">
            <a:solidFill>
              <a:srgbClr val="FECA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8" name="Google Shape;1068;p68"/>
          <p:cNvSpPr/>
          <p:nvPr/>
        </p:nvSpPr>
        <p:spPr>
          <a:xfrm>
            <a:off x="6286500" y="1285875"/>
            <a:ext cx="5295900" cy="3762300"/>
          </a:xfrm>
          <a:prstGeom prst="roundRect">
            <a:avLst>
              <a:gd fmla="val 3037" name="adj"/>
            </a:avLst>
          </a:prstGeom>
          <a:solidFill>
            <a:srgbClr val="0F172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9" name="Google Shape;1069;p68"/>
          <p:cNvSpPr/>
          <p:nvPr/>
        </p:nvSpPr>
        <p:spPr>
          <a:xfrm>
            <a:off x="6553200" y="3524250"/>
            <a:ext cx="4762500" cy="1238400"/>
          </a:xfrm>
          <a:prstGeom prst="roundRect">
            <a:avLst>
              <a:gd fmla="val 6153" name="adj"/>
            </a:avLst>
          </a:prstGeom>
          <a:solidFill>
            <a:srgbClr val="153049"/>
          </a:solidFill>
          <a:ln cap="flat" cmpd="sng" w="9525">
            <a:solidFill>
              <a:srgbClr val="1B49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0" name="Google Shape;1070;p68"/>
          <p:cNvSpPr txBox="1"/>
          <p:nvPr/>
        </p:nvSpPr>
        <p:spPr>
          <a:xfrm>
            <a:off x="609600" y="381000"/>
            <a:ext cx="10972800" cy="161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DC262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ACT 8: BRAIN-COMPUTER INTERFACES • 31 (THE PROBLEM)</a:t>
            </a:r>
            <a:endParaRPr b="1" sz="1050">
              <a:solidFill>
                <a:srgbClr val="DC2626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1071" name="Google Shape;1071;p68"/>
          <p:cNvSpPr txBox="1"/>
          <p:nvPr/>
        </p:nvSpPr>
        <p:spPr>
          <a:xfrm>
            <a:off x="609600" y="619125"/>
            <a:ext cx="10972800" cy="400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The Problem: The Trapped Mind (Locked-In Syndrome)</a:t>
            </a:r>
            <a:endParaRPr b="1" sz="2600">
              <a:solidFill>
                <a:srgbClr val="0F172A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072" name="Google Shape;1072;p68"/>
          <p:cNvSpPr txBox="1"/>
          <p:nvPr/>
        </p:nvSpPr>
        <p:spPr>
          <a:xfrm>
            <a:off x="876300" y="1476375"/>
            <a:ext cx="4762500" cy="161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DC262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THE MEDICAL TRAGEDY</a:t>
            </a:r>
            <a:endParaRPr b="1" sz="1050">
              <a:solidFill>
                <a:srgbClr val="DC2626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1073" name="Google Shape;1073;p68"/>
          <p:cNvSpPr txBox="1"/>
          <p:nvPr/>
        </p:nvSpPr>
        <p:spPr>
          <a:xfrm>
            <a:off x="6553200" y="1476375"/>
            <a:ext cx="4762500" cy="161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THE MATHEMATICAL CHALLENGE</a:t>
            </a:r>
            <a:endParaRPr b="1" sz="1050">
              <a:solidFill>
                <a:srgbClr val="38BDF8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1074" name="Google Shape;1074;p68"/>
          <p:cNvSpPr txBox="1"/>
          <p:nvPr/>
        </p:nvSpPr>
        <p:spPr>
          <a:xfrm>
            <a:off x="876300" y="1714500"/>
            <a:ext cx="4762500" cy="277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991B1B"/>
                </a:solidFill>
                <a:latin typeface="Space Grotesk"/>
                <a:ea typeface="Space Grotesk"/>
                <a:cs typeface="Space Grotesk"/>
                <a:sym typeface="Space Grotesk"/>
              </a:rPr>
              <a:t>The Broken Biological Cable</a:t>
            </a:r>
            <a:endParaRPr b="1" sz="1800">
              <a:solidFill>
                <a:srgbClr val="991B1B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075" name="Google Shape;1075;p68"/>
          <p:cNvSpPr txBox="1"/>
          <p:nvPr/>
        </p:nvSpPr>
        <p:spPr>
          <a:xfrm>
            <a:off x="876300" y="2114550"/>
            <a:ext cx="4762500" cy="192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Meet Cathy, a patient who suffered a brainstem stroke / ALS.</a:t>
            </a:r>
            <a:endParaRPr b="0" sz="125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76" name="Google Shape;1076;p68"/>
          <p:cNvSpPr txBox="1"/>
          <p:nvPr/>
        </p:nvSpPr>
        <p:spPr>
          <a:xfrm>
            <a:off x="876300" y="2619375"/>
            <a:ext cx="4762500" cy="677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5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Inside her head, her motor cortex is completely intact and blazing with intent:</a:t>
            </a:r>
            <a:endParaRPr b="0" sz="1250">
              <a:solidFill>
                <a:srgbClr val="1E293B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i="1" lang="en-US" sz="1400">
                <a:solidFill>
                  <a:srgbClr val="991B1B"/>
                </a:solidFill>
                <a:latin typeface="Inter"/>
                <a:ea typeface="Inter"/>
                <a:cs typeface="Inter"/>
                <a:sym typeface="Inter"/>
              </a:rPr>
              <a:t>"Pick up the cup of coffee!"</a:t>
            </a:r>
            <a:endParaRPr b="1" i="1" sz="1400">
              <a:solidFill>
                <a:srgbClr val="991B1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77" name="Google Shape;1077;p68"/>
          <p:cNvSpPr txBox="1"/>
          <p:nvPr/>
        </p:nvSpPr>
        <p:spPr>
          <a:xfrm>
            <a:off x="876300" y="3571875"/>
            <a:ext cx="4762500" cy="785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114300" lIns="114300" spcFirstLastPara="1" rIns="114300" wrap="square" tIns="1143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7F1D1D"/>
                </a:solidFill>
                <a:highlight>
                  <a:srgbClr val="FEE2E2"/>
                </a:highlight>
                <a:latin typeface="Inter Medium"/>
                <a:ea typeface="Inter Medium"/>
                <a:cs typeface="Inter Medium"/>
                <a:sym typeface="Inter Medium"/>
              </a:rPr>
              <a:t>But the spinal cord is cut. The biological wire is severed. Her muscles receive zero signals. She is locked inside her own body.</a:t>
            </a:r>
            <a:endParaRPr b="0" sz="1200">
              <a:solidFill>
                <a:srgbClr val="7F1D1D"/>
              </a:solidFill>
              <a:highlight>
                <a:srgbClr val="FEE2E2"/>
              </a:highlight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1078" name="Google Shape;1078;p68"/>
          <p:cNvSpPr txBox="1"/>
          <p:nvPr/>
        </p:nvSpPr>
        <p:spPr>
          <a:xfrm>
            <a:off x="6553200" y="1714500"/>
            <a:ext cx="4762500" cy="277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Building an Artificial Bridge</a:t>
            </a:r>
            <a:endParaRPr b="1" sz="1800">
              <a:solidFill>
                <a:srgbClr val="F8FAFC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079" name="Google Shape;1079;p68"/>
          <p:cNvSpPr txBox="1"/>
          <p:nvPr/>
        </p:nvSpPr>
        <p:spPr>
          <a:xfrm>
            <a:off x="6553200" y="2114550"/>
            <a:ext cx="4762500" cy="384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5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Surgeons place a 64-electrode silicon chip on Cathy's motor cortex.</a:t>
            </a:r>
            <a:endParaRPr b="0" sz="1250">
              <a:solidFill>
                <a:srgbClr val="CBD5E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80" name="Google Shape;1080;p68"/>
          <p:cNvSpPr txBox="1"/>
          <p:nvPr/>
        </p:nvSpPr>
        <p:spPr>
          <a:xfrm>
            <a:off x="6553200" y="2619375"/>
            <a:ext cx="4762500" cy="669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5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Every 20 milliseconds, the computer gets a vector of 128 firing rates:</a:t>
            </a:r>
            <a:endParaRPr b="0" sz="1250">
              <a:solidFill>
                <a:srgbClr val="94A3B8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 = [r₁, r₂, ... r₆₄]ᵀ</a:t>
            </a:r>
            <a:endParaRPr b="1" sz="1350">
              <a:solidFill>
                <a:srgbClr val="38BDF8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1081" name="Google Shape;1081;p68"/>
          <p:cNvSpPr txBox="1"/>
          <p:nvPr/>
        </p:nvSpPr>
        <p:spPr>
          <a:xfrm>
            <a:off x="6762750" y="3714750"/>
            <a:ext cx="4343400" cy="415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7DD3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How can a single matrix equation turn 64 electrical numbers into physical movement?</a:t>
            </a:r>
            <a:endParaRPr b="0" sz="1350">
              <a:solidFill>
                <a:srgbClr val="7DD3FC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1082" name="Google Shape;1082;p68"/>
          <p:cNvSpPr/>
          <p:nvPr/>
        </p:nvSpPr>
        <p:spPr>
          <a:xfrm>
            <a:off x="609600" y="5286375"/>
            <a:ext cx="10972800" cy="1047900"/>
          </a:xfrm>
          <a:prstGeom prst="roundRect">
            <a:avLst>
              <a:gd fmla="val 10909" name="adj"/>
            </a:avLst>
          </a:prstGeom>
          <a:solidFill>
            <a:srgbClr val="EFF6FF"/>
          </a:solidFill>
          <a:ln cap="flat" cmpd="sng" w="9525">
            <a:solidFill>
              <a:srgbClr val="BFDB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3" name="Google Shape;1083;p68"/>
          <p:cNvSpPr/>
          <p:nvPr/>
        </p:nvSpPr>
        <p:spPr>
          <a:xfrm>
            <a:off x="609600" y="5286375"/>
            <a:ext cx="76200" cy="1047900"/>
          </a:xfrm>
          <a:prstGeom prst="roundRect">
            <a:avLst>
              <a:gd fmla="val 50000" name="adj"/>
            </a:avLst>
          </a:prstGeom>
          <a:solidFill>
            <a:srgbClr val="2563E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4" name="Google Shape;1084;p68"/>
          <p:cNvSpPr txBox="1"/>
          <p:nvPr/>
        </p:nvSpPr>
        <p:spPr>
          <a:xfrm>
            <a:off x="876300" y="5381625"/>
            <a:ext cx="10477500" cy="596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2563E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THE BCI DECODER APPROACH</a:t>
            </a:r>
            <a:endParaRPr b="1" sz="1000">
              <a:solidFill>
                <a:srgbClr val="2563EB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rPr b="0" lang="en-US" sz="125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We use known movements and their corresponding neural activity to learn a 2 × 64 matrix that can later transform new 64-dimensional neural activity into a 2-dimensional cursor command.</a:t>
            </a:r>
            <a:endParaRPr b="0" sz="1250">
              <a:solidFill>
                <a:srgbClr val="1E293B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88" name="Shape 10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9" name="Google Shape;1089;p69"/>
          <p:cNvSpPr/>
          <p:nvPr/>
        </p:nvSpPr>
        <p:spPr>
          <a:xfrm>
            <a:off x="609600" y="1333500"/>
            <a:ext cx="10972800" cy="1047900"/>
          </a:xfrm>
          <a:prstGeom prst="roundRect">
            <a:avLst>
              <a:gd fmla="val 10909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0" name="Google Shape;1090;p69"/>
          <p:cNvSpPr/>
          <p:nvPr/>
        </p:nvSpPr>
        <p:spPr>
          <a:xfrm>
            <a:off x="609600" y="2571750"/>
            <a:ext cx="5334000" cy="3619500"/>
          </a:xfrm>
          <a:prstGeom prst="roundRect">
            <a:avLst>
              <a:gd fmla="val 3157" name="adj"/>
            </a:avLst>
          </a:prstGeom>
          <a:solidFill>
            <a:srgbClr val="0F172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1" name="Google Shape;1091;p69"/>
          <p:cNvSpPr txBox="1"/>
          <p:nvPr/>
        </p:nvSpPr>
        <p:spPr>
          <a:xfrm>
            <a:off x="838200" y="1447800"/>
            <a:ext cx="5715000" cy="81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50">
                <a:solidFill>
                  <a:srgbClr val="05966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HOW REGRESSION LEARNS THE DECODER</a:t>
            </a:r>
            <a:endParaRPr b="1" sz="950">
              <a:solidFill>
                <a:srgbClr val="059669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Regression finds a matrix </a:t>
            </a:r>
            <a:r>
              <a:rPr b="1" lang="en-US" sz="110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W_decode</a:t>
            </a:r>
            <a:r>
              <a:rPr lang="en-US" sz="110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that best maps neural patterns to intended movements.</a:t>
            </a:r>
            <a:endParaRPr sz="1100">
              <a:solidFill>
                <a:srgbClr val="1E293B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2563E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Training Data Regression W_decode</a:t>
            </a:r>
            <a:endParaRPr b="1" sz="1000">
              <a:solidFill>
                <a:srgbClr val="2563EB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1092" name="Google Shape;1092;p69"/>
          <p:cNvSpPr/>
          <p:nvPr/>
        </p:nvSpPr>
        <p:spPr>
          <a:xfrm>
            <a:off x="6248400" y="2571750"/>
            <a:ext cx="5334000" cy="3619500"/>
          </a:xfrm>
          <a:prstGeom prst="roundRect">
            <a:avLst>
              <a:gd fmla="val 3157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1093" name="Google Shape;1093;p69"/>
          <p:cNvGraphicFramePr/>
          <p:nvPr/>
        </p:nvGraphicFramePr>
        <p:xfrm>
          <a:off x="6762750" y="1447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{8BF32FAD-5FC6-475A-90FC-75AD4E81BC82}</a:tableStyleId>
              </a:tblPr>
              <a:tblGrid>
                <a:gridCol w="2286000"/>
                <a:gridCol w="2286000"/>
              </a:tblGrid>
              <a:tr h="409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Neural Activity (r)</a:t>
                      </a:r>
                      <a:endParaRPr b="1">
                        <a:solidFill>
                          <a:srgbClr val="0F172A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38100" marB="38100" marR="76200" marL="76200"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Intended Movement</a:t>
                      </a:r>
                      <a:endParaRPr b="1">
                        <a:solidFill>
                          <a:srgbClr val="0F172A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38100" marB="38100" marR="76200" marL="76200"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9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475569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r₁, r₂, ..., r₁₂₈</a:t>
                      </a:r>
                      <a:endParaRPr>
                        <a:solidFill>
                          <a:srgbClr val="475569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T="28575" marB="28575" marR="76200" marL="76200"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Right, Up, Down, Left</a:t>
                      </a:r>
                      <a:endParaRPr>
                        <a:solidFill>
                          <a:srgbClr val="475569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28575" marB="28575" marR="76200" marL="76200"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</a:tbl>
          </a:graphicData>
        </a:graphic>
      </p:graphicFrame>
      <p:sp>
        <p:nvSpPr>
          <p:cNvPr id="1094" name="Google Shape;1094;p69"/>
          <p:cNvSpPr/>
          <p:nvPr/>
        </p:nvSpPr>
        <p:spPr>
          <a:xfrm>
            <a:off x="838200" y="3571875"/>
            <a:ext cx="4876800" cy="2381400"/>
          </a:xfrm>
          <a:prstGeom prst="roundRect">
            <a:avLst>
              <a:gd fmla="val 3200" name="adj"/>
            </a:avLst>
          </a:prstGeom>
          <a:solidFill>
            <a:srgbClr val="1D253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5" name="Google Shape;1095;p69"/>
          <p:cNvSpPr/>
          <p:nvPr/>
        </p:nvSpPr>
        <p:spPr>
          <a:xfrm>
            <a:off x="6477000" y="5476875"/>
            <a:ext cx="4876800" cy="495300"/>
          </a:xfrm>
          <a:prstGeom prst="roundRect">
            <a:avLst>
              <a:gd fmla="val 15384" name="adj"/>
            </a:avLst>
          </a:prstGeom>
          <a:solidFill>
            <a:srgbClr val="EFF6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6" name="Google Shape;1096;p69"/>
          <p:cNvSpPr txBox="1"/>
          <p:nvPr/>
        </p:nvSpPr>
        <p:spPr>
          <a:xfrm>
            <a:off x="609600" y="457200"/>
            <a:ext cx="115824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5966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ACT 8: BRAIN-COMPUTER INTERFACES • 32 (THE SOLUTION)</a:t>
            </a:r>
            <a:endParaRPr/>
          </a:p>
        </p:txBody>
      </p:sp>
      <p:sp>
        <p:nvSpPr>
          <p:cNvPr id="1097" name="Google Shape;1097;p69"/>
          <p:cNvSpPr txBox="1"/>
          <p:nvPr/>
        </p:nvSpPr>
        <p:spPr>
          <a:xfrm>
            <a:off x="609600" y="685800"/>
            <a:ext cx="115824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The Solution: </a:t>
            </a:r>
            <a:r>
              <a:rPr b="1" lang="en-US" sz="2550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Building a Brain-Computer Interface (BCI)</a:t>
            </a:r>
            <a:endParaRPr/>
          </a:p>
        </p:txBody>
      </p:sp>
      <p:sp>
        <p:nvSpPr>
          <p:cNvPr id="1098" name="Google Shape;1098;p69"/>
          <p:cNvSpPr txBox="1"/>
          <p:nvPr/>
        </p:nvSpPr>
        <p:spPr>
          <a:xfrm>
            <a:off x="838200" y="2762250"/>
            <a:ext cx="4876800" cy="161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THE LINEAR DECODER FORMULA</a:t>
            </a:r>
            <a:endParaRPr b="1" i="0" sz="1050">
              <a:solidFill>
                <a:srgbClr val="38BDF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99" name="Google Shape;1099;p69"/>
          <p:cNvSpPr txBox="1"/>
          <p:nvPr/>
        </p:nvSpPr>
        <p:spPr>
          <a:xfrm>
            <a:off x="6477000" y="2762250"/>
            <a:ext cx="4876800" cy="161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>
                <a:solidFill>
                  <a:srgbClr val="059669"/>
                </a:solidFill>
                <a:latin typeface="Inter"/>
                <a:ea typeface="Inter"/>
                <a:cs typeface="Inter"/>
                <a:sym typeface="Inter"/>
              </a:rPr>
              <a:t>THE REAL-WORLD TRIUMPH</a:t>
            </a:r>
            <a:endParaRPr b="1" i="0" sz="1050">
              <a:solidFill>
                <a:srgbClr val="05966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00" name="Google Shape;1100;p69"/>
          <p:cNvSpPr txBox="1"/>
          <p:nvPr/>
        </p:nvSpPr>
        <p:spPr>
          <a:xfrm>
            <a:off x="838200" y="3048000"/>
            <a:ext cx="4876800" cy="261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v_cursor(t) = W_decode · r(t) + b₀</a:t>
            </a:r>
            <a:endParaRPr b="1" i="0" sz="1700">
              <a:solidFill>
                <a:srgbClr val="38BDF8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1101" name="Google Shape;1101;p69"/>
          <p:cNvSpPr txBox="1"/>
          <p:nvPr/>
        </p:nvSpPr>
        <p:spPr>
          <a:xfrm>
            <a:off x="1028700" y="3714750"/>
            <a:ext cx="4495800" cy="1058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Where:</a:t>
            </a:r>
            <a:endParaRPr b="1" i="0" sz="1050">
              <a:solidFill>
                <a:srgbClr val="F8FAFC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1050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v_cursor(t) = [v_x, v_y]ᵀ</a:t>
            </a:r>
            <a:r>
              <a:rPr b="0" i="0" lang="en-US" sz="105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is the 2D cursor velocity on screen</a:t>
            </a:r>
            <a:endParaRPr b="0" i="0" sz="1050">
              <a:solidFill>
                <a:srgbClr val="CBD5E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rPr b="1" i="0" lang="en-US" sz="1050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r(t)</a:t>
            </a:r>
            <a:r>
              <a:rPr b="0" i="0" lang="en-US" sz="105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is the firing rate vector across 128 recorded neurons</a:t>
            </a:r>
            <a:endParaRPr b="0" i="0" sz="1050">
              <a:solidFill>
                <a:srgbClr val="CBD5E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rPr b="1" i="0" lang="en-US" sz="1050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W_decode</a:t>
            </a:r>
            <a:r>
              <a:rPr b="0" i="0" lang="en-US" sz="105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is a 2 128 linear decoding matrix calibrated by regression</a:t>
            </a:r>
            <a:endParaRPr b="0" i="0" sz="1050">
              <a:solidFill>
                <a:srgbClr val="CBD5E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rPr b="1" i="0" lang="en-US" sz="1050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b₀</a:t>
            </a:r>
            <a:r>
              <a:rPr b="0" i="0" lang="en-US" sz="105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is the baseline offset vector keeping the cursor still at rest</a:t>
            </a:r>
            <a:endParaRPr b="0" i="0" sz="1050">
              <a:solidFill>
                <a:srgbClr val="CBD5E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02" name="Google Shape;1102;p69"/>
          <p:cNvSpPr txBox="1"/>
          <p:nvPr/>
        </p:nvSpPr>
        <p:spPr>
          <a:xfrm>
            <a:off x="6477000" y="3028950"/>
            <a:ext cx="4876800" cy="307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Cathy Sips Her Coffee</a:t>
            </a:r>
            <a:endParaRPr b="1" i="0" sz="2000">
              <a:solidFill>
                <a:srgbClr val="0F172A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103" name="Google Shape;1103;p69"/>
          <p:cNvSpPr txBox="1"/>
          <p:nvPr/>
        </p:nvSpPr>
        <p:spPr>
          <a:xfrm>
            <a:off x="6477000" y="3429000"/>
            <a:ext cx="4876800" cy="369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 robotic arm on Cathy's wheelchair listens to the linear algebra output every 20 milliseconds.</a:t>
            </a:r>
            <a:endParaRPr b="0" i="0" sz="120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04" name="Google Shape;1104;p69"/>
          <p:cNvSpPr txBox="1"/>
          <p:nvPr/>
        </p:nvSpPr>
        <p:spPr>
          <a:xfrm>
            <a:off x="6477000" y="4000500"/>
            <a:ext cx="4876800" cy="554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For the first time in 15 years, Cathy thinks about moving her arm, the robotic hand lifts a thermos to her lips, and she drinks unassisted!</a:t>
            </a:r>
            <a:endParaRPr b="0" i="0" sz="1200">
              <a:solidFill>
                <a:srgbClr val="1E293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05" name="Google Shape;1105;p69"/>
          <p:cNvSpPr txBox="1"/>
          <p:nvPr/>
        </p:nvSpPr>
        <p:spPr>
          <a:xfrm>
            <a:off x="6629400" y="5572125"/>
            <a:ext cx="4572000" cy="177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>
                <a:solidFill>
                  <a:srgbClr val="1D4ED8"/>
                </a:solidFill>
                <a:latin typeface="Inter"/>
                <a:ea typeface="Inter"/>
                <a:cs typeface="Inter"/>
                <a:sym typeface="Inter"/>
              </a:rPr>
              <a:t>A simple matrix multiplication restored human freedom.</a:t>
            </a:r>
            <a:endParaRPr b="1" i="0" sz="1150">
              <a:solidFill>
                <a:srgbClr val="1D4ED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06" name="Google Shape;1106;p69"/>
          <p:cNvSpPr/>
          <p:nvPr/>
        </p:nvSpPr>
        <p:spPr>
          <a:xfrm>
            <a:off x="609600" y="5981700"/>
            <a:ext cx="10972800" cy="4191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7" name="Google Shape;1107;p69"/>
          <p:cNvSpPr/>
          <p:nvPr/>
        </p:nvSpPr>
        <p:spPr>
          <a:xfrm>
            <a:off x="609600" y="457200"/>
            <a:ext cx="3676800" cy="304800"/>
          </a:xfrm>
          <a:prstGeom prst="roundRect">
            <a:avLst>
              <a:gd fmla="val 18750" name="adj"/>
            </a:avLst>
          </a:prstGeom>
          <a:solidFill>
            <a:srgbClr val="EFF6FF"/>
          </a:solidFill>
          <a:ln cap="flat" cmpd="sng" w="9525">
            <a:solidFill>
              <a:srgbClr val="BFDB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8" name="Google Shape;1108;p69"/>
          <p:cNvSpPr/>
          <p:nvPr/>
        </p:nvSpPr>
        <p:spPr>
          <a:xfrm>
            <a:off x="609600" y="2909887"/>
            <a:ext cx="5391300" cy="866700"/>
          </a:xfrm>
          <a:prstGeom prst="roundRect">
            <a:avLst>
              <a:gd fmla="val 13186" name="adj"/>
            </a:avLst>
          </a:prstGeom>
          <a:solidFill>
            <a:srgbClr val="F8FAFC"/>
          </a:solidFill>
          <a:ln cap="flat" cmpd="sng" w="1905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9" name="Google Shape;1109;p69"/>
          <p:cNvSpPr/>
          <p:nvPr/>
        </p:nvSpPr>
        <p:spPr>
          <a:xfrm>
            <a:off x="6191250" y="2909887"/>
            <a:ext cx="5391300" cy="866700"/>
          </a:xfrm>
          <a:prstGeom prst="roundRect">
            <a:avLst>
              <a:gd fmla="val 13186" name="adj"/>
            </a:avLst>
          </a:prstGeom>
          <a:solidFill>
            <a:srgbClr val="F8FAFC"/>
          </a:solidFill>
          <a:ln cap="flat" cmpd="sng" w="1905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0" name="Google Shape;1110;p69"/>
          <p:cNvSpPr/>
          <p:nvPr/>
        </p:nvSpPr>
        <p:spPr>
          <a:xfrm>
            <a:off x="609600" y="3967162"/>
            <a:ext cx="5391300" cy="866700"/>
          </a:xfrm>
          <a:prstGeom prst="roundRect">
            <a:avLst>
              <a:gd fmla="val 13186" name="adj"/>
            </a:avLst>
          </a:prstGeom>
          <a:solidFill>
            <a:srgbClr val="F8FAFC"/>
          </a:solidFill>
          <a:ln cap="flat" cmpd="sng" w="1905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1" name="Google Shape;1111;p69"/>
          <p:cNvSpPr/>
          <p:nvPr/>
        </p:nvSpPr>
        <p:spPr>
          <a:xfrm>
            <a:off x="6191250" y="3967162"/>
            <a:ext cx="5391300" cy="866700"/>
          </a:xfrm>
          <a:prstGeom prst="roundRect">
            <a:avLst>
              <a:gd fmla="val 13186" name="adj"/>
            </a:avLst>
          </a:prstGeom>
          <a:solidFill>
            <a:srgbClr val="F8FAFC"/>
          </a:solidFill>
          <a:ln cap="flat" cmpd="sng" w="1905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2" name="Google Shape;1112;p69"/>
          <p:cNvSpPr/>
          <p:nvPr/>
        </p:nvSpPr>
        <p:spPr>
          <a:xfrm>
            <a:off x="609600" y="5981700"/>
            <a:ext cx="38100" cy="419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3" name="Google Shape;1113;p69"/>
          <p:cNvSpPr/>
          <p:nvPr/>
        </p:nvSpPr>
        <p:spPr>
          <a:xfrm>
            <a:off x="819150" y="3133725"/>
            <a:ext cx="419100" cy="419100"/>
          </a:xfrm>
          <a:prstGeom prst="roundRect">
            <a:avLst>
              <a:gd fmla="val 18181" name="adj"/>
            </a:avLst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4" name="Google Shape;1114;p69"/>
          <p:cNvSpPr/>
          <p:nvPr/>
        </p:nvSpPr>
        <p:spPr>
          <a:xfrm>
            <a:off x="6400800" y="3133725"/>
            <a:ext cx="419100" cy="419100"/>
          </a:xfrm>
          <a:prstGeom prst="roundRect">
            <a:avLst>
              <a:gd fmla="val 18181" name="adj"/>
            </a:avLst>
          </a:prstGeom>
          <a:solidFill>
            <a:srgbClr val="0596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5" name="Google Shape;1115;p69"/>
          <p:cNvSpPr/>
          <p:nvPr/>
        </p:nvSpPr>
        <p:spPr>
          <a:xfrm>
            <a:off x="819150" y="4191000"/>
            <a:ext cx="419100" cy="419100"/>
          </a:xfrm>
          <a:prstGeom prst="roundRect">
            <a:avLst>
              <a:gd fmla="val 18181" name="adj"/>
            </a:avLst>
          </a:prstGeom>
          <a:solidFill>
            <a:srgbClr val="D9770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6" name="Google Shape;1116;p69"/>
          <p:cNvSpPr/>
          <p:nvPr/>
        </p:nvSpPr>
        <p:spPr>
          <a:xfrm>
            <a:off x="6400800" y="4191000"/>
            <a:ext cx="419100" cy="419100"/>
          </a:xfrm>
          <a:prstGeom prst="roundRect">
            <a:avLst>
              <a:gd fmla="val 18181" name="adj"/>
            </a:avLst>
          </a:prstGeom>
          <a:solidFill>
            <a:srgbClr val="7C3AE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117" name="Google Shape;1117;p6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2475" y="542925"/>
            <a:ext cx="133350" cy="133350"/>
          </a:xfrm>
          <a:prstGeom prst="rect">
            <a:avLst/>
          </a:prstGeom>
          <a:noFill/>
          <a:ln>
            <a:noFill/>
          </a:ln>
        </p:spPr>
      </p:pic>
      <p:sp>
        <p:nvSpPr>
          <p:cNvPr id="1118" name="Google Shape;1118;p69"/>
          <p:cNvSpPr txBox="1"/>
          <p:nvPr/>
        </p:nvSpPr>
        <p:spPr>
          <a:xfrm>
            <a:off x="609600" y="876300"/>
            <a:ext cx="11582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BCI Decoder Riddle: What Matrix Shape Steers a Cursor?</a:t>
            </a:r>
            <a:endParaRPr/>
          </a:p>
        </p:txBody>
      </p:sp>
      <p:sp>
        <p:nvSpPr>
          <p:cNvPr id="1119" name="Google Shape;1119;p69"/>
          <p:cNvSpPr txBox="1"/>
          <p:nvPr/>
        </p:nvSpPr>
        <p:spPr>
          <a:xfrm>
            <a:off x="609600" y="1352550"/>
            <a:ext cx="110682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We record 128 neurons (vector r of length 128) and want to control a 2D cursor velocity [Vx, Vy]ᵀ. What dimensions must matrix W have so that v = W · r?</a:t>
            </a:r>
            <a:endParaRPr/>
          </a:p>
        </p:txBody>
      </p:sp>
      <p:sp>
        <p:nvSpPr>
          <p:cNvPr id="1120" name="Google Shape;1120;p69"/>
          <p:cNvSpPr txBox="1"/>
          <p:nvPr/>
        </p:nvSpPr>
        <p:spPr>
          <a:xfrm>
            <a:off x="838200" y="6096000"/>
            <a:ext cx="11353800" cy="19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1E40AF"/>
                </a:solidFill>
                <a:latin typeface="Inter"/>
                <a:ea typeface="Inter"/>
                <a:cs typeface="Inter"/>
                <a:sym typeface="Inter"/>
              </a:rPr>
              <a:t>💬 Call out your matrix dimension: How do we turn 128 inputs into 2 outputs?</a:t>
            </a:r>
            <a:endParaRPr/>
          </a:p>
        </p:txBody>
      </p:sp>
      <p:sp>
        <p:nvSpPr>
          <p:cNvPr id="1121" name="Google Shape;1121;p69"/>
          <p:cNvSpPr txBox="1"/>
          <p:nvPr/>
        </p:nvSpPr>
        <p:spPr>
          <a:xfrm>
            <a:off x="752475" y="523875"/>
            <a:ext cx="42387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905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563E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INTERACTIVE TEASER #6 • NEURO-ENGINEERING</a:t>
            </a:r>
            <a:endParaRPr/>
          </a:p>
        </p:txBody>
      </p:sp>
      <p:sp>
        <p:nvSpPr>
          <p:cNvPr id="1122" name="Google Shape;1122;p69"/>
          <p:cNvSpPr txBox="1"/>
          <p:nvPr/>
        </p:nvSpPr>
        <p:spPr>
          <a:xfrm>
            <a:off x="676275" y="3133725"/>
            <a:ext cx="7050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</a:t>
            </a:r>
            <a:endParaRPr/>
          </a:p>
        </p:txBody>
      </p:sp>
      <p:sp>
        <p:nvSpPr>
          <p:cNvPr id="1123" name="Google Shape;1123;p69"/>
          <p:cNvSpPr txBox="1"/>
          <p:nvPr/>
        </p:nvSpPr>
        <p:spPr>
          <a:xfrm>
            <a:off x="6257925" y="3133725"/>
            <a:ext cx="7050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B</a:t>
            </a:r>
            <a:endParaRPr/>
          </a:p>
        </p:txBody>
      </p:sp>
      <p:sp>
        <p:nvSpPr>
          <p:cNvPr id="1124" name="Google Shape;1124;p69"/>
          <p:cNvSpPr txBox="1"/>
          <p:nvPr/>
        </p:nvSpPr>
        <p:spPr>
          <a:xfrm>
            <a:off x="676275" y="4191000"/>
            <a:ext cx="7050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</a:t>
            </a:r>
            <a:endParaRPr/>
          </a:p>
        </p:txBody>
      </p:sp>
      <p:sp>
        <p:nvSpPr>
          <p:cNvPr id="1125" name="Google Shape;1125;p69"/>
          <p:cNvSpPr txBox="1"/>
          <p:nvPr/>
        </p:nvSpPr>
        <p:spPr>
          <a:xfrm>
            <a:off x="6257925" y="4191000"/>
            <a:ext cx="7050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</a:t>
            </a:r>
            <a:endParaRPr/>
          </a:p>
        </p:txBody>
      </p:sp>
      <p:sp>
        <p:nvSpPr>
          <p:cNvPr id="1126" name="Google Shape;1126;p69"/>
          <p:cNvSpPr txBox="1"/>
          <p:nvPr/>
        </p:nvSpPr>
        <p:spPr>
          <a:xfrm>
            <a:off x="1390650" y="3119437"/>
            <a:ext cx="46434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2 × 128 Matrix</a:t>
            </a:r>
            <a:endParaRPr/>
          </a:p>
        </p:txBody>
      </p:sp>
      <p:sp>
        <p:nvSpPr>
          <p:cNvPr id="1127" name="Google Shape;1127;p69"/>
          <p:cNvSpPr txBox="1"/>
          <p:nvPr/>
        </p:nvSpPr>
        <p:spPr>
          <a:xfrm>
            <a:off x="1390650" y="3386137"/>
            <a:ext cx="46434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(2 rows for Vx &amp; Vy) × (128 columns for neuron inputs).</a:t>
            </a:r>
            <a:endParaRPr/>
          </a:p>
        </p:txBody>
      </p:sp>
      <p:sp>
        <p:nvSpPr>
          <p:cNvPr id="1128" name="Google Shape;1128;p69"/>
          <p:cNvSpPr txBox="1"/>
          <p:nvPr/>
        </p:nvSpPr>
        <p:spPr>
          <a:xfrm>
            <a:off x="6972300" y="3119437"/>
            <a:ext cx="42267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128 × 128 Matrix</a:t>
            </a:r>
            <a:endParaRPr/>
          </a:p>
        </p:txBody>
      </p:sp>
      <p:sp>
        <p:nvSpPr>
          <p:cNvPr id="1129" name="Google Shape;1129;p69"/>
          <p:cNvSpPr txBox="1"/>
          <p:nvPr/>
        </p:nvSpPr>
        <p:spPr>
          <a:xfrm>
            <a:off x="6972300" y="3386137"/>
            <a:ext cx="42267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Square matrix mapping all neurons to themselves.</a:t>
            </a:r>
            <a:endParaRPr/>
          </a:p>
        </p:txBody>
      </p:sp>
      <p:sp>
        <p:nvSpPr>
          <p:cNvPr id="1130" name="Google Shape;1130;p69"/>
          <p:cNvSpPr txBox="1"/>
          <p:nvPr/>
        </p:nvSpPr>
        <p:spPr>
          <a:xfrm>
            <a:off x="1390650" y="4176712"/>
            <a:ext cx="21312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128 × 2 Matrix</a:t>
            </a:r>
            <a:endParaRPr/>
          </a:p>
        </p:txBody>
      </p:sp>
      <p:sp>
        <p:nvSpPr>
          <p:cNvPr id="1131" name="Google Shape;1131;p69"/>
          <p:cNvSpPr txBox="1"/>
          <p:nvPr/>
        </p:nvSpPr>
        <p:spPr>
          <a:xfrm>
            <a:off x="1390650" y="4443412"/>
            <a:ext cx="21312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(128 rows) × (2 columns).</a:t>
            </a:r>
            <a:endParaRPr/>
          </a:p>
        </p:txBody>
      </p:sp>
      <p:sp>
        <p:nvSpPr>
          <p:cNvPr id="1132" name="Google Shape;1132;p69"/>
          <p:cNvSpPr txBox="1"/>
          <p:nvPr/>
        </p:nvSpPr>
        <p:spPr>
          <a:xfrm>
            <a:off x="6972300" y="4176712"/>
            <a:ext cx="29646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1 × 1 Scalar</a:t>
            </a:r>
            <a:endParaRPr/>
          </a:p>
        </p:txBody>
      </p:sp>
      <p:sp>
        <p:nvSpPr>
          <p:cNvPr id="1133" name="Google Shape;1133;p69"/>
          <p:cNvSpPr txBox="1"/>
          <p:nvPr/>
        </p:nvSpPr>
        <p:spPr>
          <a:xfrm>
            <a:off x="6972300" y="4443412"/>
            <a:ext cx="29646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Just a single volume dial multiplier.</a:t>
            </a:r>
            <a:endParaRPr/>
          </a:p>
        </p:txBody>
      </p:sp>
      <p:sp>
        <p:nvSpPr>
          <p:cNvPr id="1134" name="Google Shape;1134;p69"/>
          <p:cNvSpPr/>
          <p:nvPr/>
        </p:nvSpPr>
        <p:spPr>
          <a:xfrm>
            <a:off x="609600" y="5981700"/>
            <a:ext cx="10972800" cy="4191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5" name="Google Shape;1135;p69"/>
          <p:cNvSpPr/>
          <p:nvPr/>
        </p:nvSpPr>
        <p:spPr>
          <a:xfrm>
            <a:off x="609600" y="457200"/>
            <a:ext cx="4152900" cy="304800"/>
          </a:xfrm>
          <a:prstGeom prst="roundRect">
            <a:avLst>
              <a:gd fmla="val 18750" name="adj"/>
            </a:avLst>
          </a:prstGeom>
          <a:solidFill>
            <a:srgbClr val="EFF6FF"/>
          </a:solidFill>
          <a:ln cap="flat" cmpd="sng" w="9525">
            <a:solidFill>
              <a:srgbClr val="BFDB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6" name="Google Shape;1136;p69"/>
          <p:cNvSpPr/>
          <p:nvPr/>
        </p:nvSpPr>
        <p:spPr>
          <a:xfrm>
            <a:off x="609600" y="2905125"/>
            <a:ext cx="5391300" cy="866700"/>
          </a:xfrm>
          <a:prstGeom prst="roundRect">
            <a:avLst>
              <a:gd fmla="val 13186" name="adj"/>
            </a:avLst>
          </a:prstGeom>
          <a:solidFill>
            <a:srgbClr val="F8FAFC"/>
          </a:solidFill>
          <a:ln cap="flat" cmpd="sng" w="1905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7" name="Google Shape;1137;p69"/>
          <p:cNvSpPr/>
          <p:nvPr/>
        </p:nvSpPr>
        <p:spPr>
          <a:xfrm>
            <a:off x="6191250" y="2905125"/>
            <a:ext cx="5391300" cy="866700"/>
          </a:xfrm>
          <a:prstGeom prst="roundRect">
            <a:avLst>
              <a:gd fmla="val 13186" name="adj"/>
            </a:avLst>
          </a:prstGeom>
          <a:solidFill>
            <a:srgbClr val="F8FAFC"/>
          </a:solidFill>
          <a:ln cap="flat" cmpd="sng" w="1905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8" name="Google Shape;1138;p69"/>
          <p:cNvSpPr/>
          <p:nvPr/>
        </p:nvSpPr>
        <p:spPr>
          <a:xfrm>
            <a:off x="609600" y="3962400"/>
            <a:ext cx="5391300" cy="866700"/>
          </a:xfrm>
          <a:prstGeom prst="roundRect">
            <a:avLst>
              <a:gd fmla="val 13186" name="adj"/>
            </a:avLst>
          </a:prstGeom>
          <a:solidFill>
            <a:srgbClr val="F8FAFC"/>
          </a:solidFill>
          <a:ln cap="flat" cmpd="sng" w="1905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9" name="Google Shape;1139;p69"/>
          <p:cNvSpPr/>
          <p:nvPr/>
        </p:nvSpPr>
        <p:spPr>
          <a:xfrm>
            <a:off x="6191250" y="3962400"/>
            <a:ext cx="5391300" cy="866700"/>
          </a:xfrm>
          <a:prstGeom prst="roundRect">
            <a:avLst>
              <a:gd fmla="val 13186" name="adj"/>
            </a:avLst>
          </a:prstGeom>
          <a:solidFill>
            <a:srgbClr val="F8FAFC"/>
          </a:solidFill>
          <a:ln cap="flat" cmpd="sng" w="1905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0" name="Google Shape;1140;p69"/>
          <p:cNvSpPr/>
          <p:nvPr/>
        </p:nvSpPr>
        <p:spPr>
          <a:xfrm>
            <a:off x="609600" y="5981700"/>
            <a:ext cx="38100" cy="419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1" name="Google Shape;1141;p69"/>
          <p:cNvSpPr/>
          <p:nvPr/>
        </p:nvSpPr>
        <p:spPr>
          <a:xfrm>
            <a:off x="819150" y="3128962"/>
            <a:ext cx="419100" cy="419100"/>
          </a:xfrm>
          <a:prstGeom prst="roundRect">
            <a:avLst>
              <a:gd fmla="val 18181" name="adj"/>
            </a:avLst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2" name="Google Shape;1142;p69"/>
          <p:cNvSpPr/>
          <p:nvPr/>
        </p:nvSpPr>
        <p:spPr>
          <a:xfrm>
            <a:off x="6400800" y="3128962"/>
            <a:ext cx="419100" cy="419100"/>
          </a:xfrm>
          <a:prstGeom prst="roundRect">
            <a:avLst>
              <a:gd fmla="val 18181" name="adj"/>
            </a:avLst>
          </a:prstGeom>
          <a:solidFill>
            <a:srgbClr val="0596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3" name="Google Shape;1143;p69"/>
          <p:cNvSpPr/>
          <p:nvPr/>
        </p:nvSpPr>
        <p:spPr>
          <a:xfrm>
            <a:off x="819150" y="4186237"/>
            <a:ext cx="419100" cy="419100"/>
          </a:xfrm>
          <a:prstGeom prst="roundRect">
            <a:avLst>
              <a:gd fmla="val 18181" name="adj"/>
            </a:avLst>
          </a:prstGeom>
          <a:solidFill>
            <a:srgbClr val="D9770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4" name="Google Shape;1144;p69"/>
          <p:cNvSpPr/>
          <p:nvPr/>
        </p:nvSpPr>
        <p:spPr>
          <a:xfrm>
            <a:off x="6400800" y="4186237"/>
            <a:ext cx="419100" cy="419100"/>
          </a:xfrm>
          <a:prstGeom prst="roundRect">
            <a:avLst>
              <a:gd fmla="val 18181" name="adj"/>
            </a:avLst>
          </a:prstGeom>
          <a:solidFill>
            <a:srgbClr val="7C3AE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145" name="Google Shape;1145;p6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2475" y="542925"/>
            <a:ext cx="152400" cy="133350"/>
          </a:xfrm>
          <a:prstGeom prst="rect">
            <a:avLst/>
          </a:prstGeom>
          <a:noFill/>
          <a:ln>
            <a:noFill/>
          </a:ln>
        </p:spPr>
      </p:pic>
      <p:sp>
        <p:nvSpPr>
          <p:cNvPr id="1146" name="Google Shape;1146;p69"/>
          <p:cNvSpPr txBox="1"/>
          <p:nvPr/>
        </p:nvSpPr>
        <p:spPr>
          <a:xfrm>
            <a:off x="609600" y="876300"/>
            <a:ext cx="11582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Can 1,000 Neurons Collapse to Just 2 Numbers?</a:t>
            </a:r>
            <a:endParaRPr/>
          </a:p>
        </p:txBody>
      </p:sp>
      <p:sp>
        <p:nvSpPr>
          <p:cNvPr id="1147" name="Google Shape;1147;p69"/>
          <p:cNvSpPr txBox="1"/>
          <p:nvPr/>
        </p:nvSpPr>
        <p:spPr>
          <a:xfrm>
            <a:off x="609600" y="1352550"/>
            <a:ext cx="110682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You record 1,000 neurons while reaching for a strawberry. How many Principal Components (PCs) are needed to explain 80%+ of the movement command?</a:t>
            </a:r>
            <a:endParaRPr/>
          </a:p>
        </p:txBody>
      </p:sp>
      <p:sp>
        <p:nvSpPr>
          <p:cNvPr id="1148" name="Google Shape;1148;p69"/>
          <p:cNvSpPr txBox="1"/>
          <p:nvPr/>
        </p:nvSpPr>
        <p:spPr>
          <a:xfrm>
            <a:off x="838200" y="6096000"/>
            <a:ext cx="11353800" cy="19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1E40AF"/>
                </a:solidFill>
                <a:latin typeface="Inter"/>
                <a:ea typeface="Inter"/>
                <a:cs typeface="Inter"/>
                <a:sym typeface="Inter"/>
              </a:rPr>
              <a:t>💬 What's your intuition? Prepare to witness the 1,000-Neuron Spaghetti Disaster!</a:t>
            </a:r>
            <a:endParaRPr/>
          </a:p>
        </p:txBody>
      </p:sp>
      <p:sp>
        <p:nvSpPr>
          <p:cNvPr id="1149" name="Google Shape;1149;p69"/>
          <p:cNvSpPr txBox="1"/>
          <p:nvPr/>
        </p:nvSpPr>
        <p:spPr>
          <a:xfrm>
            <a:off x="752475" y="523875"/>
            <a:ext cx="48339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0955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563E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INTERACTIVE TEASER #5 • DIMENSIONALITY SHOWDOWN</a:t>
            </a:r>
            <a:endParaRPr/>
          </a:p>
        </p:txBody>
      </p:sp>
      <p:sp>
        <p:nvSpPr>
          <p:cNvPr id="1150" name="Google Shape;1150;p69"/>
          <p:cNvSpPr txBox="1"/>
          <p:nvPr/>
        </p:nvSpPr>
        <p:spPr>
          <a:xfrm>
            <a:off x="676275" y="3128962"/>
            <a:ext cx="7050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</a:t>
            </a:r>
            <a:endParaRPr/>
          </a:p>
        </p:txBody>
      </p:sp>
      <p:sp>
        <p:nvSpPr>
          <p:cNvPr id="1151" name="Google Shape;1151;p69"/>
          <p:cNvSpPr txBox="1"/>
          <p:nvPr/>
        </p:nvSpPr>
        <p:spPr>
          <a:xfrm>
            <a:off x="6257925" y="3128962"/>
            <a:ext cx="7050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B</a:t>
            </a:r>
            <a:endParaRPr/>
          </a:p>
        </p:txBody>
      </p:sp>
      <p:sp>
        <p:nvSpPr>
          <p:cNvPr id="1152" name="Google Shape;1152;p69"/>
          <p:cNvSpPr txBox="1"/>
          <p:nvPr/>
        </p:nvSpPr>
        <p:spPr>
          <a:xfrm>
            <a:off x="676275" y="4186237"/>
            <a:ext cx="7050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</a:t>
            </a:r>
            <a:endParaRPr/>
          </a:p>
        </p:txBody>
      </p:sp>
      <p:sp>
        <p:nvSpPr>
          <p:cNvPr id="1153" name="Google Shape;1153;p69"/>
          <p:cNvSpPr txBox="1"/>
          <p:nvPr/>
        </p:nvSpPr>
        <p:spPr>
          <a:xfrm>
            <a:off x="6257925" y="4186237"/>
            <a:ext cx="7050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</a:t>
            </a:r>
            <a:endParaRPr/>
          </a:p>
        </p:txBody>
      </p:sp>
      <p:sp>
        <p:nvSpPr>
          <p:cNvPr id="1154" name="Google Shape;1154;p69"/>
          <p:cNvSpPr txBox="1"/>
          <p:nvPr/>
        </p:nvSpPr>
        <p:spPr>
          <a:xfrm>
            <a:off x="1390650" y="3114675"/>
            <a:ext cx="37743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All 1,000 PCs</a:t>
            </a:r>
            <a:endParaRPr/>
          </a:p>
        </p:txBody>
      </p:sp>
      <p:sp>
        <p:nvSpPr>
          <p:cNvPr id="1155" name="Google Shape;1155;p69"/>
          <p:cNvSpPr txBox="1"/>
          <p:nvPr/>
        </p:nvSpPr>
        <p:spPr>
          <a:xfrm>
            <a:off x="1390650" y="3381375"/>
            <a:ext cx="37743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Every neuron does something totally unique.</a:t>
            </a:r>
            <a:endParaRPr/>
          </a:p>
        </p:txBody>
      </p:sp>
      <p:sp>
        <p:nvSpPr>
          <p:cNvPr id="1156" name="Google Shape;1156;p69"/>
          <p:cNvSpPr txBox="1"/>
          <p:nvPr/>
        </p:nvSpPr>
        <p:spPr>
          <a:xfrm>
            <a:off x="6972300" y="3114675"/>
            <a:ext cx="52197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Just 2 or 3 PCs!</a:t>
            </a:r>
            <a:endParaRPr/>
          </a:p>
        </p:txBody>
      </p:sp>
      <p:sp>
        <p:nvSpPr>
          <p:cNvPr id="1157" name="Google Shape;1157;p69"/>
          <p:cNvSpPr txBox="1"/>
          <p:nvPr/>
        </p:nvSpPr>
        <p:spPr>
          <a:xfrm>
            <a:off x="6972300" y="3381375"/>
            <a:ext cx="52197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Coordinated teamwork compresses 1,000D into a flat 2D plane!</a:t>
            </a:r>
            <a:endParaRPr/>
          </a:p>
        </p:txBody>
      </p:sp>
      <p:sp>
        <p:nvSpPr>
          <p:cNvPr id="1158" name="Google Shape;1158;p69"/>
          <p:cNvSpPr txBox="1"/>
          <p:nvPr/>
        </p:nvSpPr>
        <p:spPr>
          <a:xfrm>
            <a:off x="1390650" y="4171950"/>
            <a:ext cx="39885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Exactly 500 PCs</a:t>
            </a:r>
            <a:endParaRPr/>
          </a:p>
        </p:txBody>
      </p:sp>
      <p:sp>
        <p:nvSpPr>
          <p:cNvPr id="1159" name="Google Shape;1159;p69"/>
          <p:cNvSpPr txBox="1"/>
          <p:nvPr/>
        </p:nvSpPr>
        <p:spPr>
          <a:xfrm>
            <a:off x="1390650" y="4438650"/>
            <a:ext cx="39885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Always exactly half of the recorded population.</a:t>
            </a:r>
            <a:endParaRPr/>
          </a:p>
        </p:txBody>
      </p:sp>
      <p:sp>
        <p:nvSpPr>
          <p:cNvPr id="1160" name="Google Shape;1160;p69"/>
          <p:cNvSpPr txBox="1"/>
          <p:nvPr/>
        </p:nvSpPr>
        <p:spPr>
          <a:xfrm>
            <a:off x="6972300" y="4171950"/>
            <a:ext cx="45720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Zero PCs</a:t>
            </a:r>
            <a:endParaRPr/>
          </a:p>
        </p:txBody>
      </p:sp>
      <p:sp>
        <p:nvSpPr>
          <p:cNvPr id="1161" name="Google Shape;1161;p69"/>
          <p:cNvSpPr txBox="1"/>
          <p:nvPr/>
        </p:nvSpPr>
        <p:spPr>
          <a:xfrm>
            <a:off x="6972300" y="4438650"/>
            <a:ext cx="45720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Neural noise cannot be compressed by linear algebra.</a:t>
            </a:r>
            <a:endParaRPr/>
          </a:p>
        </p:txBody>
      </p:sp>
      <p:pic>
        <p:nvPicPr>
          <p:cNvPr descr="image.png" id="1162" name="Google Shape;1162;p6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3" name="Google Shape;1163;p69"/>
          <p:cNvSpPr/>
          <p:nvPr/>
        </p:nvSpPr>
        <p:spPr>
          <a:xfrm>
            <a:off x="3614550" y="3148049"/>
            <a:ext cx="6128700" cy="762900"/>
          </a:xfrm>
          <a:prstGeom prst="roundRect">
            <a:avLst>
              <a:gd fmla="val 20338" name="adj"/>
            </a:avLst>
          </a:prstGeom>
          <a:solidFill>
            <a:srgbClr val="0F172A"/>
          </a:solidFill>
          <a:ln cap="flat" cmpd="sng" w="9525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4" name="Google Shape;1164;p69"/>
          <p:cNvSpPr txBox="1"/>
          <p:nvPr/>
        </p:nvSpPr>
        <p:spPr>
          <a:xfrm>
            <a:off x="4571993" y="3336602"/>
            <a:ext cx="41673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Python Lab Ready in Jupyter / </a:t>
            </a:r>
            <a:r>
              <a:rPr lang="en-US" sz="1200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BCI</a:t>
            </a:r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68" name="Shape 1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9" name="Google Shape;1169;p70"/>
          <p:cNvSpPr/>
          <p:nvPr/>
        </p:nvSpPr>
        <p:spPr>
          <a:xfrm>
            <a:off x="609600" y="2638425"/>
            <a:ext cx="5111799" cy="2390775"/>
          </a:xfrm>
          <a:prstGeom prst="roundRect">
            <a:avLst>
              <a:gd fmla="val 4780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0" name="Google Shape;1170;p70"/>
          <p:cNvSpPr/>
          <p:nvPr/>
        </p:nvSpPr>
        <p:spPr>
          <a:xfrm>
            <a:off x="6026199" y="2578893"/>
            <a:ext cx="5556200" cy="2509837"/>
          </a:xfrm>
          <a:prstGeom prst="roundRect">
            <a:avLst>
              <a:gd fmla="val 4554" name="adj"/>
            </a:avLst>
          </a:prstGeom>
          <a:solidFill>
            <a:srgbClr val="0F17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1" name="Google Shape;1171;p70"/>
          <p:cNvSpPr/>
          <p:nvPr/>
        </p:nvSpPr>
        <p:spPr>
          <a:xfrm>
            <a:off x="6254799" y="3093243"/>
            <a:ext cx="5099000" cy="1766887"/>
          </a:xfrm>
          <a:prstGeom prst="roundRect">
            <a:avLst>
              <a:gd fmla="val 4312" name="adj"/>
            </a:avLst>
          </a:prstGeom>
          <a:solidFill>
            <a:srgbClr val="1D253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2" name="Google Shape;1172;p70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563E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ACT 8: BRAIN-COMPUTER INTERFACES • 34 (THE DIALOGUE)</a:t>
            </a:r>
            <a:endParaRPr/>
          </a:p>
        </p:txBody>
      </p:sp>
      <p:sp>
        <p:nvSpPr>
          <p:cNvPr id="1173" name="Google Shape;1173;p70"/>
          <p:cNvSpPr txBox="1"/>
          <p:nvPr/>
        </p:nvSpPr>
        <p:spPr>
          <a:xfrm>
            <a:off x="609600" y="685800"/>
            <a:ext cx="115824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BCI : The Brain Learns the Computer's Math!</a:t>
            </a:r>
            <a:endParaRPr/>
          </a:p>
        </p:txBody>
      </p:sp>
      <p:sp>
        <p:nvSpPr>
          <p:cNvPr id="1174" name="Google Shape;1174;p70"/>
          <p:cNvSpPr txBox="1"/>
          <p:nvPr/>
        </p:nvSpPr>
        <p:spPr>
          <a:xfrm>
            <a:off x="838200" y="2867025"/>
            <a:ext cx="4749849" cy="1933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7C3AED"/>
                </a:solidFill>
                <a:latin typeface="Inter"/>
                <a:ea typeface="Inter"/>
                <a:cs typeface="Inter"/>
                <a:sym typeface="Inter"/>
              </a:rPr>
              <a:t>CLOSED-LOOP NEUROFEEDBACK</a:t>
            </a:r>
            <a:endParaRPr/>
          </a:p>
        </p:txBody>
      </p:sp>
      <p:sp>
        <p:nvSpPr>
          <p:cNvPr id="1175" name="Google Shape;1175;p70"/>
          <p:cNvSpPr txBox="1"/>
          <p:nvPr/>
        </p:nvSpPr>
        <p:spPr>
          <a:xfrm>
            <a:off x="6254799" y="2807493"/>
            <a:ext cx="5194250" cy="20526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MANIFOLD RE-ALIGNMENT</a:t>
            </a:r>
            <a:endParaRPr/>
          </a:p>
        </p:txBody>
      </p:sp>
      <p:sp>
        <p:nvSpPr>
          <p:cNvPr id="1176" name="Google Shape;1176;p70"/>
          <p:cNvSpPr txBox="1"/>
          <p:nvPr/>
        </p:nvSpPr>
        <p:spPr>
          <a:xfrm>
            <a:off x="847725" y="3143250"/>
            <a:ext cx="6084158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75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Co-Adaptation</a:t>
            </a:r>
            <a:endParaRPr/>
          </a:p>
        </p:txBody>
      </p:sp>
      <p:sp>
        <p:nvSpPr>
          <p:cNvPr id="1177" name="Google Shape;1177;p70"/>
          <p:cNvSpPr txBox="1"/>
          <p:nvPr/>
        </p:nvSpPr>
        <p:spPr>
          <a:xfrm>
            <a:off x="847725" y="3476625"/>
            <a:ext cx="47307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 BCI is a two-way conversation between living neurons and algorithms:</a:t>
            </a:r>
            <a:endParaRPr/>
          </a:p>
        </p:txBody>
      </p:sp>
      <p:sp>
        <p:nvSpPr>
          <p:cNvPr id="1178" name="Google Shape;1178;p70"/>
          <p:cNvSpPr txBox="1"/>
          <p:nvPr/>
        </p:nvSpPr>
        <p:spPr>
          <a:xfrm>
            <a:off x="847725" y="3952875"/>
            <a:ext cx="4730799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1. </a:t>
            </a:r>
            <a:r>
              <a:rPr b="1" i="0" lang="en-US" sz="1275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Algorithm adapts:</a:t>
            </a:r>
            <a:r>
              <a:rPr b="0" i="0" lang="en-US" sz="1275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Matrix W updates weights to fit the user's signals.</a:t>
            </a:r>
            <a:endParaRPr/>
          </a:p>
        </p:txBody>
      </p:sp>
      <p:sp>
        <p:nvSpPr>
          <p:cNvPr id="1179" name="Google Shape;1179;p70"/>
          <p:cNvSpPr txBox="1"/>
          <p:nvPr/>
        </p:nvSpPr>
        <p:spPr>
          <a:xfrm>
            <a:off x="847725" y="4410075"/>
            <a:ext cx="4730799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2. </a:t>
            </a:r>
            <a:r>
              <a:rPr b="1" i="0" lang="en-US" sz="1275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Brain adapts:</a:t>
            </a:r>
            <a:r>
              <a:rPr b="0" i="0" lang="en-US" sz="1275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The user's synapses rewire to steer along W's primary eigenvectors!</a:t>
            </a:r>
            <a:endParaRPr/>
          </a:p>
        </p:txBody>
      </p:sp>
      <p:sp>
        <p:nvSpPr>
          <p:cNvPr id="1180" name="Google Shape;1180;p70"/>
          <p:cNvSpPr txBox="1"/>
          <p:nvPr/>
        </p:nvSpPr>
        <p:spPr>
          <a:xfrm>
            <a:off x="6388149" y="3226593"/>
            <a:ext cx="4927500" cy="149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37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The Manifold Rule (Sadtler et al., 2014):</a:t>
            </a:r>
            <a:endParaRPr b="1" i="0" sz="1125" u="none" cap="none" strike="noStrike">
              <a:solidFill>
                <a:srgbClr val="CBD5E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93722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12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• If the computer's decoder aligns with the brain's natural neural manifold, the user masters the BCI in minutes.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12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• If the decoder violates the brain's covariance eigenvectors, the user struggles, because the brain cannot easily generate firing states outside its natural subspace!</a:t>
            </a:r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84" name="Shape 1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5" name="Google Shape;1185;p71"/>
          <p:cNvSpPr/>
          <p:nvPr/>
        </p:nvSpPr>
        <p:spPr>
          <a:xfrm>
            <a:off x="609600" y="5934075"/>
            <a:ext cx="10972800" cy="466725"/>
          </a:xfrm>
          <a:prstGeom prst="roundRect">
            <a:avLst>
              <a:gd fmla="val 16326" name="adj"/>
            </a:avLst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6" name="Google Shape;1186;p71"/>
          <p:cNvSpPr/>
          <p:nvPr/>
        </p:nvSpPr>
        <p:spPr>
          <a:xfrm>
            <a:off x="609600" y="2881312"/>
            <a:ext cx="2087909" cy="1343025"/>
          </a:xfrm>
          <a:prstGeom prst="roundRect">
            <a:avLst>
              <a:gd fmla="val 7092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7" name="Google Shape;1187;p71"/>
          <p:cNvSpPr/>
          <p:nvPr/>
        </p:nvSpPr>
        <p:spPr>
          <a:xfrm>
            <a:off x="2830859" y="2881312"/>
            <a:ext cx="2087909" cy="1343025"/>
          </a:xfrm>
          <a:prstGeom prst="roundRect">
            <a:avLst>
              <a:gd fmla="val 7092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8" name="Google Shape;1188;p71"/>
          <p:cNvSpPr/>
          <p:nvPr/>
        </p:nvSpPr>
        <p:spPr>
          <a:xfrm>
            <a:off x="5052119" y="2881312"/>
            <a:ext cx="2087909" cy="1343025"/>
          </a:xfrm>
          <a:prstGeom prst="roundRect">
            <a:avLst>
              <a:gd fmla="val 7092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9" name="Google Shape;1189;p71"/>
          <p:cNvSpPr/>
          <p:nvPr/>
        </p:nvSpPr>
        <p:spPr>
          <a:xfrm>
            <a:off x="7273379" y="2881312"/>
            <a:ext cx="2087909" cy="1343025"/>
          </a:xfrm>
          <a:prstGeom prst="roundRect">
            <a:avLst>
              <a:gd fmla="val 7092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0" name="Google Shape;1190;p71"/>
          <p:cNvSpPr/>
          <p:nvPr/>
        </p:nvSpPr>
        <p:spPr>
          <a:xfrm>
            <a:off x="9494639" y="2881312"/>
            <a:ext cx="2087909" cy="1343025"/>
          </a:xfrm>
          <a:prstGeom prst="roundRect">
            <a:avLst>
              <a:gd fmla="val 7092" name="adj"/>
            </a:avLst>
          </a:prstGeom>
          <a:solidFill>
            <a:srgbClr val="EFF6FF"/>
          </a:solidFill>
          <a:ln cap="flat" cmpd="sng" w="9525">
            <a:solidFill>
              <a:srgbClr val="BFDB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1" name="Google Shape;1191;p71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563E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SYNTHESIS • 35</a:t>
            </a:r>
            <a:endParaRPr/>
          </a:p>
        </p:txBody>
      </p:sp>
      <p:sp>
        <p:nvSpPr>
          <p:cNvPr id="1192" name="Google Shape;1192;p71"/>
          <p:cNvSpPr txBox="1"/>
          <p:nvPr/>
        </p:nvSpPr>
        <p:spPr>
          <a:xfrm>
            <a:off x="609600" y="685800"/>
            <a:ext cx="11582400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Summary: The 5 Rungs of Brain Math</a:t>
            </a:r>
            <a:endParaRPr/>
          </a:p>
        </p:txBody>
      </p:sp>
      <p:sp>
        <p:nvSpPr>
          <p:cNvPr id="1193" name="Google Shape;1193;p71"/>
          <p:cNvSpPr txBox="1"/>
          <p:nvPr/>
        </p:nvSpPr>
        <p:spPr>
          <a:xfrm>
            <a:off x="781050" y="3052762"/>
            <a:ext cx="1840259" cy="1000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⚡</a:t>
            </a:r>
            <a:endParaRPr/>
          </a:p>
        </p:txBody>
      </p:sp>
      <p:sp>
        <p:nvSpPr>
          <p:cNvPr id="1194" name="Google Shape;1194;p71"/>
          <p:cNvSpPr txBox="1"/>
          <p:nvPr/>
        </p:nvSpPr>
        <p:spPr>
          <a:xfrm>
            <a:off x="3002309" y="3052762"/>
            <a:ext cx="1840259" cy="1000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🏹</a:t>
            </a:r>
            <a:endParaRPr/>
          </a:p>
        </p:txBody>
      </p:sp>
      <p:sp>
        <p:nvSpPr>
          <p:cNvPr id="1195" name="Google Shape;1195;p71"/>
          <p:cNvSpPr txBox="1"/>
          <p:nvPr/>
        </p:nvSpPr>
        <p:spPr>
          <a:xfrm>
            <a:off x="5223569" y="3052762"/>
            <a:ext cx="1840259" cy="1000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🎯</a:t>
            </a:r>
            <a:endParaRPr/>
          </a:p>
        </p:txBody>
      </p:sp>
      <p:sp>
        <p:nvSpPr>
          <p:cNvPr id="1196" name="Google Shape;1196;p71"/>
          <p:cNvSpPr txBox="1"/>
          <p:nvPr/>
        </p:nvSpPr>
        <p:spPr>
          <a:xfrm>
            <a:off x="7444829" y="3052762"/>
            <a:ext cx="1840259" cy="1000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[W]</a:t>
            </a:r>
            <a:endParaRPr/>
          </a:p>
        </p:txBody>
      </p:sp>
      <p:sp>
        <p:nvSpPr>
          <p:cNvPr id="1197" name="Google Shape;1197;p71"/>
          <p:cNvSpPr txBox="1"/>
          <p:nvPr/>
        </p:nvSpPr>
        <p:spPr>
          <a:xfrm>
            <a:off x="9666089" y="3052762"/>
            <a:ext cx="1840259" cy="1000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🌌</a:t>
            </a:r>
            <a:endParaRPr/>
          </a:p>
        </p:txBody>
      </p:sp>
      <p:sp>
        <p:nvSpPr>
          <p:cNvPr id="1198" name="Google Shape;1198;p71"/>
          <p:cNvSpPr txBox="1"/>
          <p:nvPr/>
        </p:nvSpPr>
        <p:spPr>
          <a:xfrm>
            <a:off x="-261937" y="6067425"/>
            <a:ext cx="1271587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Bottom Line: Linear algebra is not dry equations — it is the native language of the living brain!</a:t>
            </a:r>
            <a:endParaRPr/>
          </a:p>
        </p:txBody>
      </p:sp>
      <p:sp>
        <p:nvSpPr>
          <p:cNvPr id="1199" name="Google Shape;1199;p71"/>
          <p:cNvSpPr txBox="1"/>
          <p:nvPr/>
        </p:nvSpPr>
        <p:spPr>
          <a:xfrm>
            <a:off x="790575" y="3386137"/>
            <a:ext cx="2265322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1. Scalars</a:t>
            </a:r>
            <a:endParaRPr/>
          </a:p>
        </p:txBody>
      </p:sp>
      <p:sp>
        <p:nvSpPr>
          <p:cNvPr id="1200" name="Google Shape;1200;p71"/>
          <p:cNvSpPr txBox="1"/>
          <p:nvPr/>
        </p:nvSpPr>
        <p:spPr>
          <a:xfrm>
            <a:off x="790575" y="3662362"/>
            <a:ext cx="1821209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Single cell firing rate (Hz).</a:t>
            </a:r>
            <a:endParaRPr/>
          </a:p>
        </p:txBody>
      </p:sp>
      <p:sp>
        <p:nvSpPr>
          <p:cNvPr id="1201" name="Google Shape;1201;p71"/>
          <p:cNvSpPr txBox="1"/>
          <p:nvPr/>
        </p:nvSpPr>
        <p:spPr>
          <a:xfrm>
            <a:off x="3011834" y="3386137"/>
            <a:ext cx="2265322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2. Vectors</a:t>
            </a:r>
            <a:endParaRPr/>
          </a:p>
        </p:txBody>
      </p:sp>
      <p:sp>
        <p:nvSpPr>
          <p:cNvPr id="1202" name="Google Shape;1202;p71"/>
          <p:cNvSpPr txBox="1"/>
          <p:nvPr/>
        </p:nvSpPr>
        <p:spPr>
          <a:xfrm>
            <a:off x="3011834" y="3662362"/>
            <a:ext cx="1821209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Instantaneous population state.</a:t>
            </a:r>
            <a:endParaRPr/>
          </a:p>
        </p:txBody>
      </p:sp>
      <p:sp>
        <p:nvSpPr>
          <p:cNvPr id="1203" name="Google Shape;1203;p71"/>
          <p:cNvSpPr txBox="1"/>
          <p:nvPr/>
        </p:nvSpPr>
        <p:spPr>
          <a:xfrm>
            <a:off x="5233094" y="3386137"/>
            <a:ext cx="2265322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3. Dot Product</a:t>
            </a:r>
            <a:endParaRPr/>
          </a:p>
        </p:txBody>
      </p:sp>
      <p:sp>
        <p:nvSpPr>
          <p:cNvPr id="1204" name="Google Shape;1204;p71"/>
          <p:cNvSpPr txBox="1"/>
          <p:nvPr/>
        </p:nvSpPr>
        <p:spPr>
          <a:xfrm>
            <a:off x="5233094" y="3662362"/>
            <a:ext cx="1821209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Measuring agreement &amp; null spaces.</a:t>
            </a:r>
            <a:endParaRPr/>
          </a:p>
        </p:txBody>
      </p:sp>
      <p:sp>
        <p:nvSpPr>
          <p:cNvPr id="1205" name="Google Shape;1205;p71"/>
          <p:cNvSpPr txBox="1"/>
          <p:nvPr/>
        </p:nvSpPr>
        <p:spPr>
          <a:xfrm>
            <a:off x="7454354" y="3386137"/>
            <a:ext cx="2265322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4. Matrices</a:t>
            </a:r>
            <a:endParaRPr/>
          </a:p>
        </p:txBody>
      </p:sp>
      <p:sp>
        <p:nvSpPr>
          <p:cNvPr id="1206" name="Google Shape;1206;p71"/>
          <p:cNvSpPr txBox="1"/>
          <p:nvPr/>
        </p:nvSpPr>
        <p:spPr>
          <a:xfrm>
            <a:off x="7454354" y="3662362"/>
            <a:ext cx="1821209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Synaptic circuits &amp; BCI decoders.</a:t>
            </a:r>
            <a:endParaRPr/>
          </a:p>
        </p:txBody>
      </p:sp>
      <p:sp>
        <p:nvSpPr>
          <p:cNvPr id="1207" name="Google Shape;1207;p71"/>
          <p:cNvSpPr txBox="1"/>
          <p:nvPr/>
        </p:nvSpPr>
        <p:spPr>
          <a:xfrm>
            <a:off x="9675614" y="3386137"/>
            <a:ext cx="2265322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E40AF"/>
                </a:solidFill>
                <a:latin typeface="Space Grotesk"/>
                <a:ea typeface="Space Grotesk"/>
                <a:cs typeface="Space Grotesk"/>
                <a:sym typeface="Space Grotesk"/>
              </a:rPr>
              <a:t>5. Manifolds</a:t>
            </a:r>
            <a:endParaRPr/>
          </a:p>
        </p:txBody>
      </p:sp>
      <p:sp>
        <p:nvSpPr>
          <p:cNvPr id="1208" name="Google Shape;1208;p71"/>
          <p:cNvSpPr txBox="1"/>
          <p:nvPr/>
        </p:nvSpPr>
        <p:spPr>
          <a:xfrm>
            <a:off x="9675614" y="3662362"/>
            <a:ext cx="1821209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1E3A8A"/>
                </a:solidFill>
                <a:latin typeface="Inter"/>
                <a:ea typeface="Inter"/>
                <a:cs typeface="Inter"/>
                <a:sym typeface="Inter"/>
              </a:rPr>
              <a:t>PCA uncovers smooth brain modes.</a:t>
            </a:r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B29"/>
        </a:solidFill>
      </p:bgPr>
    </p:bg>
    <p:spTree>
      <p:nvGrpSpPr>
        <p:cNvPr id="1212" name="Shape 1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13" name="Google Shape;1213;p7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14" name="Google Shape;1214;p72"/>
          <p:cNvSpPr/>
          <p:nvPr/>
        </p:nvSpPr>
        <p:spPr>
          <a:xfrm>
            <a:off x="4695825" y="1797397"/>
            <a:ext cx="2800350" cy="323850"/>
          </a:xfrm>
          <a:prstGeom prst="roundRect">
            <a:avLst>
              <a:gd fmla="val 50000" name="adj"/>
            </a:avLst>
          </a:prstGeom>
          <a:solidFill>
            <a:srgbClr val="193348"/>
          </a:solidFill>
          <a:ln cap="flat" cmpd="sng" w="9525">
            <a:solidFill>
              <a:srgbClr val="21547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5" name="Google Shape;1215;p72"/>
          <p:cNvSpPr/>
          <p:nvPr/>
        </p:nvSpPr>
        <p:spPr>
          <a:xfrm>
            <a:off x="3081337" y="4041427"/>
            <a:ext cx="6029325" cy="561975"/>
          </a:xfrm>
          <a:prstGeom prst="roundRect">
            <a:avLst>
              <a:gd fmla="val 20338" name="adj"/>
            </a:avLst>
          </a:prstGeom>
          <a:solidFill>
            <a:srgbClr val="0F172A"/>
          </a:solidFill>
          <a:ln cap="flat" cmpd="sng" w="9525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6" name="Google Shape;1216;p72"/>
          <p:cNvSpPr txBox="1"/>
          <p:nvPr/>
        </p:nvSpPr>
        <p:spPr>
          <a:xfrm>
            <a:off x="970359" y="2349847"/>
            <a:ext cx="10251281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00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Your Brain is Geometry in Motion</a:t>
            </a:r>
            <a:endParaRPr/>
          </a:p>
        </p:txBody>
      </p:sp>
      <p:sp>
        <p:nvSpPr>
          <p:cNvPr id="1217" name="Google Shape;1217;p72"/>
          <p:cNvSpPr txBox="1"/>
          <p:nvPr/>
        </p:nvSpPr>
        <p:spPr>
          <a:xfrm>
            <a:off x="1571625" y="3149947"/>
            <a:ext cx="9048750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"Next time you move your arm, listen to music, or speak a thought, remember: millions of vectors just danced together inside your head."</a:t>
            </a:r>
            <a:endParaRPr/>
          </a:p>
        </p:txBody>
      </p:sp>
      <p:sp>
        <p:nvSpPr>
          <p:cNvPr id="1218" name="Google Shape;1218;p72"/>
          <p:cNvSpPr txBox="1"/>
          <p:nvPr/>
        </p:nvSpPr>
        <p:spPr>
          <a:xfrm>
            <a:off x="4595812" y="1864072"/>
            <a:ext cx="300037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7DD3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THE ADVENTURE HAS JUST BEGUN</a:t>
            </a:r>
            <a:endParaRPr/>
          </a:p>
        </p:txBody>
      </p:sp>
      <p:sp>
        <p:nvSpPr>
          <p:cNvPr id="1219" name="Google Shape;1219;p72"/>
          <p:cNvSpPr txBox="1"/>
          <p:nvPr/>
        </p:nvSpPr>
        <p:spPr>
          <a:xfrm>
            <a:off x="2978943" y="4222402"/>
            <a:ext cx="4167187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Python Lab Ready in Jupyter / Colab</a:t>
            </a:r>
            <a:endParaRPr/>
          </a:p>
        </p:txBody>
      </p:sp>
      <p:sp>
        <p:nvSpPr>
          <p:cNvPr id="1220" name="Google Shape;1220;p72"/>
          <p:cNvSpPr txBox="1"/>
          <p:nvPr/>
        </p:nvSpPr>
        <p:spPr>
          <a:xfrm>
            <a:off x="6815137" y="4227165"/>
            <a:ext cx="37147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221" name="Google Shape;1221;p72"/>
          <p:cNvSpPr txBox="1"/>
          <p:nvPr/>
        </p:nvSpPr>
        <p:spPr>
          <a:xfrm>
            <a:off x="7081837" y="4222402"/>
            <a:ext cx="19050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2E8F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Q&amp;A / Discussion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