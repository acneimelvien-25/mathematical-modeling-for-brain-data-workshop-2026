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256" r:id="rId2"/>
    <p:sldId id="312" r:id="rId3"/>
    <p:sldId id="257" r:id="rId4"/>
    <p:sldId id="258" r:id="rId5"/>
    <p:sldId id="260" r:id="rId6"/>
    <p:sldId id="259" r:id="rId7"/>
    <p:sldId id="262" r:id="rId8"/>
    <p:sldId id="293" r:id="rId9"/>
    <p:sldId id="294" r:id="rId10"/>
    <p:sldId id="295" r:id="rId11"/>
    <p:sldId id="263" r:id="rId12"/>
    <p:sldId id="285" r:id="rId13"/>
    <p:sldId id="286" r:id="rId14"/>
    <p:sldId id="287" r:id="rId15"/>
    <p:sldId id="284" r:id="rId16"/>
    <p:sldId id="288" r:id="rId17"/>
    <p:sldId id="283" r:id="rId18"/>
    <p:sldId id="270" r:id="rId19"/>
    <p:sldId id="289" r:id="rId20"/>
    <p:sldId id="264" r:id="rId21"/>
    <p:sldId id="265" r:id="rId22"/>
    <p:sldId id="266" r:id="rId23"/>
    <p:sldId id="267" r:id="rId24"/>
    <p:sldId id="268" r:id="rId25"/>
    <p:sldId id="269" r:id="rId26"/>
    <p:sldId id="291" r:id="rId27"/>
    <p:sldId id="292" r:id="rId28"/>
    <p:sldId id="297" r:id="rId29"/>
    <p:sldId id="296" r:id="rId30"/>
    <p:sldId id="301" r:id="rId31"/>
    <p:sldId id="302" r:id="rId32"/>
    <p:sldId id="298" r:id="rId33"/>
    <p:sldId id="279" r:id="rId34"/>
    <p:sldId id="280" r:id="rId35"/>
    <p:sldId id="303" r:id="rId36"/>
    <p:sldId id="281" r:id="rId37"/>
    <p:sldId id="276" r:id="rId38"/>
    <p:sldId id="304" r:id="rId39"/>
    <p:sldId id="305" r:id="rId40"/>
    <p:sldId id="306" r:id="rId41"/>
    <p:sldId id="307" r:id="rId42"/>
    <p:sldId id="308" r:id="rId43"/>
    <p:sldId id="310" r:id="rId44"/>
    <p:sldId id="309" r:id="rId45"/>
    <p:sldId id="31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979" autoAdjust="0"/>
    <p:restoredTop sz="85766" autoAdjust="0"/>
  </p:normalViewPr>
  <p:slideViewPr>
    <p:cSldViewPr snapToGrid="0">
      <p:cViewPr varScale="1">
        <p:scale>
          <a:sx n="76" d="100"/>
          <a:sy n="76" d="100"/>
        </p:scale>
        <p:origin x="64" y="1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FD3BD25-82F7-B5D1-C60D-A5FBFA3F09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Probability and Uncertainty in Neural Modeling, Anna Freund</a:t>
            </a:r>
          </a:p>
        </p:txBody>
      </p:sp>
      <p:sp>
        <p:nvSpPr>
          <p:cNvPr id="3" name="Date Placeholder 2">
            <a:extLst>
              <a:ext uri="{FF2B5EF4-FFF2-40B4-BE49-F238E27FC236}">
                <a16:creationId xmlns:a16="http://schemas.microsoft.com/office/drawing/2014/main" id="{2DFAA905-8E41-D1B9-ADE9-5A0BC0D830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450BA3-7117-4AF4-9C88-4293D2A878FF}" type="datetimeFigureOut">
              <a:rPr lang="en-US" smtClean="0"/>
              <a:t>9/25/2026</a:t>
            </a:fld>
            <a:endParaRPr lang="en-US"/>
          </a:p>
        </p:txBody>
      </p:sp>
      <p:sp>
        <p:nvSpPr>
          <p:cNvPr id="4" name="Footer Placeholder 3">
            <a:extLst>
              <a:ext uri="{FF2B5EF4-FFF2-40B4-BE49-F238E27FC236}">
                <a16:creationId xmlns:a16="http://schemas.microsoft.com/office/drawing/2014/main" id="{C9E1B83C-238A-051A-053B-3382B6CBDD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E8B733-E42B-AF42-DE49-6273090AEC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E84EE-159E-434A-8B31-7089ECCE6BBD}" type="slidenum">
              <a:rPr lang="en-US" smtClean="0"/>
              <a:t>‹#›</a:t>
            </a:fld>
            <a:endParaRPr lang="en-US"/>
          </a:p>
        </p:txBody>
      </p:sp>
    </p:spTree>
    <p:extLst>
      <p:ext uri="{BB962C8B-B14F-4D97-AF65-F5344CB8AC3E}">
        <p14:creationId xmlns:p14="http://schemas.microsoft.com/office/powerpoint/2010/main" val="201355926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Probability and Uncertainty in Neural Modeling, Anna Freund</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79BB6B-3F8E-4588-8F07-CAF71E9E767C}"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298BF-1B55-4FA3-AE19-8B870B1B49AD}" type="slidenum">
              <a:rPr lang="en-US" smtClean="0"/>
              <a:t>‹#›</a:t>
            </a:fld>
            <a:endParaRPr lang="en-US"/>
          </a:p>
        </p:txBody>
      </p:sp>
    </p:spTree>
    <p:extLst>
      <p:ext uri="{BB962C8B-B14F-4D97-AF65-F5344CB8AC3E}">
        <p14:creationId xmlns:p14="http://schemas.microsoft.com/office/powerpoint/2010/main" val="2960976138"/>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have seen several models in the last lectures. From single cell to neural systems. Describing activity as measured in biological experiments. So far this models were described by deterministic equations</a:t>
            </a:r>
          </a:p>
        </p:txBody>
      </p:sp>
      <p:sp>
        <p:nvSpPr>
          <p:cNvPr id="4" name="Header Placeholder 3"/>
          <p:cNvSpPr>
            <a:spLocks noGrp="1"/>
          </p:cNvSpPr>
          <p:nvPr>
            <p:ph type="hdr" sz="quarter"/>
          </p:nvPr>
        </p:nvSpPr>
        <p:spPr/>
        <p:txBody>
          <a:bodyPr/>
          <a:lstStyle/>
          <a:p>
            <a:r>
              <a:rPr lang="en-US"/>
              <a:t>Probability and Uncertainty in Neural Modeling, Anna Freund</a:t>
            </a:r>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566298BF-1B55-4FA3-AE19-8B870B1B49AD}" type="slidenum">
              <a:rPr lang="en-US" smtClean="0"/>
              <a:t>3</a:t>
            </a:fld>
            <a:endParaRPr lang="en-US"/>
          </a:p>
        </p:txBody>
      </p:sp>
    </p:spTree>
    <p:extLst>
      <p:ext uri="{BB962C8B-B14F-4D97-AF65-F5344CB8AC3E}">
        <p14:creationId xmlns:p14="http://schemas.microsoft.com/office/powerpoint/2010/main" val="236039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the membrane potential of an neuron does not take into account the diffusion of each single ion, it is calculated from the concentration (sum of many ions)</a:t>
            </a:r>
          </a:p>
        </p:txBody>
      </p:sp>
      <p:sp>
        <p:nvSpPr>
          <p:cNvPr id="4" name="Header Placeholder 3"/>
          <p:cNvSpPr>
            <a:spLocks noGrp="1"/>
          </p:cNvSpPr>
          <p:nvPr>
            <p:ph type="hdr" sz="quarter"/>
          </p:nvPr>
        </p:nvSpPr>
        <p:spPr/>
        <p:txBody>
          <a:bodyPr/>
          <a:lstStyle/>
          <a:p>
            <a:r>
              <a:rPr lang="en-US"/>
              <a:t>Probability and Uncertainty in Neural Modeling, Anna Freund</a:t>
            </a:r>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566298BF-1B55-4FA3-AE19-8B870B1B49AD}" type="slidenum">
              <a:rPr lang="en-US" smtClean="0"/>
              <a:t>5</a:t>
            </a:fld>
            <a:endParaRPr lang="en-US"/>
          </a:p>
        </p:txBody>
      </p:sp>
    </p:spTree>
    <p:extLst>
      <p:ext uri="{BB962C8B-B14F-4D97-AF65-F5344CB8AC3E}">
        <p14:creationId xmlns:p14="http://schemas.microsoft.com/office/powerpoint/2010/main" val="4068731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our question why we are interested in probability in neural modeling.</a:t>
            </a:r>
          </a:p>
        </p:txBody>
      </p:sp>
      <p:sp>
        <p:nvSpPr>
          <p:cNvPr id="4" name="Header Placeholder 3"/>
          <p:cNvSpPr>
            <a:spLocks noGrp="1"/>
          </p:cNvSpPr>
          <p:nvPr>
            <p:ph type="hdr" sz="quarter"/>
          </p:nvPr>
        </p:nvSpPr>
        <p:spPr/>
        <p:txBody>
          <a:bodyPr/>
          <a:lstStyle/>
          <a:p>
            <a:r>
              <a:rPr lang="en-US"/>
              <a:t>Probability and Uncertainty in Neural Modeling, Anna Freund</a:t>
            </a:r>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566298BF-1B55-4FA3-AE19-8B870B1B49AD}" type="slidenum">
              <a:rPr lang="en-US" smtClean="0"/>
              <a:t>6</a:t>
            </a:fld>
            <a:endParaRPr lang="en-US"/>
          </a:p>
        </p:txBody>
      </p:sp>
    </p:spTree>
    <p:extLst>
      <p:ext uri="{BB962C8B-B14F-4D97-AF65-F5344CB8AC3E}">
        <p14:creationId xmlns:p14="http://schemas.microsoft.com/office/powerpoint/2010/main" val="205963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C9A35-2CFF-0753-25B3-9659D47A5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B0CA8-9EC0-EB16-38F7-6D35C38F0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F8B4B6-D880-D7BD-1E67-3A2CD4C0AA82}"/>
              </a:ext>
            </a:extLst>
          </p:cNvPr>
          <p:cNvSpPr>
            <a:spLocks noGrp="1"/>
          </p:cNvSpPr>
          <p:nvPr>
            <p:ph type="body" idx="1"/>
          </p:nvPr>
        </p:nvSpPr>
        <p:spPr/>
        <p:txBody>
          <a:bodyPr/>
          <a:lstStyle/>
          <a:p>
            <a:r>
              <a:rPr lang="en-US" dirty="0"/>
              <a:t>What kind of variability do we see? </a:t>
            </a:r>
          </a:p>
        </p:txBody>
      </p:sp>
      <p:sp>
        <p:nvSpPr>
          <p:cNvPr id="4" name="Header Placeholder 3">
            <a:extLst>
              <a:ext uri="{FF2B5EF4-FFF2-40B4-BE49-F238E27FC236}">
                <a16:creationId xmlns:a16="http://schemas.microsoft.com/office/drawing/2014/main" id="{848F6F98-3096-E575-E0AF-D2777B908C98}"/>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10CDF113-681F-0D91-6401-C39EF9F82484}"/>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C4B31165-E438-CBF8-055B-D5E896E8C056}"/>
              </a:ext>
            </a:extLst>
          </p:cNvPr>
          <p:cNvSpPr>
            <a:spLocks noGrp="1"/>
          </p:cNvSpPr>
          <p:nvPr>
            <p:ph type="sldNum" sz="quarter" idx="5"/>
          </p:nvPr>
        </p:nvSpPr>
        <p:spPr/>
        <p:txBody>
          <a:bodyPr/>
          <a:lstStyle/>
          <a:p>
            <a:fld id="{566298BF-1B55-4FA3-AE19-8B870B1B49AD}" type="slidenum">
              <a:rPr lang="en-US" smtClean="0"/>
              <a:t>7</a:t>
            </a:fld>
            <a:endParaRPr lang="en-US"/>
          </a:p>
        </p:txBody>
      </p:sp>
    </p:spTree>
    <p:extLst>
      <p:ext uri="{BB962C8B-B14F-4D97-AF65-F5344CB8AC3E}">
        <p14:creationId xmlns:p14="http://schemas.microsoft.com/office/powerpoint/2010/main" val="91264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9B66A-2B44-5805-61A3-FC9572ACB2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56478-346B-426F-0208-01D39CE02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81E9C-2C87-C08B-7264-D3799FAB6D67}"/>
              </a:ext>
            </a:extLst>
          </p:cNvPr>
          <p:cNvSpPr>
            <a:spLocks noGrp="1"/>
          </p:cNvSpPr>
          <p:nvPr>
            <p:ph type="body" idx="1"/>
          </p:nvPr>
        </p:nvSpPr>
        <p:spPr/>
        <p:txBody>
          <a:bodyPr/>
          <a:lstStyle/>
          <a:p>
            <a:r>
              <a:rPr lang="en-US" dirty="0"/>
              <a:t>Lets look at one example</a:t>
            </a:r>
          </a:p>
          <a:p>
            <a:r>
              <a:rPr lang="en-US" dirty="0"/>
              <a:t>Changes is sodium conductance after membrane depolarization. Voltage change </a:t>
            </a:r>
            <a:r>
              <a:rPr lang="en-US" dirty="0">
                <a:sym typeface="Wingdings" panose="05000000000000000000" pitchFamily="2" charset="2"/>
              </a:rPr>
              <a:t> sodium current</a:t>
            </a:r>
            <a:endParaRPr lang="en-US" dirty="0"/>
          </a:p>
        </p:txBody>
      </p:sp>
      <p:sp>
        <p:nvSpPr>
          <p:cNvPr id="4" name="Header Placeholder 3">
            <a:extLst>
              <a:ext uri="{FF2B5EF4-FFF2-40B4-BE49-F238E27FC236}">
                <a16:creationId xmlns:a16="http://schemas.microsoft.com/office/drawing/2014/main" id="{90CE7E01-E18E-A459-7234-A0621542A566}"/>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840900EC-9D13-5865-C207-2758EB8FF243}"/>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34E97DDC-BEAA-8B60-469E-63BAC0AB4556}"/>
              </a:ext>
            </a:extLst>
          </p:cNvPr>
          <p:cNvSpPr>
            <a:spLocks noGrp="1"/>
          </p:cNvSpPr>
          <p:nvPr>
            <p:ph type="sldNum" sz="quarter" idx="5"/>
          </p:nvPr>
        </p:nvSpPr>
        <p:spPr/>
        <p:txBody>
          <a:bodyPr/>
          <a:lstStyle/>
          <a:p>
            <a:fld id="{566298BF-1B55-4FA3-AE19-8B870B1B49AD}" type="slidenum">
              <a:rPr lang="en-US" smtClean="0"/>
              <a:t>8</a:t>
            </a:fld>
            <a:endParaRPr lang="en-US"/>
          </a:p>
        </p:txBody>
      </p:sp>
    </p:spTree>
    <p:extLst>
      <p:ext uri="{BB962C8B-B14F-4D97-AF65-F5344CB8AC3E}">
        <p14:creationId xmlns:p14="http://schemas.microsoft.com/office/powerpoint/2010/main" val="3345687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EB8CE-4527-C7B7-705C-15ABA6E48C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0311C-3546-1D2B-7E4B-EC5879149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E53925-605D-85E9-3FBD-3A2366EB6C26}"/>
              </a:ext>
            </a:extLst>
          </p:cNvPr>
          <p:cNvSpPr>
            <a:spLocks noGrp="1"/>
          </p:cNvSpPr>
          <p:nvPr>
            <p:ph type="body" idx="1"/>
          </p:nvPr>
        </p:nvSpPr>
        <p:spPr/>
        <p:txBody>
          <a:bodyPr/>
          <a:lstStyle/>
          <a:p>
            <a:r>
              <a:rPr lang="en-US" sz="1200" dirty="0"/>
              <a:t>High trial to trial variability in sodium current with same stimulus</a:t>
            </a:r>
          </a:p>
          <a:p>
            <a:r>
              <a:rPr lang="en-US" sz="1200" dirty="0"/>
              <a:t>Average over 161 trails leads to smooth curve as described in deterministic equations</a:t>
            </a:r>
          </a:p>
          <a:p>
            <a:endParaRPr lang="en-US" dirty="0"/>
          </a:p>
        </p:txBody>
      </p:sp>
      <p:sp>
        <p:nvSpPr>
          <p:cNvPr id="4" name="Header Placeholder 3">
            <a:extLst>
              <a:ext uri="{FF2B5EF4-FFF2-40B4-BE49-F238E27FC236}">
                <a16:creationId xmlns:a16="http://schemas.microsoft.com/office/drawing/2014/main" id="{46171E0B-C583-41B4-FDDF-7DB3F9460F55}"/>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F5B783AA-6D11-E072-23AC-F245435B5259}"/>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40C3A10C-0712-6667-829F-284A11FDEF55}"/>
              </a:ext>
            </a:extLst>
          </p:cNvPr>
          <p:cNvSpPr>
            <a:spLocks noGrp="1"/>
          </p:cNvSpPr>
          <p:nvPr>
            <p:ph type="sldNum" sz="quarter" idx="5"/>
          </p:nvPr>
        </p:nvSpPr>
        <p:spPr/>
        <p:txBody>
          <a:bodyPr/>
          <a:lstStyle/>
          <a:p>
            <a:fld id="{566298BF-1B55-4FA3-AE19-8B870B1B49AD}" type="slidenum">
              <a:rPr lang="en-US" smtClean="0"/>
              <a:t>9</a:t>
            </a:fld>
            <a:endParaRPr lang="en-US"/>
          </a:p>
        </p:txBody>
      </p:sp>
    </p:spTree>
    <p:extLst>
      <p:ext uri="{BB962C8B-B14F-4D97-AF65-F5344CB8AC3E}">
        <p14:creationId xmlns:p14="http://schemas.microsoft.com/office/powerpoint/2010/main" val="3275039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8C617-D10A-EC42-B75E-81085A22A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69710-5101-ACD8-A047-F5B32E2D2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AAD9C-5C1A-56A4-B5BD-51B1D3C0BF66}"/>
              </a:ext>
            </a:extLst>
          </p:cNvPr>
          <p:cNvSpPr>
            <a:spLocks noGrp="1"/>
          </p:cNvSpPr>
          <p:nvPr>
            <p:ph type="body" idx="1"/>
          </p:nvPr>
        </p:nvSpPr>
        <p:spPr/>
        <p:txBody>
          <a:bodyPr/>
          <a:lstStyle/>
          <a:p>
            <a:r>
              <a:rPr lang="en-US" dirty="0"/>
              <a:t>Where does the variability come from?</a:t>
            </a:r>
          </a:p>
        </p:txBody>
      </p:sp>
      <p:sp>
        <p:nvSpPr>
          <p:cNvPr id="4" name="Header Placeholder 3">
            <a:extLst>
              <a:ext uri="{FF2B5EF4-FFF2-40B4-BE49-F238E27FC236}">
                <a16:creationId xmlns:a16="http://schemas.microsoft.com/office/drawing/2014/main" id="{DBDE1A0E-B6E9-B8B6-C3DA-D0A97A2774D2}"/>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3D13F2FF-9AD2-ED9B-B38F-C722391175CE}"/>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CAFF2EE3-E6E2-46F5-0F65-1FDF64C7492B}"/>
              </a:ext>
            </a:extLst>
          </p:cNvPr>
          <p:cNvSpPr>
            <a:spLocks noGrp="1"/>
          </p:cNvSpPr>
          <p:nvPr>
            <p:ph type="sldNum" sz="quarter" idx="5"/>
          </p:nvPr>
        </p:nvSpPr>
        <p:spPr/>
        <p:txBody>
          <a:bodyPr/>
          <a:lstStyle/>
          <a:p>
            <a:fld id="{566298BF-1B55-4FA3-AE19-8B870B1B49AD}" type="slidenum">
              <a:rPr lang="en-US" smtClean="0"/>
              <a:t>10</a:t>
            </a:fld>
            <a:endParaRPr lang="en-US"/>
          </a:p>
        </p:txBody>
      </p:sp>
    </p:spTree>
    <p:extLst>
      <p:ext uri="{BB962C8B-B14F-4D97-AF65-F5344CB8AC3E}">
        <p14:creationId xmlns:p14="http://schemas.microsoft.com/office/powerpoint/2010/main" val="3038585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3DCD3-5702-D3BF-9E3F-4065A84AE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50A1F-2D16-9500-B359-25CCC27139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7BC99-EBBA-006B-6D75-908611D4B5B4}"/>
              </a:ext>
            </a:extLst>
          </p:cNvPr>
          <p:cNvSpPr>
            <a:spLocks noGrp="1"/>
          </p:cNvSpPr>
          <p:nvPr>
            <p:ph type="body" idx="1"/>
          </p:nvPr>
        </p:nvSpPr>
        <p:spPr/>
        <p:txBody>
          <a:bodyPr/>
          <a:lstStyle/>
          <a:p>
            <a:r>
              <a:rPr lang="en-US" dirty="0"/>
              <a:t>First we need to understand some definitions and the basics of probability theory. So lets start with some definition</a:t>
            </a:r>
          </a:p>
        </p:txBody>
      </p:sp>
      <p:sp>
        <p:nvSpPr>
          <p:cNvPr id="4" name="Header Placeholder 3">
            <a:extLst>
              <a:ext uri="{FF2B5EF4-FFF2-40B4-BE49-F238E27FC236}">
                <a16:creationId xmlns:a16="http://schemas.microsoft.com/office/drawing/2014/main" id="{AE63E0D4-4F57-5352-F82E-A11CE71FD3F1}"/>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A0F49982-EFC6-A327-3804-17A46ECDFEC9}"/>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9E1062FE-1E0F-05A8-5E50-547E10D293C2}"/>
              </a:ext>
            </a:extLst>
          </p:cNvPr>
          <p:cNvSpPr>
            <a:spLocks noGrp="1"/>
          </p:cNvSpPr>
          <p:nvPr>
            <p:ph type="sldNum" sz="quarter" idx="5"/>
          </p:nvPr>
        </p:nvSpPr>
        <p:spPr/>
        <p:txBody>
          <a:bodyPr/>
          <a:lstStyle/>
          <a:p>
            <a:fld id="{566298BF-1B55-4FA3-AE19-8B870B1B49AD}" type="slidenum">
              <a:rPr lang="en-US" smtClean="0"/>
              <a:t>11</a:t>
            </a:fld>
            <a:endParaRPr lang="en-US"/>
          </a:p>
        </p:txBody>
      </p:sp>
    </p:spTree>
    <p:extLst>
      <p:ext uri="{BB962C8B-B14F-4D97-AF65-F5344CB8AC3E}">
        <p14:creationId xmlns:p14="http://schemas.microsoft.com/office/powerpoint/2010/main" val="3681668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4804A-6FD7-40BB-41A2-A7D7B9B2E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E8E4C-AF51-6D7C-2A55-41C62C9D9C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FEACE-E63A-CA56-C562-BC107B73D21C}"/>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200EF3F-B99F-7400-300A-05AB2E15E213}"/>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892C9769-E918-A910-47E8-4AB01BFFF0ED}"/>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E6272F7F-2274-9608-4AAA-AD6691F1E207}"/>
              </a:ext>
            </a:extLst>
          </p:cNvPr>
          <p:cNvSpPr>
            <a:spLocks noGrp="1"/>
          </p:cNvSpPr>
          <p:nvPr>
            <p:ph type="sldNum" sz="quarter" idx="5"/>
          </p:nvPr>
        </p:nvSpPr>
        <p:spPr/>
        <p:txBody>
          <a:bodyPr/>
          <a:lstStyle/>
          <a:p>
            <a:fld id="{566298BF-1B55-4FA3-AE19-8B870B1B49AD}" type="slidenum">
              <a:rPr lang="en-US" smtClean="0"/>
              <a:t>12</a:t>
            </a:fld>
            <a:endParaRPr lang="en-US"/>
          </a:p>
        </p:txBody>
      </p:sp>
    </p:spTree>
    <p:extLst>
      <p:ext uri="{BB962C8B-B14F-4D97-AF65-F5344CB8AC3E}">
        <p14:creationId xmlns:p14="http://schemas.microsoft.com/office/powerpoint/2010/main" val="3959066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A879A-6112-0FD9-079C-A37842AC6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A7576-EB87-22B4-7468-D72B7320F4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26DD6-C901-3D92-4BE6-B6BA07C54FD8}"/>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47FF60C-EC34-5ED2-C149-B2CBB14C2680}"/>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9ADEA5A5-C501-F23D-AB2E-10D3F6C84C84}"/>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4D2104D4-7FB7-954C-07C8-806212647F53}"/>
              </a:ext>
            </a:extLst>
          </p:cNvPr>
          <p:cNvSpPr>
            <a:spLocks noGrp="1"/>
          </p:cNvSpPr>
          <p:nvPr>
            <p:ph type="sldNum" sz="quarter" idx="5"/>
          </p:nvPr>
        </p:nvSpPr>
        <p:spPr/>
        <p:txBody>
          <a:bodyPr/>
          <a:lstStyle/>
          <a:p>
            <a:fld id="{566298BF-1B55-4FA3-AE19-8B870B1B49AD}" type="slidenum">
              <a:rPr lang="en-US" smtClean="0"/>
              <a:t>13</a:t>
            </a:fld>
            <a:endParaRPr lang="en-US"/>
          </a:p>
        </p:txBody>
      </p:sp>
    </p:spTree>
    <p:extLst>
      <p:ext uri="{BB962C8B-B14F-4D97-AF65-F5344CB8AC3E}">
        <p14:creationId xmlns:p14="http://schemas.microsoft.com/office/powerpoint/2010/main" val="2748995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54B2-E09A-5C53-3FA0-F92AFD863D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F69C6-07FB-D698-6A16-83F196F5E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A5A993-3518-30E6-C4CA-A684528DF309}"/>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DCDAE7A3-9F5E-5324-2C6E-7030948226C3}"/>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E7F13B8F-A3C7-3C0F-73AB-3E88AD88D3CC}"/>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AFAE96AF-4E60-042C-D8DC-1F7AC473A100}"/>
              </a:ext>
            </a:extLst>
          </p:cNvPr>
          <p:cNvSpPr>
            <a:spLocks noGrp="1"/>
          </p:cNvSpPr>
          <p:nvPr>
            <p:ph type="sldNum" sz="quarter" idx="5"/>
          </p:nvPr>
        </p:nvSpPr>
        <p:spPr/>
        <p:txBody>
          <a:bodyPr/>
          <a:lstStyle/>
          <a:p>
            <a:fld id="{566298BF-1B55-4FA3-AE19-8B870B1B49AD}" type="slidenum">
              <a:rPr lang="en-US" smtClean="0"/>
              <a:t>14</a:t>
            </a:fld>
            <a:endParaRPr lang="en-US"/>
          </a:p>
        </p:txBody>
      </p:sp>
    </p:spTree>
    <p:extLst>
      <p:ext uri="{BB962C8B-B14F-4D97-AF65-F5344CB8AC3E}">
        <p14:creationId xmlns:p14="http://schemas.microsoft.com/office/powerpoint/2010/main" val="1733520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1E5CA-BCE8-5B1F-9E3C-ED97ABAFA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AF3A2A-96FA-34CF-B1C4-581058F40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CD7AFD-A7E3-DC8B-EC43-A6AAF7946B01}"/>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E755088E-3429-67B2-E9BB-A42BA65902CF}"/>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AF0AC9E0-A495-1DA7-C5E8-E7E7198D54CE}"/>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96D4CFB9-1C55-58FF-2C7B-AC1D88BE2238}"/>
              </a:ext>
            </a:extLst>
          </p:cNvPr>
          <p:cNvSpPr>
            <a:spLocks noGrp="1"/>
          </p:cNvSpPr>
          <p:nvPr>
            <p:ph type="sldNum" sz="quarter" idx="5"/>
          </p:nvPr>
        </p:nvSpPr>
        <p:spPr/>
        <p:txBody>
          <a:bodyPr/>
          <a:lstStyle/>
          <a:p>
            <a:fld id="{566298BF-1B55-4FA3-AE19-8B870B1B49AD}" type="slidenum">
              <a:rPr lang="en-US" smtClean="0"/>
              <a:t>15</a:t>
            </a:fld>
            <a:endParaRPr lang="en-US"/>
          </a:p>
        </p:txBody>
      </p:sp>
    </p:spTree>
    <p:extLst>
      <p:ext uri="{BB962C8B-B14F-4D97-AF65-F5344CB8AC3E}">
        <p14:creationId xmlns:p14="http://schemas.microsoft.com/office/powerpoint/2010/main" val="1627183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979F5-1404-CEDA-A348-6B08E8A377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E3BD9-36AD-9E25-F2BE-F19A15379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0CAC4-627B-31A3-E420-BFF690894BB6}"/>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7DF6CD4-127D-C9F1-D570-D471C7E75A45}"/>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FA460989-9320-2BEB-6286-90C7DCB99B57}"/>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D8394492-909F-B34D-672B-093E7C556563}"/>
              </a:ext>
            </a:extLst>
          </p:cNvPr>
          <p:cNvSpPr>
            <a:spLocks noGrp="1"/>
          </p:cNvSpPr>
          <p:nvPr>
            <p:ph type="sldNum" sz="quarter" idx="5"/>
          </p:nvPr>
        </p:nvSpPr>
        <p:spPr/>
        <p:txBody>
          <a:bodyPr/>
          <a:lstStyle/>
          <a:p>
            <a:fld id="{566298BF-1B55-4FA3-AE19-8B870B1B49AD}" type="slidenum">
              <a:rPr lang="en-US" smtClean="0"/>
              <a:t>16</a:t>
            </a:fld>
            <a:endParaRPr lang="en-US"/>
          </a:p>
        </p:txBody>
      </p:sp>
    </p:spTree>
    <p:extLst>
      <p:ext uri="{BB962C8B-B14F-4D97-AF65-F5344CB8AC3E}">
        <p14:creationId xmlns:p14="http://schemas.microsoft.com/office/powerpoint/2010/main" val="28389373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2DF63-681D-C61B-6498-97B452968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D8CB3-C730-5B53-4A5B-FE4A4356B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64224-E297-2EC3-F215-49B2D6232FC4}"/>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C4FCAA65-DE58-F3B8-ED78-1400F9CEBE89}"/>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676B238E-2A55-8514-D2AA-428A1A990831}"/>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D47C19BD-B891-DCF5-C809-1F615A3C947A}"/>
              </a:ext>
            </a:extLst>
          </p:cNvPr>
          <p:cNvSpPr>
            <a:spLocks noGrp="1"/>
          </p:cNvSpPr>
          <p:nvPr>
            <p:ph type="sldNum" sz="quarter" idx="5"/>
          </p:nvPr>
        </p:nvSpPr>
        <p:spPr/>
        <p:txBody>
          <a:bodyPr/>
          <a:lstStyle/>
          <a:p>
            <a:fld id="{566298BF-1B55-4FA3-AE19-8B870B1B49AD}" type="slidenum">
              <a:rPr lang="en-US" smtClean="0"/>
              <a:t>17</a:t>
            </a:fld>
            <a:endParaRPr lang="en-US"/>
          </a:p>
        </p:txBody>
      </p:sp>
    </p:spTree>
    <p:extLst>
      <p:ext uri="{BB962C8B-B14F-4D97-AF65-F5344CB8AC3E}">
        <p14:creationId xmlns:p14="http://schemas.microsoft.com/office/powerpoint/2010/main" val="2174253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1EE64-ECB0-5BB3-9764-9D4E86EA5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96EE5-4DF8-F849-A617-74337DC41A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550E57-040F-DFD1-95A9-66BEF04B5B6E}"/>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E272CC99-1BD7-F18E-FFF3-EA335076E756}"/>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6CBDE7E6-C415-A1E6-14D3-3047F9922DD8}"/>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4188BD8A-E56F-C9B4-60F3-98B570BC4D14}"/>
              </a:ext>
            </a:extLst>
          </p:cNvPr>
          <p:cNvSpPr>
            <a:spLocks noGrp="1"/>
          </p:cNvSpPr>
          <p:nvPr>
            <p:ph type="sldNum" sz="quarter" idx="5"/>
          </p:nvPr>
        </p:nvSpPr>
        <p:spPr/>
        <p:txBody>
          <a:bodyPr/>
          <a:lstStyle/>
          <a:p>
            <a:fld id="{566298BF-1B55-4FA3-AE19-8B870B1B49AD}" type="slidenum">
              <a:rPr lang="en-US" smtClean="0"/>
              <a:t>18</a:t>
            </a:fld>
            <a:endParaRPr lang="en-US"/>
          </a:p>
        </p:txBody>
      </p:sp>
    </p:spTree>
    <p:extLst>
      <p:ext uri="{BB962C8B-B14F-4D97-AF65-F5344CB8AC3E}">
        <p14:creationId xmlns:p14="http://schemas.microsoft.com/office/powerpoint/2010/main" val="716141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6FD56-F94B-AACB-224F-2A79E1950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ED5C4-C0B7-5209-DEED-A6269B4AE3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A3423-F8F8-F90B-C861-16E3AF818DAD}"/>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A40CDE78-0C4B-6C28-2F58-A7E61077C448}"/>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3F46A8D1-9285-6BB6-27B8-A0B1044A0831}"/>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F439F39E-B1A4-DC53-CAED-94CECA286002}"/>
              </a:ext>
            </a:extLst>
          </p:cNvPr>
          <p:cNvSpPr>
            <a:spLocks noGrp="1"/>
          </p:cNvSpPr>
          <p:nvPr>
            <p:ph type="sldNum" sz="quarter" idx="5"/>
          </p:nvPr>
        </p:nvSpPr>
        <p:spPr/>
        <p:txBody>
          <a:bodyPr/>
          <a:lstStyle/>
          <a:p>
            <a:fld id="{566298BF-1B55-4FA3-AE19-8B870B1B49AD}" type="slidenum">
              <a:rPr lang="en-US" smtClean="0"/>
              <a:t>19</a:t>
            </a:fld>
            <a:endParaRPr lang="en-US"/>
          </a:p>
        </p:txBody>
      </p:sp>
    </p:spTree>
    <p:extLst>
      <p:ext uri="{BB962C8B-B14F-4D97-AF65-F5344CB8AC3E}">
        <p14:creationId xmlns:p14="http://schemas.microsoft.com/office/powerpoint/2010/main" val="28965121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67A57-E5F8-C66F-6D1D-CEE588D90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70BF8-24D8-69F6-640C-532FCEB5D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903B01-94B8-5D5E-59A6-C51C7E0B6764}"/>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3591F1C-D90D-71EC-9899-3D728DE169CA}"/>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F053687B-7D06-7C98-C01C-72090533CFAF}"/>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15BE8DEC-23B6-E91F-C375-7CC1BF3A3ADB}"/>
              </a:ext>
            </a:extLst>
          </p:cNvPr>
          <p:cNvSpPr>
            <a:spLocks noGrp="1"/>
          </p:cNvSpPr>
          <p:nvPr>
            <p:ph type="sldNum" sz="quarter" idx="5"/>
          </p:nvPr>
        </p:nvSpPr>
        <p:spPr/>
        <p:txBody>
          <a:bodyPr/>
          <a:lstStyle/>
          <a:p>
            <a:fld id="{566298BF-1B55-4FA3-AE19-8B870B1B49AD}" type="slidenum">
              <a:rPr lang="en-US" smtClean="0"/>
              <a:t>20</a:t>
            </a:fld>
            <a:endParaRPr lang="en-US"/>
          </a:p>
        </p:txBody>
      </p:sp>
    </p:spTree>
    <p:extLst>
      <p:ext uri="{BB962C8B-B14F-4D97-AF65-F5344CB8AC3E}">
        <p14:creationId xmlns:p14="http://schemas.microsoft.com/office/powerpoint/2010/main" val="956263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7FB70-6208-96A7-FA7E-EC090B67BD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6F557-89BF-DF7E-1CBC-3ED0C1A08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07E9A-057F-782B-9768-B687ADEB220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89A43789-0585-929E-6B54-3F1AF485BF6A}"/>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7D9DDB85-1350-4D40-2F28-4070E4DF87D1}"/>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248274CF-9064-A438-B61B-A343CA9EEFB0}"/>
              </a:ext>
            </a:extLst>
          </p:cNvPr>
          <p:cNvSpPr>
            <a:spLocks noGrp="1"/>
          </p:cNvSpPr>
          <p:nvPr>
            <p:ph type="sldNum" sz="quarter" idx="5"/>
          </p:nvPr>
        </p:nvSpPr>
        <p:spPr/>
        <p:txBody>
          <a:bodyPr/>
          <a:lstStyle/>
          <a:p>
            <a:fld id="{566298BF-1B55-4FA3-AE19-8B870B1B49AD}" type="slidenum">
              <a:rPr lang="en-US" smtClean="0"/>
              <a:t>21</a:t>
            </a:fld>
            <a:endParaRPr lang="en-US"/>
          </a:p>
        </p:txBody>
      </p:sp>
    </p:spTree>
    <p:extLst>
      <p:ext uri="{BB962C8B-B14F-4D97-AF65-F5344CB8AC3E}">
        <p14:creationId xmlns:p14="http://schemas.microsoft.com/office/powerpoint/2010/main" val="1514322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9067B-B4F7-F7BB-C27F-08A048250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A955BF-46B3-9D42-EEBF-C38A27F80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15C675-F2B3-210F-3B54-2831001385EF}"/>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F09B722-EA50-2DF6-C1B6-41873F6217A4}"/>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455210D7-AC92-9FA7-D3DB-B19A4089127C}"/>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6BCE83B1-2E7F-BD56-8414-493F63A08BDD}"/>
              </a:ext>
            </a:extLst>
          </p:cNvPr>
          <p:cNvSpPr>
            <a:spLocks noGrp="1"/>
          </p:cNvSpPr>
          <p:nvPr>
            <p:ph type="sldNum" sz="quarter" idx="5"/>
          </p:nvPr>
        </p:nvSpPr>
        <p:spPr/>
        <p:txBody>
          <a:bodyPr/>
          <a:lstStyle/>
          <a:p>
            <a:fld id="{566298BF-1B55-4FA3-AE19-8B870B1B49AD}" type="slidenum">
              <a:rPr lang="en-US" smtClean="0"/>
              <a:t>22</a:t>
            </a:fld>
            <a:endParaRPr lang="en-US"/>
          </a:p>
        </p:txBody>
      </p:sp>
    </p:spTree>
    <p:extLst>
      <p:ext uri="{BB962C8B-B14F-4D97-AF65-F5344CB8AC3E}">
        <p14:creationId xmlns:p14="http://schemas.microsoft.com/office/powerpoint/2010/main" val="2366338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6472E-0124-E652-2768-45589EF33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23D88-7BB5-7F9C-D553-7E766C570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9963C4-37AC-DAE9-3C3E-D16CEA28B484}"/>
              </a:ext>
            </a:extLst>
          </p:cNvPr>
          <p:cNvSpPr>
            <a:spLocks noGrp="1"/>
          </p:cNvSpPr>
          <p:nvPr>
            <p:ph type="body" idx="1"/>
          </p:nvPr>
        </p:nvSpPr>
        <p:spPr/>
        <p:txBody>
          <a:bodyPr/>
          <a:lstStyle/>
          <a:p>
            <a:r>
              <a:rPr lang="en-US" dirty="0"/>
              <a:t>If we repeat a Bernoulli experiment n times we get a binomial distribution</a:t>
            </a:r>
          </a:p>
        </p:txBody>
      </p:sp>
      <p:sp>
        <p:nvSpPr>
          <p:cNvPr id="4" name="Header Placeholder 3">
            <a:extLst>
              <a:ext uri="{FF2B5EF4-FFF2-40B4-BE49-F238E27FC236}">
                <a16:creationId xmlns:a16="http://schemas.microsoft.com/office/drawing/2014/main" id="{A984002D-743D-1B15-354D-82DA96614135}"/>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BE7260B9-AFF1-9D8E-54E5-5C9A3FEAF712}"/>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08E8E293-2790-89CD-A2E6-790F3840097C}"/>
              </a:ext>
            </a:extLst>
          </p:cNvPr>
          <p:cNvSpPr>
            <a:spLocks noGrp="1"/>
          </p:cNvSpPr>
          <p:nvPr>
            <p:ph type="sldNum" sz="quarter" idx="5"/>
          </p:nvPr>
        </p:nvSpPr>
        <p:spPr/>
        <p:txBody>
          <a:bodyPr/>
          <a:lstStyle/>
          <a:p>
            <a:fld id="{566298BF-1B55-4FA3-AE19-8B870B1B49AD}" type="slidenum">
              <a:rPr lang="en-US" smtClean="0"/>
              <a:t>23</a:t>
            </a:fld>
            <a:endParaRPr lang="en-US"/>
          </a:p>
        </p:txBody>
      </p:sp>
    </p:spTree>
    <p:extLst>
      <p:ext uri="{BB962C8B-B14F-4D97-AF65-F5344CB8AC3E}">
        <p14:creationId xmlns:p14="http://schemas.microsoft.com/office/powerpoint/2010/main" val="11456637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E283E-86BD-C327-193F-81D23AA64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557EA-8FD8-ED25-7147-16392F5C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21BAF9-C0CD-129C-58BB-7DDF1EB0E7F1}"/>
              </a:ext>
            </a:extLst>
          </p:cNvPr>
          <p:cNvSpPr>
            <a:spLocks noGrp="1"/>
          </p:cNvSpPr>
          <p:nvPr>
            <p:ph type="body" idx="1"/>
          </p:nvPr>
        </p:nvSpPr>
        <p:spPr/>
        <p:txBody>
          <a:bodyPr/>
          <a:lstStyle/>
          <a:p>
            <a:r>
              <a:rPr lang="en-US" dirty="0"/>
              <a:t>An example for a binomial distribution: </a:t>
            </a:r>
          </a:p>
          <a:p>
            <a:r>
              <a:rPr lang="en-US" dirty="0"/>
              <a:t>Quantal response is the release of package of neurotransmitter into the synaptic cleft</a:t>
            </a:r>
          </a:p>
        </p:txBody>
      </p:sp>
      <p:sp>
        <p:nvSpPr>
          <p:cNvPr id="4" name="Header Placeholder 3">
            <a:extLst>
              <a:ext uri="{FF2B5EF4-FFF2-40B4-BE49-F238E27FC236}">
                <a16:creationId xmlns:a16="http://schemas.microsoft.com/office/drawing/2014/main" id="{82C27860-0EAB-5644-9370-D8A7728C8741}"/>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0250DE7A-490B-24F5-2A8B-B98716739A90}"/>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BF004418-5F74-3420-55B0-021D90CC4547}"/>
              </a:ext>
            </a:extLst>
          </p:cNvPr>
          <p:cNvSpPr>
            <a:spLocks noGrp="1"/>
          </p:cNvSpPr>
          <p:nvPr>
            <p:ph type="sldNum" sz="quarter" idx="5"/>
          </p:nvPr>
        </p:nvSpPr>
        <p:spPr/>
        <p:txBody>
          <a:bodyPr/>
          <a:lstStyle/>
          <a:p>
            <a:fld id="{566298BF-1B55-4FA3-AE19-8B870B1B49AD}" type="slidenum">
              <a:rPr lang="en-US" smtClean="0"/>
              <a:t>24</a:t>
            </a:fld>
            <a:endParaRPr lang="en-US"/>
          </a:p>
        </p:txBody>
      </p:sp>
    </p:spTree>
    <p:extLst>
      <p:ext uri="{BB962C8B-B14F-4D97-AF65-F5344CB8AC3E}">
        <p14:creationId xmlns:p14="http://schemas.microsoft.com/office/powerpoint/2010/main" val="29018229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F5E85-7CF8-4B17-3449-51BAC17E1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8BD46-F37E-18DB-E486-94E6F9D65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CC9E16-C702-7469-9598-766907824CCF}"/>
              </a:ext>
            </a:extLst>
          </p:cNvPr>
          <p:cNvSpPr>
            <a:spLocks noGrp="1"/>
          </p:cNvSpPr>
          <p:nvPr>
            <p:ph type="body" idx="1"/>
          </p:nvPr>
        </p:nvSpPr>
        <p:spPr/>
        <p:txBody>
          <a:bodyPr/>
          <a:lstStyle/>
          <a:p>
            <a:r>
              <a:rPr lang="en-US" dirty="0"/>
              <a:t>If there is an event that can happen or not, we want to know the probability of the event happening n times</a:t>
            </a:r>
          </a:p>
        </p:txBody>
      </p:sp>
      <p:sp>
        <p:nvSpPr>
          <p:cNvPr id="4" name="Header Placeholder 3">
            <a:extLst>
              <a:ext uri="{FF2B5EF4-FFF2-40B4-BE49-F238E27FC236}">
                <a16:creationId xmlns:a16="http://schemas.microsoft.com/office/drawing/2014/main" id="{4F176F64-145E-64E4-394F-5435074899AF}"/>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4B17E778-4F75-5301-03E2-E07BC2E4E33A}"/>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AFEF26A1-7FD3-22DC-5083-A7A5F25C8E8E}"/>
              </a:ext>
            </a:extLst>
          </p:cNvPr>
          <p:cNvSpPr>
            <a:spLocks noGrp="1"/>
          </p:cNvSpPr>
          <p:nvPr>
            <p:ph type="sldNum" sz="quarter" idx="5"/>
          </p:nvPr>
        </p:nvSpPr>
        <p:spPr/>
        <p:txBody>
          <a:bodyPr/>
          <a:lstStyle/>
          <a:p>
            <a:fld id="{566298BF-1B55-4FA3-AE19-8B870B1B49AD}" type="slidenum">
              <a:rPr lang="en-US" smtClean="0"/>
              <a:t>25</a:t>
            </a:fld>
            <a:endParaRPr lang="en-US"/>
          </a:p>
        </p:txBody>
      </p:sp>
    </p:spTree>
    <p:extLst>
      <p:ext uri="{BB962C8B-B14F-4D97-AF65-F5344CB8AC3E}">
        <p14:creationId xmlns:p14="http://schemas.microsoft.com/office/powerpoint/2010/main" val="2663516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52876-0868-685C-9721-571A97B7E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8E034-59E9-C598-1E4A-CA1E357B7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F8129-4C05-B833-A939-D034612D4E88}"/>
              </a:ext>
            </a:extLst>
          </p:cNvPr>
          <p:cNvSpPr>
            <a:spLocks noGrp="1"/>
          </p:cNvSpPr>
          <p:nvPr>
            <p:ph type="body" idx="1"/>
          </p:nvPr>
        </p:nvSpPr>
        <p:spPr/>
        <p:txBody>
          <a:bodyPr/>
          <a:lstStyle/>
          <a:p>
            <a:r>
              <a:rPr lang="en-US" dirty="0"/>
              <a:t>Used to interpret standard errors and confidence intervals</a:t>
            </a:r>
          </a:p>
        </p:txBody>
      </p:sp>
      <p:sp>
        <p:nvSpPr>
          <p:cNvPr id="4" name="Header Placeholder 3">
            <a:extLst>
              <a:ext uri="{FF2B5EF4-FFF2-40B4-BE49-F238E27FC236}">
                <a16:creationId xmlns:a16="http://schemas.microsoft.com/office/drawing/2014/main" id="{25F99393-FD87-EE2D-DCF7-0C8B2993C888}"/>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0408D039-C445-BD39-A666-1346F14922C9}"/>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76D276B6-B795-D78F-707E-E23102221A15}"/>
              </a:ext>
            </a:extLst>
          </p:cNvPr>
          <p:cNvSpPr>
            <a:spLocks noGrp="1"/>
          </p:cNvSpPr>
          <p:nvPr>
            <p:ph type="sldNum" sz="quarter" idx="5"/>
          </p:nvPr>
        </p:nvSpPr>
        <p:spPr/>
        <p:txBody>
          <a:bodyPr/>
          <a:lstStyle/>
          <a:p>
            <a:fld id="{566298BF-1B55-4FA3-AE19-8B870B1B49AD}" type="slidenum">
              <a:rPr lang="en-US" smtClean="0"/>
              <a:t>26</a:t>
            </a:fld>
            <a:endParaRPr lang="en-US"/>
          </a:p>
        </p:txBody>
      </p:sp>
    </p:spTree>
    <p:extLst>
      <p:ext uri="{BB962C8B-B14F-4D97-AF65-F5344CB8AC3E}">
        <p14:creationId xmlns:p14="http://schemas.microsoft.com/office/powerpoint/2010/main" val="40454265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66108-1C7C-712E-C59F-F3AFD7C3D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F88AC-552B-EAF3-205E-827004EFDB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D4E13-6F61-E852-2F2E-A09D501CA0E8}"/>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BA10847-7353-2B8C-6107-BF2D30A1D5AF}"/>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934FEE1D-03D2-5E4D-BDD7-D3BBE865E41E}"/>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07E70656-A821-633C-1F8E-2F29AE035707}"/>
              </a:ext>
            </a:extLst>
          </p:cNvPr>
          <p:cNvSpPr>
            <a:spLocks noGrp="1"/>
          </p:cNvSpPr>
          <p:nvPr>
            <p:ph type="sldNum" sz="quarter" idx="5"/>
          </p:nvPr>
        </p:nvSpPr>
        <p:spPr/>
        <p:txBody>
          <a:bodyPr/>
          <a:lstStyle/>
          <a:p>
            <a:fld id="{566298BF-1B55-4FA3-AE19-8B870B1B49AD}" type="slidenum">
              <a:rPr lang="en-US" smtClean="0"/>
              <a:t>27</a:t>
            </a:fld>
            <a:endParaRPr lang="en-US"/>
          </a:p>
        </p:txBody>
      </p:sp>
    </p:spTree>
    <p:extLst>
      <p:ext uri="{BB962C8B-B14F-4D97-AF65-F5344CB8AC3E}">
        <p14:creationId xmlns:p14="http://schemas.microsoft.com/office/powerpoint/2010/main" val="18299631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A6615-C993-E5B6-17BB-FF7D74A2E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F615A-1BA4-DD54-3BBD-886FDBD41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99F14-19A2-CC86-027D-6891BEF765AC}"/>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89C00FDD-B349-4F26-5B23-8FAD0763C891}"/>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40EFF0A5-49CC-CE24-CB71-AA6AF0F759C0}"/>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3672F003-A766-1B58-277F-645A7C28BC53}"/>
              </a:ext>
            </a:extLst>
          </p:cNvPr>
          <p:cNvSpPr>
            <a:spLocks noGrp="1"/>
          </p:cNvSpPr>
          <p:nvPr>
            <p:ph type="sldNum" sz="quarter" idx="5"/>
          </p:nvPr>
        </p:nvSpPr>
        <p:spPr/>
        <p:txBody>
          <a:bodyPr/>
          <a:lstStyle/>
          <a:p>
            <a:fld id="{566298BF-1B55-4FA3-AE19-8B870B1B49AD}" type="slidenum">
              <a:rPr lang="en-US" smtClean="0"/>
              <a:t>28</a:t>
            </a:fld>
            <a:endParaRPr lang="en-US"/>
          </a:p>
        </p:txBody>
      </p:sp>
    </p:spTree>
    <p:extLst>
      <p:ext uri="{BB962C8B-B14F-4D97-AF65-F5344CB8AC3E}">
        <p14:creationId xmlns:p14="http://schemas.microsoft.com/office/powerpoint/2010/main" val="3227937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FD734-B413-B354-41ED-C17CC2514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9561C-4DCD-8157-017A-FC3732741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194CF-929F-93AE-F5A9-41C2068CD963}"/>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45BB73EB-56C7-3BE6-5615-331B2E290EBD}"/>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6B19E894-D8B0-DB94-69B5-0A7049928D73}"/>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665BBFD6-7F42-9C2A-B0CF-2219BDBF5E6A}"/>
              </a:ext>
            </a:extLst>
          </p:cNvPr>
          <p:cNvSpPr>
            <a:spLocks noGrp="1"/>
          </p:cNvSpPr>
          <p:nvPr>
            <p:ph type="sldNum" sz="quarter" idx="5"/>
          </p:nvPr>
        </p:nvSpPr>
        <p:spPr/>
        <p:txBody>
          <a:bodyPr/>
          <a:lstStyle/>
          <a:p>
            <a:fld id="{566298BF-1B55-4FA3-AE19-8B870B1B49AD}" type="slidenum">
              <a:rPr lang="en-US" smtClean="0"/>
              <a:t>29</a:t>
            </a:fld>
            <a:endParaRPr lang="en-US"/>
          </a:p>
        </p:txBody>
      </p:sp>
    </p:spTree>
    <p:extLst>
      <p:ext uri="{BB962C8B-B14F-4D97-AF65-F5344CB8AC3E}">
        <p14:creationId xmlns:p14="http://schemas.microsoft.com/office/powerpoint/2010/main" val="1386983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CD617-A895-FC51-783C-B00BAB618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9086B-8AAE-2B05-13F0-A86A16C4A3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063E7-08AC-9E90-5A55-55537E47BD8D}"/>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92FC5C3-3015-10AB-9A7D-56B5A33D8FAA}"/>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1E81BE5C-283F-C722-6018-17BB40EFFF77}"/>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A7768BEA-DB67-658D-4EF0-58C840C449BB}"/>
              </a:ext>
            </a:extLst>
          </p:cNvPr>
          <p:cNvSpPr>
            <a:spLocks noGrp="1"/>
          </p:cNvSpPr>
          <p:nvPr>
            <p:ph type="sldNum" sz="quarter" idx="5"/>
          </p:nvPr>
        </p:nvSpPr>
        <p:spPr/>
        <p:txBody>
          <a:bodyPr/>
          <a:lstStyle/>
          <a:p>
            <a:fld id="{566298BF-1B55-4FA3-AE19-8B870B1B49AD}" type="slidenum">
              <a:rPr lang="en-US" smtClean="0"/>
              <a:t>30</a:t>
            </a:fld>
            <a:endParaRPr lang="en-US"/>
          </a:p>
        </p:txBody>
      </p:sp>
    </p:spTree>
    <p:extLst>
      <p:ext uri="{BB962C8B-B14F-4D97-AF65-F5344CB8AC3E}">
        <p14:creationId xmlns:p14="http://schemas.microsoft.com/office/powerpoint/2010/main" val="9876907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DD47-638D-7D10-BA9F-7F4EC7E8C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053A0-A9CD-A20D-BA03-1572877A0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E5F47-D911-E8CB-3B4D-ABB3BC9F32F6}"/>
              </a:ext>
            </a:extLst>
          </p:cNvPr>
          <p:cNvSpPr>
            <a:spLocks noGrp="1"/>
          </p:cNvSpPr>
          <p:nvPr>
            <p:ph type="body" idx="1"/>
          </p:nvPr>
        </p:nvSpPr>
        <p:spPr/>
        <p:txBody>
          <a:bodyPr/>
          <a:lstStyle/>
          <a:p>
            <a:r>
              <a:rPr lang="en-US" dirty="0"/>
              <a:t>Good model, not perfect, refractory effects are often primary reason</a:t>
            </a:r>
          </a:p>
        </p:txBody>
      </p:sp>
      <p:sp>
        <p:nvSpPr>
          <p:cNvPr id="4" name="Header Placeholder 3">
            <a:extLst>
              <a:ext uri="{FF2B5EF4-FFF2-40B4-BE49-F238E27FC236}">
                <a16:creationId xmlns:a16="http://schemas.microsoft.com/office/drawing/2014/main" id="{57D2CE03-C82D-0520-ED26-B49752488C86}"/>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A634F47B-E8AE-A543-AA6E-0A043EEC123D}"/>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B0DAA2EB-1E0C-D7A4-CF51-CE34312691D0}"/>
              </a:ext>
            </a:extLst>
          </p:cNvPr>
          <p:cNvSpPr>
            <a:spLocks noGrp="1"/>
          </p:cNvSpPr>
          <p:nvPr>
            <p:ph type="sldNum" sz="quarter" idx="5"/>
          </p:nvPr>
        </p:nvSpPr>
        <p:spPr/>
        <p:txBody>
          <a:bodyPr/>
          <a:lstStyle/>
          <a:p>
            <a:fld id="{566298BF-1B55-4FA3-AE19-8B870B1B49AD}" type="slidenum">
              <a:rPr lang="en-US" smtClean="0"/>
              <a:t>31</a:t>
            </a:fld>
            <a:endParaRPr lang="en-US"/>
          </a:p>
        </p:txBody>
      </p:sp>
    </p:spTree>
    <p:extLst>
      <p:ext uri="{BB962C8B-B14F-4D97-AF65-F5344CB8AC3E}">
        <p14:creationId xmlns:p14="http://schemas.microsoft.com/office/powerpoint/2010/main" val="2862162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1D1AC-A52F-F057-E1B5-0D3A2E0D8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1648BA-7913-8FF0-AC4A-D8CFE6A6E7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62957-8C81-3BE7-B645-6C275EA9C70D}"/>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C4E6FF0F-7FCD-F7F5-F675-BFDC69C01B65}"/>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A63DC110-AEA5-C85D-0F86-FCAF874C21EE}"/>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74D22CDE-E264-9368-488E-FAEE2824BD17}"/>
              </a:ext>
            </a:extLst>
          </p:cNvPr>
          <p:cNvSpPr>
            <a:spLocks noGrp="1"/>
          </p:cNvSpPr>
          <p:nvPr>
            <p:ph type="sldNum" sz="quarter" idx="5"/>
          </p:nvPr>
        </p:nvSpPr>
        <p:spPr/>
        <p:txBody>
          <a:bodyPr/>
          <a:lstStyle/>
          <a:p>
            <a:fld id="{566298BF-1B55-4FA3-AE19-8B870B1B49AD}" type="slidenum">
              <a:rPr lang="en-US" smtClean="0"/>
              <a:t>32</a:t>
            </a:fld>
            <a:endParaRPr lang="en-US"/>
          </a:p>
        </p:txBody>
      </p:sp>
    </p:spTree>
    <p:extLst>
      <p:ext uri="{BB962C8B-B14F-4D97-AF65-F5344CB8AC3E}">
        <p14:creationId xmlns:p14="http://schemas.microsoft.com/office/powerpoint/2010/main" val="6832320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610BF-F80C-B211-0252-929A2A219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FEA7E-1846-BC54-ABAC-3AFE14131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B2A3E1-2BE4-D6F1-2E8B-CAA9F77841B6}"/>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CB42C2E-068A-25BE-A065-6CD35B06188B}"/>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79D8AD3B-6E2B-3C1B-CA32-107F2E88C676}"/>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F590F61A-B28F-2AAD-850B-BA09705B0074}"/>
              </a:ext>
            </a:extLst>
          </p:cNvPr>
          <p:cNvSpPr>
            <a:spLocks noGrp="1"/>
          </p:cNvSpPr>
          <p:nvPr>
            <p:ph type="sldNum" sz="quarter" idx="5"/>
          </p:nvPr>
        </p:nvSpPr>
        <p:spPr/>
        <p:txBody>
          <a:bodyPr/>
          <a:lstStyle/>
          <a:p>
            <a:fld id="{566298BF-1B55-4FA3-AE19-8B870B1B49AD}" type="slidenum">
              <a:rPr lang="en-US" smtClean="0"/>
              <a:t>33</a:t>
            </a:fld>
            <a:endParaRPr lang="en-US"/>
          </a:p>
        </p:txBody>
      </p:sp>
    </p:spTree>
    <p:extLst>
      <p:ext uri="{BB962C8B-B14F-4D97-AF65-F5344CB8AC3E}">
        <p14:creationId xmlns:p14="http://schemas.microsoft.com/office/powerpoint/2010/main" val="23888107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64AF1-5B7C-0937-2C8D-C7D4E1DB1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3ABF3-ED11-ABD3-96D8-9937A3171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7294B-D1A2-B16B-BA20-EDBE69B513D1}"/>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AB69B849-CE66-9922-3D72-5D9E18D33C39}"/>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D96E9DB5-DDFE-65E1-C4C8-446FC39A73B0}"/>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308FF5B2-76D5-6C2A-2342-87BF4B165D47}"/>
              </a:ext>
            </a:extLst>
          </p:cNvPr>
          <p:cNvSpPr>
            <a:spLocks noGrp="1"/>
          </p:cNvSpPr>
          <p:nvPr>
            <p:ph type="sldNum" sz="quarter" idx="5"/>
          </p:nvPr>
        </p:nvSpPr>
        <p:spPr/>
        <p:txBody>
          <a:bodyPr/>
          <a:lstStyle/>
          <a:p>
            <a:fld id="{566298BF-1B55-4FA3-AE19-8B870B1B49AD}" type="slidenum">
              <a:rPr lang="en-US" smtClean="0"/>
              <a:t>34</a:t>
            </a:fld>
            <a:endParaRPr lang="en-US"/>
          </a:p>
        </p:txBody>
      </p:sp>
    </p:spTree>
    <p:extLst>
      <p:ext uri="{BB962C8B-B14F-4D97-AF65-F5344CB8AC3E}">
        <p14:creationId xmlns:p14="http://schemas.microsoft.com/office/powerpoint/2010/main" val="13729222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4689E-E75B-106A-BC03-5155AC87D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BBF4F-0DEA-580A-3007-9C84F53E3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DA866-5CD7-8C97-1886-D94E2BAD08E0}"/>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B8EB438C-FAE2-4C79-E8A2-DEC37607C839}"/>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5AEAA68F-905A-341B-A4B4-6307F8051D91}"/>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FB6EA525-BC87-EDE6-3F11-B1F122F67146}"/>
              </a:ext>
            </a:extLst>
          </p:cNvPr>
          <p:cNvSpPr>
            <a:spLocks noGrp="1"/>
          </p:cNvSpPr>
          <p:nvPr>
            <p:ph type="sldNum" sz="quarter" idx="5"/>
          </p:nvPr>
        </p:nvSpPr>
        <p:spPr/>
        <p:txBody>
          <a:bodyPr/>
          <a:lstStyle/>
          <a:p>
            <a:fld id="{566298BF-1B55-4FA3-AE19-8B870B1B49AD}" type="slidenum">
              <a:rPr lang="en-US" smtClean="0"/>
              <a:t>35</a:t>
            </a:fld>
            <a:endParaRPr lang="en-US"/>
          </a:p>
        </p:txBody>
      </p:sp>
    </p:spTree>
    <p:extLst>
      <p:ext uri="{BB962C8B-B14F-4D97-AF65-F5344CB8AC3E}">
        <p14:creationId xmlns:p14="http://schemas.microsoft.com/office/powerpoint/2010/main" val="38436250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D2C48-952C-2E50-9602-2662C93E8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1B98A3-3C0E-32FD-A0CE-F5E9D5FE0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6FDB6-DD1C-25DC-AC84-2475A8D9A590}"/>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ECBA3E98-54A3-FEB9-9F4A-750E208F696A}"/>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12809B35-7A57-F414-379C-6809AD58DD86}"/>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C2E3A8BD-73F2-7BD1-AE19-CDF902AB68F0}"/>
              </a:ext>
            </a:extLst>
          </p:cNvPr>
          <p:cNvSpPr>
            <a:spLocks noGrp="1"/>
          </p:cNvSpPr>
          <p:nvPr>
            <p:ph type="sldNum" sz="quarter" idx="5"/>
          </p:nvPr>
        </p:nvSpPr>
        <p:spPr/>
        <p:txBody>
          <a:bodyPr/>
          <a:lstStyle/>
          <a:p>
            <a:fld id="{566298BF-1B55-4FA3-AE19-8B870B1B49AD}" type="slidenum">
              <a:rPr lang="en-US" smtClean="0"/>
              <a:t>36</a:t>
            </a:fld>
            <a:endParaRPr lang="en-US"/>
          </a:p>
        </p:txBody>
      </p:sp>
    </p:spTree>
    <p:extLst>
      <p:ext uri="{BB962C8B-B14F-4D97-AF65-F5344CB8AC3E}">
        <p14:creationId xmlns:p14="http://schemas.microsoft.com/office/powerpoint/2010/main" val="2925073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49B2F-BA05-76E5-CD57-DDCECF84F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1377C-3D64-064C-59B3-9550429B2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C1921-96C1-0422-1692-46D2720891CD}"/>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687F0B7C-AD33-104A-8DA9-4247EF464E0F}"/>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7791D5E2-B67E-C8DB-0707-74E323BEF5BE}"/>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02886D30-EAD1-905B-0C12-E1C2415DB439}"/>
              </a:ext>
            </a:extLst>
          </p:cNvPr>
          <p:cNvSpPr>
            <a:spLocks noGrp="1"/>
          </p:cNvSpPr>
          <p:nvPr>
            <p:ph type="sldNum" sz="quarter" idx="5"/>
          </p:nvPr>
        </p:nvSpPr>
        <p:spPr/>
        <p:txBody>
          <a:bodyPr/>
          <a:lstStyle/>
          <a:p>
            <a:fld id="{566298BF-1B55-4FA3-AE19-8B870B1B49AD}" type="slidenum">
              <a:rPr lang="en-US" smtClean="0"/>
              <a:t>37</a:t>
            </a:fld>
            <a:endParaRPr lang="en-US"/>
          </a:p>
        </p:txBody>
      </p:sp>
    </p:spTree>
    <p:extLst>
      <p:ext uri="{BB962C8B-B14F-4D97-AF65-F5344CB8AC3E}">
        <p14:creationId xmlns:p14="http://schemas.microsoft.com/office/powerpoint/2010/main" val="9438263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829A5-573F-C6D4-9B69-6E2A89C67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A8FF7-1595-9D8A-A840-0083A4E6D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6E181-A312-939F-68DF-DCE88B33C8FC}"/>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ED80C90-B06E-8364-9663-B69DEF3148EF}"/>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CA89523B-3275-C6BD-7EBD-2DF151E2A6E7}"/>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DB008F7C-6227-6D16-4DB9-1A15BC9002A7}"/>
              </a:ext>
            </a:extLst>
          </p:cNvPr>
          <p:cNvSpPr>
            <a:spLocks noGrp="1"/>
          </p:cNvSpPr>
          <p:nvPr>
            <p:ph type="sldNum" sz="quarter" idx="5"/>
          </p:nvPr>
        </p:nvSpPr>
        <p:spPr/>
        <p:txBody>
          <a:bodyPr/>
          <a:lstStyle/>
          <a:p>
            <a:fld id="{566298BF-1B55-4FA3-AE19-8B870B1B49AD}" type="slidenum">
              <a:rPr lang="en-US" smtClean="0"/>
              <a:t>38</a:t>
            </a:fld>
            <a:endParaRPr lang="en-US"/>
          </a:p>
        </p:txBody>
      </p:sp>
    </p:spTree>
    <p:extLst>
      <p:ext uri="{BB962C8B-B14F-4D97-AF65-F5344CB8AC3E}">
        <p14:creationId xmlns:p14="http://schemas.microsoft.com/office/powerpoint/2010/main" val="34475821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7FD34-EA67-7184-697A-B72EA6B70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E4E35-22F2-8D3F-FB82-2C8E21452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333A13-F711-F6B6-47F4-B0C119608E53}"/>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0CEB6A7-4265-6740-4AB2-464C7807C413}"/>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39E70996-711B-C18D-E8BA-964C13CD5A1A}"/>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60226862-4F9D-636B-73F1-C5FA2D64FA70}"/>
              </a:ext>
            </a:extLst>
          </p:cNvPr>
          <p:cNvSpPr>
            <a:spLocks noGrp="1"/>
          </p:cNvSpPr>
          <p:nvPr>
            <p:ph type="sldNum" sz="quarter" idx="5"/>
          </p:nvPr>
        </p:nvSpPr>
        <p:spPr/>
        <p:txBody>
          <a:bodyPr/>
          <a:lstStyle/>
          <a:p>
            <a:fld id="{566298BF-1B55-4FA3-AE19-8B870B1B49AD}" type="slidenum">
              <a:rPr lang="en-US" smtClean="0"/>
              <a:t>39</a:t>
            </a:fld>
            <a:endParaRPr lang="en-US"/>
          </a:p>
        </p:txBody>
      </p:sp>
    </p:spTree>
    <p:extLst>
      <p:ext uri="{BB962C8B-B14F-4D97-AF65-F5344CB8AC3E}">
        <p14:creationId xmlns:p14="http://schemas.microsoft.com/office/powerpoint/2010/main" val="32627801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E18FA-7CD4-38F3-5526-82C5E34511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9599E-C5AF-D52C-D2A0-3DA65D65C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6543E5-7381-797D-285C-0A783BF5A8FA}"/>
              </a:ext>
            </a:extLst>
          </p:cNvPr>
          <p:cNvSpPr>
            <a:spLocks noGrp="1"/>
          </p:cNvSpPr>
          <p:nvPr>
            <p:ph type="body" idx="1"/>
          </p:nvPr>
        </p:nvSpPr>
        <p:spPr/>
        <p:txBody>
          <a:bodyPr/>
          <a:lstStyle/>
          <a:p>
            <a:r>
              <a:rPr lang="en-US" dirty="0"/>
              <a:t>We can use the MAP estimate if we have prior knowledge of our data</a:t>
            </a:r>
          </a:p>
        </p:txBody>
      </p:sp>
      <p:sp>
        <p:nvSpPr>
          <p:cNvPr id="4" name="Header Placeholder 3">
            <a:extLst>
              <a:ext uri="{FF2B5EF4-FFF2-40B4-BE49-F238E27FC236}">
                <a16:creationId xmlns:a16="http://schemas.microsoft.com/office/drawing/2014/main" id="{3F23FB92-8413-2FD2-83E9-D5C72ED854C4}"/>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2CB487CD-8B38-1C54-9997-E685836CFC06}"/>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1F29EA01-4B12-5B26-4B01-EAAFF26B52A9}"/>
              </a:ext>
            </a:extLst>
          </p:cNvPr>
          <p:cNvSpPr>
            <a:spLocks noGrp="1"/>
          </p:cNvSpPr>
          <p:nvPr>
            <p:ph type="sldNum" sz="quarter" idx="5"/>
          </p:nvPr>
        </p:nvSpPr>
        <p:spPr/>
        <p:txBody>
          <a:bodyPr/>
          <a:lstStyle/>
          <a:p>
            <a:fld id="{566298BF-1B55-4FA3-AE19-8B870B1B49AD}" type="slidenum">
              <a:rPr lang="en-US" smtClean="0"/>
              <a:t>40</a:t>
            </a:fld>
            <a:endParaRPr lang="en-US"/>
          </a:p>
        </p:txBody>
      </p:sp>
    </p:spTree>
    <p:extLst>
      <p:ext uri="{BB962C8B-B14F-4D97-AF65-F5344CB8AC3E}">
        <p14:creationId xmlns:p14="http://schemas.microsoft.com/office/powerpoint/2010/main" val="2303357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B678A-DD7D-15DB-B85E-1125B598B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EF5E5-EF09-052E-15B4-D97796F6B1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908E8-12F6-BC3F-4BB4-824542AFF5C4}"/>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583E39D4-2CC0-6D81-3D95-559E5AACC6AD}"/>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BF67B875-0741-3CE0-BFC8-6E4D1D0BF1F1}"/>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5CB3B5BD-3CD5-C2DD-74AE-A395DB5E25F7}"/>
              </a:ext>
            </a:extLst>
          </p:cNvPr>
          <p:cNvSpPr>
            <a:spLocks noGrp="1"/>
          </p:cNvSpPr>
          <p:nvPr>
            <p:ph type="sldNum" sz="quarter" idx="5"/>
          </p:nvPr>
        </p:nvSpPr>
        <p:spPr/>
        <p:txBody>
          <a:bodyPr/>
          <a:lstStyle/>
          <a:p>
            <a:fld id="{566298BF-1B55-4FA3-AE19-8B870B1B49AD}" type="slidenum">
              <a:rPr lang="en-US" smtClean="0"/>
              <a:t>41</a:t>
            </a:fld>
            <a:endParaRPr lang="en-US"/>
          </a:p>
        </p:txBody>
      </p:sp>
    </p:spTree>
    <p:extLst>
      <p:ext uri="{BB962C8B-B14F-4D97-AF65-F5344CB8AC3E}">
        <p14:creationId xmlns:p14="http://schemas.microsoft.com/office/powerpoint/2010/main" val="33116426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75BAA-B80D-ECC9-B4ED-BFE145F9D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26517-43EB-6401-AFAD-61EE2354ED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1AD448-21FE-3A84-C9BF-4E48D6864882}"/>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529C5394-6B55-AA95-81EE-5417044744DF}"/>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E3EA8163-A774-1BFA-12F5-8DC7827C8162}"/>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A48F7238-FDCE-3323-176E-1D56ECB0DAEC}"/>
              </a:ext>
            </a:extLst>
          </p:cNvPr>
          <p:cNvSpPr>
            <a:spLocks noGrp="1"/>
          </p:cNvSpPr>
          <p:nvPr>
            <p:ph type="sldNum" sz="quarter" idx="5"/>
          </p:nvPr>
        </p:nvSpPr>
        <p:spPr/>
        <p:txBody>
          <a:bodyPr/>
          <a:lstStyle/>
          <a:p>
            <a:fld id="{566298BF-1B55-4FA3-AE19-8B870B1B49AD}" type="slidenum">
              <a:rPr lang="en-US" smtClean="0"/>
              <a:t>42</a:t>
            </a:fld>
            <a:endParaRPr lang="en-US"/>
          </a:p>
        </p:txBody>
      </p:sp>
    </p:spTree>
    <p:extLst>
      <p:ext uri="{BB962C8B-B14F-4D97-AF65-F5344CB8AC3E}">
        <p14:creationId xmlns:p14="http://schemas.microsoft.com/office/powerpoint/2010/main" val="16577174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90E46-56E9-04ED-282E-2CFDC26BD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20CF3-43E4-E723-A584-A0450176ED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72FC63-771B-6036-A76E-737E43968FA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9D73E94E-6B0A-FC82-EB8C-D97B1A32F889}"/>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C3B8356D-1DAF-383F-57EC-C9BFBF2B39B9}"/>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8A135599-FC40-04AC-04E3-D01213299F53}"/>
              </a:ext>
            </a:extLst>
          </p:cNvPr>
          <p:cNvSpPr>
            <a:spLocks noGrp="1"/>
          </p:cNvSpPr>
          <p:nvPr>
            <p:ph type="sldNum" sz="quarter" idx="5"/>
          </p:nvPr>
        </p:nvSpPr>
        <p:spPr/>
        <p:txBody>
          <a:bodyPr/>
          <a:lstStyle/>
          <a:p>
            <a:fld id="{566298BF-1B55-4FA3-AE19-8B870B1B49AD}" type="slidenum">
              <a:rPr lang="en-US" smtClean="0"/>
              <a:t>43</a:t>
            </a:fld>
            <a:endParaRPr lang="en-US"/>
          </a:p>
        </p:txBody>
      </p:sp>
    </p:spTree>
    <p:extLst>
      <p:ext uri="{BB962C8B-B14F-4D97-AF65-F5344CB8AC3E}">
        <p14:creationId xmlns:p14="http://schemas.microsoft.com/office/powerpoint/2010/main" val="1344702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4362-0771-D46C-2880-26D1BE810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D6A38-7C8F-7C1A-6D89-1888392AE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DA4412-E3A7-3C79-C5FF-949D102B20D5}"/>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1B65978B-2664-5E4F-9325-D59EA79BB0BB}"/>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CB0B9D65-0B54-50FE-821D-E2C86EA3DA6E}"/>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4D458C73-F08B-213D-C348-F59CE5C8DBCC}"/>
              </a:ext>
            </a:extLst>
          </p:cNvPr>
          <p:cNvSpPr>
            <a:spLocks noGrp="1"/>
          </p:cNvSpPr>
          <p:nvPr>
            <p:ph type="sldNum" sz="quarter" idx="5"/>
          </p:nvPr>
        </p:nvSpPr>
        <p:spPr/>
        <p:txBody>
          <a:bodyPr/>
          <a:lstStyle/>
          <a:p>
            <a:fld id="{566298BF-1B55-4FA3-AE19-8B870B1B49AD}" type="slidenum">
              <a:rPr lang="en-US" smtClean="0"/>
              <a:t>44</a:t>
            </a:fld>
            <a:endParaRPr lang="en-US"/>
          </a:p>
        </p:txBody>
      </p:sp>
    </p:spTree>
    <p:extLst>
      <p:ext uri="{BB962C8B-B14F-4D97-AF65-F5344CB8AC3E}">
        <p14:creationId xmlns:p14="http://schemas.microsoft.com/office/powerpoint/2010/main" val="6683684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E8E97-DE62-070A-E4C9-43D7778864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629DC-01A3-4C74-62C7-128F6B149A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B488BE-13DF-56C3-39B9-CA6937A9B7D0}"/>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6509B4B5-C25F-B8FA-F2B3-1AA8AE9A8CA2}"/>
              </a:ext>
            </a:extLst>
          </p:cNvPr>
          <p:cNvSpPr>
            <a:spLocks noGrp="1"/>
          </p:cNvSpPr>
          <p:nvPr>
            <p:ph type="hdr" sz="quarter"/>
          </p:nvPr>
        </p:nvSpPr>
        <p:spPr/>
        <p:txBody>
          <a:bodyPr/>
          <a:lstStyle/>
          <a:p>
            <a:r>
              <a:rPr lang="en-US"/>
              <a:t>Probability and Uncertainty in Neural Modeling, Anna Freund</a:t>
            </a:r>
          </a:p>
        </p:txBody>
      </p:sp>
      <p:sp>
        <p:nvSpPr>
          <p:cNvPr id="5" name="Footer Placeholder 4">
            <a:extLst>
              <a:ext uri="{FF2B5EF4-FFF2-40B4-BE49-F238E27FC236}">
                <a16:creationId xmlns:a16="http://schemas.microsoft.com/office/drawing/2014/main" id="{C91909EE-ECA5-D45C-3213-F40087A24908}"/>
              </a:ext>
            </a:extLst>
          </p:cNvPr>
          <p:cNvSpPr>
            <a:spLocks noGrp="1"/>
          </p:cNvSpPr>
          <p:nvPr>
            <p:ph type="ftr" sz="quarter" idx="4"/>
          </p:nvPr>
        </p:nvSpPr>
        <p:spPr/>
        <p:txBody>
          <a:bodyPr/>
          <a:lstStyle/>
          <a:p>
            <a:endParaRPr lang="en-US"/>
          </a:p>
        </p:txBody>
      </p:sp>
      <p:sp>
        <p:nvSpPr>
          <p:cNvPr id="6" name="Slide Number Placeholder 5">
            <a:extLst>
              <a:ext uri="{FF2B5EF4-FFF2-40B4-BE49-F238E27FC236}">
                <a16:creationId xmlns:a16="http://schemas.microsoft.com/office/drawing/2014/main" id="{39304E5A-37E0-F50D-BCC5-6BF98AF88B36}"/>
              </a:ext>
            </a:extLst>
          </p:cNvPr>
          <p:cNvSpPr>
            <a:spLocks noGrp="1"/>
          </p:cNvSpPr>
          <p:nvPr>
            <p:ph type="sldNum" sz="quarter" idx="5"/>
          </p:nvPr>
        </p:nvSpPr>
        <p:spPr/>
        <p:txBody>
          <a:bodyPr/>
          <a:lstStyle/>
          <a:p>
            <a:fld id="{566298BF-1B55-4FA3-AE19-8B870B1B49AD}" type="slidenum">
              <a:rPr lang="en-US" smtClean="0"/>
              <a:t>45</a:t>
            </a:fld>
            <a:endParaRPr lang="en-US"/>
          </a:p>
        </p:txBody>
      </p:sp>
    </p:spTree>
    <p:extLst>
      <p:ext uri="{BB962C8B-B14F-4D97-AF65-F5344CB8AC3E}">
        <p14:creationId xmlns:p14="http://schemas.microsoft.com/office/powerpoint/2010/main" val="109260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E6805-2D0B-ABDD-88FC-6A91A2B73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E51DA8-1ABB-E286-2F1E-C7BF95B94E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469BF3-0C5F-7A69-C71D-76E19BAE680C}"/>
              </a:ext>
            </a:extLst>
          </p:cNvPr>
          <p:cNvSpPr>
            <a:spLocks noGrp="1"/>
          </p:cNvSpPr>
          <p:nvPr>
            <p:ph type="dt" sz="half" idx="10"/>
          </p:nvPr>
        </p:nvSpPr>
        <p:spPr/>
        <p:txBody>
          <a:bodyPr/>
          <a:lstStyle/>
          <a:p>
            <a:fld id="{CC388866-DFD4-402D-B00F-10623D07D29A}" type="datetime1">
              <a:rPr lang="en-US" smtClean="0"/>
              <a:t>9/25/2026</a:t>
            </a:fld>
            <a:endParaRPr lang="en-US"/>
          </a:p>
        </p:txBody>
      </p:sp>
      <p:sp>
        <p:nvSpPr>
          <p:cNvPr id="5" name="Footer Placeholder 4">
            <a:extLst>
              <a:ext uri="{FF2B5EF4-FFF2-40B4-BE49-F238E27FC236}">
                <a16:creationId xmlns:a16="http://schemas.microsoft.com/office/drawing/2014/main" id="{D483A311-AA51-03D8-23B2-59E48DB373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8E4C64-BF34-55F8-FA24-262AE28DDE61}"/>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3887861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84D0F-A2C4-C854-47C0-AC0BD8559E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7A2459-FBE1-9894-D176-47F985330B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6AA334-94E4-D918-6FD4-3D6C6E4A6406}"/>
              </a:ext>
            </a:extLst>
          </p:cNvPr>
          <p:cNvSpPr>
            <a:spLocks noGrp="1"/>
          </p:cNvSpPr>
          <p:nvPr>
            <p:ph type="dt" sz="half" idx="10"/>
          </p:nvPr>
        </p:nvSpPr>
        <p:spPr/>
        <p:txBody>
          <a:bodyPr/>
          <a:lstStyle/>
          <a:p>
            <a:fld id="{8D868B5F-AFE7-491D-A639-87EC6D94A1DB}" type="datetime1">
              <a:rPr lang="en-US" smtClean="0"/>
              <a:t>9/25/2026</a:t>
            </a:fld>
            <a:endParaRPr lang="en-US"/>
          </a:p>
        </p:txBody>
      </p:sp>
      <p:sp>
        <p:nvSpPr>
          <p:cNvPr id="5" name="Footer Placeholder 4">
            <a:extLst>
              <a:ext uri="{FF2B5EF4-FFF2-40B4-BE49-F238E27FC236}">
                <a16:creationId xmlns:a16="http://schemas.microsoft.com/office/drawing/2014/main" id="{6E03CEB4-57E8-A864-96B8-294C6D77B8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ECD3A5-AD84-0630-CFF8-2A578ADD9E56}"/>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4024715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57874-F6DE-4C9E-095F-C4F8668FE2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822ADE-061B-D1DB-C53C-2F0813EB2F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A66ADC-D4EF-30E1-3D9A-7950CD7E18A1}"/>
              </a:ext>
            </a:extLst>
          </p:cNvPr>
          <p:cNvSpPr>
            <a:spLocks noGrp="1"/>
          </p:cNvSpPr>
          <p:nvPr>
            <p:ph type="dt" sz="half" idx="10"/>
          </p:nvPr>
        </p:nvSpPr>
        <p:spPr/>
        <p:txBody>
          <a:bodyPr/>
          <a:lstStyle/>
          <a:p>
            <a:fld id="{B890A8D6-E7A0-40FA-8DCA-381FADC36033}" type="datetime1">
              <a:rPr lang="en-US" smtClean="0"/>
              <a:t>9/25/2026</a:t>
            </a:fld>
            <a:endParaRPr lang="en-US"/>
          </a:p>
        </p:txBody>
      </p:sp>
      <p:sp>
        <p:nvSpPr>
          <p:cNvPr id="5" name="Footer Placeholder 4">
            <a:extLst>
              <a:ext uri="{FF2B5EF4-FFF2-40B4-BE49-F238E27FC236}">
                <a16:creationId xmlns:a16="http://schemas.microsoft.com/office/drawing/2014/main" id="{2E957113-903D-0449-52CD-2ADA7502EA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5C4A6-88CB-84EA-48D4-9E8A7008D88D}"/>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1430797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48BEE-39BB-8E99-6E0B-58F413E458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6EFC23-4162-5D15-A6E2-FEFCD23298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D1D848-19CC-B912-5219-55533B6C15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9D90AC-61E3-A203-2200-5D331950CBE3}"/>
              </a:ext>
            </a:extLst>
          </p:cNvPr>
          <p:cNvSpPr>
            <a:spLocks noGrp="1"/>
          </p:cNvSpPr>
          <p:nvPr>
            <p:ph type="dt" sz="half" idx="10"/>
          </p:nvPr>
        </p:nvSpPr>
        <p:spPr/>
        <p:txBody>
          <a:bodyPr/>
          <a:lstStyle/>
          <a:p>
            <a:fld id="{BF5CF058-B3C4-40F0-846F-E792A9710A06}" type="datetime1">
              <a:rPr lang="en-US" smtClean="0"/>
              <a:t>9/25/2026</a:t>
            </a:fld>
            <a:endParaRPr lang="en-US"/>
          </a:p>
        </p:txBody>
      </p:sp>
      <p:sp>
        <p:nvSpPr>
          <p:cNvPr id="6" name="Footer Placeholder 5">
            <a:extLst>
              <a:ext uri="{FF2B5EF4-FFF2-40B4-BE49-F238E27FC236}">
                <a16:creationId xmlns:a16="http://schemas.microsoft.com/office/drawing/2014/main" id="{8BBC2AF1-DFB7-73DB-4C04-96A89B33E2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BE606E-AC08-87B0-5851-71B8191995E7}"/>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787743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FA700-94A0-8E93-9339-DA2AB88BF6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009D63B-0C99-F5F2-71A4-6CE3F3F43E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E68487-789A-C238-1ADB-75F4FB408F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A47C21-CDE7-1AFA-6758-0E95BB95F2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0DCE5C-D946-3353-BEC9-3BF27582BD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389508-C013-2A4A-2CCB-BB2F85293BD8}"/>
              </a:ext>
            </a:extLst>
          </p:cNvPr>
          <p:cNvSpPr>
            <a:spLocks noGrp="1"/>
          </p:cNvSpPr>
          <p:nvPr>
            <p:ph type="dt" sz="half" idx="10"/>
          </p:nvPr>
        </p:nvSpPr>
        <p:spPr/>
        <p:txBody>
          <a:bodyPr/>
          <a:lstStyle/>
          <a:p>
            <a:fld id="{745EB3AF-FC88-45FA-886F-1571199A1A5D}" type="datetime1">
              <a:rPr lang="en-US" smtClean="0"/>
              <a:t>9/25/2026</a:t>
            </a:fld>
            <a:endParaRPr lang="en-US"/>
          </a:p>
        </p:txBody>
      </p:sp>
      <p:sp>
        <p:nvSpPr>
          <p:cNvPr id="8" name="Footer Placeholder 7">
            <a:extLst>
              <a:ext uri="{FF2B5EF4-FFF2-40B4-BE49-F238E27FC236}">
                <a16:creationId xmlns:a16="http://schemas.microsoft.com/office/drawing/2014/main" id="{72A71FB6-BB36-65BF-6C7B-8F4B9E0ADA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2E360B-F685-8E3D-FA4E-644F1426F844}"/>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110232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6CED0-E8CB-B503-F4BB-5A734F4DCD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0B2366-6602-F92C-6CAE-90F94D57E035}"/>
              </a:ext>
            </a:extLst>
          </p:cNvPr>
          <p:cNvSpPr>
            <a:spLocks noGrp="1"/>
          </p:cNvSpPr>
          <p:nvPr>
            <p:ph type="dt" sz="half" idx="10"/>
          </p:nvPr>
        </p:nvSpPr>
        <p:spPr/>
        <p:txBody>
          <a:bodyPr/>
          <a:lstStyle/>
          <a:p>
            <a:fld id="{BEA01697-BE29-4895-B5B6-6A8F19D0E488}" type="datetime1">
              <a:rPr lang="en-US" smtClean="0"/>
              <a:t>9/25/2026</a:t>
            </a:fld>
            <a:endParaRPr lang="en-US"/>
          </a:p>
        </p:txBody>
      </p:sp>
      <p:sp>
        <p:nvSpPr>
          <p:cNvPr id="4" name="Footer Placeholder 3">
            <a:extLst>
              <a:ext uri="{FF2B5EF4-FFF2-40B4-BE49-F238E27FC236}">
                <a16:creationId xmlns:a16="http://schemas.microsoft.com/office/drawing/2014/main" id="{BF7DD658-C8DC-4395-5A8B-974D46B049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57EE9D-3C8B-6A8A-5C0C-8A3CA399ABA9}"/>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2773166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E88193-F51B-B356-DAAF-BF3CEE2F62D9}"/>
              </a:ext>
            </a:extLst>
          </p:cNvPr>
          <p:cNvSpPr>
            <a:spLocks noGrp="1"/>
          </p:cNvSpPr>
          <p:nvPr>
            <p:ph type="dt" sz="half" idx="10"/>
          </p:nvPr>
        </p:nvSpPr>
        <p:spPr/>
        <p:txBody>
          <a:bodyPr/>
          <a:lstStyle/>
          <a:p>
            <a:fld id="{492D8398-3346-46C0-B492-3F25A3AAC708}" type="datetime1">
              <a:rPr lang="en-US" smtClean="0"/>
              <a:t>9/25/2026</a:t>
            </a:fld>
            <a:endParaRPr lang="en-US"/>
          </a:p>
        </p:txBody>
      </p:sp>
      <p:sp>
        <p:nvSpPr>
          <p:cNvPr id="3" name="Footer Placeholder 2">
            <a:extLst>
              <a:ext uri="{FF2B5EF4-FFF2-40B4-BE49-F238E27FC236}">
                <a16:creationId xmlns:a16="http://schemas.microsoft.com/office/drawing/2014/main" id="{EB5846B8-7AF8-B4CD-21AC-04CD1BD4DE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28128F-3098-56C5-3BAB-3EB795CBDB25}"/>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1905949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87706-3476-1A3F-E462-E0C7558148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E82A5A-9C1A-43D1-D9ED-AB4BE06A08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8AB594-14F2-80CE-FBFF-8E5F31083B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582C1C-0215-80CD-4D73-17FCC338E7B7}"/>
              </a:ext>
            </a:extLst>
          </p:cNvPr>
          <p:cNvSpPr>
            <a:spLocks noGrp="1"/>
          </p:cNvSpPr>
          <p:nvPr>
            <p:ph type="dt" sz="half" idx="10"/>
          </p:nvPr>
        </p:nvSpPr>
        <p:spPr/>
        <p:txBody>
          <a:bodyPr/>
          <a:lstStyle/>
          <a:p>
            <a:fld id="{86B835F8-B744-4531-8690-EA1889ADC5CD}" type="datetime1">
              <a:rPr lang="en-US" smtClean="0"/>
              <a:t>9/25/2026</a:t>
            </a:fld>
            <a:endParaRPr lang="en-US"/>
          </a:p>
        </p:txBody>
      </p:sp>
      <p:sp>
        <p:nvSpPr>
          <p:cNvPr id="6" name="Footer Placeholder 5">
            <a:extLst>
              <a:ext uri="{FF2B5EF4-FFF2-40B4-BE49-F238E27FC236}">
                <a16:creationId xmlns:a16="http://schemas.microsoft.com/office/drawing/2014/main" id="{0FE821A3-5286-F4AF-7D0B-E79AC53E6C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6A867A-DBB3-D8D1-DDEC-6CC6AF67AA19}"/>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1902539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85830-116B-8087-0AB4-0B4C083D9E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EE7ABC-7104-3112-92DD-C988788488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238C12-E9DE-737D-88A6-DFA6199971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BBBEC6-6D7C-701B-B227-BEB7728BB60B}"/>
              </a:ext>
            </a:extLst>
          </p:cNvPr>
          <p:cNvSpPr>
            <a:spLocks noGrp="1"/>
          </p:cNvSpPr>
          <p:nvPr>
            <p:ph type="dt" sz="half" idx="10"/>
          </p:nvPr>
        </p:nvSpPr>
        <p:spPr/>
        <p:txBody>
          <a:bodyPr/>
          <a:lstStyle/>
          <a:p>
            <a:fld id="{04F124C3-DCE4-4598-979C-63C167690144}" type="datetime1">
              <a:rPr lang="en-US" smtClean="0"/>
              <a:t>9/25/2026</a:t>
            </a:fld>
            <a:endParaRPr lang="en-US"/>
          </a:p>
        </p:txBody>
      </p:sp>
      <p:sp>
        <p:nvSpPr>
          <p:cNvPr id="6" name="Footer Placeholder 5">
            <a:extLst>
              <a:ext uri="{FF2B5EF4-FFF2-40B4-BE49-F238E27FC236}">
                <a16:creationId xmlns:a16="http://schemas.microsoft.com/office/drawing/2014/main" id="{C36D7CDF-CEBD-A8A2-C9D5-59D60CD78A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519B4-69FA-A2BF-E8FA-2ED96B9DCD20}"/>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2447367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B5DB4-7523-E4AA-605E-6448A851DB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E4C8F0-4F47-ADFD-C9D6-08E42E7999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853F56-184C-C845-019C-F35CF0ABE05F}"/>
              </a:ext>
            </a:extLst>
          </p:cNvPr>
          <p:cNvSpPr>
            <a:spLocks noGrp="1"/>
          </p:cNvSpPr>
          <p:nvPr>
            <p:ph type="dt" sz="half" idx="10"/>
          </p:nvPr>
        </p:nvSpPr>
        <p:spPr/>
        <p:txBody>
          <a:bodyPr/>
          <a:lstStyle/>
          <a:p>
            <a:fld id="{6CBB0298-C0EE-4398-B15D-5077E9C7109C}" type="datetime1">
              <a:rPr lang="en-US" smtClean="0"/>
              <a:t>9/25/2026</a:t>
            </a:fld>
            <a:endParaRPr lang="en-US"/>
          </a:p>
        </p:txBody>
      </p:sp>
      <p:sp>
        <p:nvSpPr>
          <p:cNvPr id="5" name="Footer Placeholder 4">
            <a:extLst>
              <a:ext uri="{FF2B5EF4-FFF2-40B4-BE49-F238E27FC236}">
                <a16:creationId xmlns:a16="http://schemas.microsoft.com/office/drawing/2014/main" id="{9F6D7FE3-BCEC-4F4D-F589-F66ADCD09D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180227-C469-04F3-F9E9-92D364452D30}"/>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2074394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06B298-B881-9CB5-57BD-64B4D8622D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3CE6C8-EE63-39E0-C593-970B3BC77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FF83D3-A676-5F54-9807-7D4E75781EB2}"/>
              </a:ext>
            </a:extLst>
          </p:cNvPr>
          <p:cNvSpPr>
            <a:spLocks noGrp="1"/>
          </p:cNvSpPr>
          <p:nvPr>
            <p:ph type="dt" sz="half" idx="10"/>
          </p:nvPr>
        </p:nvSpPr>
        <p:spPr/>
        <p:txBody>
          <a:bodyPr/>
          <a:lstStyle/>
          <a:p>
            <a:fld id="{4BD465D8-4912-4CEF-B2BD-7B3E4EE63E57}" type="datetime1">
              <a:rPr lang="en-US" smtClean="0"/>
              <a:t>9/25/2026</a:t>
            </a:fld>
            <a:endParaRPr lang="en-US"/>
          </a:p>
        </p:txBody>
      </p:sp>
      <p:sp>
        <p:nvSpPr>
          <p:cNvPr id="5" name="Footer Placeholder 4">
            <a:extLst>
              <a:ext uri="{FF2B5EF4-FFF2-40B4-BE49-F238E27FC236}">
                <a16:creationId xmlns:a16="http://schemas.microsoft.com/office/drawing/2014/main" id="{BD3BA406-0D6E-F2AA-FCC0-3B5FEB87F1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69EC3F-C85D-B63E-25CD-D7F08642EF89}"/>
              </a:ext>
            </a:extLst>
          </p:cNvPr>
          <p:cNvSpPr>
            <a:spLocks noGrp="1"/>
          </p:cNvSpPr>
          <p:nvPr>
            <p:ph type="sldNum" sz="quarter" idx="12"/>
          </p:nvPr>
        </p:nvSpPr>
        <p:spPr/>
        <p:txBody>
          <a:bodyPr/>
          <a:lstStyle/>
          <a:p>
            <a:fld id="{CB12788D-ABA5-4E7B-998B-677A061A6405}" type="slidenum">
              <a:rPr lang="en-US" smtClean="0"/>
              <a:t>‹#›</a:t>
            </a:fld>
            <a:endParaRPr lang="en-US"/>
          </a:p>
        </p:txBody>
      </p:sp>
    </p:spTree>
    <p:extLst>
      <p:ext uri="{BB962C8B-B14F-4D97-AF65-F5344CB8AC3E}">
        <p14:creationId xmlns:p14="http://schemas.microsoft.com/office/powerpoint/2010/main" val="1015009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3036B3-E8F7-0EB5-3139-991E5793BB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35B866F-BB49-5AFC-170D-75756D9AD4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386381-540A-9DD4-A6FF-46BA60EA57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EA6365-E842-4AE9-A4E8-328FC00A53F9}" type="datetime1">
              <a:rPr lang="en-US" smtClean="0"/>
              <a:t>9/25/2026</a:t>
            </a:fld>
            <a:endParaRPr lang="en-US"/>
          </a:p>
        </p:txBody>
      </p:sp>
      <p:sp>
        <p:nvSpPr>
          <p:cNvPr id="5" name="Footer Placeholder 4">
            <a:extLst>
              <a:ext uri="{FF2B5EF4-FFF2-40B4-BE49-F238E27FC236}">
                <a16:creationId xmlns:a16="http://schemas.microsoft.com/office/drawing/2014/main" id="{77FF05F4-C16A-13F9-3F62-9064AA4511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D0ECDE-6E06-4377-0DF7-CCCA45C414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12788D-ABA5-4E7B-998B-677A061A6405}" type="slidenum">
              <a:rPr lang="en-US" smtClean="0"/>
              <a:t>‹#›</a:t>
            </a:fld>
            <a:endParaRPr lang="en-US"/>
          </a:p>
        </p:txBody>
      </p:sp>
    </p:spTree>
    <p:extLst>
      <p:ext uri="{BB962C8B-B14F-4D97-AF65-F5344CB8AC3E}">
        <p14:creationId xmlns:p14="http://schemas.microsoft.com/office/powerpoint/2010/main" val="4209730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15EDB-A2AA-EF17-093D-A5B7BC769E18}"/>
              </a:ext>
            </a:extLst>
          </p:cNvPr>
          <p:cNvSpPr>
            <a:spLocks noGrp="1"/>
          </p:cNvSpPr>
          <p:nvPr>
            <p:ph type="ctrTitle"/>
          </p:nvPr>
        </p:nvSpPr>
        <p:spPr/>
        <p:txBody>
          <a:bodyPr/>
          <a:lstStyle/>
          <a:p>
            <a:r>
              <a:rPr lang="en-US"/>
              <a:t>Probability and Uncertainty in Neural Modeling</a:t>
            </a:r>
            <a:endParaRPr lang="en-US" dirty="0"/>
          </a:p>
        </p:txBody>
      </p:sp>
      <p:sp>
        <p:nvSpPr>
          <p:cNvPr id="3" name="Subtitle 2">
            <a:extLst>
              <a:ext uri="{FF2B5EF4-FFF2-40B4-BE49-F238E27FC236}">
                <a16:creationId xmlns:a16="http://schemas.microsoft.com/office/drawing/2014/main" id="{5DF9C0D6-6D4C-ACDB-FDE4-0F2D1E3AE64A}"/>
              </a:ext>
            </a:extLst>
          </p:cNvPr>
          <p:cNvSpPr>
            <a:spLocks noGrp="1"/>
          </p:cNvSpPr>
          <p:nvPr>
            <p:ph type="subTitle" idx="1"/>
          </p:nvPr>
        </p:nvSpPr>
        <p:spPr/>
        <p:txBody>
          <a:bodyPr/>
          <a:lstStyle/>
          <a:p>
            <a:r>
              <a:rPr lang="en-US" dirty="0"/>
              <a:t>Anna Freund</a:t>
            </a:r>
          </a:p>
          <a:p>
            <a:r>
              <a:rPr lang="en-US" dirty="0"/>
              <a:t>Computational Neuroscience Unit, OIST</a:t>
            </a:r>
          </a:p>
        </p:txBody>
      </p:sp>
      <p:sp>
        <p:nvSpPr>
          <p:cNvPr id="5" name="Slide Number Placeholder 4">
            <a:extLst>
              <a:ext uri="{FF2B5EF4-FFF2-40B4-BE49-F238E27FC236}">
                <a16:creationId xmlns:a16="http://schemas.microsoft.com/office/drawing/2014/main" id="{44240AF4-1568-4090-8195-8E26675D86BC}"/>
              </a:ext>
            </a:extLst>
          </p:cNvPr>
          <p:cNvSpPr>
            <a:spLocks noGrp="1"/>
          </p:cNvSpPr>
          <p:nvPr>
            <p:ph type="sldNum" sz="quarter" idx="12"/>
          </p:nvPr>
        </p:nvSpPr>
        <p:spPr/>
        <p:txBody>
          <a:bodyPr/>
          <a:lstStyle/>
          <a:p>
            <a:fld id="{CB12788D-ABA5-4E7B-998B-677A061A6405}" type="slidenum">
              <a:rPr lang="en-US" smtClean="0"/>
              <a:t>1</a:t>
            </a:fld>
            <a:endParaRPr lang="en-US"/>
          </a:p>
        </p:txBody>
      </p:sp>
    </p:spTree>
    <p:extLst>
      <p:ext uri="{BB962C8B-B14F-4D97-AF65-F5344CB8AC3E}">
        <p14:creationId xmlns:p14="http://schemas.microsoft.com/office/powerpoint/2010/main" val="853283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59989AB-6593-FF4C-8095-5C0FE684639A}"/>
              </a:ext>
            </a:extLst>
          </p:cNvPr>
          <p:cNvPicPr>
            <a:picLocks noChangeAspect="1"/>
          </p:cNvPicPr>
          <p:nvPr/>
        </p:nvPicPr>
        <p:blipFill>
          <a:blip r:embed="rId2"/>
          <a:srcRect b="29077"/>
          <a:stretch>
            <a:fillRect/>
          </a:stretch>
        </p:blipFill>
        <p:spPr>
          <a:xfrm>
            <a:off x="1" y="10"/>
            <a:ext cx="9669642" cy="6857990"/>
          </a:xfrm>
          <a:prstGeom prst="rect">
            <a:avLst/>
          </a:prstGeom>
        </p:spPr>
      </p:pic>
      <p:sp>
        <p:nvSpPr>
          <p:cNvPr id="23" name="Rectangle 2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AC86FF-3B46-A94A-7D3B-53D4CC27F31A}"/>
              </a:ext>
            </a:extLst>
          </p:cNvPr>
          <p:cNvSpPr>
            <a:spLocks noGrp="1"/>
          </p:cNvSpPr>
          <p:nvPr>
            <p:ph type="title"/>
          </p:nvPr>
        </p:nvSpPr>
        <p:spPr>
          <a:xfrm>
            <a:off x="7531610" y="365125"/>
            <a:ext cx="3822189" cy="1899912"/>
          </a:xfrm>
        </p:spPr>
        <p:txBody>
          <a:bodyPr>
            <a:normAutofit/>
          </a:bodyPr>
          <a:lstStyle/>
          <a:p>
            <a:r>
              <a:rPr lang="en-US" sz="4000"/>
              <a:t>Contents</a:t>
            </a:r>
          </a:p>
        </p:txBody>
      </p:sp>
      <p:sp>
        <p:nvSpPr>
          <p:cNvPr id="3" name="Content Placeholder 2">
            <a:extLst>
              <a:ext uri="{FF2B5EF4-FFF2-40B4-BE49-F238E27FC236}">
                <a16:creationId xmlns:a16="http://schemas.microsoft.com/office/drawing/2014/main" id="{3327B221-9737-DB2F-C0B5-C460B3D14B2B}"/>
              </a:ext>
            </a:extLst>
          </p:cNvPr>
          <p:cNvSpPr>
            <a:spLocks noGrp="1"/>
          </p:cNvSpPr>
          <p:nvPr>
            <p:ph idx="1"/>
          </p:nvPr>
        </p:nvSpPr>
        <p:spPr>
          <a:xfrm>
            <a:off x="7531610" y="2434201"/>
            <a:ext cx="3822189" cy="3742762"/>
          </a:xfrm>
        </p:spPr>
        <p:txBody>
          <a:bodyPr>
            <a:normAutofit/>
          </a:bodyPr>
          <a:lstStyle/>
          <a:p>
            <a:r>
              <a:rPr lang="en-US" sz="2000"/>
              <a:t>Why do we need probabilities</a:t>
            </a:r>
          </a:p>
          <a:p>
            <a:r>
              <a:rPr lang="en-US" sz="2000"/>
              <a:t>Basics of probability theory</a:t>
            </a:r>
          </a:p>
          <a:p>
            <a:r>
              <a:rPr lang="en-US" sz="2000"/>
              <a:t>Random variables</a:t>
            </a:r>
          </a:p>
          <a:p>
            <a:r>
              <a:rPr lang="en-US" sz="2000"/>
              <a:t>Probability distributions</a:t>
            </a:r>
          </a:p>
          <a:p>
            <a:r>
              <a:rPr lang="en-US" sz="2000"/>
              <a:t>Variability in spike trains</a:t>
            </a:r>
          </a:p>
          <a:p>
            <a:r>
              <a:rPr lang="en-US" sz="2000"/>
              <a:t>Poisson spike generator</a:t>
            </a:r>
          </a:p>
          <a:p>
            <a:r>
              <a:rPr lang="en-US" sz="2000"/>
              <a:t>Noise</a:t>
            </a:r>
          </a:p>
          <a:p>
            <a:r>
              <a:rPr lang="en-US" sz="2000"/>
              <a:t>Neural Data Analysis</a:t>
            </a:r>
          </a:p>
          <a:p>
            <a:endParaRPr lang="en-US" sz="2000"/>
          </a:p>
        </p:txBody>
      </p:sp>
      <p:sp>
        <p:nvSpPr>
          <p:cNvPr id="5" name="Slide Number Placeholder 4">
            <a:extLst>
              <a:ext uri="{FF2B5EF4-FFF2-40B4-BE49-F238E27FC236}">
                <a16:creationId xmlns:a16="http://schemas.microsoft.com/office/drawing/2014/main" id="{CCBE1F0D-A095-4383-4981-1FA9180D5C28}"/>
              </a:ext>
            </a:extLst>
          </p:cNvPr>
          <p:cNvSpPr>
            <a:spLocks noGrp="1"/>
          </p:cNvSpPr>
          <p:nvPr>
            <p:ph type="sldNum" sz="quarter" idx="12"/>
          </p:nvPr>
        </p:nvSpPr>
        <p:spPr>
          <a:xfrm>
            <a:off x="8610600" y="6356350"/>
            <a:ext cx="2743200" cy="365125"/>
          </a:xfrm>
        </p:spPr>
        <p:txBody>
          <a:bodyPr>
            <a:normAutofit/>
          </a:bodyPr>
          <a:lstStyle/>
          <a:p>
            <a:pPr>
              <a:spcAft>
                <a:spcPts val="600"/>
              </a:spcAft>
            </a:pPr>
            <a:fld id="{CB12788D-ABA5-4E7B-998B-677A061A6405}" type="slidenum">
              <a:rPr lang="en-US"/>
              <a:pPr>
                <a:spcAft>
                  <a:spcPts val="600"/>
                </a:spcAft>
              </a:pPr>
              <a:t>2</a:t>
            </a:fld>
            <a:endParaRPr lang="en-US"/>
          </a:p>
        </p:txBody>
      </p:sp>
      <p:sp>
        <p:nvSpPr>
          <p:cNvPr id="9" name="Footer Placeholder 7">
            <a:extLst>
              <a:ext uri="{FF2B5EF4-FFF2-40B4-BE49-F238E27FC236}">
                <a16:creationId xmlns:a16="http://schemas.microsoft.com/office/drawing/2014/main" id="{A51AA6E5-1047-5F65-EFFA-EBCE61FE4C50}"/>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Koch, Biophysics of Computation</a:t>
            </a:r>
          </a:p>
        </p:txBody>
      </p:sp>
    </p:spTree>
    <p:extLst>
      <p:ext uri="{BB962C8B-B14F-4D97-AF65-F5344CB8AC3E}">
        <p14:creationId xmlns:p14="http://schemas.microsoft.com/office/powerpoint/2010/main" val="1691109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2ADDE-CB06-6856-8159-FC28ADE41397}"/>
              </a:ext>
            </a:extLst>
          </p:cNvPr>
          <p:cNvSpPr>
            <a:spLocks noGrp="1"/>
          </p:cNvSpPr>
          <p:nvPr>
            <p:ph type="title"/>
          </p:nvPr>
        </p:nvSpPr>
        <p:spPr/>
        <p:txBody>
          <a:bodyPr/>
          <a:lstStyle/>
          <a:p>
            <a:r>
              <a:rPr lang="en-US" dirty="0"/>
              <a:t>Why probability in neural modeling?</a:t>
            </a:r>
          </a:p>
        </p:txBody>
      </p:sp>
      <p:sp>
        <p:nvSpPr>
          <p:cNvPr id="5" name="Slide Number Placeholder 4">
            <a:extLst>
              <a:ext uri="{FF2B5EF4-FFF2-40B4-BE49-F238E27FC236}">
                <a16:creationId xmlns:a16="http://schemas.microsoft.com/office/drawing/2014/main" id="{C15DE06A-9F0D-4895-91BD-908D555C92AE}"/>
              </a:ext>
            </a:extLst>
          </p:cNvPr>
          <p:cNvSpPr>
            <a:spLocks noGrp="1"/>
          </p:cNvSpPr>
          <p:nvPr>
            <p:ph type="sldNum" sz="quarter" idx="12"/>
          </p:nvPr>
        </p:nvSpPr>
        <p:spPr/>
        <p:txBody>
          <a:bodyPr/>
          <a:lstStyle/>
          <a:p>
            <a:fld id="{CB12788D-ABA5-4E7B-998B-677A061A6405}" type="slidenum">
              <a:rPr lang="en-US" smtClean="0"/>
              <a:t>3</a:t>
            </a:fld>
            <a:endParaRPr lang="en-US"/>
          </a:p>
        </p:txBody>
      </p:sp>
      <p:sp>
        <p:nvSpPr>
          <p:cNvPr id="8" name="Footer Placeholder 7">
            <a:extLst>
              <a:ext uri="{FF2B5EF4-FFF2-40B4-BE49-F238E27FC236}">
                <a16:creationId xmlns:a16="http://schemas.microsoft.com/office/drawing/2014/main" id="{E34D32F9-A91A-80AE-3FD8-F182ACFCBEB4}"/>
              </a:ext>
            </a:extLst>
          </p:cNvPr>
          <p:cNvSpPr>
            <a:spLocks noGrp="1"/>
          </p:cNvSpPr>
          <p:nvPr>
            <p:ph type="ftr" sz="quarter" idx="11"/>
          </p:nvPr>
        </p:nvSpPr>
        <p:spPr>
          <a:xfrm>
            <a:off x="0" y="6356350"/>
            <a:ext cx="11101754" cy="501650"/>
          </a:xfrm>
        </p:spPr>
        <p:txBody>
          <a:bodyPr/>
          <a:lstStyle/>
          <a:p>
            <a:pPr algn="l"/>
            <a:r>
              <a:rPr lang="en-US" sz="1000" dirty="0"/>
              <a:t>Wikipedia: Hodgkin-Huxley model, Biological neuron model</a:t>
            </a:r>
            <a:br>
              <a:rPr lang="en-US" sz="1000" dirty="0"/>
            </a:br>
            <a:r>
              <a:rPr lang="en-US" sz="1000" dirty="0"/>
              <a:t>Cabrera-Álvarez et al., 2023, PLOS Computational Biology, Modeling the role of the thalamus in resting-state functional connectivity: Nature or structure</a:t>
            </a:r>
          </a:p>
        </p:txBody>
      </p:sp>
      <p:pic>
        <p:nvPicPr>
          <p:cNvPr id="14" name="Picture 13">
            <a:extLst>
              <a:ext uri="{FF2B5EF4-FFF2-40B4-BE49-F238E27FC236}">
                <a16:creationId xmlns:a16="http://schemas.microsoft.com/office/drawing/2014/main" id="{922D2106-4CD3-1F2E-AD3B-9D5B7F5838CA}"/>
              </a:ext>
            </a:extLst>
          </p:cNvPr>
          <p:cNvPicPr>
            <a:picLocks noChangeAspect="1"/>
          </p:cNvPicPr>
          <p:nvPr/>
        </p:nvPicPr>
        <p:blipFill>
          <a:blip r:embed="rId3"/>
          <a:stretch>
            <a:fillRect/>
          </a:stretch>
        </p:blipFill>
        <p:spPr>
          <a:xfrm>
            <a:off x="493327" y="1690688"/>
            <a:ext cx="3305641" cy="2275114"/>
          </a:xfrm>
          <a:prstGeom prst="rect">
            <a:avLst/>
          </a:prstGeom>
        </p:spPr>
      </p:pic>
      <p:pic>
        <p:nvPicPr>
          <p:cNvPr id="16" name="Picture 15">
            <a:extLst>
              <a:ext uri="{FF2B5EF4-FFF2-40B4-BE49-F238E27FC236}">
                <a16:creationId xmlns:a16="http://schemas.microsoft.com/office/drawing/2014/main" id="{75DDE4FA-103A-ED88-2C44-C9D54EE9CD7B}"/>
              </a:ext>
            </a:extLst>
          </p:cNvPr>
          <p:cNvPicPr>
            <a:picLocks noChangeAspect="1"/>
          </p:cNvPicPr>
          <p:nvPr/>
        </p:nvPicPr>
        <p:blipFill>
          <a:blip r:embed="rId4"/>
          <a:stretch>
            <a:fillRect/>
          </a:stretch>
        </p:blipFill>
        <p:spPr>
          <a:xfrm>
            <a:off x="6191865" y="1448412"/>
            <a:ext cx="4558197" cy="2275114"/>
          </a:xfrm>
          <a:prstGeom prst="rect">
            <a:avLst/>
          </a:prstGeom>
        </p:spPr>
      </p:pic>
      <p:pic>
        <p:nvPicPr>
          <p:cNvPr id="19" name="Picture 18">
            <a:extLst>
              <a:ext uri="{FF2B5EF4-FFF2-40B4-BE49-F238E27FC236}">
                <a16:creationId xmlns:a16="http://schemas.microsoft.com/office/drawing/2014/main" id="{04840807-F1BC-2244-78AC-04613591BC11}"/>
              </a:ext>
            </a:extLst>
          </p:cNvPr>
          <p:cNvPicPr>
            <a:picLocks noChangeAspect="1"/>
          </p:cNvPicPr>
          <p:nvPr/>
        </p:nvPicPr>
        <p:blipFill>
          <a:blip r:embed="rId5"/>
          <a:stretch>
            <a:fillRect/>
          </a:stretch>
        </p:blipFill>
        <p:spPr>
          <a:xfrm>
            <a:off x="2808001" y="4335983"/>
            <a:ext cx="6388428" cy="1778091"/>
          </a:xfrm>
          <a:prstGeom prst="rect">
            <a:avLst/>
          </a:prstGeom>
        </p:spPr>
      </p:pic>
    </p:spTree>
    <p:extLst>
      <p:ext uri="{BB962C8B-B14F-4D97-AF65-F5344CB8AC3E}">
        <p14:creationId xmlns:p14="http://schemas.microsoft.com/office/powerpoint/2010/main" val="1709911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59A88-10BA-199E-F5A6-0C0CA0F65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C05E0E-2B52-3653-2DF0-56334A323765}"/>
              </a:ext>
            </a:extLst>
          </p:cNvPr>
          <p:cNvSpPr>
            <a:spLocks noGrp="1"/>
          </p:cNvSpPr>
          <p:nvPr>
            <p:ph type="title"/>
          </p:nvPr>
        </p:nvSpPr>
        <p:spPr/>
        <p:txBody>
          <a:bodyPr/>
          <a:lstStyle/>
          <a:p>
            <a:r>
              <a:rPr lang="en-US" dirty="0"/>
              <a:t>Deterministic model</a:t>
            </a:r>
          </a:p>
        </p:txBody>
      </p:sp>
      <p:sp>
        <p:nvSpPr>
          <p:cNvPr id="3" name="Content Placeholder 2">
            <a:extLst>
              <a:ext uri="{FF2B5EF4-FFF2-40B4-BE49-F238E27FC236}">
                <a16:creationId xmlns:a16="http://schemas.microsoft.com/office/drawing/2014/main" id="{E93908D0-880B-F87F-31A4-4266ABF934A2}"/>
              </a:ext>
            </a:extLst>
          </p:cNvPr>
          <p:cNvSpPr>
            <a:spLocks noGrp="1"/>
          </p:cNvSpPr>
          <p:nvPr>
            <p:ph idx="1"/>
          </p:nvPr>
        </p:nvSpPr>
        <p:spPr>
          <a:xfrm>
            <a:off x="838200" y="1825625"/>
            <a:ext cx="10515600" cy="1603375"/>
          </a:xfrm>
        </p:spPr>
        <p:txBody>
          <a:bodyPr/>
          <a:lstStyle/>
          <a:p>
            <a:pPr marL="0" indent="0">
              <a:buNone/>
            </a:pPr>
            <a:r>
              <a:rPr lang="en-US" dirty="0"/>
              <a:t>Same input </a:t>
            </a:r>
            <a:r>
              <a:rPr lang="en-US" dirty="0">
                <a:sym typeface="Wingdings" panose="05000000000000000000" pitchFamily="2" charset="2"/>
              </a:rPr>
              <a:t> Same output</a:t>
            </a:r>
            <a:endParaRPr lang="en-US" dirty="0"/>
          </a:p>
        </p:txBody>
      </p:sp>
      <p:sp>
        <p:nvSpPr>
          <p:cNvPr id="5" name="Slide Number Placeholder 4">
            <a:extLst>
              <a:ext uri="{FF2B5EF4-FFF2-40B4-BE49-F238E27FC236}">
                <a16:creationId xmlns:a16="http://schemas.microsoft.com/office/drawing/2014/main" id="{8976EAE8-1F31-DDE9-27B7-A4B585C0853A}"/>
              </a:ext>
            </a:extLst>
          </p:cNvPr>
          <p:cNvSpPr>
            <a:spLocks noGrp="1"/>
          </p:cNvSpPr>
          <p:nvPr>
            <p:ph type="sldNum" sz="quarter" idx="12"/>
          </p:nvPr>
        </p:nvSpPr>
        <p:spPr/>
        <p:txBody>
          <a:bodyPr/>
          <a:lstStyle/>
          <a:p>
            <a:fld id="{CB12788D-ABA5-4E7B-998B-677A061A6405}" type="slidenum">
              <a:rPr lang="en-US" smtClean="0"/>
              <a:t>4</a:t>
            </a:fld>
            <a:endParaRPr lang="en-US"/>
          </a:p>
        </p:txBody>
      </p:sp>
      <p:sp>
        <p:nvSpPr>
          <p:cNvPr id="7" name="Footer Placeholder 7">
            <a:extLst>
              <a:ext uri="{FF2B5EF4-FFF2-40B4-BE49-F238E27FC236}">
                <a16:creationId xmlns:a16="http://schemas.microsoft.com/office/drawing/2014/main" id="{7B2F4D54-AD8D-4388-7587-C885B36B5DA9}"/>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Britannica, 2026, https://www.britannica.com/topic/determinism </a:t>
            </a:r>
          </a:p>
        </p:txBody>
      </p:sp>
      <p:pic>
        <p:nvPicPr>
          <p:cNvPr id="13" name="Picture 12">
            <a:extLst>
              <a:ext uri="{FF2B5EF4-FFF2-40B4-BE49-F238E27FC236}">
                <a16:creationId xmlns:a16="http://schemas.microsoft.com/office/drawing/2014/main" id="{6AD6647A-02B2-DE3B-3763-419F996E03AF}"/>
              </a:ext>
            </a:extLst>
          </p:cNvPr>
          <p:cNvPicPr>
            <a:picLocks noChangeAspect="1"/>
          </p:cNvPicPr>
          <p:nvPr/>
        </p:nvPicPr>
        <p:blipFill>
          <a:blip r:embed="rId2"/>
          <a:stretch>
            <a:fillRect/>
          </a:stretch>
        </p:blipFill>
        <p:spPr>
          <a:xfrm>
            <a:off x="6624255" y="0"/>
            <a:ext cx="5567745" cy="6356350"/>
          </a:xfrm>
          <a:prstGeom prst="rect">
            <a:avLst/>
          </a:prstGeom>
        </p:spPr>
      </p:pic>
      <p:sp>
        <p:nvSpPr>
          <p:cNvPr id="14" name="TextBox 13">
            <a:extLst>
              <a:ext uri="{FF2B5EF4-FFF2-40B4-BE49-F238E27FC236}">
                <a16:creationId xmlns:a16="http://schemas.microsoft.com/office/drawing/2014/main" id="{E73D905C-B17D-F916-9A48-60B43A36DB79}"/>
              </a:ext>
            </a:extLst>
          </p:cNvPr>
          <p:cNvSpPr txBox="1"/>
          <p:nvPr/>
        </p:nvSpPr>
        <p:spPr>
          <a:xfrm>
            <a:off x="838200" y="3423138"/>
            <a:ext cx="5152292" cy="1015663"/>
          </a:xfrm>
          <a:custGeom>
            <a:avLst/>
            <a:gdLst>
              <a:gd name="csX0" fmla="*/ 0 w 5152292"/>
              <a:gd name="csY0" fmla="*/ 0 h 1015663"/>
              <a:gd name="csX1" fmla="*/ 675523 w 5152292"/>
              <a:gd name="csY1" fmla="*/ 0 h 1015663"/>
              <a:gd name="csX2" fmla="*/ 1196477 w 5152292"/>
              <a:gd name="csY2" fmla="*/ 0 h 1015663"/>
              <a:gd name="csX3" fmla="*/ 1871999 w 5152292"/>
              <a:gd name="csY3" fmla="*/ 0 h 1015663"/>
              <a:gd name="csX4" fmla="*/ 2341430 w 5152292"/>
              <a:gd name="csY4" fmla="*/ 0 h 1015663"/>
              <a:gd name="csX5" fmla="*/ 2810862 w 5152292"/>
              <a:gd name="csY5" fmla="*/ 0 h 1015663"/>
              <a:gd name="csX6" fmla="*/ 3434861 w 5152292"/>
              <a:gd name="csY6" fmla="*/ 0 h 1015663"/>
              <a:gd name="csX7" fmla="*/ 3852769 w 5152292"/>
              <a:gd name="csY7" fmla="*/ 0 h 1015663"/>
              <a:gd name="csX8" fmla="*/ 4373723 w 5152292"/>
              <a:gd name="csY8" fmla="*/ 0 h 1015663"/>
              <a:gd name="csX9" fmla="*/ 5152292 w 5152292"/>
              <a:gd name="csY9" fmla="*/ 0 h 1015663"/>
              <a:gd name="csX10" fmla="*/ 5152292 w 5152292"/>
              <a:gd name="csY10" fmla="*/ 487518 h 1015663"/>
              <a:gd name="csX11" fmla="*/ 5152292 w 5152292"/>
              <a:gd name="csY11" fmla="*/ 1015663 h 1015663"/>
              <a:gd name="csX12" fmla="*/ 4476769 w 5152292"/>
              <a:gd name="csY12" fmla="*/ 1015663 h 1015663"/>
              <a:gd name="csX13" fmla="*/ 3904292 w 5152292"/>
              <a:gd name="csY13" fmla="*/ 1015663 h 1015663"/>
              <a:gd name="csX14" fmla="*/ 3383338 w 5152292"/>
              <a:gd name="csY14" fmla="*/ 1015663 h 1015663"/>
              <a:gd name="csX15" fmla="*/ 2862384 w 5152292"/>
              <a:gd name="csY15" fmla="*/ 1015663 h 1015663"/>
              <a:gd name="csX16" fmla="*/ 2289908 w 5152292"/>
              <a:gd name="csY16" fmla="*/ 1015663 h 1015663"/>
              <a:gd name="csX17" fmla="*/ 1614385 w 5152292"/>
              <a:gd name="csY17" fmla="*/ 1015663 h 1015663"/>
              <a:gd name="csX18" fmla="*/ 990385 w 5152292"/>
              <a:gd name="csY18" fmla="*/ 1015663 h 1015663"/>
              <a:gd name="csX19" fmla="*/ 520954 w 5152292"/>
              <a:gd name="csY19" fmla="*/ 1015663 h 1015663"/>
              <a:gd name="csX20" fmla="*/ 0 w 5152292"/>
              <a:gd name="csY20" fmla="*/ 1015663 h 1015663"/>
              <a:gd name="csX21" fmla="*/ 0 w 5152292"/>
              <a:gd name="csY21" fmla="*/ 538301 h 1015663"/>
              <a:gd name="csX22" fmla="*/ 0 w 5152292"/>
              <a:gd name="csY22" fmla="*/ 0 h 1015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5152292" h="1015663" extrusionOk="0">
                <a:moveTo>
                  <a:pt x="0" y="0"/>
                </a:moveTo>
                <a:cubicBezTo>
                  <a:pt x="206379" y="-78144"/>
                  <a:pt x="392892" y="52881"/>
                  <a:pt x="675523" y="0"/>
                </a:cubicBezTo>
                <a:cubicBezTo>
                  <a:pt x="958154" y="-52881"/>
                  <a:pt x="972299" y="42251"/>
                  <a:pt x="1196477" y="0"/>
                </a:cubicBezTo>
                <a:cubicBezTo>
                  <a:pt x="1420655" y="-42251"/>
                  <a:pt x="1592798" y="73893"/>
                  <a:pt x="1871999" y="0"/>
                </a:cubicBezTo>
                <a:cubicBezTo>
                  <a:pt x="2151200" y="-73893"/>
                  <a:pt x="2125434" y="25341"/>
                  <a:pt x="2341430" y="0"/>
                </a:cubicBezTo>
                <a:cubicBezTo>
                  <a:pt x="2557426" y="-25341"/>
                  <a:pt x="2609813" y="49699"/>
                  <a:pt x="2810862" y="0"/>
                </a:cubicBezTo>
                <a:cubicBezTo>
                  <a:pt x="3011911" y="-49699"/>
                  <a:pt x="3244886" y="12131"/>
                  <a:pt x="3434861" y="0"/>
                </a:cubicBezTo>
                <a:cubicBezTo>
                  <a:pt x="3624836" y="-12131"/>
                  <a:pt x="3734811" y="33214"/>
                  <a:pt x="3852769" y="0"/>
                </a:cubicBezTo>
                <a:cubicBezTo>
                  <a:pt x="3970727" y="-33214"/>
                  <a:pt x="4113690" y="45868"/>
                  <a:pt x="4373723" y="0"/>
                </a:cubicBezTo>
                <a:cubicBezTo>
                  <a:pt x="4633756" y="-45868"/>
                  <a:pt x="4943577" y="34102"/>
                  <a:pt x="5152292" y="0"/>
                </a:cubicBezTo>
                <a:cubicBezTo>
                  <a:pt x="5210009" y="100696"/>
                  <a:pt x="5107377" y="249155"/>
                  <a:pt x="5152292" y="487518"/>
                </a:cubicBezTo>
                <a:cubicBezTo>
                  <a:pt x="5197207" y="725881"/>
                  <a:pt x="5144932" y="880395"/>
                  <a:pt x="5152292" y="1015663"/>
                </a:cubicBezTo>
                <a:cubicBezTo>
                  <a:pt x="5004180" y="1066953"/>
                  <a:pt x="4718126" y="967760"/>
                  <a:pt x="4476769" y="1015663"/>
                </a:cubicBezTo>
                <a:cubicBezTo>
                  <a:pt x="4235412" y="1063566"/>
                  <a:pt x="4180401" y="994396"/>
                  <a:pt x="3904292" y="1015663"/>
                </a:cubicBezTo>
                <a:cubicBezTo>
                  <a:pt x="3628183" y="1036930"/>
                  <a:pt x="3561571" y="969987"/>
                  <a:pt x="3383338" y="1015663"/>
                </a:cubicBezTo>
                <a:cubicBezTo>
                  <a:pt x="3205105" y="1061339"/>
                  <a:pt x="2976959" y="980176"/>
                  <a:pt x="2862384" y="1015663"/>
                </a:cubicBezTo>
                <a:cubicBezTo>
                  <a:pt x="2747809" y="1051150"/>
                  <a:pt x="2497332" y="996562"/>
                  <a:pt x="2289908" y="1015663"/>
                </a:cubicBezTo>
                <a:cubicBezTo>
                  <a:pt x="2082484" y="1034764"/>
                  <a:pt x="1847424" y="939044"/>
                  <a:pt x="1614385" y="1015663"/>
                </a:cubicBezTo>
                <a:cubicBezTo>
                  <a:pt x="1381346" y="1092282"/>
                  <a:pt x="1264309" y="950722"/>
                  <a:pt x="990385" y="1015663"/>
                </a:cubicBezTo>
                <a:cubicBezTo>
                  <a:pt x="716461" y="1080604"/>
                  <a:pt x="703122" y="965367"/>
                  <a:pt x="520954" y="1015663"/>
                </a:cubicBezTo>
                <a:cubicBezTo>
                  <a:pt x="338786" y="1065959"/>
                  <a:pt x="113381" y="1011121"/>
                  <a:pt x="0" y="1015663"/>
                </a:cubicBezTo>
                <a:cubicBezTo>
                  <a:pt x="-6917" y="835253"/>
                  <a:pt x="13935" y="740477"/>
                  <a:pt x="0" y="538301"/>
                </a:cubicBezTo>
                <a:cubicBezTo>
                  <a:pt x="-13935" y="336125"/>
                  <a:pt x="22497" y="251681"/>
                  <a:pt x="0" y="0"/>
                </a:cubicBezTo>
                <a:close/>
              </a:path>
            </a:pathLst>
          </a:custGeom>
          <a:noFill/>
          <a:ln w="28575">
            <a:solidFill>
              <a:srgbClr val="7030A0"/>
            </a:solidFill>
            <a:extLst>
              <a:ext uri="{C807C97D-BFC1-408E-A445-0C87EB9F89A2}">
                <ask:lineSketchStyleProps xmlns:ask="http://schemas.microsoft.com/office/drawing/2018/sketchyshapes" sd="2482768269">
                  <a:prstGeom prst="rect">
                    <a:avLst/>
                  </a:prstGeom>
                  <ask:type>
                    <ask:lineSketchScribble/>
                  </ask:type>
                </ask:lineSketchStyleProps>
              </a:ext>
            </a:extLst>
          </a:ln>
        </p:spPr>
        <p:txBody>
          <a:bodyPr wrap="square" rtlCol="0">
            <a:spAutoFit/>
          </a:bodyPr>
          <a:lstStyle/>
          <a:p>
            <a:pPr algn="ctr"/>
            <a:r>
              <a:rPr lang="en-US" sz="2000" i="1" dirty="0"/>
              <a:t>Determinism is the metaphysical view that all events within the universe can occur only in one possible way</a:t>
            </a:r>
          </a:p>
        </p:txBody>
      </p:sp>
    </p:spTree>
    <p:extLst>
      <p:ext uri="{BB962C8B-B14F-4D97-AF65-F5344CB8AC3E}">
        <p14:creationId xmlns:p14="http://schemas.microsoft.com/office/powerpoint/2010/main" val="278253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368B3-E929-E59B-2ABE-B744F831E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624A7-713D-07DE-D8DE-62AFCEB90628}"/>
              </a:ext>
            </a:extLst>
          </p:cNvPr>
          <p:cNvSpPr>
            <a:spLocks noGrp="1"/>
          </p:cNvSpPr>
          <p:nvPr>
            <p:ph type="title"/>
          </p:nvPr>
        </p:nvSpPr>
        <p:spPr/>
        <p:txBody>
          <a:bodyPr/>
          <a:lstStyle/>
          <a:p>
            <a:r>
              <a:rPr lang="en-US" dirty="0"/>
              <a:t>Why probability at all?</a:t>
            </a:r>
          </a:p>
        </p:txBody>
      </p:sp>
      <p:sp>
        <p:nvSpPr>
          <p:cNvPr id="3" name="Content Placeholder 2">
            <a:extLst>
              <a:ext uri="{FF2B5EF4-FFF2-40B4-BE49-F238E27FC236}">
                <a16:creationId xmlns:a16="http://schemas.microsoft.com/office/drawing/2014/main" id="{109F04C6-11D9-478A-90D2-731BB8256541}"/>
              </a:ext>
            </a:extLst>
          </p:cNvPr>
          <p:cNvSpPr>
            <a:spLocks noGrp="1"/>
          </p:cNvSpPr>
          <p:nvPr>
            <p:ph idx="1"/>
          </p:nvPr>
        </p:nvSpPr>
        <p:spPr>
          <a:xfrm>
            <a:off x="838200" y="1825625"/>
            <a:ext cx="5961185" cy="2084021"/>
          </a:xfrm>
          <a:custGeom>
            <a:avLst/>
            <a:gdLst>
              <a:gd name="csX0" fmla="*/ 0 w 5961185"/>
              <a:gd name="csY0" fmla="*/ 0 h 2084021"/>
              <a:gd name="csX1" fmla="*/ 417283 w 5961185"/>
              <a:gd name="csY1" fmla="*/ 0 h 2084021"/>
              <a:gd name="csX2" fmla="*/ 894178 w 5961185"/>
              <a:gd name="csY2" fmla="*/ 0 h 2084021"/>
              <a:gd name="csX3" fmla="*/ 1430684 w 5961185"/>
              <a:gd name="csY3" fmla="*/ 0 h 2084021"/>
              <a:gd name="csX4" fmla="*/ 1967191 w 5961185"/>
              <a:gd name="csY4" fmla="*/ 0 h 2084021"/>
              <a:gd name="csX5" fmla="*/ 2622921 w 5961185"/>
              <a:gd name="csY5" fmla="*/ 0 h 2084021"/>
              <a:gd name="csX6" fmla="*/ 3278652 w 5961185"/>
              <a:gd name="csY6" fmla="*/ 0 h 2084021"/>
              <a:gd name="csX7" fmla="*/ 3755547 w 5961185"/>
              <a:gd name="csY7" fmla="*/ 0 h 2084021"/>
              <a:gd name="csX8" fmla="*/ 4351665 w 5961185"/>
              <a:gd name="csY8" fmla="*/ 0 h 2084021"/>
              <a:gd name="csX9" fmla="*/ 4888172 w 5961185"/>
              <a:gd name="csY9" fmla="*/ 0 h 2084021"/>
              <a:gd name="csX10" fmla="*/ 5365066 w 5961185"/>
              <a:gd name="csY10" fmla="*/ 0 h 2084021"/>
              <a:gd name="csX11" fmla="*/ 5961185 w 5961185"/>
              <a:gd name="csY11" fmla="*/ 0 h 2084021"/>
              <a:gd name="csX12" fmla="*/ 5961185 w 5961185"/>
              <a:gd name="csY12" fmla="*/ 541845 h 2084021"/>
              <a:gd name="csX13" fmla="*/ 5961185 w 5961185"/>
              <a:gd name="csY13" fmla="*/ 1021170 h 2084021"/>
              <a:gd name="csX14" fmla="*/ 5961185 w 5961185"/>
              <a:gd name="csY14" fmla="*/ 1500495 h 2084021"/>
              <a:gd name="csX15" fmla="*/ 5961185 w 5961185"/>
              <a:gd name="csY15" fmla="*/ 2084021 h 2084021"/>
              <a:gd name="csX16" fmla="*/ 5365067 w 5961185"/>
              <a:gd name="csY16" fmla="*/ 2084021 h 2084021"/>
              <a:gd name="csX17" fmla="*/ 4947784 w 5961185"/>
              <a:gd name="csY17" fmla="*/ 2084021 h 2084021"/>
              <a:gd name="csX18" fmla="*/ 4292053 w 5961185"/>
              <a:gd name="csY18" fmla="*/ 2084021 h 2084021"/>
              <a:gd name="csX19" fmla="*/ 3695935 w 5961185"/>
              <a:gd name="csY19" fmla="*/ 2084021 h 2084021"/>
              <a:gd name="csX20" fmla="*/ 3278652 w 5961185"/>
              <a:gd name="csY20" fmla="*/ 2084021 h 2084021"/>
              <a:gd name="csX21" fmla="*/ 2801757 w 5961185"/>
              <a:gd name="csY21" fmla="*/ 2084021 h 2084021"/>
              <a:gd name="csX22" fmla="*/ 2146027 w 5961185"/>
              <a:gd name="csY22" fmla="*/ 2084021 h 2084021"/>
              <a:gd name="csX23" fmla="*/ 1669132 w 5961185"/>
              <a:gd name="csY23" fmla="*/ 2084021 h 2084021"/>
              <a:gd name="csX24" fmla="*/ 1192237 w 5961185"/>
              <a:gd name="csY24" fmla="*/ 2084021 h 2084021"/>
              <a:gd name="csX25" fmla="*/ 596119 w 5961185"/>
              <a:gd name="csY25" fmla="*/ 2084021 h 2084021"/>
              <a:gd name="csX26" fmla="*/ 0 w 5961185"/>
              <a:gd name="csY26" fmla="*/ 2084021 h 2084021"/>
              <a:gd name="csX27" fmla="*/ 0 w 5961185"/>
              <a:gd name="csY27" fmla="*/ 1542176 h 2084021"/>
              <a:gd name="csX28" fmla="*/ 0 w 5961185"/>
              <a:gd name="csY28" fmla="*/ 1083691 h 2084021"/>
              <a:gd name="csX29" fmla="*/ 0 w 5961185"/>
              <a:gd name="csY29" fmla="*/ 541845 h 2084021"/>
              <a:gd name="csX30" fmla="*/ 0 w 5961185"/>
              <a:gd name="csY30" fmla="*/ 0 h 20840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5961185" h="2084021" fill="none" extrusionOk="0">
                <a:moveTo>
                  <a:pt x="0" y="0"/>
                </a:moveTo>
                <a:cubicBezTo>
                  <a:pt x="119123" y="-43485"/>
                  <a:pt x="285520" y="5832"/>
                  <a:pt x="417283" y="0"/>
                </a:cubicBezTo>
                <a:cubicBezTo>
                  <a:pt x="549046" y="-5832"/>
                  <a:pt x="758843" y="17349"/>
                  <a:pt x="894178" y="0"/>
                </a:cubicBezTo>
                <a:cubicBezTo>
                  <a:pt x="1029514" y="-17349"/>
                  <a:pt x="1196204" y="30914"/>
                  <a:pt x="1430684" y="0"/>
                </a:cubicBezTo>
                <a:cubicBezTo>
                  <a:pt x="1665164" y="-30914"/>
                  <a:pt x="1782591" y="1962"/>
                  <a:pt x="1967191" y="0"/>
                </a:cubicBezTo>
                <a:cubicBezTo>
                  <a:pt x="2151791" y="-1962"/>
                  <a:pt x="2378373" y="53124"/>
                  <a:pt x="2622921" y="0"/>
                </a:cubicBezTo>
                <a:cubicBezTo>
                  <a:pt x="2867469" y="-53124"/>
                  <a:pt x="3016933" y="28716"/>
                  <a:pt x="3278652" y="0"/>
                </a:cubicBezTo>
                <a:cubicBezTo>
                  <a:pt x="3540371" y="-28716"/>
                  <a:pt x="3656495" y="12879"/>
                  <a:pt x="3755547" y="0"/>
                </a:cubicBezTo>
                <a:cubicBezTo>
                  <a:pt x="3854599" y="-12879"/>
                  <a:pt x="4173386" y="63103"/>
                  <a:pt x="4351665" y="0"/>
                </a:cubicBezTo>
                <a:cubicBezTo>
                  <a:pt x="4529944" y="-63103"/>
                  <a:pt x="4720709" y="16971"/>
                  <a:pt x="4888172" y="0"/>
                </a:cubicBezTo>
                <a:cubicBezTo>
                  <a:pt x="5055635" y="-16971"/>
                  <a:pt x="5224377" y="30661"/>
                  <a:pt x="5365066" y="0"/>
                </a:cubicBezTo>
                <a:cubicBezTo>
                  <a:pt x="5505755" y="-30661"/>
                  <a:pt x="5757949" y="54962"/>
                  <a:pt x="5961185" y="0"/>
                </a:cubicBezTo>
                <a:cubicBezTo>
                  <a:pt x="5973363" y="229855"/>
                  <a:pt x="5912178" y="382581"/>
                  <a:pt x="5961185" y="541845"/>
                </a:cubicBezTo>
                <a:cubicBezTo>
                  <a:pt x="6010192" y="701109"/>
                  <a:pt x="5924713" y="863737"/>
                  <a:pt x="5961185" y="1021170"/>
                </a:cubicBezTo>
                <a:cubicBezTo>
                  <a:pt x="5997657" y="1178604"/>
                  <a:pt x="5919901" y="1322468"/>
                  <a:pt x="5961185" y="1500495"/>
                </a:cubicBezTo>
                <a:cubicBezTo>
                  <a:pt x="6002469" y="1678522"/>
                  <a:pt x="5933375" y="1943465"/>
                  <a:pt x="5961185" y="2084021"/>
                </a:cubicBezTo>
                <a:cubicBezTo>
                  <a:pt x="5836437" y="2121378"/>
                  <a:pt x="5650477" y="2071150"/>
                  <a:pt x="5365067" y="2084021"/>
                </a:cubicBezTo>
                <a:cubicBezTo>
                  <a:pt x="5079657" y="2096892"/>
                  <a:pt x="5052228" y="2076028"/>
                  <a:pt x="4947784" y="2084021"/>
                </a:cubicBezTo>
                <a:cubicBezTo>
                  <a:pt x="4843340" y="2092014"/>
                  <a:pt x="4452550" y="2011106"/>
                  <a:pt x="4292053" y="2084021"/>
                </a:cubicBezTo>
                <a:cubicBezTo>
                  <a:pt x="4131556" y="2156936"/>
                  <a:pt x="3899433" y="2032703"/>
                  <a:pt x="3695935" y="2084021"/>
                </a:cubicBezTo>
                <a:cubicBezTo>
                  <a:pt x="3492437" y="2135339"/>
                  <a:pt x="3479155" y="2059228"/>
                  <a:pt x="3278652" y="2084021"/>
                </a:cubicBezTo>
                <a:cubicBezTo>
                  <a:pt x="3078149" y="2108814"/>
                  <a:pt x="2997125" y="2081341"/>
                  <a:pt x="2801757" y="2084021"/>
                </a:cubicBezTo>
                <a:cubicBezTo>
                  <a:pt x="2606390" y="2086701"/>
                  <a:pt x="2403339" y="2020884"/>
                  <a:pt x="2146027" y="2084021"/>
                </a:cubicBezTo>
                <a:cubicBezTo>
                  <a:pt x="1888715" y="2147158"/>
                  <a:pt x="1823153" y="2066551"/>
                  <a:pt x="1669132" y="2084021"/>
                </a:cubicBezTo>
                <a:cubicBezTo>
                  <a:pt x="1515111" y="2101491"/>
                  <a:pt x="1352393" y="2049956"/>
                  <a:pt x="1192237" y="2084021"/>
                </a:cubicBezTo>
                <a:cubicBezTo>
                  <a:pt x="1032082" y="2118086"/>
                  <a:pt x="783195" y="2047454"/>
                  <a:pt x="596119" y="2084021"/>
                </a:cubicBezTo>
                <a:cubicBezTo>
                  <a:pt x="409043" y="2120588"/>
                  <a:pt x="292459" y="2041293"/>
                  <a:pt x="0" y="2084021"/>
                </a:cubicBezTo>
                <a:cubicBezTo>
                  <a:pt x="-17233" y="1950552"/>
                  <a:pt x="50172" y="1699076"/>
                  <a:pt x="0" y="1542176"/>
                </a:cubicBezTo>
                <a:cubicBezTo>
                  <a:pt x="-50172" y="1385276"/>
                  <a:pt x="36987" y="1279782"/>
                  <a:pt x="0" y="1083691"/>
                </a:cubicBezTo>
                <a:cubicBezTo>
                  <a:pt x="-36987" y="887601"/>
                  <a:pt x="26220" y="678318"/>
                  <a:pt x="0" y="541845"/>
                </a:cubicBezTo>
                <a:cubicBezTo>
                  <a:pt x="-26220" y="405372"/>
                  <a:pt x="852" y="252345"/>
                  <a:pt x="0" y="0"/>
                </a:cubicBezTo>
                <a:close/>
              </a:path>
              <a:path w="5961185" h="2084021" stroke="0" extrusionOk="0">
                <a:moveTo>
                  <a:pt x="0" y="0"/>
                </a:moveTo>
                <a:cubicBezTo>
                  <a:pt x="217304" y="-44178"/>
                  <a:pt x="297987" y="26234"/>
                  <a:pt x="476895" y="0"/>
                </a:cubicBezTo>
                <a:cubicBezTo>
                  <a:pt x="655804" y="-26234"/>
                  <a:pt x="728472" y="32693"/>
                  <a:pt x="894178" y="0"/>
                </a:cubicBezTo>
                <a:cubicBezTo>
                  <a:pt x="1059884" y="-32693"/>
                  <a:pt x="1437960" y="82804"/>
                  <a:pt x="1609520" y="0"/>
                </a:cubicBezTo>
                <a:cubicBezTo>
                  <a:pt x="1781080" y="-82804"/>
                  <a:pt x="1943107" y="36170"/>
                  <a:pt x="2265250" y="0"/>
                </a:cubicBezTo>
                <a:cubicBezTo>
                  <a:pt x="2587393" y="-36170"/>
                  <a:pt x="2704738" y="32233"/>
                  <a:pt x="2920981" y="0"/>
                </a:cubicBezTo>
                <a:cubicBezTo>
                  <a:pt x="3137224" y="-32233"/>
                  <a:pt x="3244711" y="38598"/>
                  <a:pt x="3338264" y="0"/>
                </a:cubicBezTo>
                <a:cubicBezTo>
                  <a:pt x="3431817" y="-38598"/>
                  <a:pt x="3618949" y="3858"/>
                  <a:pt x="3874770" y="0"/>
                </a:cubicBezTo>
                <a:cubicBezTo>
                  <a:pt x="4130591" y="-3858"/>
                  <a:pt x="4399111" y="65734"/>
                  <a:pt x="4530501" y="0"/>
                </a:cubicBezTo>
                <a:cubicBezTo>
                  <a:pt x="4661891" y="-65734"/>
                  <a:pt x="4772308" y="23011"/>
                  <a:pt x="5007395" y="0"/>
                </a:cubicBezTo>
                <a:cubicBezTo>
                  <a:pt x="5242482" y="-23011"/>
                  <a:pt x="5292108" y="20292"/>
                  <a:pt x="5424678" y="0"/>
                </a:cubicBezTo>
                <a:cubicBezTo>
                  <a:pt x="5557248" y="-20292"/>
                  <a:pt x="5708161" y="49996"/>
                  <a:pt x="5961185" y="0"/>
                </a:cubicBezTo>
                <a:cubicBezTo>
                  <a:pt x="5984115" y="176371"/>
                  <a:pt x="5937920" y="358510"/>
                  <a:pt x="5961185" y="562686"/>
                </a:cubicBezTo>
                <a:cubicBezTo>
                  <a:pt x="5984450" y="766862"/>
                  <a:pt x="5960551" y="807818"/>
                  <a:pt x="5961185" y="1021170"/>
                </a:cubicBezTo>
                <a:cubicBezTo>
                  <a:pt x="5961819" y="1234522"/>
                  <a:pt x="5901521" y="1290889"/>
                  <a:pt x="5961185" y="1521335"/>
                </a:cubicBezTo>
                <a:cubicBezTo>
                  <a:pt x="6020849" y="1751782"/>
                  <a:pt x="5928739" y="1944717"/>
                  <a:pt x="5961185" y="2084021"/>
                </a:cubicBezTo>
                <a:cubicBezTo>
                  <a:pt x="5795050" y="2111557"/>
                  <a:pt x="5544470" y="2004409"/>
                  <a:pt x="5245843" y="2084021"/>
                </a:cubicBezTo>
                <a:cubicBezTo>
                  <a:pt x="4947216" y="2163633"/>
                  <a:pt x="4713213" y="2029871"/>
                  <a:pt x="4530501" y="2084021"/>
                </a:cubicBezTo>
                <a:cubicBezTo>
                  <a:pt x="4347789" y="2138171"/>
                  <a:pt x="4134563" y="2059865"/>
                  <a:pt x="3993994" y="2084021"/>
                </a:cubicBezTo>
                <a:cubicBezTo>
                  <a:pt x="3853425" y="2108177"/>
                  <a:pt x="3636152" y="2074157"/>
                  <a:pt x="3278652" y="2084021"/>
                </a:cubicBezTo>
                <a:cubicBezTo>
                  <a:pt x="2921152" y="2093885"/>
                  <a:pt x="2880688" y="2045343"/>
                  <a:pt x="2682533" y="2084021"/>
                </a:cubicBezTo>
                <a:cubicBezTo>
                  <a:pt x="2484378" y="2122699"/>
                  <a:pt x="2204388" y="2062286"/>
                  <a:pt x="1967191" y="2084021"/>
                </a:cubicBezTo>
                <a:cubicBezTo>
                  <a:pt x="1729994" y="2105756"/>
                  <a:pt x="1600145" y="2081093"/>
                  <a:pt x="1430684" y="2084021"/>
                </a:cubicBezTo>
                <a:cubicBezTo>
                  <a:pt x="1261223" y="2086949"/>
                  <a:pt x="1082429" y="2071741"/>
                  <a:pt x="834566" y="2084021"/>
                </a:cubicBezTo>
                <a:cubicBezTo>
                  <a:pt x="586703" y="2096301"/>
                  <a:pt x="326428" y="2001862"/>
                  <a:pt x="0" y="2084021"/>
                </a:cubicBezTo>
                <a:cubicBezTo>
                  <a:pt x="-32447" y="1959012"/>
                  <a:pt x="58991" y="1739776"/>
                  <a:pt x="0" y="1563016"/>
                </a:cubicBezTo>
                <a:cubicBezTo>
                  <a:pt x="-58991" y="1386257"/>
                  <a:pt x="17568" y="1275321"/>
                  <a:pt x="0" y="1104531"/>
                </a:cubicBezTo>
                <a:cubicBezTo>
                  <a:pt x="-17568" y="933742"/>
                  <a:pt x="28375" y="745881"/>
                  <a:pt x="0" y="646047"/>
                </a:cubicBezTo>
                <a:cubicBezTo>
                  <a:pt x="-28375" y="546213"/>
                  <a:pt x="11130" y="165607"/>
                  <a:pt x="0" y="0"/>
                </a:cubicBezTo>
                <a:close/>
              </a:path>
            </a:pathLst>
          </a:custGeom>
          <a:ln w="28575">
            <a:solidFill>
              <a:srgbClr val="7030A0"/>
            </a:solidFill>
            <a:extLst>
              <a:ext uri="{C807C97D-BFC1-408E-A445-0C87EB9F89A2}">
                <ask:lineSketchStyleProps xmlns:ask="http://schemas.microsoft.com/office/drawing/2018/sketchyshapes" sd="3285984349">
                  <ask:type>
                    <ask:lineSketchScribble/>
                  </ask:type>
                </ask:lineSketchStyleProps>
              </a:ext>
            </a:extLst>
          </a:ln>
        </p:spPr>
        <p:txBody>
          <a:bodyPr>
            <a:normAutofit/>
          </a:bodyPr>
          <a:lstStyle/>
          <a:p>
            <a:pPr marL="0" indent="0">
              <a:buNone/>
            </a:pPr>
            <a:r>
              <a:rPr lang="en-US" sz="2600" dirty="0"/>
              <a:t>Scientists have established laws and equations to describe our surroundings </a:t>
            </a:r>
          </a:p>
          <a:p>
            <a:r>
              <a:rPr lang="en-US" sz="1800" dirty="0"/>
              <a:t>Laws of Thermodynamics</a:t>
            </a:r>
          </a:p>
          <a:p>
            <a:r>
              <a:rPr lang="en-US" sz="1800" dirty="0"/>
              <a:t>Newton`s Laws</a:t>
            </a:r>
          </a:p>
          <a:p>
            <a:r>
              <a:rPr lang="en-US" sz="1800" dirty="0"/>
              <a:t>Membrane potential of cells</a:t>
            </a:r>
          </a:p>
        </p:txBody>
      </p:sp>
      <p:sp>
        <p:nvSpPr>
          <p:cNvPr id="5" name="Slide Number Placeholder 4">
            <a:extLst>
              <a:ext uri="{FF2B5EF4-FFF2-40B4-BE49-F238E27FC236}">
                <a16:creationId xmlns:a16="http://schemas.microsoft.com/office/drawing/2014/main" id="{7585FF71-36E4-7AE7-C22B-AB439A3AFD3F}"/>
              </a:ext>
            </a:extLst>
          </p:cNvPr>
          <p:cNvSpPr>
            <a:spLocks noGrp="1"/>
          </p:cNvSpPr>
          <p:nvPr>
            <p:ph type="sldNum" sz="quarter" idx="12"/>
          </p:nvPr>
        </p:nvSpPr>
        <p:spPr/>
        <p:txBody>
          <a:bodyPr/>
          <a:lstStyle/>
          <a:p>
            <a:fld id="{CB12788D-ABA5-4E7B-998B-677A061A6405}" type="slidenum">
              <a:rPr lang="en-US" smtClean="0"/>
              <a:t>5</a:t>
            </a:fld>
            <a:endParaRPr lang="en-US"/>
          </a:p>
        </p:txBody>
      </p:sp>
      <p:sp>
        <p:nvSpPr>
          <p:cNvPr id="7" name="Footer Placeholder 7">
            <a:extLst>
              <a:ext uri="{FF2B5EF4-FFF2-40B4-BE49-F238E27FC236}">
                <a16:creationId xmlns:a16="http://schemas.microsoft.com/office/drawing/2014/main" id="{40288DA7-010C-94CE-DA87-E991654E53EF}"/>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Wikipedia: Membrane potential, https://en.wikipedia.org/wiki/Membrane_potential </a:t>
            </a:r>
          </a:p>
        </p:txBody>
      </p:sp>
      <p:sp>
        <p:nvSpPr>
          <p:cNvPr id="4" name="Content Placeholder 2">
            <a:extLst>
              <a:ext uri="{FF2B5EF4-FFF2-40B4-BE49-F238E27FC236}">
                <a16:creationId xmlns:a16="http://schemas.microsoft.com/office/drawing/2014/main" id="{863E3313-26C1-3276-F268-E545755BC478}"/>
              </a:ext>
            </a:extLst>
          </p:cNvPr>
          <p:cNvSpPr txBox="1">
            <a:spLocks/>
          </p:cNvSpPr>
          <p:nvPr/>
        </p:nvSpPr>
        <p:spPr>
          <a:xfrm>
            <a:off x="838200" y="4481452"/>
            <a:ext cx="5961185" cy="858410"/>
          </a:xfrm>
          <a:prstGeom prst="rect">
            <a:avLst/>
          </a:prstGeom>
          <a:ln w="28575">
            <a:solidFill>
              <a:schemeClr val="bg1"/>
            </a:solidFill>
            <a:extLst>
              <a:ext uri="{C807C97D-BFC1-408E-A445-0C87EB9F89A2}">
                <ask:lineSketchStyleProps xmlns:ask="http://schemas.microsoft.com/office/drawing/2018/sketchyshapes" sd="3285984349">
                  <a:custGeom>
                    <a:avLst/>
                    <a:gdLst>
                      <a:gd name="csX0" fmla="*/ 0 w 10515600"/>
                      <a:gd name="csY0" fmla="*/ 0 h 1603375"/>
                      <a:gd name="csX1" fmla="*/ 373888 w 10515600"/>
                      <a:gd name="csY1" fmla="*/ 0 h 1603375"/>
                      <a:gd name="csX2" fmla="*/ 642620 w 10515600"/>
                      <a:gd name="csY2" fmla="*/ 0 h 1603375"/>
                      <a:gd name="csX3" fmla="*/ 1226820 w 10515600"/>
                      <a:gd name="csY3" fmla="*/ 0 h 1603375"/>
                      <a:gd name="csX4" fmla="*/ 1916176 w 10515600"/>
                      <a:gd name="csY4" fmla="*/ 0 h 1603375"/>
                      <a:gd name="csX5" fmla="*/ 2184908 w 10515600"/>
                      <a:gd name="csY5" fmla="*/ 0 h 1603375"/>
                      <a:gd name="csX6" fmla="*/ 2979420 w 10515600"/>
                      <a:gd name="csY6" fmla="*/ 0 h 1603375"/>
                      <a:gd name="csX7" fmla="*/ 3668776 w 10515600"/>
                      <a:gd name="csY7" fmla="*/ 0 h 1603375"/>
                      <a:gd name="csX8" fmla="*/ 4252976 w 10515600"/>
                      <a:gd name="csY8" fmla="*/ 0 h 1603375"/>
                      <a:gd name="csX9" fmla="*/ 4942332 w 10515600"/>
                      <a:gd name="csY9" fmla="*/ 0 h 1603375"/>
                      <a:gd name="csX10" fmla="*/ 5211064 w 10515600"/>
                      <a:gd name="csY10" fmla="*/ 0 h 1603375"/>
                      <a:gd name="csX11" fmla="*/ 5690108 w 10515600"/>
                      <a:gd name="csY11" fmla="*/ 0 h 1603375"/>
                      <a:gd name="csX12" fmla="*/ 6063996 w 10515600"/>
                      <a:gd name="csY12" fmla="*/ 0 h 1603375"/>
                      <a:gd name="csX13" fmla="*/ 6858508 w 10515600"/>
                      <a:gd name="csY13" fmla="*/ 0 h 1603375"/>
                      <a:gd name="csX14" fmla="*/ 7653020 w 10515600"/>
                      <a:gd name="csY14" fmla="*/ 0 h 1603375"/>
                      <a:gd name="csX15" fmla="*/ 7921752 w 10515600"/>
                      <a:gd name="csY15" fmla="*/ 0 h 1603375"/>
                      <a:gd name="csX16" fmla="*/ 8611108 w 10515600"/>
                      <a:gd name="csY16" fmla="*/ 0 h 1603375"/>
                      <a:gd name="csX17" fmla="*/ 8984996 w 10515600"/>
                      <a:gd name="csY17" fmla="*/ 0 h 1603375"/>
                      <a:gd name="csX18" fmla="*/ 9569196 w 10515600"/>
                      <a:gd name="csY18" fmla="*/ 0 h 1603375"/>
                      <a:gd name="csX19" fmla="*/ 10515600 w 10515600"/>
                      <a:gd name="csY19" fmla="*/ 0 h 1603375"/>
                      <a:gd name="csX20" fmla="*/ 10515600 w 10515600"/>
                      <a:gd name="csY20" fmla="*/ 486357 h 1603375"/>
                      <a:gd name="csX21" fmla="*/ 10515600 w 10515600"/>
                      <a:gd name="csY21" fmla="*/ 988748 h 1603375"/>
                      <a:gd name="csX22" fmla="*/ 10515600 w 10515600"/>
                      <a:gd name="csY22" fmla="*/ 1603375 h 1603375"/>
                      <a:gd name="csX23" fmla="*/ 10036556 w 10515600"/>
                      <a:gd name="csY23" fmla="*/ 1603375 h 1603375"/>
                      <a:gd name="csX24" fmla="*/ 9557512 w 10515600"/>
                      <a:gd name="csY24" fmla="*/ 1603375 h 1603375"/>
                      <a:gd name="csX25" fmla="*/ 9288780 w 10515600"/>
                      <a:gd name="csY25" fmla="*/ 1603375 h 1603375"/>
                      <a:gd name="csX26" fmla="*/ 8914892 w 10515600"/>
                      <a:gd name="csY26" fmla="*/ 1603375 h 1603375"/>
                      <a:gd name="csX27" fmla="*/ 8646160 w 10515600"/>
                      <a:gd name="csY27" fmla="*/ 1603375 h 1603375"/>
                      <a:gd name="csX28" fmla="*/ 8167116 w 10515600"/>
                      <a:gd name="csY28" fmla="*/ 1603375 h 1603375"/>
                      <a:gd name="csX29" fmla="*/ 7688072 w 10515600"/>
                      <a:gd name="csY29" fmla="*/ 1603375 h 1603375"/>
                      <a:gd name="csX30" fmla="*/ 7419340 w 10515600"/>
                      <a:gd name="csY30" fmla="*/ 1603375 h 1603375"/>
                      <a:gd name="csX31" fmla="*/ 6729984 w 10515600"/>
                      <a:gd name="csY31" fmla="*/ 1603375 h 1603375"/>
                      <a:gd name="csX32" fmla="*/ 6250940 w 10515600"/>
                      <a:gd name="csY32" fmla="*/ 1603375 h 1603375"/>
                      <a:gd name="csX33" fmla="*/ 5982208 w 10515600"/>
                      <a:gd name="csY33" fmla="*/ 1603375 h 1603375"/>
                      <a:gd name="csX34" fmla="*/ 5713476 w 10515600"/>
                      <a:gd name="csY34" fmla="*/ 1603375 h 1603375"/>
                      <a:gd name="csX35" fmla="*/ 5444744 w 10515600"/>
                      <a:gd name="csY35" fmla="*/ 1603375 h 1603375"/>
                      <a:gd name="csX36" fmla="*/ 5176012 w 10515600"/>
                      <a:gd name="csY36" fmla="*/ 1603375 h 1603375"/>
                      <a:gd name="csX37" fmla="*/ 4486656 w 10515600"/>
                      <a:gd name="csY37" fmla="*/ 1603375 h 1603375"/>
                      <a:gd name="csX38" fmla="*/ 4112768 w 10515600"/>
                      <a:gd name="csY38" fmla="*/ 1603375 h 1603375"/>
                      <a:gd name="csX39" fmla="*/ 3318256 w 10515600"/>
                      <a:gd name="csY39" fmla="*/ 1603375 h 1603375"/>
                      <a:gd name="csX40" fmla="*/ 2628900 w 10515600"/>
                      <a:gd name="csY40" fmla="*/ 1603375 h 1603375"/>
                      <a:gd name="csX41" fmla="*/ 1834388 w 10515600"/>
                      <a:gd name="csY41" fmla="*/ 1603375 h 1603375"/>
                      <a:gd name="csX42" fmla="*/ 1460500 w 10515600"/>
                      <a:gd name="csY42" fmla="*/ 1603375 h 1603375"/>
                      <a:gd name="csX43" fmla="*/ 665988 w 10515600"/>
                      <a:gd name="csY43" fmla="*/ 1603375 h 1603375"/>
                      <a:gd name="csX44" fmla="*/ 0 w 10515600"/>
                      <a:gd name="csY44" fmla="*/ 1603375 h 1603375"/>
                      <a:gd name="csX45" fmla="*/ 0 w 10515600"/>
                      <a:gd name="csY45" fmla="*/ 1052883 h 1603375"/>
                      <a:gd name="csX46" fmla="*/ 0 w 10515600"/>
                      <a:gd name="csY46" fmla="*/ 534458 h 1603375"/>
                      <a:gd name="csX47" fmla="*/ 0 w 10515600"/>
                      <a:gd name="csY47" fmla="*/ 0 h 16033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10515600" h="1603375" fill="none" extrusionOk="0">
                        <a:moveTo>
                          <a:pt x="0" y="0"/>
                        </a:moveTo>
                        <a:cubicBezTo>
                          <a:pt x="178398" y="-3288"/>
                          <a:pt x="228313" y="44534"/>
                          <a:pt x="373888" y="0"/>
                        </a:cubicBezTo>
                        <a:cubicBezTo>
                          <a:pt x="519463" y="-44534"/>
                          <a:pt x="571485" y="25881"/>
                          <a:pt x="642620" y="0"/>
                        </a:cubicBezTo>
                        <a:cubicBezTo>
                          <a:pt x="713755" y="-25881"/>
                          <a:pt x="1025447" y="24063"/>
                          <a:pt x="1226820" y="0"/>
                        </a:cubicBezTo>
                        <a:cubicBezTo>
                          <a:pt x="1428193" y="-24063"/>
                          <a:pt x="1660396" y="71781"/>
                          <a:pt x="1916176" y="0"/>
                        </a:cubicBezTo>
                        <a:cubicBezTo>
                          <a:pt x="2171956" y="-71781"/>
                          <a:pt x="2094372" y="842"/>
                          <a:pt x="2184908" y="0"/>
                        </a:cubicBezTo>
                        <a:cubicBezTo>
                          <a:pt x="2275444" y="-842"/>
                          <a:pt x="2797184" y="24261"/>
                          <a:pt x="2979420" y="0"/>
                        </a:cubicBezTo>
                        <a:cubicBezTo>
                          <a:pt x="3161656" y="-24261"/>
                          <a:pt x="3329574" y="17888"/>
                          <a:pt x="3668776" y="0"/>
                        </a:cubicBezTo>
                        <a:cubicBezTo>
                          <a:pt x="4007978" y="-17888"/>
                          <a:pt x="4035838" y="26385"/>
                          <a:pt x="4252976" y="0"/>
                        </a:cubicBezTo>
                        <a:cubicBezTo>
                          <a:pt x="4470114" y="-26385"/>
                          <a:pt x="4680641" y="27056"/>
                          <a:pt x="4942332" y="0"/>
                        </a:cubicBezTo>
                        <a:cubicBezTo>
                          <a:pt x="5204023" y="-27056"/>
                          <a:pt x="5079574" y="28828"/>
                          <a:pt x="5211064" y="0"/>
                        </a:cubicBezTo>
                        <a:cubicBezTo>
                          <a:pt x="5342554" y="-28828"/>
                          <a:pt x="5585395" y="18054"/>
                          <a:pt x="5690108" y="0"/>
                        </a:cubicBezTo>
                        <a:cubicBezTo>
                          <a:pt x="5794821" y="-18054"/>
                          <a:pt x="5954522" y="12846"/>
                          <a:pt x="6063996" y="0"/>
                        </a:cubicBezTo>
                        <a:cubicBezTo>
                          <a:pt x="6173470" y="-12846"/>
                          <a:pt x="6507164" y="21763"/>
                          <a:pt x="6858508" y="0"/>
                        </a:cubicBezTo>
                        <a:cubicBezTo>
                          <a:pt x="7209852" y="-21763"/>
                          <a:pt x="7317506" y="1173"/>
                          <a:pt x="7653020" y="0"/>
                        </a:cubicBezTo>
                        <a:cubicBezTo>
                          <a:pt x="7988534" y="-1173"/>
                          <a:pt x="7790563" y="8179"/>
                          <a:pt x="7921752" y="0"/>
                        </a:cubicBezTo>
                        <a:cubicBezTo>
                          <a:pt x="8052941" y="-8179"/>
                          <a:pt x="8378643" y="66982"/>
                          <a:pt x="8611108" y="0"/>
                        </a:cubicBezTo>
                        <a:cubicBezTo>
                          <a:pt x="8843573" y="-66982"/>
                          <a:pt x="8892414" y="1755"/>
                          <a:pt x="8984996" y="0"/>
                        </a:cubicBezTo>
                        <a:cubicBezTo>
                          <a:pt x="9077578" y="-1755"/>
                          <a:pt x="9405267" y="30682"/>
                          <a:pt x="9569196" y="0"/>
                        </a:cubicBezTo>
                        <a:cubicBezTo>
                          <a:pt x="9733125" y="-30682"/>
                          <a:pt x="10066775" y="20358"/>
                          <a:pt x="10515600" y="0"/>
                        </a:cubicBezTo>
                        <a:cubicBezTo>
                          <a:pt x="10553861" y="118453"/>
                          <a:pt x="10505137" y="326153"/>
                          <a:pt x="10515600" y="486357"/>
                        </a:cubicBezTo>
                        <a:cubicBezTo>
                          <a:pt x="10526063" y="646561"/>
                          <a:pt x="10468296" y="766592"/>
                          <a:pt x="10515600" y="988748"/>
                        </a:cubicBezTo>
                        <a:cubicBezTo>
                          <a:pt x="10562904" y="1210904"/>
                          <a:pt x="10471408" y="1446566"/>
                          <a:pt x="10515600" y="1603375"/>
                        </a:cubicBezTo>
                        <a:cubicBezTo>
                          <a:pt x="10347767" y="1640059"/>
                          <a:pt x="10153493" y="1555252"/>
                          <a:pt x="10036556" y="1603375"/>
                        </a:cubicBezTo>
                        <a:cubicBezTo>
                          <a:pt x="9919619" y="1651498"/>
                          <a:pt x="9697864" y="1576631"/>
                          <a:pt x="9557512" y="1603375"/>
                        </a:cubicBezTo>
                        <a:cubicBezTo>
                          <a:pt x="9417160" y="1630119"/>
                          <a:pt x="9372242" y="1587036"/>
                          <a:pt x="9288780" y="1603375"/>
                        </a:cubicBezTo>
                        <a:cubicBezTo>
                          <a:pt x="9205318" y="1619714"/>
                          <a:pt x="9048082" y="1587592"/>
                          <a:pt x="8914892" y="1603375"/>
                        </a:cubicBezTo>
                        <a:cubicBezTo>
                          <a:pt x="8781702" y="1619158"/>
                          <a:pt x="8752040" y="1571862"/>
                          <a:pt x="8646160" y="1603375"/>
                        </a:cubicBezTo>
                        <a:cubicBezTo>
                          <a:pt x="8540280" y="1634888"/>
                          <a:pt x="8370117" y="1546516"/>
                          <a:pt x="8167116" y="1603375"/>
                        </a:cubicBezTo>
                        <a:cubicBezTo>
                          <a:pt x="7964115" y="1660234"/>
                          <a:pt x="7926826" y="1593807"/>
                          <a:pt x="7688072" y="1603375"/>
                        </a:cubicBezTo>
                        <a:cubicBezTo>
                          <a:pt x="7449318" y="1612943"/>
                          <a:pt x="7478108" y="1588889"/>
                          <a:pt x="7419340" y="1603375"/>
                        </a:cubicBezTo>
                        <a:cubicBezTo>
                          <a:pt x="7360572" y="1617861"/>
                          <a:pt x="7054417" y="1569833"/>
                          <a:pt x="6729984" y="1603375"/>
                        </a:cubicBezTo>
                        <a:cubicBezTo>
                          <a:pt x="6405551" y="1636917"/>
                          <a:pt x="6436954" y="1581001"/>
                          <a:pt x="6250940" y="1603375"/>
                        </a:cubicBezTo>
                        <a:cubicBezTo>
                          <a:pt x="6064926" y="1625749"/>
                          <a:pt x="6102396" y="1601977"/>
                          <a:pt x="5982208" y="1603375"/>
                        </a:cubicBezTo>
                        <a:cubicBezTo>
                          <a:pt x="5862020" y="1604773"/>
                          <a:pt x="5784974" y="1593458"/>
                          <a:pt x="5713476" y="1603375"/>
                        </a:cubicBezTo>
                        <a:cubicBezTo>
                          <a:pt x="5641978" y="1613292"/>
                          <a:pt x="5536550" y="1599574"/>
                          <a:pt x="5444744" y="1603375"/>
                        </a:cubicBezTo>
                        <a:cubicBezTo>
                          <a:pt x="5352938" y="1607176"/>
                          <a:pt x="5233315" y="1593022"/>
                          <a:pt x="5176012" y="1603375"/>
                        </a:cubicBezTo>
                        <a:cubicBezTo>
                          <a:pt x="5118709" y="1613728"/>
                          <a:pt x="4690638" y="1573453"/>
                          <a:pt x="4486656" y="1603375"/>
                        </a:cubicBezTo>
                        <a:cubicBezTo>
                          <a:pt x="4282674" y="1633297"/>
                          <a:pt x="4281271" y="1596122"/>
                          <a:pt x="4112768" y="1603375"/>
                        </a:cubicBezTo>
                        <a:cubicBezTo>
                          <a:pt x="3944265" y="1610628"/>
                          <a:pt x="3482207" y="1579841"/>
                          <a:pt x="3318256" y="1603375"/>
                        </a:cubicBezTo>
                        <a:cubicBezTo>
                          <a:pt x="3154305" y="1626909"/>
                          <a:pt x="2850432" y="1579066"/>
                          <a:pt x="2628900" y="1603375"/>
                        </a:cubicBezTo>
                        <a:cubicBezTo>
                          <a:pt x="2407368" y="1627684"/>
                          <a:pt x="2136663" y="1528752"/>
                          <a:pt x="1834388" y="1603375"/>
                        </a:cubicBezTo>
                        <a:cubicBezTo>
                          <a:pt x="1532113" y="1677998"/>
                          <a:pt x="1620414" y="1594380"/>
                          <a:pt x="1460500" y="1603375"/>
                        </a:cubicBezTo>
                        <a:cubicBezTo>
                          <a:pt x="1300586" y="1612370"/>
                          <a:pt x="825339" y="1543188"/>
                          <a:pt x="665988" y="1603375"/>
                        </a:cubicBezTo>
                        <a:cubicBezTo>
                          <a:pt x="506637" y="1663562"/>
                          <a:pt x="332350" y="1542211"/>
                          <a:pt x="0" y="1603375"/>
                        </a:cubicBezTo>
                        <a:cubicBezTo>
                          <a:pt x="-54862" y="1444896"/>
                          <a:pt x="27279" y="1246651"/>
                          <a:pt x="0" y="1052883"/>
                        </a:cubicBezTo>
                        <a:cubicBezTo>
                          <a:pt x="-27279" y="859115"/>
                          <a:pt x="40288" y="696895"/>
                          <a:pt x="0" y="534458"/>
                        </a:cubicBezTo>
                        <a:cubicBezTo>
                          <a:pt x="-40288" y="372022"/>
                          <a:pt x="53783" y="214407"/>
                          <a:pt x="0" y="0"/>
                        </a:cubicBezTo>
                        <a:close/>
                      </a:path>
                      <a:path w="10515600" h="1603375" stroke="0" extrusionOk="0">
                        <a:moveTo>
                          <a:pt x="0" y="0"/>
                        </a:moveTo>
                        <a:cubicBezTo>
                          <a:pt x="150219" y="-32640"/>
                          <a:pt x="240747" y="40302"/>
                          <a:pt x="373888" y="0"/>
                        </a:cubicBezTo>
                        <a:cubicBezTo>
                          <a:pt x="507029" y="-40302"/>
                          <a:pt x="517872" y="22270"/>
                          <a:pt x="642620" y="0"/>
                        </a:cubicBezTo>
                        <a:cubicBezTo>
                          <a:pt x="767368" y="-22270"/>
                          <a:pt x="1204550" y="42595"/>
                          <a:pt x="1437132" y="0"/>
                        </a:cubicBezTo>
                        <a:cubicBezTo>
                          <a:pt x="1669714" y="-42595"/>
                          <a:pt x="1859336" y="63930"/>
                          <a:pt x="2126488" y="0"/>
                        </a:cubicBezTo>
                        <a:cubicBezTo>
                          <a:pt x="2393640" y="-63930"/>
                          <a:pt x="2584307" y="73262"/>
                          <a:pt x="2815844" y="0"/>
                        </a:cubicBezTo>
                        <a:cubicBezTo>
                          <a:pt x="3047381" y="-73262"/>
                          <a:pt x="3023875" y="18482"/>
                          <a:pt x="3084576" y="0"/>
                        </a:cubicBezTo>
                        <a:cubicBezTo>
                          <a:pt x="3145277" y="-18482"/>
                          <a:pt x="3391776" y="18627"/>
                          <a:pt x="3563620" y="0"/>
                        </a:cubicBezTo>
                        <a:cubicBezTo>
                          <a:pt x="3735464" y="-18627"/>
                          <a:pt x="4095417" y="5835"/>
                          <a:pt x="4252976" y="0"/>
                        </a:cubicBezTo>
                        <a:cubicBezTo>
                          <a:pt x="4410535" y="-5835"/>
                          <a:pt x="4515558" y="38248"/>
                          <a:pt x="4626864" y="0"/>
                        </a:cubicBezTo>
                        <a:cubicBezTo>
                          <a:pt x="4738170" y="-38248"/>
                          <a:pt x="4799741" y="23588"/>
                          <a:pt x="4895596" y="0"/>
                        </a:cubicBezTo>
                        <a:cubicBezTo>
                          <a:pt x="4991451" y="-23588"/>
                          <a:pt x="5341362" y="39327"/>
                          <a:pt x="5690108" y="0"/>
                        </a:cubicBezTo>
                        <a:cubicBezTo>
                          <a:pt x="6038854" y="-39327"/>
                          <a:pt x="6295122" y="22821"/>
                          <a:pt x="6484620" y="0"/>
                        </a:cubicBezTo>
                        <a:cubicBezTo>
                          <a:pt x="6674118" y="-22821"/>
                          <a:pt x="6939579" y="80865"/>
                          <a:pt x="7173976" y="0"/>
                        </a:cubicBezTo>
                        <a:cubicBezTo>
                          <a:pt x="7408373" y="-80865"/>
                          <a:pt x="7472403" y="10766"/>
                          <a:pt x="7758176" y="0"/>
                        </a:cubicBezTo>
                        <a:cubicBezTo>
                          <a:pt x="8043949" y="-10766"/>
                          <a:pt x="8191074" y="50067"/>
                          <a:pt x="8447532" y="0"/>
                        </a:cubicBezTo>
                        <a:cubicBezTo>
                          <a:pt x="8703990" y="-50067"/>
                          <a:pt x="8720928" y="21461"/>
                          <a:pt x="8926576" y="0"/>
                        </a:cubicBezTo>
                        <a:cubicBezTo>
                          <a:pt x="9132224" y="-21461"/>
                          <a:pt x="9345216" y="65330"/>
                          <a:pt x="9615932" y="0"/>
                        </a:cubicBezTo>
                        <a:cubicBezTo>
                          <a:pt x="9886648" y="-65330"/>
                          <a:pt x="10287128" y="91918"/>
                          <a:pt x="10515600" y="0"/>
                        </a:cubicBezTo>
                        <a:cubicBezTo>
                          <a:pt x="10579238" y="163385"/>
                          <a:pt x="10489199" y="347929"/>
                          <a:pt x="10515600" y="550492"/>
                        </a:cubicBezTo>
                        <a:cubicBezTo>
                          <a:pt x="10542001" y="753055"/>
                          <a:pt x="10464279" y="920912"/>
                          <a:pt x="10515600" y="1052883"/>
                        </a:cubicBezTo>
                        <a:cubicBezTo>
                          <a:pt x="10566921" y="1184854"/>
                          <a:pt x="10507354" y="1344226"/>
                          <a:pt x="10515600" y="1603375"/>
                        </a:cubicBezTo>
                        <a:cubicBezTo>
                          <a:pt x="10454637" y="1619373"/>
                          <a:pt x="10346243" y="1582734"/>
                          <a:pt x="10246868" y="1603375"/>
                        </a:cubicBezTo>
                        <a:cubicBezTo>
                          <a:pt x="10147493" y="1624016"/>
                          <a:pt x="9927904" y="1541545"/>
                          <a:pt x="9662668" y="1603375"/>
                        </a:cubicBezTo>
                        <a:cubicBezTo>
                          <a:pt x="9397432" y="1665205"/>
                          <a:pt x="9410294" y="1565274"/>
                          <a:pt x="9288780" y="1603375"/>
                        </a:cubicBezTo>
                        <a:cubicBezTo>
                          <a:pt x="9167266" y="1641476"/>
                          <a:pt x="8871862" y="1574620"/>
                          <a:pt x="8704580" y="1603375"/>
                        </a:cubicBezTo>
                        <a:cubicBezTo>
                          <a:pt x="8537298" y="1632130"/>
                          <a:pt x="8277263" y="1583107"/>
                          <a:pt x="8120380" y="1603375"/>
                        </a:cubicBezTo>
                        <a:cubicBezTo>
                          <a:pt x="7963497" y="1623643"/>
                          <a:pt x="7687479" y="1566172"/>
                          <a:pt x="7325868" y="1603375"/>
                        </a:cubicBezTo>
                        <a:cubicBezTo>
                          <a:pt x="6964257" y="1640578"/>
                          <a:pt x="6787842" y="1518985"/>
                          <a:pt x="6531356" y="1603375"/>
                        </a:cubicBezTo>
                        <a:cubicBezTo>
                          <a:pt x="6274870" y="1687765"/>
                          <a:pt x="6303334" y="1565388"/>
                          <a:pt x="6157468" y="1603375"/>
                        </a:cubicBezTo>
                        <a:cubicBezTo>
                          <a:pt x="6011602" y="1641362"/>
                          <a:pt x="6015073" y="1595713"/>
                          <a:pt x="5888736" y="1603375"/>
                        </a:cubicBezTo>
                        <a:cubicBezTo>
                          <a:pt x="5762399" y="1611037"/>
                          <a:pt x="5403028" y="1575578"/>
                          <a:pt x="5094224" y="1603375"/>
                        </a:cubicBezTo>
                        <a:cubicBezTo>
                          <a:pt x="4785420" y="1631172"/>
                          <a:pt x="4702686" y="1558866"/>
                          <a:pt x="4510024" y="1603375"/>
                        </a:cubicBezTo>
                        <a:cubicBezTo>
                          <a:pt x="4317362" y="1647884"/>
                          <a:pt x="3961598" y="1561883"/>
                          <a:pt x="3820668" y="1603375"/>
                        </a:cubicBezTo>
                        <a:cubicBezTo>
                          <a:pt x="3679738" y="1644867"/>
                          <a:pt x="3503345" y="1593177"/>
                          <a:pt x="3341624" y="1603375"/>
                        </a:cubicBezTo>
                        <a:cubicBezTo>
                          <a:pt x="3179903" y="1613573"/>
                          <a:pt x="2827906" y="1558597"/>
                          <a:pt x="2652268" y="1603375"/>
                        </a:cubicBezTo>
                        <a:cubicBezTo>
                          <a:pt x="2476630" y="1648153"/>
                          <a:pt x="2397342" y="1571438"/>
                          <a:pt x="2278380" y="1603375"/>
                        </a:cubicBezTo>
                        <a:cubicBezTo>
                          <a:pt x="2159418" y="1635312"/>
                          <a:pt x="2074493" y="1600729"/>
                          <a:pt x="2009648" y="1603375"/>
                        </a:cubicBezTo>
                        <a:cubicBezTo>
                          <a:pt x="1944803" y="1606021"/>
                          <a:pt x="1652442" y="1570842"/>
                          <a:pt x="1425448" y="1603375"/>
                        </a:cubicBezTo>
                        <a:cubicBezTo>
                          <a:pt x="1198454" y="1635908"/>
                          <a:pt x="1025846" y="1542831"/>
                          <a:pt x="841248" y="1603375"/>
                        </a:cubicBezTo>
                        <a:cubicBezTo>
                          <a:pt x="656650" y="1663919"/>
                          <a:pt x="272497" y="1520765"/>
                          <a:pt x="0" y="1603375"/>
                        </a:cubicBezTo>
                        <a:cubicBezTo>
                          <a:pt x="-10710" y="1436111"/>
                          <a:pt x="45476" y="1260115"/>
                          <a:pt x="0" y="1117018"/>
                        </a:cubicBezTo>
                        <a:cubicBezTo>
                          <a:pt x="-45476" y="973921"/>
                          <a:pt x="41663" y="818363"/>
                          <a:pt x="0" y="614627"/>
                        </a:cubicBezTo>
                        <a:cubicBezTo>
                          <a:pt x="-41663" y="410891"/>
                          <a:pt x="70432" y="158755"/>
                          <a:pt x="0" y="0"/>
                        </a:cubicBezTo>
                        <a:close/>
                      </a:path>
                    </a:pathLst>
                  </a:custGeom>
                  <ask:type>
                    <ask:lineSketchNone/>
                  </ask:type>
                </ask:lineSketchStyleProps>
              </a:ext>
            </a:extLst>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Behavior of macroscopic systems, leaving out properties of single molecules </a:t>
            </a:r>
          </a:p>
        </p:txBody>
      </p:sp>
      <p:pic>
        <p:nvPicPr>
          <p:cNvPr id="8" name="Picture 7">
            <a:extLst>
              <a:ext uri="{FF2B5EF4-FFF2-40B4-BE49-F238E27FC236}">
                <a16:creationId xmlns:a16="http://schemas.microsoft.com/office/drawing/2014/main" id="{C4908D68-CEA9-06C7-E7BD-AA9C2EAD7326}"/>
              </a:ext>
            </a:extLst>
          </p:cNvPr>
          <p:cNvPicPr>
            <a:picLocks noChangeAspect="1"/>
          </p:cNvPicPr>
          <p:nvPr/>
        </p:nvPicPr>
        <p:blipFill>
          <a:blip r:embed="rId3"/>
          <a:stretch>
            <a:fillRect/>
          </a:stretch>
        </p:blipFill>
        <p:spPr>
          <a:xfrm>
            <a:off x="7690338" y="90880"/>
            <a:ext cx="4413738" cy="5099174"/>
          </a:xfrm>
          <a:prstGeom prst="rect">
            <a:avLst/>
          </a:prstGeom>
        </p:spPr>
      </p:pic>
      <p:sp>
        <p:nvSpPr>
          <p:cNvPr id="12" name="Content Placeholder 2">
            <a:extLst>
              <a:ext uri="{FF2B5EF4-FFF2-40B4-BE49-F238E27FC236}">
                <a16:creationId xmlns:a16="http://schemas.microsoft.com/office/drawing/2014/main" id="{F215C91D-4C1E-89AD-0C9A-53D863344914}"/>
              </a:ext>
            </a:extLst>
          </p:cNvPr>
          <p:cNvSpPr txBox="1">
            <a:spLocks/>
          </p:cNvSpPr>
          <p:nvPr/>
        </p:nvSpPr>
        <p:spPr>
          <a:xfrm>
            <a:off x="838200" y="5339862"/>
            <a:ext cx="5961185" cy="858410"/>
          </a:xfrm>
          <a:prstGeom prst="rect">
            <a:avLst/>
          </a:prstGeom>
          <a:ln w="28575">
            <a:solidFill>
              <a:schemeClr val="bg1"/>
            </a:solidFill>
            <a:extLst>
              <a:ext uri="{C807C97D-BFC1-408E-A445-0C87EB9F89A2}">
                <ask:lineSketchStyleProps xmlns:ask="http://schemas.microsoft.com/office/drawing/2018/sketchyshapes" sd="3285984349">
                  <a:custGeom>
                    <a:avLst/>
                    <a:gdLst>
                      <a:gd name="csX0" fmla="*/ 0 w 10515600"/>
                      <a:gd name="csY0" fmla="*/ 0 h 1603375"/>
                      <a:gd name="csX1" fmla="*/ 373888 w 10515600"/>
                      <a:gd name="csY1" fmla="*/ 0 h 1603375"/>
                      <a:gd name="csX2" fmla="*/ 642620 w 10515600"/>
                      <a:gd name="csY2" fmla="*/ 0 h 1603375"/>
                      <a:gd name="csX3" fmla="*/ 1226820 w 10515600"/>
                      <a:gd name="csY3" fmla="*/ 0 h 1603375"/>
                      <a:gd name="csX4" fmla="*/ 1916176 w 10515600"/>
                      <a:gd name="csY4" fmla="*/ 0 h 1603375"/>
                      <a:gd name="csX5" fmla="*/ 2184908 w 10515600"/>
                      <a:gd name="csY5" fmla="*/ 0 h 1603375"/>
                      <a:gd name="csX6" fmla="*/ 2979420 w 10515600"/>
                      <a:gd name="csY6" fmla="*/ 0 h 1603375"/>
                      <a:gd name="csX7" fmla="*/ 3668776 w 10515600"/>
                      <a:gd name="csY7" fmla="*/ 0 h 1603375"/>
                      <a:gd name="csX8" fmla="*/ 4252976 w 10515600"/>
                      <a:gd name="csY8" fmla="*/ 0 h 1603375"/>
                      <a:gd name="csX9" fmla="*/ 4942332 w 10515600"/>
                      <a:gd name="csY9" fmla="*/ 0 h 1603375"/>
                      <a:gd name="csX10" fmla="*/ 5211064 w 10515600"/>
                      <a:gd name="csY10" fmla="*/ 0 h 1603375"/>
                      <a:gd name="csX11" fmla="*/ 5690108 w 10515600"/>
                      <a:gd name="csY11" fmla="*/ 0 h 1603375"/>
                      <a:gd name="csX12" fmla="*/ 6063996 w 10515600"/>
                      <a:gd name="csY12" fmla="*/ 0 h 1603375"/>
                      <a:gd name="csX13" fmla="*/ 6858508 w 10515600"/>
                      <a:gd name="csY13" fmla="*/ 0 h 1603375"/>
                      <a:gd name="csX14" fmla="*/ 7653020 w 10515600"/>
                      <a:gd name="csY14" fmla="*/ 0 h 1603375"/>
                      <a:gd name="csX15" fmla="*/ 7921752 w 10515600"/>
                      <a:gd name="csY15" fmla="*/ 0 h 1603375"/>
                      <a:gd name="csX16" fmla="*/ 8611108 w 10515600"/>
                      <a:gd name="csY16" fmla="*/ 0 h 1603375"/>
                      <a:gd name="csX17" fmla="*/ 8984996 w 10515600"/>
                      <a:gd name="csY17" fmla="*/ 0 h 1603375"/>
                      <a:gd name="csX18" fmla="*/ 9569196 w 10515600"/>
                      <a:gd name="csY18" fmla="*/ 0 h 1603375"/>
                      <a:gd name="csX19" fmla="*/ 10515600 w 10515600"/>
                      <a:gd name="csY19" fmla="*/ 0 h 1603375"/>
                      <a:gd name="csX20" fmla="*/ 10515600 w 10515600"/>
                      <a:gd name="csY20" fmla="*/ 486357 h 1603375"/>
                      <a:gd name="csX21" fmla="*/ 10515600 w 10515600"/>
                      <a:gd name="csY21" fmla="*/ 988748 h 1603375"/>
                      <a:gd name="csX22" fmla="*/ 10515600 w 10515600"/>
                      <a:gd name="csY22" fmla="*/ 1603375 h 1603375"/>
                      <a:gd name="csX23" fmla="*/ 10036556 w 10515600"/>
                      <a:gd name="csY23" fmla="*/ 1603375 h 1603375"/>
                      <a:gd name="csX24" fmla="*/ 9557512 w 10515600"/>
                      <a:gd name="csY24" fmla="*/ 1603375 h 1603375"/>
                      <a:gd name="csX25" fmla="*/ 9288780 w 10515600"/>
                      <a:gd name="csY25" fmla="*/ 1603375 h 1603375"/>
                      <a:gd name="csX26" fmla="*/ 8914892 w 10515600"/>
                      <a:gd name="csY26" fmla="*/ 1603375 h 1603375"/>
                      <a:gd name="csX27" fmla="*/ 8646160 w 10515600"/>
                      <a:gd name="csY27" fmla="*/ 1603375 h 1603375"/>
                      <a:gd name="csX28" fmla="*/ 8167116 w 10515600"/>
                      <a:gd name="csY28" fmla="*/ 1603375 h 1603375"/>
                      <a:gd name="csX29" fmla="*/ 7688072 w 10515600"/>
                      <a:gd name="csY29" fmla="*/ 1603375 h 1603375"/>
                      <a:gd name="csX30" fmla="*/ 7419340 w 10515600"/>
                      <a:gd name="csY30" fmla="*/ 1603375 h 1603375"/>
                      <a:gd name="csX31" fmla="*/ 6729984 w 10515600"/>
                      <a:gd name="csY31" fmla="*/ 1603375 h 1603375"/>
                      <a:gd name="csX32" fmla="*/ 6250940 w 10515600"/>
                      <a:gd name="csY32" fmla="*/ 1603375 h 1603375"/>
                      <a:gd name="csX33" fmla="*/ 5982208 w 10515600"/>
                      <a:gd name="csY33" fmla="*/ 1603375 h 1603375"/>
                      <a:gd name="csX34" fmla="*/ 5713476 w 10515600"/>
                      <a:gd name="csY34" fmla="*/ 1603375 h 1603375"/>
                      <a:gd name="csX35" fmla="*/ 5444744 w 10515600"/>
                      <a:gd name="csY35" fmla="*/ 1603375 h 1603375"/>
                      <a:gd name="csX36" fmla="*/ 5176012 w 10515600"/>
                      <a:gd name="csY36" fmla="*/ 1603375 h 1603375"/>
                      <a:gd name="csX37" fmla="*/ 4486656 w 10515600"/>
                      <a:gd name="csY37" fmla="*/ 1603375 h 1603375"/>
                      <a:gd name="csX38" fmla="*/ 4112768 w 10515600"/>
                      <a:gd name="csY38" fmla="*/ 1603375 h 1603375"/>
                      <a:gd name="csX39" fmla="*/ 3318256 w 10515600"/>
                      <a:gd name="csY39" fmla="*/ 1603375 h 1603375"/>
                      <a:gd name="csX40" fmla="*/ 2628900 w 10515600"/>
                      <a:gd name="csY40" fmla="*/ 1603375 h 1603375"/>
                      <a:gd name="csX41" fmla="*/ 1834388 w 10515600"/>
                      <a:gd name="csY41" fmla="*/ 1603375 h 1603375"/>
                      <a:gd name="csX42" fmla="*/ 1460500 w 10515600"/>
                      <a:gd name="csY42" fmla="*/ 1603375 h 1603375"/>
                      <a:gd name="csX43" fmla="*/ 665988 w 10515600"/>
                      <a:gd name="csY43" fmla="*/ 1603375 h 1603375"/>
                      <a:gd name="csX44" fmla="*/ 0 w 10515600"/>
                      <a:gd name="csY44" fmla="*/ 1603375 h 1603375"/>
                      <a:gd name="csX45" fmla="*/ 0 w 10515600"/>
                      <a:gd name="csY45" fmla="*/ 1052883 h 1603375"/>
                      <a:gd name="csX46" fmla="*/ 0 w 10515600"/>
                      <a:gd name="csY46" fmla="*/ 534458 h 1603375"/>
                      <a:gd name="csX47" fmla="*/ 0 w 10515600"/>
                      <a:gd name="csY47" fmla="*/ 0 h 16033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10515600" h="1603375" fill="none" extrusionOk="0">
                        <a:moveTo>
                          <a:pt x="0" y="0"/>
                        </a:moveTo>
                        <a:cubicBezTo>
                          <a:pt x="178398" y="-3288"/>
                          <a:pt x="228313" y="44534"/>
                          <a:pt x="373888" y="0"/>
                        </a:cubicBezTo>
                        <a:cubicBezTo>
                          <a:pt x="519463" y="-44534"/>
                          <a:pt x="571485" y="25881"/>
                          <a:pt x="642620" y="0"/>
                        </a:cubicBezTo>
                        <a:cubicBezTo>
                          <a:pt x="713755" y="-25881"/>
                          <a:pt x="1025447" y="24063"/>
                          <a:pt x="1226820" y="0"/>
                        </a:cubicBezTo>
                        <a:cubicBezTo>
                          <a:pt x="1428193" y="-24063"/>
                          <a:pt x="1660396" y="71781"/>
                          <a:pt x="1916176" y="0"/>
                        </a:cubicBezTo>
                        <a:cubicBezTo>
                          <a:pt x="2171956" y="-71781"/>
                          <a:pt x="2094372" y="842"/>
                          <a:pt x="2184908" y="0"/>
                        </a:cubicBezTo>
                        <a:cubicBezTo>
                          <a:pt x="2275444" y="-842"/>
                          <a:pt x="2797184" y="24261"/>
                          <a:pt x="2979420" y="0"/>
                        </a:cubicBezTo>
                        <a:cubicBezTo>
                          <a:pt x="3161656" y="-24261"/>
                          <a:pt x="3329574" y="17888"/>
                          <a:pt x="3668776" y="0"/>
                        </a:cubicBezTo>
                        <a:cubicBezTo>
                          <a:pt x="4007978" y="-17888"/>
                          <a:pt x="4035838" y="26385"/>
                          <a:pt x="4252976" y="0"/>
                        </a:cubicBezTo>
                        <a:cubicBezTo>
                          <a:pt x="4470114" y="-26385"/>
                          <a:pt x="4680641" y="27056"/>
                          <a:pt x="4942332" y="0"/>
                        </a:cubicBezTo>
                        <a:cubicBezTo>
                          <a:pt x="5204023" y="-27056"/>
                          <a:pt x="5079574" y="28828"/>
                          <a:pt x="5211064" y="0"/>
                        </a:cubicBezTo>
                        <a:cubicBezTo>
                          <a:pt x="5342554" y="-28828"/>
                          <a:pt x="5585395" y="18054"/>
                          <a:pt x="5690108" y="0"/>
                        </a:cubicBezTo>
                        <a:cubicBezTo>
                          <a:pt x="5794821" y="-18054"/>
                          <a:pt x="5954522" y="12846"/>
                          <a:pt x="6063996" y="0"/>
                        </a:cubicBezTo>
                        <a:cubicBezTo>
                          <a:pt x="6173470" y="-12846"/>
                          <a:pt x="6507164" y="21763"/>
                          <a:pt x="6858508" y="0"/>
                        </a:cubicBezTo>
                        <a:cubicBezTo>
                          <a:pt x="7209852" y="-21763"/>
                          <a:pt x="7317506" y="1173"/>
                          <a:pt x="7653020" y="0"/>
                        </a:cubicBezTo>
                        <a:cubicBezTo>
                          <a:pt x="7988534" y="-1173"/>
                          <a:pt x="7790563" y="8179"/>
                          <a:pt x="7921752" y="0"/>
                        </a:cubicBezTo>
                        <a:cubicBezTo>
                          <a:pt x="8052941" y="-8179"/>
                          <a:pt x="8378643" y="66982"/>
                          <a:pt x="8611108" y="0"/>
                        </a:cubicBezTo>
                        <a:cubicBezTo>
                          <a:pt x="8843573" y="-66982"/>
                          <a:pt x="8892414" y="1755"/>
                          <a:pt x="8984996" y="0"/>
                        </a:cubicBezTo>
                        <a:cubicBezTo>
                          <a:pt x="9077578" y="-1755"/>
                          <a:pt x="9405267" y="30682"/>
                          <a:pt x="9569196" y="0"/>
                        </a:cubicBezTo>
                        <a:cubicBezTo>
                          <a:pt x="9733125" y="-30682"/>
                          <a:pt x="10066775" y="20358"/>
                          <a:pt x="10515600" y="0"/>
                        </a:cubicBezTo>
                        <a:cubicBezTo>
                          <a:pt x="10553861" y="118453"/>
                          <a:pt x="10505137" y="326153"/>
                          <a:pt x="10515600" y="486357"/>
                        </a:cubicBezTo>
                        <a:cubicBezTo>
                          <a:pt x="10526063" y="646561"/>
                          <a:pt x="10468296" y="766592"/>
                          <a:pt x="10515600" y="988748"/>
                        </a:cubicBezTo>
                        <a:cubicBezTo>
                          <a:pt x="10562904" y="1210904"/>
                          <a:pt x="10471408" y="1446566"/>
                          <a:pt x="10515600" y="1603375"/>
                        </a:cubicBezTo>
                        <a:cubicBezTo>
                          <a:pt x="10347767" y="1640059"/>
                          <a:pt x="10153493" y="1555252"/>
                          <a:pt x="10036556" y="1603375"/>
                        </a:cubicBezTo>
                        <a:cubicBezTo>
                          <a:pt x="9919619" y="1651498"/>
                          <a:pt x="9697864" y="1576631"/>
                          <a:pt x="9557512" y="1603375"/>
                        </a:cubicBezTo>
                        <a:cubicBezTo>
                          <a:pt x="9417160" y="1630119"/>
                          <a:pt x="9372242" y="1587036"/>
                          <a:pt x="9288780" y="1603375"/>
                        </a:cubicBezTo>
                        <a:cubicBezTo>
                          <a:pt x="9205318" y="1619714"/>
                          <a:pt x="9048082" y="1587592"/>
                          <a:pt x="8914892" y="1603375"/>
                        </a:cubicBezTo>
                        <a:cubicBezTo>
                          <a:pt x="8781702" y="1619158"/>
                          <a:pt x="8752040" y="1571862"/>
                          <a:pt x="8646160" y="1603375"/>
                        </a:cubicBezTo>
                        <a:cubicBezTo>
                          <a:pt x="8540280" y="1634888"/>
                          <a:pt x="8370117" y="1546516"/>
                          <a:pt x="8167116" y="1603375"/>
                        </a:cubicBezTo>
                        <a:cubicBezTo>
                          <a:pt x="7964115" y="1660234"/>
                          <a:pt x="7926826" y="1593807"/>
                          <a:pt x="7688072" y="1603375"/>
                        </a:cubicBezTo>
                        <a:cubicBezTo>
                          <a:pt x="7449318" y="1612943"/>
                          <a:pt x="7478108" y="1588889"/>
                          <a:pt x="7419340" y="1603375"/>
                        </a:cubicBezTo>
                        <a:cubicBezTo>
                          <a:pt x="7360572" y="1617861"/>
                          <a:pt x="7054417" y="1569833"/>
                          <a:pt x="6729984" y="1603375"/>
                        </a:cubicBezTo>
                        <a:cubicBezTo>
                          <a:pt x="6405551" y="1636917"/>
                          <a:pt x="6436954" y="1581001"/>
                          <a:pt x="6250940" y="1603375"/>
                        </a:cubicBezTo>
                        <a:cubicBezTo>
                          <a:pt x="6064926" y="1625749"/>
                          <a:pt x="6102396" y="1601977"/>
                          <a:pt x="5982208" y="1603375"/>
                        </a:cubicBezTo>
                        <a:cubicBezTo>
                          <a:pt x="5862020" y="1604773"/>
                          <a:pt x="5784974" y="1593458"/>
                          <a:pt x="5713476" y="1603375"/>
                        </a:cubicBezTo>
                        <a:cubicBezTo>
                          <a:pt x="5641978" y="1613292"/>
                          <a:pt x="5536550" y="1599574"/>
                          <a:pt x="5444744" y="1603375"/>
                        </a:cubicBezTo>
                        <a:cubicBezTo>
                          <a:pt x="5352938" y="1607176"/>
                          <a:pt x="5233315" y="1593022"/>
                          <a:pt x="5176012" y="1603375"/>
                        </a:cubicBezTo>
                        <a:cubicBezTo>
                          <a:pt x="5118709" y="1613728"/>
                          <a:pt x="4690638" y="1573453"/>
                          <a:pt x="4486656" y="1603375"/>
                        </a:cubicBezTo>
                        <a:cubicBezTo>
                          <a:pt x="4282674" y="1633297"/>
                          <a:pt x="4281271" y="1596122"/>
                          <a:pt x="4112768" y="1603375"/>
                        </a:cubicBezTo>
                        <a:cubicBezTo>
                          <a:pt x="3944265" y="1610628"/>
                          <a:pt x="3482207" y="1579841"/>
                          <a:pt x="3318256" y="1603375"/>
                        </a:cubicBezTo>
                        <a:cubicBezTo>
                          <a:pt x="3154305" y="1626909"/>
                          <a:pt x="2850432" y="1579066"/>
                          <a:pt x="2628900" y="1603375"/>
                        </a:cubicBezTo>
                        <a:cubicBezTo>
                          <a:pt x="2407368" y="1627684"/>
                          <a:pt x="2136663" y="1528752"/>
                          <a:pt x="1834388" y="1603375"/>
                        </a:cubicBezTo>
                        <a:cubicBezTo>
                          <a:pt x="1532113" y="1677998"/>
                          <a:pt x="1620414" y="1594380"/>
                          <a:pt x="1460500" y="1603375"/>
                        </a:cubicBezTo>
                        <a:cubicBezTo>
                          <a:pt x="1300586" y="1612370"/>
                          <a:pt x="825339" y="1543188"/>
                          <a:pt x="665988" y="1603375"/>
                        </a:cubicBezTo>
                        <a:cubicBezTo>
                          <a:pt x="506637" y="1663562"/>
                          <a:pt x="332350" y="1542211"/>
                          <a:pt x="0" y="1603375"/>
                        </a:cubicBezTo>
                        <a:cubicBezTo>
                          <a:pt x="-54862" y="1444896"/>
                          <a:pt x="27279" y="1246651"/>
                          <a:pt x="0" y="1052883"/>
                        </a:cubicBezTo>
                        <a:cubicBezTo>
                          <a:pt x="-27279" y="859115"/>
                          <a:pt x="40288" y="696895"/>
                          <a:pt x="0" y="534458"/>
                        </a:cubicBezTo>
                        <a:cubicBezTo>
                          <a:pt x="-40288" y="372022"/>
                          <a:pt x="53783" y="214407"/>
                          <a:pt x="0" y="0"/>
                        </a:cubicBezTo>
                        <a:close/>
                      </a:path>
                      <a:path w="10515600" h="1603375" stroke="0" extrusionOk="0">
                        <a:moveTo>
                          <a:pt x="0" y="0"/>
                        </a:moveTo>
                        <a:cubicBezTo>
                          <a:pt x="150219" y="-32640"/>
                          <a:pt x="240747" y="40302"/>
                          <a:pt x="373888" y="0"/>
                        </a:cubicBezTo>
                        <a:cubicBezTo>
                          <a:pt x="507029" y="-40302"/>
                          <a:pt x="517872" y="22270"/>
                          <a:pt x="642620" y="0"/>
                        </a:cubicBezTo>
                        <a:cubicBezTo>
                          <a:pt x="767368" y="-22270"/>
                          <a:pt x="1204550" y="42595"/>
                          <a:pt x="1437132" y="0"/>
                        </a:cubicBezTo>
                        <a:cubicBezTo>
                          <a:pt x="1669714" y="-42595"/>
                          <a:pt x="1859336" y="63930"/>
                          <a:pt x="2126488" y="0"/>
                        </a:cubicBezTo>
                        <a:cubicBezTo>
                          <a:pt x="2393640" y="-63930"/>
                          <a:pt x="2584307" y="73262"/>
                          <a:pt x="2815844" y="0"/>
                        </a:cubicBezTo>
                        <a:cubicBezTo>
                          <a:pt x="3047381" y="-73262"/>
                          <a:pt x="3023875" y="18482"/>
                          <a:pt x="3084576" y="0"/>
                        </a:cubicBezTo>
                        <a:cubicBezTo>
                          <a:pt x="3145277" y="-18482"/>
                          <a:pt x="3391776" y="18627"/>
                          <a:pt x="3563620" y="0"/>
                        </a:cubicBezTo>
                        <a:cubicBezTo>
                          <a:pt x="3735464" y="-18627"/>
                          <a:pt x="4095417" y="5835"/>
                          <a:pt x="4252976" y="0"/>
                        </a:cubicBezTo>
                        <a:cubicBezTo>
                          <a:pt x="4410535" y="-5835"/>
                          <a:pt x="4515558" y="38248"/>
                          <a:pt x="4626864" y="0"/>
                        </a:cubicBezTo>
                        <a:cubicBezTo>
                          <a:pt x="4738170" y="-38248"/>
                          <a:pt x="4799741" y="23588"/>
                          <a:pt x="4895596" y="0"/>
                        </a:cubicBezTo>
                        <a:cubicBezTo>
                          <a:pt x="4991451" y="-23588"/>
                          <a:pt x="5341362" y="39327"/>
                          <a:pt x="5690108" y="0"/>
                        </a:cubicBezTo>
                        <a:cubicBezTo>
                          <a:pt x="6038854" y="-39327"/>
                          <a:pt x="6295122" y="22821"/>
                          <a:pt x="6484620" y="0"/>
                        </a:cubicBezTo>
                        <a:cubicBezTo>
                          <a:pt x="6674118" y="-22821"/>
                          <a:pt x="6939579" y="80865"/>
                          <a:pt x="7173976" y="0"/>
                        </a:cubicBezTo>
                        <a:cubicBezTo>
                          <a:pt x="7408373" y="-80865"/>
                          <a:pt x="7472403" y="10766"/>
                          <a:pt x="7758176" y="0"/>
                        </a:cubicBezTo>
                        <a:cubicBezTo>
                          <a:pt x="8043949" y="-10766"/>
                          <a:pt x="8191074" y="50067"/>
                          <a:pt x="8447532" y="0"/>
                        </a:cubicBezTo>
                        <a:cubicBezTo>
                          <a:pt x="8703990" y="-50067"/>
                          <a:pt x="8720928" y="21461"/>
                          <a:pt x="8926576" y="0"/>
                        </a:cubicBezTo>
                        <a:cubicBezTo>
                          <a:pt x="9132224" y="-21461"/>
                          <a:pt x="9345216" y="65330"/>
                          <a:pt x="9615932" y="0"/>
                        </a:cubicBezTo>
                        <a:cubicBezTo>
                          <a:pt x="9886648" y="-65330"/>
                          <a:pt x="10287128" y="91918"/>
                          <a:pt x="10515600" y="0"/>
                        </a:cubicBezTo>
                        <a:cubicBezTo>
                          <a:pt x="10579238" y="163385"/>
                          <a:pt x="10489199" y="347929"/>
                          <a:pt x="10515600" y="550492"/>
                        </a:cubicBezTo>
                        <a:cubicBezTo>
                          <a:pt x="10542001" y="753055"/>
                          <a:pt x="10464279" y="920912"/>
                          <a:pt x="10515600" y="1052883"/>
                        </a:cubicBezTo>
                        <a:cubicBezTo>
                          <a:pt x="10566921" y="1184854"/>
                          <a:pt x="10507354" y="1344226"/>
                          <a:pt x="10515600" y="1603375"/>
                        </a:cubicBezTo>
                        <a:cubicBezTo>
                          <a:pt x="10454637" y="1619373"/>
                          <a:pt x="10346243" y="1582734"/>
                          <a:pt x="10246868" y="1603375"/>
                        </a:cubicBezTo>
                        <a:cubicBezTo>
                          <a:pt x="10147493" y="1624016"/>
                          <a:pt x="9927904" y="1541545"/>
                          <a:pt x="9662668" y="1603375"/>
                        </a:cubicBezTo>
                        <a:cubicBezTo>
                          <a:pt x="9397432" y="1665205"/>
                          <a:pt x="9410294" y="1565274"/>
                          <a:pt x="9288780" y="1603375"/>
                        </a:cubicBezTo>
                        <a:cubicBezTo>
                          <a:pt x="9167266" y="1641476"/>
                          <a:pt x="8871862" y="1574620"/>
                          <a:pt x="8704580" y="1603375"/>
                        </a:cubicBezTo>
                        <a:cubicBezTo>
                          <a:pt x="8537298" y="1632130"/>
                          <a:pt x="8277263" y="1583107"/>
                          <a:pt x="8120380" y="1603375"/>
                        </a:cubicBezTo>
                        <a:cubicBezTo>
                          <a:pt x="7963497" y="1623643"/>
                          <a:pt x="7687479" y="1566172"/>
                          <a:pt x="7325868" y="1603375"/>
                        </a:cubicBezTo>
                        <a:cubicBezTo>
                          <a:pt x="6964257" y="1640578"/>
                          <a:pt x="6787842" y="1518985"/>
                          <a:pt x="6531356" y="1603375"/>
                        </a:cubicBezTo>
                        <a:cubicBezTo>
                          <a:pt x="6274870" y="1687765"/>
                          <a:pt x="6303334" y="1565388"/>
                          <a:pt x="6157468" y="1603375"/>
                        </a:cubicBezTo>
                        <a:cubicBezTo>
                          <a:pt x="6011602" y="1641362"/>
                          <a:pt x="6015073" y="1595713"/>
                          <a:pt x="5888736" y="1603375"/>
                        </a:cubicBezTo>
                        <a:cubicBezTo>
                          <a:pt x="5762399" y="1611037"/>
                          <a:pt x="5403028" y="1575578"/>
                          <a:pt x="5094224" y="1603375"/>
                        </a:cubicBezTo>
                        <a:cubicBezTo>
                          <a:pt x="4785420" y="1631172"/>
                          <a:pt x="4702686" y="1558866"/>
                          <a:pt x="4510024" y="1603375"/>
                        </a:cubicBezTo>
                        <a:cubicBezTo>
                          <a:pt x="4317362" y="1647884"/>
                          <a:pt x="3961598" y="1561883"/>
                          <a:pt x="3820668" y="1603375"/>
                        </a:cubicBezTo>
                        <a:cubicBezTo>
                          <a:pt x="3679738" y="1644867"/>
                          <a:pt x="3503345" y="1593177"/>
                          <a:pt x="3341624" y="1603375"/>
                        </a:cubicBezTo>
                        <a:cubicBezTo>
                          <a:pt x="3179903" y="1613573"/>
                          <a:pt x="2827906" y="1558597"/>
                          <a:pt x="2652268" y="1603375"/>
                        </a:cubicBezTo>
                        <a:cubicBezTo>
                          <a:pt x="2476630" y="1648153"/>
                          <a:pt x="2397342" y="1571438"/>
                          <a:pt x="2278380" y="1603375"/>
                        </a:cubicBezTo>
                        <a:cubicBezTo>
                          <a:pt x="2159418" y="1635312"/>
                          <a:pt x="2074493" y="1600729"/>
                          <a:pt x="2009648" y="1603375"/>
                        </a:cubicBezTo>
                        <a:cubicBezTo>
                          <a:pt x="1944803" y="1606021"/>
                          <a:pt x="1652442" y="1570842"/>
                          <a:pt x="1425448" y="1603375"/>
                        </a:cubicBezTo>
                        <a:cubicBezTo>
                          <a:pt x="1198454" y="1635908"/>
                          <a:pt x="1025846" y="1542831"/>
                          <a:pt x="841248" y="1603375"/>
                        </a:cubicBezTo>
                        <a:cubicBezTo>
                          <a:pt x="656650" y="1663919"/>
                          <a:pt x="272497" y="1520765"/>
                          <a:pt x="0" y="1603375"/>
                        </a:cubicBezTo>
                        <a:cubicBezTo>
                          <a:pt x="-10710" y="1436111"/>
                          <a:pt x="45476" y="1260115"/>
                          <a:pt x="0" y="1117018"/>
                        </a:cubicBezTo>
                        <a:cubicBezTo>
                          <a:pt x="-45476" y="973921"/>
                          <a:pt x="41663" y="818363"/>
                          <a:pt x="0" y="614627"/>
                        </a:cubicBezTo>
                        <a:cubicBezTo>
                          <a:pt x="-41663" y="410891"/>
                          <a:pt x="70432" y="158755"/>
                          <a:pt x="0" y="0"/>
                        </a:cubicBezTo>
                        <a:close/>
                      </a:path>
                    </a:pathLst>
                  </a:custGeom>
                  <ask:type>
                    <ask:lineSketchNone/>
                  </ask:type>
                </ask:lineSketchStyleProps>
              </a:ext>
            </a:extLst>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We need to include the stochasticity of single molecules to model variability</a:t>
            </a:r>
          </a:p>
        </p:txBody>
      </p:sp>
      <p:sp>
        <p:nvSpPr>
          <p:cNvPr id="14" name="Footer Placeholder 7">
            <a:extLst>
              <a:ext uri="{FF2B5EF4-FFF2-40B4-BE49-F238E27FC236}">
                <a16:creationId xmlns:a16="http://schemas.microsoft.com/office/drawing/2014/main" id="{AA6CA8D8-2439-5191-2B13-F07D641D0440}"/>
              </a:ext>
            </a:extLst>
          </p:cNvPr>
          <p:cNvSpPr txBox="1">
            <a:spLocks/>
          </p:cNvSpPr>
          <p:nvPr/>
        </p:nvSpPr>
        <p:spPr>
          <a:xfrm>
            <a:off x="7690338" y="5103098"/>
            <a:ext cx="3845380" cy="3612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Wikipedia: Membrane potential</a:t>
            </a:r>
          </a:p>
        </p:txBody>
      </p:sp>
    </p:spTree>
    <p:extLst>
      <p:ext uri="{BB962C8B-B14F-4D97-AF65-F5344CB8AC3E}">
        <p14:creationId xmlns:p14="http://schemas.microsoft.com/office/powerpoint/2010/main" val="2733715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00417-C139-E3CE-CEF9-184CAFDD122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13B81A5-4F06-33A0-D53D-AE351674CF00}"/>
              </a:ext>
            </a:extLst>
          </p:cNvPr>
          <p:cNvSpPr>
            <a:spLocks noGrp="1"/>
          </p:cNvSpPr>
          <p:nvPr>
            <p:ph type="sldNum" sz="quarter" idx="12"/>
          </p:nvPr>
        </p:nvSpPr>
        <p:spPr/>
        <p:txBody>
          <a:bodyPr/>
          <a:lstStyle/>
          <a:p>
            <a:fld id="{CB12788D-ABA5-4E7B-998B-677A061A6405}" type="slidenum">
              <a:rPr lang="en-US" smtClean="0"/>
              <a:t>6</a:t>
            </a:fld>
            <a:endParaRPr lang="en-US"/>
          </a:p>
        </p:txBody>
      </p:sp>
      <p:sp>
        <p:nvSpPr>
          <p:cNvPr id="7" name="Footer Placeholder 7">
            <a:extLst>
              <a:ext uri="{FF2B5EF4-FFF2-40B4-BE49-F238E27FC236}">
                <a16:creationId xmlns:a16="http://schemas.microsoft.com/office/drawing/2014/main" id="{4D917353-4CF3-3A09-CE29-AB5EE0261CD5}"/>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03E6FAC8-0156-B3D7-35B9-561882480016}"/>
              </a:ext>
            </a:extLst>
          </p:cNvPr>
          <p:cNvSpPr>
            <a:spLocks noGrp="1"/>
          </p:cNvSpPr>
          <p:nvPr>
            <p:ph type="title"/>
          </p:nvPr>
        </p:nvSpPr>
        <p:spPr>
          <a:xfrm>
            <a:off x="838200" y="365125"/>
            <a:ext cx="10515600" cy="1325563"/>
          </a:xfrm>
        </p:spPr>
        <p:txBody>
          <a:bodyPr/>
          <a:lstStyle/>
          <a:p>
            <a:r>
              <a:rPr lang="en-US" dirty="0"/>
              <a:t>Why probability in neural modeling?</a:t>
            </a:r>
          </a:p>
        </p:txBody>
      </p:sp>
      <p:sp>
        <p:nvSpPr>
          <p:cNvPr id="6" name="Content Placeholder 2">
            <a:extLst>
              <a:ext uri="{FF2B5EF4-FFF2-40B4-BE49-F238E27FC236}">
                <a16:creationId xmlns:a16="http://schemas.microsoft.com/office/drawing/2014/main" id="{4A4BF5A9-3334-6031-D65D-3334DF31A06F}"/>
              </a:ext>
            </a:extLst>
          </p:cNvPr>
          <p:cNvSpPr txBox="1">
            <a:spLocks/>
          </p:cNvSpPr>
          <p:nvPr/>
        </p:nvSpPr>
        <p:spPr>
          <a:xfrm>
            <a:off x="838200" y="2844984"/>
            <a:ext cx="10515600" cy="1228995"/>
          </a:xfrm>
          <a:custGeom>
            <a:avLst/>
            <a:gdLst>
              <a:gd name="csX0" fmla="*/ 0 w 10515600"/>
              <a:gd name="csY0" fmla="*/ 0 h 1228995"/>
              <a:gd name="csX1" fmla="*/ 373888 w 10515600"/>
              <a:gd name="csY1" fmla="*/ 0 h 1228995"/>
              <a:gd name="csX2" fmla="*/ 642620 w 10515600"/>
              <a:gd name="csY2" fmla="*/ 0 h 1228995"/>
              <a:gd name="csX3" fmla="*/ 1226820 w 10515600"/>
              <a:gd name="csY3" fmla="*/ 0 h 1228995"/>
              <a:gd name="csX4" fmla="*/ 1916176 w 10515600"/>
              <a:gd name="csY4" fmla="*/ 0 h 1228995"/>
              <a:gd name="csX5" fmla="*/ 2184908 w 10515600"/>
              <a:gd name="csY5" fmla="*/ 0 h 1228995"/>
              <a:gd name="csX6" fmla="*/ 2979420 w 10515600"/>
              <a:gd name="csY6" fmla="*/ 0 h 1228995"/>
              <a:gd name="csX7" fmla="*/ 3668776 w 10515600"/>
              <a:gd name="csY7" fmla="*/ 0 h 1228995"/>
              <a:gd name="csX8" fmla="*/ 4252976 w 10515600"/>
              <a:gd name="csY8" fmla="*/ 0 h 1228995"/>
              <a:gd name="csX9" fmla="*/ 4942332 w 10515600"/>
              <a:gd name="csY9" fmla="*/ 0 h 1228995"/>
              <a:gd name="csX10" fmla="*/ 5211064 w 10515600"/>
              <a:gd name="csY10" fmla="*/ 0 h 1228995"/>
              <a:gd name="csX11" fmla="*/ 5690108 w 10515600"/>
              <a:gd name="csY11" fmla="*/ 0 h 1228995"/>
              <a:gd name="csX12" fmla="*/ 6063996 w 10515600"/>
              <a:gd name="csY12" fmla="*/ 0 h 1228995"/>
              <a:gd name="csX13" fmla="*/ 6858508 w 10515600"/>
              <a:gd name="csY13" fmla="*/ 0 h 1228995"/>
              <a:gd name="csX14" fmla="*/ 7653020 w 10515600"/>
              <a:gd name="csY14" fmla="*/ 0 h 1228995"/>
              <a:gd name="csX15" fmla="*/ 7921752 w 10515600"/>
              <a:gd name="csY15" fmla="*/ 0 h 1228995"/>
              <a:gd name="csX16" fmla="*/ 8611108 w 10515600"/>
              <a:gd name="csY16" fmla="*/ 0 h 1228995"/>
              <a:gd name="csX17" fmla="*/ 8984996 w 10515600"/>
              <a:gd name="csY17" fmla="*/ 0 h 1228995"/>
              <a:gd name="csX18" fmla="*/ 9569196 w 10515600"/>
              <a:gd name="csY18" fmla="*/ 0 h 1228995"/>
              <a:gd name="csX19" fmla="*/ 10515600 w 10515600"/>
              <a:gd name="csY19" fmla="*/ 0 h 1228995"/>
              <a:gd name="csX20" fmla="*/ 10515600 w 10515600"/>
              <a:gd name="csY20" fmla="*/ 372795 h 1228995"/>
              <a:gd name="csX21" fmla="*/ 10515600 w 10515600"/>
              <a:gd name="csY21" fmla="*/ 757880 h 1228995"/>
              <a:gd name="csX22" fmla="*/ 10515600 w 10515600"/>
              <a:gd name="csY22" fmla="*/ 1228995 h 1228995"/>
              <a:gd name="csX23" fmla="*/ 10036556 w 10515600"/>
              <a:gd name="csY23" fmla="*/ 1228995 h 1228995"/>
              <a:gd name="csX24" fmla="*/ 9557512 w 10515600"/>
              <a:gd name="csY24" fmla="*/ 1228995 h 1228995"/>
              <a:gd name="csX25" fmla="*/ 9288780 w 10515600"/>
              <a:gd name="csY25" fmla="*/ 1228995 h 1228995"/>
              <a:gd name="csX26" fmla="*/ 8914892 w 10515600"/>
              <a:gd name="csY26" fmla="*/ 1228995 h 1228995"/>
              <a:gd name="csX27" fmla="*/ 8646160 w 10515600"/>
              <a:gd name="csY27" fmla="*/ 1228995 h 1228995"/>
              <a:gd name="csX28" fmla="*/ 8167116 w 10515600"/>
              <a:gd name="csY28" fmla="*/ 1228995 h 1228995"/>
              <a:gd name="csX29" fmla="*/ 7688072 w 10515600"/>
              <a:gd name="csY29" fmla="*/ 1228995 h 1228995"/>
              <a:gd name="csX30" fmla="*/ 7419340 w 10515600"/>
              <a:gd name="csY30" fmla="*/ 1228995 h 1228995"/>
              <a:gd name="csX31" fmla="*/ 6729984 w 10515600"/>
              <a:gd name="csY31" fmla="*/ 1228995 h 1228995"/>
              <a:gd name="csX32" fmla="*/ 6250940 w 10515600"/>
              <a:gd name="csY32" fmla="*/ 1228995 h 1228995"/>
              <a:gd name="csX33" fmla="*/ 5982208 w 10515600"/>
              <a:gd name="csY33" fmla="*/ 1228995 h 1228995"/>
              <a:gd name="csX34" fmla="*/ 5713476 w 10515600"/>
              <a:gd name="csY34" fmla="*/ 1228995 h 1228995"/>
              <a:gd name="csX35" fmla="*/ 5444744 w 10515600"/>
              <a:gd name="csY35" fmla="*/ 1228995 h 1228995"/>
              <a:gd name="csX36" fmla="*/ 5176012 w 10515600"/>
              <a:gd name="csY36" fmla="*/ 1228995 h 1228995"/>
              <a:gd name="csX37" fmla="*/ 4486656 w 10515600"/>
              <a:gd name="csY37" fmla="*/ 1228995 h 1228995"/>
              <a:gd name="csX38" fmla="*/ 4112768 w 10515600"/>
              <a:gd name="csY38" fmla="*/ 1228995 h 1228995"/>
              <a:gd name="csX39" fmla="*/ 3318256 w 10515600"/>
              <a:gd name="csY39" fmla="*/ 1228995 h 1228995"/>
              <a:gd name="csX40" fmla="*/ 2628900 w 10515600"/>
              <a:gd name="csY40" fmla="*/ 1228995 h 1228995"/>
              <a:gd name="csX41" fmla="*/ 1834388 w 10515600"/>
              <a:gd name="csY41" fmla="*/ 1228995 h 1228995"/>
              <a:gd name="csX42" fmla="*/ 1460500 w 10515600"/>
              <a:gd name="csY42" fmla="*/ 1228995 h 1228995"/>
              <a:gd name="csX43" fmla="*/ 665988 w 10515600"/>
              <a:gd name="csY43" fmla="*/ 1228995 h 1228995"/>
              <a:gd name="csX44" fmla="*/ 0 w 10515600"/>
              <a:gd name="csY44" fmla="*/ 1228995 h 1228995"/>
              <a:gd name="csX45" fmla="*/ 0 w 10515600"/>
              <a:gd name="csY45" fmla="*/ 807040 h 1228995"/>
              <a:gd name="csX46" fmla="*/ 0 w 10515600"/>
              <a:gd name="csY46" fmla="*/ 409665 h 1228995"/>
              <a:gd name="csX47" fmla="*/ 0 w 10515600"/>
              <a:gd name="csY47" fmla="*/ 0 h 1228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10515600" h="1228995" fill="none" extrusionOk="0">
                <a:moveTo>
                  <a:pt x="0" y="0"/>
                </a:moveTo>
                <a:cubicBezTo>
                  <a:pt x="178398" y="-3288"/>
                  <a:pt x="228313" y="44534"/>
                  <a:pt x="373888" y="0"/>
                </a:cubicBezTo>
                <a:cubicBezTo>
                  <a:pt x="519463" y="-44534"/>
                  <a:pt x="571485" y="25881"/>
                  <a:pt x="642620" y="0"/>
                </a:cubicBezTo>
                <a:cubicBezTo>
                  <a:pt x="713755" y="-25881"/>
                  <a:pt x="1025447" y="24063"/>
                  <a:pt x="1226820" y="0"/>
                </a:cubicBezTo>
                <a:cubicBezTo>
                  <a:pt x="1428193" y="-24063"/>
                  <a:pt x="1660396" y="71781"/>
                  <a:pt x="1916176" y="0"/>
                </a:cubicBezTo>
                <a:cubicBezTo>
                  <a:pt x="2171956" y="-71781"/>
                  <a:pt x="2094372" y="842"/>
                  <a:pt x="2184908" y="0"/>
                </a:cubicBezTo>
                <a:cubicBezTo>
                  <a:pt x="2275444" y="-842"/>
                  <a:pt x="2797184" y="24261"/>
                  <a:pt x="2979420" y="0"/>
                </a:cubicBezTo>
                <a:cubicBezTo>
                  <a:pt x="3161656" y="-24261"/>
                  <a:pt x="3329574" y="17888"/>
                  <a:pt x="3668776" y="0"/>
                </a:cubicBezTo>
                <a:cubicBezTo>
                  <a:pt x="4007978" y="-17888"/>
                  <a:pt x="4035838" y="26385"/>
                  <a:pt x="4252976" y="0"/>
                </a:cubicBezTo>
                <a:cubicBezTo>
                  <a:pt x="4470114" y="-26385"/>
                  <a:pt x="4680641" y="27056"/>
                  <a:pt x="4942332" y="0"/>
                </a:cubicBezTo>
                <a:cubicBezTo>
                  <a:pt x="5204023" y="-27056"/>
                  <a:pt x="5079574" y="28828"/>
                  <a:pt x="5211064" y="0"/>
                </a:cubicBezTo>
                <a:cubicBezTo>
                  <a:pt x="5342554" y="-28828"/>
                  <a:pt x="5585395" y="18054"/>
                  <a:pt x="5690108" y="0"/>
                </a:cubicBezTo>
                <a:cubicBezTo>
                  <a:pt x="5794821" y="-18054"/>
                  <a:pt x="5954522" y="12846"/>
                  <a:pt x="6063996" y="0"/>
                </a:cubicBezTo>
                <a:cubicBezTo>
                  <a:pt x="6173470" y="-12846"/>
                  <a:pt x="6507164" y="21763"/>
                  <a:pt x="6858508" y="0"/>
                </a:cubicBezTo>
                <a:cubicBezTo>
                  <a:pt x="7209852" y="-21763"/>
                  <a:pt x="7317506" y="1173"/>
                  <a:pt x="7653020" y="0"/>
                </a:cubicBezTo>
                <a:cubicBezTo>
                  <a:pt x="7988534" y="-1173"/>
                  <a:pt x="7790563" y="8179"/>
                  <a:pt x="7921752" y="0"/>
                </a:cubicBezTo>
                <a:cubicBezTo>
                  <a:pt x="8052941" y="-8179"/>
                  <a:pt x="8378643" y="66982"/>
                  <a:pt x="8611108" y="0"/>
                </a:cubicBezTo>
                <a:cubicBezTo>
                  <a:pt x="8843573" y="-66982"/>
                  <a:pt x="8892414" y="1755"/>
                  <a:pt x="8984996" y="0"/>
                </a:cubicBezTo>
                <a:cubicBezTo>
                  <a:pt x="9077578" y="-1755"/>
                  <a:pt x="9405267" y="30682"/>
                  <a:pt x="9569196" y="0"/>
                </a:cubicBezTo>
                <a:cubicBezTo>
                  <a:pt x="9733125" y="-30682"/>
                  <a:pt x="10066775" y="20358"/>
                  <a:pt x="10515600" y="0"/>
                </a:cubicBezTo>
                <a:cubicBezTo>
                  <a:pt x="10533790" y="186172"/>
                  <a:pt x="10497255" y="292253"/>
                  <a:pt x="10515600" y="372795"/>
                </a:cubicBezTo>
                <a:cubicBezTo>
                  <a:pt x="10533945" y="453338"/>
                  <a:pt x="10504314" y="627924"/>
                  <a:pt x="10515600" y="757880"/>
                </a:cubicBezTo>
                <a:cubicBezTo>
                  <a:pt x="10526886" y="887836"/>
                  <a:pt x="10504982" y="1121604"/>
                  <a:pt x="10515600" y="1228995"/>
                </a:cubicBezTo>
                <a:cubicBezTo>
                  <a:pt x="10347767" y="1265679"/>
                  <a:pt x="10153493" y="1180872"/>
                  <a:pt x="10036556" y="1228995"/>
                </a:cubicBezTo>
                <a:cubicBezTo>
                  <a:pt x="9919619" y="1277118"/>
                  <a:pt x="9697864" y="1202251"/>
                  <a:pt x="9557512" y="1228995"/>
                </a:cubicBezTo>
                <a:cubicBezTo>
                  <a:pt x="9417160" y="1255739"/>
                  <a:pt x="9372242" y="1212656"/>
                  <a:pt x="9288780" y="1228995"/>
                </a:cubicBezTo>
                <a:cubicBezTo>
                  <a:pt x="9205318" y="1245334"/>
                  <a:pt x="9048082" y="1213212"/>
                  <a:pt x="8914892" y="1228995"/>
                </a:cubicBezTo>
                <a:cubicBezTo>
                  <a:pt x="8781702" y="1244778"/>
                  <a:pt x="8752040" y="1197482"/>
                  <a:pt x="8646160" y="1228995"/>
                </a:cubicBezTo>
                <a:cubicBezTo>
                  <a:pt x="8540280" y="1260508"/>
                  <a:pt x="8370117" y="1172136"/>
                  <a:pt x="8167116" y="1228995"/>
                </a:cubicBezTo>
                <a:cubicBezTo>
                  <a:pt x="7964115" y="1285854"/>
                  <a:pt x="7926826" y="1219427"/>
                  <a:pt x="7688072" y="1228995"/>
                </a:cubicBezTo>
                <a:cubicBezTo>
                  <a:pt x="7449318" y="1238563"/>
                  <a:pt x="7478108" y="1214509"/>
                  <a:pt x="7419340" y="1228995"/>
                </a:cubicBezTo>
                <a:cubicBezTo>
                  <a:pt x="7360572" y="1243481"/>
                  <a:pt x="7054417" y="1195453"/>
                  <a:pt x="6729984" y="1228995"/>
                </a:cubicBezTo>
                <a:cubicBezTo>
                  <a:pt x="6405551" y="1262537"/>
                  <a:pt x="6436954" y="1206621"/>
                  <a:pt x="6250940" y="1228995"/>
                </a:cubicBezTo>
                <a:cubicBezTo>
                  <a:pt x="6064926" y="1251369"/>
                  <a:pt x="6102396" y="1227597"/>
                  <a:pt x="5982208" y="1228995"/>
                </a:cubicBezTo>
                <a:cubicBezTo>
                  <a:pt x="5862020" y="1230393"/>
                  <a:pt x="5784974" y="1219078"/>
                  <a:pt x="5713476" y="1228995"/>
                </a:cubicBezTo>
                <a:cubicBezTo>
                  <a:pt x="5641978" y="1238912"/>
                  <a:pt x="5536550" y="1225194"/>
                  <a:pt x="5444744" y="1228995"/>
                </a:cubicBezTo>
                <a:cubicBezTo>
                  <a:pt x="5352938" y="1232796"/>
                  <a:pt x="5233315" y="1218642"/>
                  <a:pt x="5176012" y="1228995"/>
                </a:cubicBezTo>
                <a:cubicBezTo>
                  <a:pt x="5118709" y="1239348"/>
                  <a:pt x="4690638" y="1199073"/>
                  <a:pt x="4486656" y="1228995"/>
                </a:cubicBezTo>
                <a:cubicBezTo>
                  <a:pt x="4282674" y="1258917"/>
                  <a:pt x="4281271" y="1221742"/>
                  <a:pt x="4112768" y="1228995"/>
                </a:cubicBezTo>
                <a:cubicBezTo>
                  <a:pt x="3944265" y="1236248"/>
                  <a:pt x="3482207" y="1205461"/>
                  <a:pt x="3318256" y="1228995"/>
                </a:cubicBezTo>
                <a:cubicBezTo>
                  <a:pt x="3154305" y="1252529"/>
                  <a:pt x="2850432" y="1204686"/>
                  <a:pt x="2628900" y="1228995"/>
                </a:cubicBezTo>
                <a:cubicBezTo>
                  <a:pt x="2407368" y="1253304"/>
                  <a:pt x="2136663" y="1154372"/>
                  <a:pt x="1834388" y="1228995"/>
                </a:cubicBezTo>
                <a:cubicBezTo>
                  <a:pt x="1532113" y="1303618"/>
                  <a:pt x="1620414" y="1220000"/>
                  <a:pt x="1460500" y="1228995"/>
                </a:cubicBezTo>
                <a:cubicBezTo>
                  <a:pt x="1300586" y="1237990"/>
                  <a:pt x="825339" y="1168808"/>
                  <a:pt x="665988" y="1228995"/>
                </a:cubicBezTo>
                <a:cubicBezTo>
                  <a:pt x="506637" y="1289182"/>
                  <a:pt x="332350" y="1167831"/>
                  <a:pt x="0" y="1228995"/>
                </a:cubicBezTo>
                <a:cubicBezTo>
                  <a:pt x="-41540" y="1071775"/>
                  <a:pt x="5463" y="915132"/>
                  <a:pt x="0" y="807040"/>
                </a:cubicBezTo>
                <a:cubicBezTo>
                  <a:pt x="-5463" y="698948"/>
                  <a:pt x="46471" y="543093"/>
                  <a:pt x="0" y="409665"/>
                </a:cubicBezTo>
                <a:cubicBezTo>
                  <a:pt x="-46471" y="276237"/>
                  <a:pt x="18527" y="147787"/>
                  <a:pt x="0" y="0"/>
                </a:cubicBezTo>
                <a:close/>
              </a:path>
              <a:path w="10515600" h="1228995" stroke="0" extrusionOk="0">
                <a:moveTo>
                  <a:pt x="0" y="0"/>
                </a:moveTo>
                <a:cubicBezTo>
                  <a:pt x="150219" y="-32640"/>
                  <a:pt x="240747" y="40302"/>
                  <a:pt x="373888" y="0"/>
                </a:cubicBezTo>
                <a:cubicBezTo>
                  <a:pt x="507029" y="-40302"/>
                  <a:pt x="517872" y="22270"/>
                  <a:pt x="642620" y="0"/>
                </a:cubicBezTo>
                <a:cubicBezTo>
                  <a:pt x="767368" y="-22270"/>
                  <a:pt x="1204550" y="42595"/>
                  <a:pt x="1437132" y="0"/>
                </a:cubicBezTo>
                <a:cubicBezTo>
                  <a:pt x="1669714" y="-42595"/>
                  <a:pt x="1859336" y="63930"/>
                  <a:pt x="2126488" y="0"/>
                </a:cubicBezTo>
                <a:cubicBezTo>
                  <a:pt x="2393640" y="-63930"/>
                  <a:pt x="2584307" y="73262"/>
                  <a:pt x="2815844" y="0"/>
                </a:cubicBezTo>
                <a:cubicBezTo>
                  <a:pt x="3047381" y="-73262"/>
                  <a:pt x="3023875" y="18482"/>
                  <a:pt x="3084576" y="0"/>
                </a:cubicBezTo>
                <a:cubicBezTo>
                  <a:pt x="3145277" y="-18482"/>
                  <a:pt x="3391776" y="18627"/>
                  <a:pt x="3563620" y="0"/>
                </a:cubicBezTo>
                <a:cubicBezTo>
                  <a:pt x="3735464" y="-18627"/>
                  <a:pt x="4095417" y="5835"/>
                  <a:pt x="4252976" y="0"/>
                </a:cubicBezTo>
                <a:cubicBezTo>
                  <a:pt x="4410535" y="-5835"/>
                  <a:pt x="4515558" y="38248"/>
                  <a:pt x="4626864" y="0"/>
                </a:cubicBezTo>
                <a:cubicBezTo>
                  <a:pt x="4738170" y="-38248"/>
                  <a:pt x="4799741" y="23588"/>
                  <a:pt x="4895596" y="0"/>
                </a:cubicBezTo>
                <a:cubicBezTo>
                  <a:pt x="4991451" y="-23588"/>
                  <a:pt x="5341362" y="39327"/>
                  <a:pt x="5690108" y="0"/>
                </a:cubicBezTo>
                <a:cubicBezTo>
                  <a:pt x="6038854" y="-39327"/>
                  <a:pt x="6295122" y="22821"/>
                  <a:pt x="6484620" y="0"/>
                </a:cubicBezTo>
                <a:cubicBezTo>
                  <a:pt x="6674118" y="-22821"/>
                  <a:pt x="6939579" y="80865"/>
                  <a:pt x="7173976" y="0"/>
                </a:cubicBezTo>
                <a:cubicBezTo>
                  <a:pt x="7408373" y="-80865"/>
                  <a:pt x="7472403" y="10766"/>
                  <a:pt x="7758176" y="0"/>
                </a:cubicBezTo>
                <a:cubicBezTo>
                  <a:pt x="8043949" y="-10766"/>
                  <a:pt x="8191074" y="50067"/>
                  <a:pt x="8447532" y="0"/>
                </a:cubicBezTo>
                <a:cubicBezTo>
                  <a:pt x="8703990" y="-50067"/>
                  <a:pt x="8720928" y="21461"/>
                  <a:pt x="8926576" y="0"/>
                </a:cubicBezTo>
                <a:cubicBezTo>
                  <a:pt x="9132224" y="-21461"/>
                  <a:pt x="9345216" y="65330"/>
                  <a:pt x="9615932" y="0"/>
                </a:cubicBezTo>
                <a:cubicBezTo>
                  <a:pt x="9886648" y="-65330"/>
                  <a:pt x="10287128" y="91918"/>
                  <a:pt x="10515600" y="0"/>
                </a:cubicBezTo>
                <a:cubicBezTo>
                  <a:pt x="10557116" y="208681"/>
                  <a:pt x="10490953" y="288550"/>
                  <a:pt x="10515600" y="421955"/>
                </a:cubicBezTo>
                <a:cubicBezTo>
                  <a:pt x="10540247" y="555360"/>
                  <a:pt x="10487072" y="672188"/>
                  <a:pt x="10515600" y="807040"/>
                </a:cubicBezTo>
                <a:cubicBezTo>
                  <a:pt x="10544128" y="941893"/>
                  <a:pt x="10473001" y="1062487"/>
                  <a:pt x="10515600" y="1228995"/>
                </a:cubicBezTo>
                <a:cubicBezTo>
                  <a:pt x="10454637" y="1244993"/>
                  <a:pt x="10346243" y="1208354"/>
                  <a:pt x="10246868" y="1228995"/>
                </a:cubicBezTo>
                <a:cubicBezTo>
                  <a:pt x="10147493" y="1249636"/>
                  <a:pt x="9927904" y="1167165"/>
                  <a:pt x="9662668" y="1228995"/>
                </a:cubicBezTo>
                <a:cubicBezTo>
                  <a:pt x="9397432" y="1290825"/>
                  <a:pt x="9410294" y="1190894"/>
                  <a:pt x="9288780" y="1228995"/>
                </a:cubicBezTo>
                <a:cubicBezTo>
                  <a:pt x="9167266" y="1267096"/>
                  <a:pt x="8871862" y="1200240"/>
                  <a:pt x="8704580" y="1228995"/>
                </a:cubicBezTo>
                <a:cubicBezTo>
                  <a:pt x="8537298" y="1257750"/>
                  <a:pt x="8277263" y="1208727"/>
                  <a:pt x="8120380" y="1228995"/>
                </a:cubicBezTo>
                <a:cubicBezTo>
                  <a:pt x="7963497" y="1249263"/>
                  <a:pt x="7687479" y="1191792"/>
                  <a:pt x="7325868" y="1228995"/>
                </a:cubicBezTo>
                <a:cubicBezTo>
                  <a:pt x="6964257" y="1266198"/>
                  <a:pt x="6787842" y="1144605"/>
                  <a:pt x="6531356" y="1228995"/>
                </a:cubicBezTo>
                <a:cubicBezTo>
                  <a:pt x="6274870" y="1313385"/>
                  <a:pt x="6303334" y="1191008"/>
                  <a:pt x="6157468" y="1228995"/>
                </a:cubicBezTo>
                <a:cubicBezTo>
                  <a:pt x="6011602" y="1266982"/>
                  <a:pt x="6015073" y="1221333"/>
                  <a:pt x="5888736" y="1228995"/>
                </a:cubicBezTo>
                <a:cubicBezTo>
                  <a:pt x="5762399" y="1236657"/>
                  <a:pt x="5403028" y="1201198"/>
                  <a:pt x="5094224" y="1228995"/>
                </a:cubicBezTo>
                <a:cubicBezTo>
                  <a:pt x="4785420" y="1256792"/>
                  <a:pt x="4702686" y="1184486"/>
                  <a:pt x="4510024" y="1228995"/>
                </a:cubicBezTo>
                <a:cubicBezTo>
                  <a:pt x="4317362" y="1273504"/>
                  <a:pt x="3961598" y="1187503"/>
                  <a:pt x="3820668" y="1228995"/>
                </a:cubicBezTo>
                <a:cubicBezTo>
                  <a:pt x="3679738" y="1270487"/>
                  <a:pt x="3503345" y="1218797"/>
                  <a:pt x="3341624" y="1228995"/>
                </a:cubicBezTo>
                <a:cubicBezTo>
                  <a:pt x="3179903" y="1239193"/>
                  <a:pt x="2827906" y="1184217"/>
                  <a:pt x="2652268" y="1228995"/>
                </a:cubicBezTo>
                <a:cubicBezTo>
                  <a:pt x="2476630" y="1273773"/>
                  <a:pt x="2397342" y="1197058"/>
                  <a:pt x="2278380" y="1228995"/>
                </a:cubicBezTo>
                <a:cubicBezTo>
                  <a:pt x="2159418" y="1260932"/>
                  <a:pt x="2074493" y="1226349"/>
                  <a:pt x="2009648" y="1228995"/>
                </a:cubicBezTo>
                <a:cubicBezTo>
                  <a:pt x="1944803" y="1231641"/>
                  <a:pt x="1652442" y="1196462"/>
                  <a:pt x="1425448" y="1228995"/>
                </a:cubicBezTo>
                <a:cubicBezTo>
                  <a:pt x="1198454" y="1261528"/>
                  <a:pt x="1025846" y="1168451"/>
                  <a:pt x="841248" y="1228995"/>
                </a:cubicBezTo>
                <a:cubicBezTo>
                  <a:pt x="656650" y="1289539"/>
                  <a:pt x="272497" y="1146385"/>
                  <a:pt x="0" y="1228995"/>
                </a:cubicBezTo>
                <a:cubicBezTo>
                  <a:pt x="-43794" y="1092753"/>
                  <a:pt x="36900" y="1021176"/>
                  <a:pt x="0" y="856200"/>
                </a:cubicBezTo>
                <a:cubicBezTo>
                  <a:pt x="-36900" y="691225"/>
                  <a:pt x="29370" y="610447"/>
                  <a:pt x="0" y="471115"/>
                </a:cubicBezTo>
                <a:cubicBezTo>
                  <a:pt x="-29370" y="331783"/>
                  <a:pt x="21130" y="196846"/>
                  <a:pt x="0" y="0"/>
                </a:cubicBezTo>
                <a:close/>
              </a:path>
            </a:pathLst>
          </a:custGeom>
          <a:ln w="28575">
            <a:solidFill>
              <a:srgbClr val="7030A0"/>
            </a:solidFill>
            <a:extLst>
              <a:ext uri="{C807C97D-BFC1-408E-A445-0C87EB9F89A2}">
                <ask:lineSketchStyleProps xmlns:ask="http://schemas.microsoft.com/office/drawing/2018/sketchyshapes" sd="3285984349">
                  <a:prstGeom prst="rect">
                    <a:avLst/>
                  </a:prstGeom>
                  <ask:type>
                    <ask:lineSketchScribble/>
                  </ask:type>
                </ask:lineSketchStyleProps>
              </a:ext>
            </a:extLst>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dirty="0"/>
              <a:t>Single neurons and neural networks can be described with deterministic equations to model macroscopic events. Stochastic properties of single molecules are neglected. </a:t>
            </a:r>
            <a:endParaRPr lang="en-US" sz="1800" dirty="0"/>
          </a:p>
        </p:txBody>
      </p:sp>
      <p:sp>
        <p:nvSpPr>
          <p:cNvPr id="10" name="Content Placeholder 2">
            <a:extLst>
              <a:ext uri="{FF2B5EF4-FFF2-40B4-BE49-F238E27FC236}">
                <a16:creationId xmlns:a16="http://schemas.microsoft.com/office/drawing/2014/main" id="{971D469B-9591-B874-9BC3-47124F136467}"/>
              </a:ext>
            </a:extLst>
          </p:cNvPr>
          <p:cNvSpPr>
            <a:spLocks noGrp="1"/>
          </p:cNvSpPr>
          <p:nvPr>
            <p:ph idx="1"/>
          </p:nvPr>
        </p:nvSpPr>
        <p:spPr>
          <a:xfrm>
            <a:off x="838200" y="1825625"/>
            <a:ext cx="10515600" cy="1019359"/>
          </a:xfrm>
        </p:spPr>
        <p:txBody>
          <a:bodyPr/>
          <a:lstStyle/>
          <a:p>
            <a:pPr marL="0" indent="0">
              <a:buNone/>
            </a:pPr>
            <a:r>
              <a:rPr lang="en-US" dirty="0"/>
              <a:t>Same input </a:t>
            </a:r>
            <a:r>
              <a:rPr lang="en-US" dirty="0">
                <a:sym typeface="Wingdings" panose="05000000000000000000" pitchFamily="2" charset="2"/>
              </a:rPr>
              <a:t> output?</a:t>
            </a:r>
            <a:endParaRPr lang="en-US" dirty="0"/>
          </a:p>
        </p:txBody>
      </p:sp>
      <p:sp>
        <p:nvSpPr>
          <p:cNvPr id="11" name="Content Placeholder 2">
            <a:extLst>
              <a:ext uri="{FF2B5EF4-FFF2-40B4-BE49-F238E27FC236}">
                <a16:creationId xmlns:a16="http://schemas.microsoft.com/office/drawing/2014/main" id="{3CBC0A44-C5F5-53A1-40F2-A96C8E15E4CF}"/>
              </a:ext>
            </a:extLst>
          </p:cNvPr>
          <p:cNvSpPr txBox="1">
            <a:spLocks/>
          </p:cNvSpPr>
          <p:nvPr/>
        </p:nvSpPr>
        <p:spPr>
          <a:xfrm>
            <a:off x="838200" y="4774864"/>
            <a:ext cx="10515600" cy="10193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But we can see the variability in our measurements</a:t>
            </a:r>
          </a:p>
          <a:p>
            <a:r>
              <a:rPr lang="en-US" dirty="0"/>
              <a:t>We want to understand and predict it</a:t>
            </a:r>
          </a:p>
        </p:txBody>
      </p:sp>
    </p:spTree>
    <p:extLst>
      <p:ext uri="{BB962C8B-B14F-4D97-AF65-F5344CB8AC3E}">
        <p14:creationId xmlns:p14="http://schemas.microsoft.com/office/powerpoint/2010/main" val="1903594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68721-B259-DEE7-F670-BCA01F0B646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52720D1-6292-01B5-8A9D-FAFE9749552A}"/>
              </a:ext>
            </a:extLst>
          </p:cNvPr>
          <p:cNvSpPr>
            <a:spLocks noGrp="1"/>
          </p:cNvSpPr>
          <p:nvPr>
            <p:ph type="sldNum" sz="quarter" idx="12"/>
          </p:nvPr>
        </p:nvSpPr>
        <p:spPr/>
        <p:txBody>
          <a:bodyPr/>
          <a:lstStyle/>
          <a:p>
            <a:fld id="{CB12788D-ABA5-4E7B-998B-677A061A6405}" type="slidenum">
              <a:rPr lang="en-US" smtClean="0"/>
              <a:t>7</a:t>
            </a:fld>
            <a:endParaRPr lang="en-US"/>
          </a:p>
        </p:txBody>
      </p:sp>
      <p:sp>
        <p:nvSpPr>
          <p:cNvPr id="7" name="Footer Placeholder 7">
            <a:extLst>
              <a:ext uri="{FF2B5EF4-FFF2-40B4-BE49-F238E27FC236}">
                <a16:creationId xmlns:a16="http://schemas.microsoft.com/office/drawing/2014/main" id="{CDDCE0BC-4778-FD35-C292-328F98AECAC6}"/>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2B5BC409-B87C-8942-2909-1755964E573D}"/>
              </a:ext>
            </a:extLst>
          </p:cNvPr>
          <p:cNvSpPr>
            <a:spLocks noGrp="1"/>
          </p:cNvSpPr>
          <p:nvPr>
            <p:ph type="title"/>
          </p:nvPr>
        </p:nvSpPr>
        <p:spPr>
          <a:xfrm>
            <a:off x="838200" y="365125"/>
            <a:ext cx="10515600" cy="1325563"/>
          </a:xfrm>
        </p:spPr>
        <p:txBody>
          <a:bodyPr/>
          <a:lstStyle/>
          <a:p>
            <a:r>
              <a:rPr lang="en-US" dirty="0"/>
              <a:t>Variability in the brain</a:t>
            </a:r>
          </a:p>
        </p:txBody>
      </p:sp>
      <p:sp>
        <p:nvSpPr>
          <p:cNvPr id="6" name="Content Placeholder 2">
            <a:extLst>
              <a:ext uri="{FF2B5EF4-FFF2-40B4-BE49-F238E27FC236}">
                <a16:creationId xmlns:a16="http://schemas.microsoft.com/office/drawing/2014/main" id="{449A16C9-116C-4A20-9866-E438CABF4509}"/>
              </a:ext>
            </a:extLst>
          </p:cNvPr>
          <p:cNvSpPr txBox="1">
            <a:spLocks/>
          </p:cNvSpPr>
          <p:nvPr/>
        </p:nvSpPr>
        <p:spPr>
          <a:xfrm>
            <a:off x="838200" y="2981509"/>
            <a:ext cx="10515600" cy="2317322"/>
          </a:xfrm>
          <a:custGeom>
            <a:avLst/>
            <a:gdLst>
              <a:gd name="csX0" fmla="*/ 0 w 10515600"/>
              <a:gd name="csY0" fmla="*/ 0 h 2317322"/>
              <a:gd name="csX1" fmla="*/ 794512 w 10515600"/>
              <a:gd name="csY1" fmla="*/ 0 h 2317322"/>
              <a:gd name="csX2" fmla="*/ 1483868 w 10515600"/>
              <a:gd name="csY2" fmla="*/ 0 h 2317322"/>
              <a:gd name="csX3" fmla="*/ 1752600 w 10515600"/>
              <a:gd name="csY3" fmla="*/ 0 h 2317322"/>
              <a:gd name="csX4" fmla="*/ 2547112 w 10515600"/>
              <a:gd name="csY4" fmla="*/ 0 h 2317322"/>
              <a:gd name="csX5" fmla="*/ 3236468 w 10515600"/>
              <a:gd name="csY5" fmla="*/ 0 h 2317322"/>
              <a:gd name="csX6" fmla="*/ 3820668 w 10515600"/>
              <a:gd name="csY6" fmla="*/ 0 h 2317322"/>
              <a:gd name="csX7" fmla="*/ 4510024 w 10515600"/>
              <a:gd name="csY7" fmla="*/ 0 h 2317322"/>
              <a:gd name="csX8" fmla="*/ 4778756 w 10515600"/>
              <a:gd name="csY8" fmla="*/ 0 h 2317322"/>
              <a:gd name="csX9" fmla="*/ 5257800 w 10515600"/>
              <a:gd name="csY9" fmla="*/ 0 h 2317322"/>
              <a:gd name="csX10" fmla="*/ 5631688 w 10515600"/>
              <a:gd name="csY10" fmla="*/ 0 h 2317322"/>
              <a:gd name="csX11" fmla="*/ 6426200 w 10515600"/>
              <a:gd name="csY11" fmla="*/ 0 h 2317322"/>
              <a:gd name="csX12" fmla="*/ 7220712 w 10515600"/>
              <a:gd name="csY12" fmla="*/ 0 h 2317322"/>
              <a:gd name="csX13" fmla="*/ 7489444 w 10515600"/>
              <a:gd name="csY13" fmla="*/ 0 h 2317322"/>
              <a:gd name="csX14" fmla="*/ 8178800 w 10515600"/>
              <a:gd name="csY14" fmla="*/ 0 h 2317322"/>
              <a:gd name="csX15" fmla="*/ 8552688 w 10515600"/>
              <a:gd name="csY15" fmla="*/ 0 h 2317322"/>
              <a:gd name="csX16" fmla="*/ 9136888 w 10515600"/>
              <a:gd name="csY16" fmla="*/ 0 h 2317322"/>
              <a:gd name="csX17" fmla="*/ 9826244 w 10515600"/>
              <a:gd name="csY17" fmla="*/ 0 h 2317322"/>
              <a:gd name="csX18" fmla="*/ 10515600 w 10515600"/>
              <a:gd name="csY18" fmla="*/ 0 h 2317322"/>
              <a:gd name="csX19" fmla="*/ 10515600 w 10515600"/>
              <a:gd name="csY19" fmla="*/ 602504 h 2317322"/>
              <a:gd name="csX20" fmla="*/ 10515600 w 10515600"/>
              <a:gd name="csY20" fmla="*/ 1181834 h 2317322"/>
              <a:gd name="csX21" fmla="*/ 10515600 w 10515600"/>
              <a:gd name="csY21" fmla="*/ 1737992 h 2317322"/>
              <a:gd name="csX22" fmla="*/ 10515600 w 10515600"/>
              <a:gd name="csY22" fmla="*/ 2317322 h 2317322"/>
              <a:gd name="csX23" fmla="*/ 9931400 w 10515600"/>
              <a:gd name="csY23" fmla="*/ 2317322 h 2317322"/>
              <a:gd name="csX24" fmla="*/ 9557512 w 10515600"/>
              <a:gd name="csY24" fmla="*/ 2317322 h 2317322"/>
              <a:gd name="csX25" fmla="*/ 9288780 w 10515600"/>
              <a:gd name="csY25" fmla="*/ 2317322 h 2317322"/>
              <a:gd name="csX26" fmla="*/ 8809736 w 10515600"/>
              <a:gd name="csY26" fmla="*/ 2317322 h 2317322"/>
              <a:gd name="csX27" fmla="*/ 8330692 w 10515600"/>
              <a:gd name="csY27" fmla="*/ 2317322 h 2317322"/>
              <a:gd name="csX28" fmla="*/ 8061960 w 10515600"/>
              <a:gd name="csY28" fmla="*/ 2317322 h 2317322"/>
              <a:gd name="csX29" fmla="*/ 7372604 w 10515600"/>
              <a:gd name="csY29" fmla="*/ 2317322 h 2317322"/>
              <a:gd name="csX30" fmla="*/ 6893560 w 10515600"/>
              <a:gd name="csY30" fmla="*/ 2317322 h 2317322"/>
              <a:gd name="csX31" fmla="*/ 6624828 w 10515600"/>
              <a:gd name="csY31" fmla="*/ 2317322 h 2317322"/>
              <a:gd name="csX32" fmla="*/ 6356096 w 10515600"/>
              <a:gd name="csY32" fmla="*/ 2317322 h 2317322"/>
              <a:gd name="csX33" fmla="*/ 6087364 w 10515600"/>
              <a:gd name="csY33" fmla="*/ 2317322 h 2317322"/>
              <a:gd name="csX34" fmla="*/ 5818632 w 10515600"/>
              <a:gd name="csY34" fmla="*/ 2317322 h 2317322"/>
              <a:gd name="csX35" fmla="*/ 5129276 w 10515600"/>
              <a:gd name="csY35" fmla="*/ 2317322 h 2317322"/>
              <a:gd name="csX36" fmla="*/ 4755388 w 10515600"/>
              <a:gd name="csY36" fmla="*/ 2317322 h 2317322"/>
              <a:gd name="csX37" fmla="*/ 3960876 w 10515600"/>
              <a:gd name="csY37" fmla="*/ 2317322 h 2317322"/>
              <a:gd name="csX38" fmla="*/ 3271520 w 10515600"/>
              <a:gd name="csY38" fmla="*/ 2317322 h 2317322"/>
              <a:gd name="csX39" fmla="*/ 2477008 w 10515600"/>
              <a:gd name="csY39" fmla="*/ 2317322 h 2317322"/>
              <a:gd name="csX40" fmla="*/ 2103120 w 10515600"/>
              <a:gd name="csY40" fmla="*/ 2317322 h 2317322"/>
              <a:gd name="csX41" fmla="*/ 1308608 w 10515600"/>
              <a:gd name="csY41" fmla="*/ 2317322 h 2317322"/>
              <a:gd name="csX42" fmla="*/ 829564 w 10515600"/>
              <a:gd name="csY42" fmla="*/ 2317322 h 2317322"/>
              <a:gd name="csX43" fmla="*/ 0 w 10515600"/>
              <a:gd name="csY43" fmla="*/ 2317322 h 2317322"/>
              <a:gd name="csX44" fmla="*/ 0 w 10515600"/>
              <a:gd name="csY44" fmla="*/ 1784338 h 2317322"/>
              <a:gd name="csX45" fmla="*/ 0 w 10515600"/>
              <a:gd name="csY45" fmla="*/ 1205007 h 2317322"/>
              <a:gd name="csX46" fmla="*/ 0 w 10515600"/>
              <a:gd name="csY46" fmla="*/ 579331 h 2317322"/>
              <a:gd name="csX47" fmla="*/ 0 w 10515600"/>
              <a:gd name="csY47" fmla="*/ 0 h 23173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10515600" h="2317322" fill="none" extrusionOk="0">
                <a:moveTo>
                  <a:pt x="0" y="0"/>
                </a:moveTo>
                <a:cubicBezTo>
                  <a:pt x="294008" y="-59883"/>
                  <a:pt x="473006" y="54909"/>
                  <a:pt x="794512" y="0"/>
                </a:cubicBezTo>
                <a:cubicBezTo>
                  <a:pt x="1116018" y="-54909"/>
                  <a:pt x="1228088" y="71781"/>
                  <a:pt x="1483868" y="0"/>
                </a:cubicBezTo>
                <a:cubicBezTo>
                  <a:pt x="1739648" y="-71781"/>
                  <a:pt x="1662064" y="842"/>
                  <a:pt x="1752600" y="0"/>
                </a:cubicBezTo>
                <a:cubicBezTo>
                  <a:pt x="1843136" y="-842"/>
                  <a:pt x="2364876" y="24261"/>
                  <a:pt x="2547112" y="0"/>
                </a:cubicBezTo>
                <a:cubicBezTo>
                  <a:pt x="2729348" y="-24261"/>
                  <a:pt x="2897266" y="17888"/>
                  <a:pt x="3236468" y="0"/>
                </a:cubicBezTo>
                <a:cubicBezTo>
                  <a:pt x="3575670" y="-17888"/>
                  <a:pt x="3603530" y="26385"/>
                  <a:pt x="3820668" y="0"/>
                </a:cubicBezTo>
                <a:cubicBezTo>
                  <a:pt x="4037806" y="-26385"/>
                  <a:pt x="4248333" y="27056"/>
                  <a:pt x="4510024" y="0"/>
                </a:cubicBezTo>
                <a:cubicBezTo>
                  <a:pt x="4771715" y="-27056"/>
                  <a:pt x="4647266" y="28828"/>
                  <a:pt x="4778756" y="0"/>
                </a:cubicBezTo>
                <a:cubicBezTo>
                  <a:pt x="4910246" y="-28828"/>
                  <a:pt x="5153087" y="18054"/>
                  <a:pt x="5257800" y="0"/>
                </a:cubicBezTo>
                <a:cubicBezTo>
                  <a:pt x="5362513" y="-18054"/>
                  <a:pt x="5522214" y="12846"/>
                  <a:pt x="5631688" y="0"/>
                </a:cubicBezTo>
                <a:cubicBezTo>
                  <a:pt x="5741162" y="-12846"/>
                  <a:pt x="6074856" y="21763"/>
                  <a:pt x="6426200" y="0"/>
                </a:cubicBezTo>
                <a:cubicBezTo>
                  <a:pt x="6777544" y="-21763"/>
                  <a:pt x="6885198" y="1173"/>
                  <a:pt x="7220712" y="0"/>
                </a:cubicBezTo>
                <a:cubicBezTo>
                  <a:pt x="7556226" y="-1173"/>
                  <a:pt x="7358255" y="8179"/>
                  <a:pt x="7489444" y="0"/>
                </a:cubicBezTo>
                <a:cubicBezTo>
                  <a:pt x="7620633" y="-8179"/>
                  <a:pt x="7946335" y="66982"/>
                  <a:pt x="8178800" y="0"/>
                </a:cubicBezTo>
                <a:cubicBezTo>
                  <a:pt x="8411265" y="-66982"/>
                  <a:pt x="8460106" y="1755"/>
                  <a:pt x="8552688" y="0"/>
                </a:cubicBezTo>
                <a:cubicBezTo>
                  <a:pt x="8645270" y="-1755"/>
                  <a:pt x="8972959" y="30682"/>
                  <a:pt x="9136888" y="0"/>
                </a:cubicBezTo>
                <a:cubicBezTo>
                  <a:pt x="9300817" y="-30682"/>
                  <a:pt x="9516653" y="27369"/>
                  <a:pt x="9826244" y="0"/>
                </a:cubicBezTo>
                <a:cubicBezTo>
                  <a:pt x="10135835" y="-27369"/>
                  <a:pt x="10208362" y="61613"/>
                  <a:pt x="10515600" y="0"/>
                </a:cubicBezTo>
                <a:cubicBezTo>
                  <a:pt x="10536402" y="132771"/>
                  <a:pt x="10508807" y="421613"/>
                  <a:pt x="10515600" y="602504"/>
                </a:cubicBezTo>
                <a:cubicBezTo>
                  <a:pt x="10522393" y="783395"/>
                  <a:pt x="10490230" y="937363"/>
                  <a:pt x="10515600" y="1181834"/>
                </a:cubicBezTo>
                <a:cubicBezTo>
                  <a:pt x="10540970" y="1426305"/>
                  <a:pt x="10483032" y="1588010"/>
                  <a:pt x="10515600" y="1737992"/>
                </a:cubicBezTo>
                <a:cubicBezTo>
                  <a:pt x="10548168" y="1887974"/>
                  <a:pt x="10477905" y="2153267"/>
                  <a:pt x="10515600" y="2317322"/>
                </a:cubicBezTo>
                <a:cubicBezTo>
                  <a:pt x="10377664" y="2369606"/>
                  <a:pt x="10109002" y="2268735"/>
                  <a:pt x="9931400" y="2317322"/>
                </a:cubicBezTo>
                <a:cubicBezTo>
                  <a:pt x="9753798" y="2365909"/>
                  <a:pt x="9690702" y="2301539"/>
                  <a:pt x="9557512" y="2317322"/>
                </a:cubicBezTo>
                <a:cubicBezTo>
                  <a:pt x="9424322" y="2333105"/>
                  <a:pt x="9394660" y="2285809"/>
                  <a:pt x="9288780" y="2317322"/>
                </a:cubicBezTo>
                <a:cubicBezTo>
                  <a:pt x="9182900" y="2348835"/>
                  <a:pt x="9012737" y="2260463"/>
                  <a:pt x="8809736" y="2317322"/>
                </a:cubicBezTo>
                <a:cubicBezTo>
                  <a:pt x="8606735" y="2374181"/>
                  <a:pt x="8569446" y="2307754"/>
                  <a:pt x="8330692" y="2317322"/>
                </a:cubicBezTo>
                <a:cubicBezTo>
                  <a:pt x="8091938" y="2326890"/>
                  <a:pt x="8120728" y="2302836"/>
                  <a:pt x="8061960" y="2317322"/>
                </a:cubicBezTo>
                <a:cubicBezTo>
                  <a:pt x="8003192" y="2331808"/>
                  <a:pt x="7697037" y="2283780"/>
                  <a:pt x="7372604" y="2317322"/>
                </a:cubicBezTo>
                <a:cubicBezTo>
                  <a:pt x="7048171" y="2350864"/>
                  <a:pt x="7079574" y="2294948"/>
                  <a:pt x="6893560" y="2317322"/>
                </a:cubicBezTo>
                <a:cubicBezTo>
                  <a:pt x="6707546" y="2339696"/>
                  <a:pt x="6745016" y="2315924"/>
                  <a:pt x="6624828" y="2317322"/>
                </a:cubicBezTo>
                <a:cubicBezTo>
                  <a:pt x="6504640" y="2318720"/>
                  <a:pt x="6427594" y="2307405"/>
                  <a:pt x="6356096" y="2317322"/>
                </a:cubicBezTo>
                <a:cubicBezTo>
                  <a:pt x="6284598" y="2327239"/>
                  <a:pt x="6179170" y="2313521"/>
                  <a:pt x="6087364" y="2317322"/>
                </a:cubicBezTo>
                <a:cubicBezTo>
                  <a:pt x="5995558" y="2321123"/>
                  <a:pt x="5875935" y="2306969"/>
                  <a:pt x="5818632" y="2317322"/>
                </a:cubicBezTo>
                <a:cubicBezTo>
                  <a:pt x="5761329" y="2327675"/>
                  <a:pt x="5333258" y="2287400"/>
                  <a:pt x="5129276" y="2317322"/>
                </a:cubicBezTo>
                <a:cubicBezTo>
                  <a:pt x="4925294" y="2347244"/>
                  <a:pt x="4923891" y="2310069"/>
                  <a:pt x="4755388" y="2317322"/>
                </a:cubicBezTo>
                <a:cubicBezTo>
                  <a:pt x="4586885" y="2324575"/>
                  <a:pt x="4124827" y="2293788"/>
                  <a:pt x="3960876" y="2317322"/>
                </a:cubicBezTo>
                <a:cubicBezTo>
                  <a:pt x="3796925" y="2340856"/>
                  <a:pt x="3493052" y="2293013"/>
                  <a:pt x="3271520" y="2317322"/>
                </a:cubicBezTo>
                <a:cubicBezTo>
                  <a:pt x="3049988" y="2341631"/>
                  <a:pt x="2779283" y="2242699"/>
                  <a:pt x="2477008" y="2317322"/>
                </a:cubicBezTo>
                <a:cubicBezTo>
                  <a:pt x="2174733" y="2391945"/>
                  <a:pt x="2263034" y="2308327"/>
                  <a:pt x="2103120" y="2317322"/>
                </a:cubicBezTo>
                <a:cubicBezTo>
                  <a:pt x="1943206" y="2326317"/>
                  <a:pt x="1467959" y="2257135"/>
                  <a:pt x="1308608" y="2317322"/>
                </a:cubicBezTo>
                <a:cubicBezTo>
                  <a:pt x="1149257" y="2377509"/>
                  <a:pt x="970754" y="2289808"/>
                  <a:pt x="829564" y="2317322"/>
                </a:cubicBezTo>
                <a:cubicBezTo>
                  <a:pt x="688374" y="2344836"/>
                  <a:pt x="309507" y="2257282"/>
                  <a:pt x="0" y="2317322"/>
                </a:cubicBezTo>
                <a:cubicBezTo>
                  <a:pt x="-35380" y="2202546"/>
                  <a:pt x="34784" y="2023041"/>
                  <a:pt x="0" y="1784338"/>
                </a:cubicBezTo>
                <a:cubicBezTo>
                  <a:pt x="-34784" y="1545635"/>
                  <a:pt x="15071" y="1326256"/>
                  <a:pt x="0" y="1205007"/>
                </a:cubicBezTo>
                <a:cubicBezTo>
                  <a:pt x="-15071" y="1083758"/>
                  <a:pt x="62628" y="864787"/>
                  <a:pt x="0" y="579331"/>
                </a:cubicBezTo>
                <a:cubicBezTo>
                  <a:pt x="-62628" y="293875"/>
                  <a:pt x="2321" y="195689"/>
                  <a:pt x="0" y="0"/>
                </a:cubicBezTo>
                <a:close/>
              </a:path>
              <a:path w="10515600" h="2317322" stroke="0" extrusionOk="0">
                <a:moveTo>
                  <a:pt x="0" y="0"/>
                </a:moveTo>
                <a:cubicBezTo>
                  <a:pt x="150219" y="-32640"/>
                  <a:pt x="240747" y="40302"/>
                  <a:pt x="373888" y="0"/>
                </a:cubicBezTo>
                <a:cubicBezTo>
                  <a:pt x="507029" y="-40302"/>
                  <a:pt x="517872" y="22270"/>
                  <a:pt x="642620" y="0"/>
                </a:cubicBezTo>
                <a:cubicBezTo>
                  <a:pt x="767368" y="-22270"/>
                  <a:pt x="1204550" y="42595"/>
                  <a:pt x="1437132" y="0"/>
                </a:cubicBezTo>
                <a:cubicBezTo>
                  <a:pt x="1669714" y="-42595"/>
                  <a:pt x="1859336" y="63930"/>
                  <a:pt x="2126488" y="0"/>
                </a:cubicBezTo>
                <a:cubicBezTo>
                  <a:pt x="2393640" y="-63930"/>
                  <a:pt x="2584307" y="73262"/>
                  <a:pt x="2815844" y="0"/>
                </a:cubicBezTo>
                <a:cubicBezTo>
                  <a:pt x="3047381" y="-73262"/>
                  <a:pt x="3023875" y="18482"/>
                  <a:pt x="3084576" y="0"/>
                </a:cubicBezTo>
                <a:cubicBezTo>
                  <a:pt x="3145277" y="-18482"/>
                  <a:pt x="3391776" y="18627"/>
                  <a:pt x="3563620" y="0"/>
                </a:cubicBezTo>
                <a:cubicBezTo>
                  <a:pt x="3735464" y="-18627"/>
                  <a:pt x="4095417" y="5835"/>
                  <a:pt x="4252976" y="0"/>
                </a:cubicBezTo>
                <a:cubicBezTo>
                  <a:pt x="4410535" y="-5835"/>
                  <a:pt x="4515558" y="38248"/>
                  <a:pt x="4626864" y="0"/>
                </a:cubicBezTo>
                <a:cubicBezTo>
                  <a:pt x="4738170" y="-38248"/>
                  <a:pt x="4799741" y="23588"/>
                  <a:pt x="4895596" y="0"/>
                </a:cubicBezTo>
                <a:cubicBezTo>
                  <a:pt x="4991451" y="-23588"/>
                  <a:pt x="5341362" y="39327"/>
                  <a:pt x="5690108" y="0"/>
                </a:cubicBezTo>
                <a:cubicBezTo>
                  <a:pt x="6038854" y="-39327"/>
                  <a:pt x="6295122" y="22821"/>
                  <a:pt x="6484620" y="0"/>
                </a:cubicBezTo>
                <a:cubicBezTo>
                  <a:pt x="6674118" y="-22821"/>
                  <a:pt x="6939579" y="80865"/>
                  <a:pt x="7173976" y="0"/>
                </a:cubicBezTo>
                <a:cubicBezTo>
                  <a:pt x="7408373" y="-80865"/>
                  <a:pt x="7472403" y="10766"/>
                  <a:pt x="7758176" y="0"/>
                </a:cubicBezTo>
                <a:cubicBezTo>
                  <a:pt x="8043949" y="-10766"/>
                  <a:pt x="8191074" y="50067"/>
                  <a:pt x="8447532" y="0"/>
                </a:cubicBezTo>
                <a:cubicBezTo>
                  <a:pt x="8703990" y="-50067"/>
                  <a:pt x="8720928" y="21461"/>
                  <a:pt x="8926576" y="0"/>
                </a:cubicBezTo>
                <a:cubicBezTo>
                  <a:pt x="9132224" y="-21461"/>
                  <a:pt x="9345216" y="65330"/>
                  <a:pt x="9615932" y="0"/>
                </a:cubicBezTo>
                <a:cubicBezTo>
                  <a:pt x="9886648" y="-65330"/>
                  <a:pt x="10287128" y="91918"/>
                  <a:pt x="10515600" y="0"/>
                </a:cubicBezTo>
                <a:cubicBezTo>
                  <a:pt x="10552162" y="264682"/>
                  <a:pt x="10515285" y="378569"/>
                  <a:pt x="10515600" y="602504"/>
                </a:cubicBezTo>
                <a:cubicBezTo>
                  <a:pt x="10515915" y="826439"/>
                  <a:pt x="10503385" y="1002245"/>
                  <a:pt x="10515600" y="1135488"/>
                </a:cubicBezTo>
                <a:cubicBezTo>
                  <a:pt x="10527815" y="1268731"/>
                  <a:pt x="10505410" y="1490497"/>
                  <a:pt x="10515600" y="1645299"/>
                </a:cubicBezTo>
                <a:cubicBezTo>
                  <a:pt x="10525790" y="1800101"/>
                  <a:pt x="10502913" y="2117002"/>
                  <a:pt x="10515600" y="2317322"/>
                </a:cubicBezTo>
                <a:cubicBezTo>
                  <a:pt x="10441153" y="2346995"/>
                  <a:pt x="10369358" y="2296152"/>
                  <a:pt x="10246868" y="2317322"/>
                </a:cubicBezTo>
                <a:cubicBezTo>
                  <a:pt x="10124378" y="2338492"/>
                  <a:pt x="9994494" y="2279221"/>
                  <a:pt x="9872980" y="2317322"/>
                </a:cubicBezTo>
                <a:cubicBezTo>
                  <a:pt x="9751466" y="2355423"/>
                  <a:pt x="9456062" y="2288567"/>
                  <a:pt x="9288780" y="2317322"/>
                </a:cubicBezTo>
                <a:cubicBezTo>
                  <a:pt x="9121498" y="2346077"/>
                  <a:pt x="8861463" y="2297054"/>
                  <a:pt x="8704580" y="2317322"/>
                </a:cubicBezTo>
                <a:cubicBezTo>
                  <a:pt x="8547697" y="2337590"/>
                  <a:pt x="8271679" y="2280119"/>
                  <a:pt x="7910068" y="2317322"/>
                </a:cubicBezTo>
                <a:cubicBezTo>
                  <a:pt x="7548457" y="2354525"/>
                  <a:pt x="7372042" y="2232932"/>
                  <a:pt x="7115556" y="2317322"/>
                </a:cubicBezTo>
                <a:cubicBezTo>
                  <a:pt x="6859070" y="2401712"/>
                  <a:pt x="6887534" y="2279335"/>
                  <a:pt x="6741668" y="2317322"/>
                </a:cubicBezTo>
                <a:cubicBezTo>
                  <a:pt x="6595802" y="2355309"/>
                  <a:pt x="6599273" y="2309660"/>
                  <a:pt x="6472936" y="2317322"/>
                </a:cubicBezTo>
                <a:cubicBezTo>
                  <a:pt x="6346599" y="2324984"/>
                  <a:pt x="5987228" y="2289525"/>
                  <a:pt x="5678424" y="2317322"/>
                </a:cubicBezTo>
                <a:cubicBezTo>
                  <a:pt x="5369620" y="2345119"/>
                  <a:pt x="5286886" y="2272813"/>
                  <a:pt x="5094224" y="2317322"/>
                </a:cubicBezTo>
                <a:cubicBezTo>
                  <a:pt x="4901562" y="2361831"/>
                  <a:pt x="4545798" y="2275830"/>
                  <a:pt x="4404868" y="2317322"/>
                </a:cubicBezTo>
                <a:cubicBezTo>
                  <a:pt x="4263938" y="2358814"/>
                  <a:pt x="4087545" y="2307124"/>
                  <a:pt x="3925824" y="2317322"/>
                </a:cubicBezTo>
                <a:cubicBezTo>
                  <a:pt x="3764103" y="2327520"/>
                  <a:pt x="3412106" y="2272544"/>
                  <a:pt x="3236468" y="2317322"/>
                </a:cubicBezTo>
                <a:cubicBezTo>
                  <a:pt x="3060830" y="2362100"/>
                  <a:pt x="2981542" y="2285385"/>
                  <a:pt x="2862580" y="2317322"/>
                </a:cubicBezTo>
                <a:cubicBezTo>
                  <a:pt x="2743618" y="2349259"/>
                  <a:pt x="2658693" y="2314676"/>
                  <a:pt x="2593848" y="2317322"/>
                </a:cubicBezTo>
                <a:cubicBezTo>
                  <a:pt x="2529003" y="2319968"/>
                  <a:pt x="2236642" y="2284789"/>
                  <a:pt x="2009648" y="2317322"/>
                </a:cubicBezTo>
                <a:cubicBezTo>
                  <a:pt x="1782654" y="2349855"/>
                  <a:pt x="1610046" y="2256778"/>
                  <a:pt x="1425448" y="2317322"/>
                </a:cubicBezTo>
                <a:cubicBezTo>
                  <a:pt x="1240850" y="2377866"/>
                  <a:pt x="852981" y="2262753"/>
                  <a:pt x="630936" y="2317322"/>
                </a:cubicBezTo>
                <a:cubicBezTo>
                  <a:pt x="408891" y="2371891"/>
                  <a:pt x="281683" y="2306959"/>
                  <a:pt x="0" y="2317322"/>
                </a:cubicBezTo>
                <a:cubicBezTo>
                  <a:pt x="-21193" y="2175442"/>
                  <a:pt x="50803" y="1921732"/>
                  <a:pt x="0" y="1737992"/>
                </a:cubicBezTo>
                <a:cubicBezTo>
                  <a:pt x="-50803" y="1554252"/>
                  <a:pt x="18858" y="1421869"/>
                  <a:pt x="0" y="1135488"/>
                </a:cubicBezTo>
                <a:cubicBezTo>
                  <a:pt x="-18858" y="849107"/>
                  <a:pt x="55348" y="783623"/>
                  <a:pt x="0" y="602504"/>
                </a:cubicBezTo>
                <a:cubicBezTo>
                  <a:pt x="-55348" y="421385"/>
                  <a:pt x="7232" y="264561"/>
                  <a:pt x="0" y="0"/>
                </a:cubicBezTo>
                <a:close/>
              </a:path>
            </a:pathLst>
          </a:custGeom>
          <a:ln w="28575">
            <a:solidFill>
              <a:srgbClr val="7030A0"/>
            </a:solidFill>
            <a:extLst>
              <a:ext uri="{C807C97D-BFC1-408E-A445-0C87EB9F89A2}">
                <ask:lineSketchStyleProps xmlns:ask="http://schemas.microsoft.com/office/drawing/2018/sketchyshapes" sd="3285984349">
                  <a:prstGeom prst="rect">
                    <a:avLst/>
                  </a:prstGeom>
                  <ask:type>
                    <ask:lineSketchScribble/>
                  </ask:type>
                </ask:lineSketchStyleProps>
              </a:ext>
            </a:extLst>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Spike trains of individual neurons are irregular</a:t>
            </a:r>
          </a:p>
          <a:p>
            <a:r>
              <a:rPr lang="en-US" sz="1800" dirty="0"/>
              <a:t>If we would listen to measured electrical activity of a single </a:t>
            </a:r>
            <a:r>
              <a:rPr lang="en-US" altLang="ja-JP" sz="1800" dirty="0"/>
              <a:t>neuron,</a:t>
            </a:r>
            <a:r>
              <a:rPr lang="en-US" sz="1800" dirty="0"/>
              <a:t> we would only hear noise</a:t>
            </a:r>
          </a:p>
          <a:p>
            <a:r>
              <a:rPr lang="en-US" sz="1800" dirty="0"/>
              <a:t>Neurons exhibit spontaneous activity, not related to stimuli</a:t>
            </a:r>
          </a:p>
          <a:p>
            <a:r>
              <a:rPr lang="en-US" sz="1800" dirty="0"/>
              <a:t>High trial to trial variability in electrical recording with same stimulus</a:t>
            </a:r>
          </a:p>
          <a:p>
            <a:r>
              <a:rPr lang="en-US" sz="1800" dirty="0"/>
              <a:t>Synaptic transmission is determined by probabilities</a:t>
            </a:r>
          </a:p>
          <a:p>
            <a:r>
              <a:rPr lang="en-US" sz="1800" dirty="0"/>
              <a:t>Thermal energy: molecules move in along each dimension (kinetic energy)</a:t>
            </a:r>
          </a:p>
        </p:txBody>
      </p:sp>
      <p:sp>
        <p:nvSpPr>
          <p:cNvPr id="10" name="Content Placeholder 2">
            <a:extLst>
              <a:ext uri="{FF2B5EF4-FFF2-40B4-BE49-F238E27FC236}">
                <a16:creationId xmlns:a16="http://schemas.microsoft.com/office/drawing/2014/main" id="{F536AB95-C912-8EFD-C605-572AA7F67743}"/>
              </a:ext>
            </a:extLst>
          </p:cNvPr>
          <p:cNvSpPr>
            <a:spLocks noGrp="1"/>
          </p:cNvSpPr>
          <p:nvPr>
            <p:ph idx="1"/>
          </p:nvPr>
        </p:nvSpPr>
        <p:spPr>
          <a:xfrm>
            <a:off x="838200" y="1825625"/>
            <a:ext cx="10515600" cy="1019359"/>
          </a:xfrm>
        </p:spPr>
        <p:txBody>
          <a:bodyPr/>
          <a:lstStyle/>
          <a:p>
            <a:pPr marL="0" indent="0">
              <a:buNone/>
            </a:pPr>
            <a:r>
              <a:rPr lang="en-US" dirty="0"/>
              <a:t>Same input </a:t>
            </a:r>
            <a:r>
              <a:rPr lang="en-US" dirty="0">
                <a:sym typeface="Wingdings" panose="05000000000000000000" pitchFamily="2" charset="2"/>
              </a:rPr>
              <a:t> Variable output</a:t>
            </a:r>
            <a:endParaRPr lang="en-US" dirty="0"/>
          </a:p>
        </p:txBody>
      </p:sp>
      <p:sp>
        <p:nvSpPr>
          <p:cNvPr id="2" name="Content Placeholder 2">
            <a:extLst>
              <a:ext uri="{FF2B5EF4-FFF2-40B4-BE49-F238E27FC236}">
                <a16:creationId xmlns:a16="http://schemas.microsoft.com/office/drawing/2014/main" id="{3C7BB031-E821-3CCF-C9B3-5C502C028F3F}"/>
              </a:ext>
            </a:extLst>
          </p:cNvPr>
          <p:cNvSpPr txBox="1">
            <a:spLocks/>
          </p:cNvSpPr>
          <p:nvPr/>
        </p:nvSpPr>
        <p:spPr>
          <a:xfrm>
            <a:off x="838200" y="5587816"/>
            <a:ext cx="10515600" cy="10193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solidFill>
                  <a:srgbClr val="7030A0"/>
                </a:solidFill>
              </a:rPr>
              <a:t>We use probability to include variability and uncertainty  </a:t>
            </a:r>
          </a:p>
        </p:txBody>
      </p:sp>
    </p:spTree>
    <p:extLst>
      <p:ext uri="{BB962C8B-B14F-4D97-AF65-F5344CB8AC3E}">
        <p14:creationId xmlns:p14="http://schemas.microsoft.com/office/powerpoint/2010/main" val="780692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745AA-994E-8E62-07D6-10C034362A5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2D52194-5F60-2CB2-67EE-6CD022DEF69E}"/>
              </a:ext>
            </a:extLst>
          </p:cNvPr>
          <p:cNvSpPr>
            <a:spLocks noGrp="1"/>
          </p:cNvSpPr>
          <p:nvPr>
            <p:ph type="sldNum" sz="quarter" idx="12"/>
          </p:nvPr>
        </p:nvSpPr>
        <p:spPr/>
        <p:txBody>
          <a:bodyPr/>
          <a:lstStyle/>
          <a:p>
            <a:fld id="{CB12788D-ABA5-4E7B-998B-677A061A6405}" type="slidenum">
              <a:rPr lang="en-US" smtClean="0"/>
              <a:t>8</a:t>
            </a:fld>
            <a:endParaRPr lang="en-US" dirty="0"/>
          </a:p>
        </p:txBody>
      </p:sp>
      <p:sp>
        <p:nvSpPr>
          <p:cNvPr id="7" name="Footer Placeholder 7">
            <a:extLst>
              <a:ext uri="{FF2B5EF4-FFF2-40B4-BE49-F238E27FC236}">
                <a16:creationId xmlns:a16="http://schemas.microsoft.com/office/drawing/2014/main" id="{3C1B296F-D57D-4D08-4797-AFD3B93111B4}"/>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8FFA1F22-DB81-4C72-F08D-A34DA366F6AA}"/>
              </a:ext>
            </a:extLst>
          </p:cNvPr>
          <p:cNvSpPr>
            <a:spLocks noGrp="1"/>
          </p:cNvSpPr>
          <p:nvPr>
            <p:ph type="title"/>
          </p:nvPr>
        </p:nvSpPr>
        <p:spPr>
          <a:xfrm>
            <a:off x="838200" y="365125"/>
            <a:ext cx="10515600" cy="1325563"/>
          </a:xfrm>
        </p:spPr>
        <p:txBody>
          <a:bodyPr/>
          <a:lstStyle/>
          <a:p>
            <a:r>
              <a:rPr lang="en-US" dirty="0"/>
              <a:t>Stochastic openings of sodium channels</a:t>
            </a:r>
          </a:p>
        </p:txBody>
      </p:sp>
      <p:sp>
        <p:nvSpPr>
          <p:cNvPr id="3" name="Content Placeholder 2">
            <a:extLst>
              <a:ext uri="{FF2B5EF4-FFF2-40B4-BE49-F238E27FC236}">
                <a16:creationId xmlns:a16="http://schemas.microsoft.com/office/drawing/2014/main" id="{E4534935-89CC-4835-A873-86A3AC9E3109}"/>
              </a:ext>
            </a:extLst>
          </p:cNvPr>
          <p:cNvSpPr>
            <a:spLocks noGrp="1"/>
          </p:cNvSpPr>
          <p:nvPr>
            <p:ph idx="1"/>
          </p:nvPr>
        </p:nvSpPr>
        <p:spPr>
          <a:xfrm>
            <a:off x="838200" y="1825625"/>
            <a:ext cx="7840436" cy="2044246"/>
          </a:xfrm>
        </p:spPr>
        <p:txBody>
          <a:bodyPr>
            <a:normAutofit/>
          </a:bodyPr>
          <a:lstStyle/>
          <a:p>
            <a:pPr marL="0" indent="0">
              <a:buNone/>
            </a:pPr>
            <a:r>
              <a:rPr lang="en-US" sz="2400" dirty="0"/>
              <a:t>Hodgkin and Huxley described dynamics of membrane voltage in terms of deterministic ionic currents</a:t>
            </a:r>
          </a:p>
        </p:txBody>
      </p:sp>
      <p:sp>
        <p:nvSpPr>
          <p:cNvPr id="6" name="Footer Placeholder 7">
            <a:extLst>
              <a:ext uri="{FF2B5EF4-FFF2-40B4-BE49-F238E27FC236}">
                <a16:creationId xmlns:a16="http://schemas.microsoft.com/office/drawing/2014/main" id="{0408789B-07A4-8D03-176A-DDE3D916EA87}"/>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Koch, Biophysics of Computation</a:t>
            </a:r>
          </a:p>
        </p:txBody>
      </p:sp>
      <p:sp>
        <p:nvSpPr>
          <p:cNvPr id="11" name="Footer Placeholder 7">
            <a:extLst>
              <a:ext uri="{FF2B5EF4-FFF2-40B4-BE49-F238E27FC236}">
                <a16:creationId xmlns:a16="http://schemas.microsoft.com/office/drawing/2014/main" id="{9F7D5301-10CF-FAAD-CC56-C797989FBF50}"/>
              </a:ext>
            </a:extLst>
          </p:cNvPr>
          <p:cNvSpPr txBox="1">
            <a:spLocks/>
          </p:cNvSpPr>
          <p:nvPr/>
        </p:nvSpPr>
        <p:spPr>
          <a:xfrm>
            <a:off x="2099474" y="6214382"/>
            <a:ext cx="5833383"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Hodkin(1958), JSTOR, The Croonian Lecture: Ionic Movements and Electrical Activity in Giant Nerve Fibers</a:t>
            </a:r>
          </a:p>
        </p:txBody>
      </p:sp>
      <p:pic>
        <p:nvPicPr>
          <p:cNvPr id="13" name="Picture 12">
            <a:extLst>
              <a:ext uri="{FF2B5EF4-FFF2-40B4-BE49-F238E27FC236}">
                <a16:creationId xmlns:a16="http://schemas.microsoft.com/office/drawing/2014/main" id="{16B12C26-E49C-9CFC-F4A5-A6D40BF5FE3A}"/>
              </a:ext>
            </a:extLst>
          </p:cNvPr>
          <p:cNvPicPr>
            <a:picLocks noChangeAspect="1"/>
          </p:cNvPicPr>
          <p:nvPr/>
        </p:nvPicPr>
        <p:blipFill>
          <a:blip r:embed="rId3"/>
          <a:stretch>
            <a:fillRect/>
          </a:stretch>
        </p:blipFill>
        <p:spPr>
          <a:xfrm>
            <a:off x="2099474" y="4006733"/>
            <a:ext cx="6902805" cy="2273417"/>
          </a:xfrm>
          <a:prstGeom prst="rect">
            <a:avLst/>
          </a:prstGeom>
        </p:spPr>
      </p:pic>
    </p:spTree>
    <p:extLst>
      <p:ext uri="{BB962C8B-B14F-4D97-AF65-F5344CB8AC3E}">
        <p14:creationId xmlns:p14="http://schemas.microsoft.com/office/powerpoint/2010/main" val="1761168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2FCC-6798-3AC7-7C7C-EB4770A0EF3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F51A62B-1A2B-6780-FDF6-8C39D9EA387E}"/>
              </a:ext>
            </a:extLst>
          </p:cNvPr>
          <p:cNvPicPr>
            <a:picLocks noChangeAspect="1"/>
          </p:cNvPicPr>
          <p:nvPr/>
        </p:nvPicPr>
        <p:blipFill>
          <a:blip r:embed="rId3"/>
          <a:stretch>
            <a:fillRect/>
          </a:stretch>
        </p:blipFill>
        <p:spPr>
          <a:xfrm>
            <a:off x="8678636" y="1879029"/>
            <a:ext cx="2499318" cy="4728146"/>
          </a:xfrm>
          <a:prstGeom prst="rect">
            <a:avLst/>
          </a:prstGeom>
        </p:spPr>
      </p:pic>
      <p:sp>
        <p:nvSpPr>
          <p:cNvPr id="5" name="Slide Number Placeholder 4">
            <a:extLst>
              <a:ext uri="{FF2B5EF4-FFF2-40B4-BE49-F238E27FC236}">
                <a16:creationId xmlns:a16="http://schemas.microsoft.com/office/drawing/2014/main" id="{7D8BBEB2-870A-F226-6985-2A1755876AF1}"/>
              </a:ext>
            </a:extLst>
          </p:cNvPr>
          <p:cNvSpPr>
            <a:spLocks noGrp="1"/>
          </p:cNvSpPr>
          <p:nvPr>
            <p:ph type="sldNum" sz="quarter" idx="12"/>
          </p:nvPr>
        </p:nvSpPr>
        <p:spPr/>
        <p:txBody>
          <a:bodyPr/>
          <a:lstStyle/>
          <a:p>
            <a:fld id="{CB12788D-ABA5-4E7B-998B-677A061A6405}" type="slidenum">
              <a:rPr lang="en-US" smtClean="0"/>
              <a:t>9</a:t>
            </a:fld>
            <a:endParaRPr lang="en-US" dirty="0"/>
          </a:p>
        </p:txBody>
      </p:sp>
      <p:sp>
        <p:nvSpPr>
          <p:cNvPr id="7" name="Footer Placeholder 7">
            <a:extLst>
              <a:ext uri="{FF2B5EF4-FFF2-40B4-BE49-F238E27FC236}">
                <a16:creationId xmlns:a16="http://schemas.microsoft.com/office/drawing/2014/main" id="{1D4BEDA2-3363-307E-76C4-C00B0C060B0E}"/>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463EAFC3-399B-9D34-F7DD-15A1BF3C20A6}"/>
              </a:ext>
            </a:extLst>
          </p:cNvPr>
          <p:cNvSpPr>
            <a:spLocks noGrp="1"/>
          </p:cNvSpPr>
          <p:nvPr>
            <p:ph type="title"/>
          </p:nvPr>
        </p:nvSpPr>
        <p:spPr>
          <a:xfrm>
            <a:off x="838200" y="365125"/>
            <a:ext cx="10515600" cy="1325563"/>
          </a:xfrm>
        </p:spPr>
        <p:txBody>
          <a:bodyPr/>
          <a:lstStyle/>
          <a:p>
            <a:r>
              <a:rPr lang="en-US" dirty="0"/>
              <a:t>Stochastic openings of sodium channels</a:t>
            </a:r>
          </a:p>
        </p:txBody>
      </p:sp>
      <p:sp>
        <p:nvSpPr>
          <p:cNvPr id="6" name="Footer Placeholder 7">
            <a:extLst>
              <a:ext uri="{FF2B5EF4-FFF2-40B4-BE49-F238E27FC236}">
                <a16:creationId xmlns:a16="http://schemas.microsoft.com/office/drawing/2014/main" id="{EC5AD091-F3D1-9114-5A0B-73A2AD87ACE4}"/>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Koch, Biophysics of Computation</a:t>
            </a:r>
          </a:p>
        </p:txBody>
      </p:sp>
      <p:sp>
        <p:nvSpPr>
          <p:cNvPr id="11" name="Footer Placeholder 7">
            <a:extLst>
              <a:ext uri="{FF2B5EF4-FFF2-40B4-BE49-F238E27FC236}">
                <a16:creationId xmlns:a16="http://schemas.microsoft.com/office/drawing/2014/main" id="{80234E5C-7CC1-C1B6-F776-266E59C6976A}"/>
              </a:ext>
            </a:extLst>
          </p:cNvPr>
          <p:cNvSpPr txBox="1">
            <a:spLocks/>
          </p:cNvSpPr>
          <p:nvPr/>
        </p:nvSpPr>
        <p:spPr>
          <a:xfrm>
            <a:off x="5857874" y="6508183"/>
            <a:ext cx="5833383"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err="1"/>
              <a:t>Patlak</a:t>
            </a:r>
            <a:r>
              <a:rPr lang="en-US" sz="800" dirty="0"/>
              <a:t> and </a:t>
            </a:r>
            <a:r>
              <a:rPr lang="en-US" sz="800" dirty="0" err="1"/>
              <a:t>Oriz</a:t>
            </a:r>
            <a:r>
              <a:rPr lang="en-US" sz="800" dirty="0"/>
              <a:t> (1985), Journal of General Physiology, Slow Currents Though Single Sodium Channels of the Adult Rat Heart </a:t>
            </a:r>
          </a:p>
        </p:txBody>
      </p:sp>
      <p:sp>
        <p:nvSpPr>
          <p:cNvPr id="10" name="Content Placeholder 2">
            <a:extLst>
              <a:ext uri="{FF2B5EF4-FFF2-40B4-BE49-F238E27FC236}">
                <a16:creationId xmlns:a16="http://schemas.microsoft.com/office/drawing/2014/main" id="{578A15A6-04AD-036B-EFCB-95859D5DCA64}"/>
              </a:ext>
            </a:extLst>
          </p:cNvPr>
          <p:cNvSpPr txBox="1">
            <a:spLocks/>
          </p:cNvSpPr>
          <p:nvPr/>
        </p:nvSpPr>
        <p:spPr>
          <a:xfrm>
            <a:off x="934129" y="1725381"/>
            <a:ext cx="7840436" cy="22981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err="1"/>
              <a:t>Patlak</a:t>
            </a:r>
            <a:r>
              <a:rPr lang="en-US" sz="2400" dirty="0"/>
              <a:t> and </a:t>
            </a:r>
            <a:r>
              <a:rPr lang="en-US" sz="2400" dirty="0" err="1"/>
              <a:t>Oriz</a:t>
            </a:r>
            <a:r>
              <a:rPr lang="en-US" sz="2400" dirty="0"/>
              <a:t> recorded sodium channels from rat heart</a:t>
            </a:r>
          </a:p>
          <a:p>
            <a:r>
              <a:rPr lang="en-US" sz="2400" dirty="0"/>
              <a:t>Currents are caused by stochastic molecular pores</a:t>
            </a:r>
          </a:p>
          <a:p>
            <a:r>
              <a:rPr lang="en-US" sz="2400" dirty="0"/>
              <a:t>Macroscopic current is sum over microscopic currents of many channels</a:t>
            </a:r>
          </a:p>
        </p:txBody>
      </p:sp>
      <p:sp>
        <p:nvSpPr>
          <p:cNvPr id="13" name="Footer Placeholder 7">
            <a:extLst>
              <a:ext uri="{FF2B5EF4-FFF2-40B4-BE49-F238E27FC236}">
                <a16:creationId xmlns:a16="http://schemas.microsoft.com/office/drawing/2014/main" id="{57B7E807-ECF6-A1D7-6A2B-260DBDB27A0B}"/>
              </a:ext>
            </a:extLst>
          </p:cNvPr>
          <p:cNvSpPr txBox="1">
            <a:spLocks/>
          </p:cNvSpPr>
          <p:nvPr/>
        </p:nvSpPr>
        <p:spPr>
          <a:xfrm>
            <a:off x="987870" y="6173674"/>
            <a:ext cx="5833383"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Hodkin(1958), JSTOR, The Croonian Lecture: Ionic Movements and Electrical Activity in Giant Nerve Fibers</a:t>
            </a:r>
          </a:p>
        </p:txBody>
      </p:sp>
      <p:pic>
        <p:nvPicPr>
          <p:cNvPr id="15" name="Picture 14">
            <a:extLst>
              <a:ext uri="{FF2B5EF4-FFF2-40B4-BE49-F238E27FC236}">
                <a16:creationId xmlns:a16="http://schemas.microsoft.com/office/drawing/2014/main" id="{AA5887E3-7E7B-C377-99AA-BF98307F99E4}"/>
              </a:ext>
            </a:extLst>
          </p:cNvPr>
          <p:cNvPicPr>
            <a:picLocks noChangeAspect="1"/>
          </p:cNvPicPr>
          <p:nvPr/>
        </p:nvPicPr>
        <p:blipFill>
          <a:blip r:embed="rId4"/>
          <a:stretch>
            <a:fillRect/>
          </a:stretch>
        </p:blipFill>
        <p:spPr>
          <a:xfrm>
            <a:off x="987870" y="3966025"/>
            <a:ext cx="6902805" cy="2273417"/>
          </a:xfrm>
          <a:prstGeom prst="rect">
            <a:avLst/>
          </a:prstGeom>
        </p:spPr>
      </p:pic>
    </p:spTree>
    <p:extLst>
      <p:ext uri="{BB962C8B-B14F-4D97-AF65-F5344CB8AC3E}">
        <p14:creationId xmlns:p14="http://schemas.microsoft.com/office/powerpoint/2010/main" val="2614404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94137-3A75-7ABC-5542-397C5117EF20}"/>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83129A83-1864-454E-4A77-6D5F117C9D37}"/>
              </a:ext>
            </a:extLst>
          </p:cNvPr>
          <p:cNvPicPr>
            <a:picLocks noChangeAspect="1"/>
          </p:cNvPicPr>
          <p:nvPr/>
        </p:nvPicPr>
        <p:blipFill>
          <a:blip r:embed="rId3"/>
          <a:stretch>
            <a:fillRect/>
          </a:stretch>
        </p:blipFill>
        <p:spPr>
          <a:xfrm>
            <a:off x="4131128" y="1"/>
            <a:ext cx="7808825" cy="6765404"/>
          </a:xfrm>
          <a:prstGeom prst="rect">
            <a:avLst/>
          </a:prstGeom>
        </p:spPr>
      </p:pic>
      <p:sp>
        <p:nvSpPr>
          <p:cNvPr id="5" name="Slide Number Placeholder 4">
            <a:extLst>
              <a:ext uri="{FF2B5EF4-FFF2-40B4-BE49-F238E27FC236}">
                <a16:creationId xmlns:a16="http://schemas.microsoft.com/office/drawing/2014/main" id="{3EBBC5C9-CAA5-6345-6D0B-4DA2CC2DEE1B}"/>
              </a:ext>
            </a:extLst>
          </p:cNvPr>
          <p:cNvSpPr>
            <a:spLocks noGrp="1"/>
          </p:cNvSpPr>
          <p:nvPr>
            <p:ph type="sldNum" sz="quarter" idx="12"/>
          </p:nvPr>
        </p:nvSpPr>
        <p:spPr/>
        <p:txBody>
          <a:bodyPr/>
          <a:lstStyle/>
          <a:p>
            <a:fld id="{CB12788D-ABA5-4E7B-998B-677A061A6405}" type="slidenum">
              <a:rPr lang="en-US" smtClean="0"/>
              <a:t>10</a:t>
            </a:fld>
            <a:endParaRPr lang="en-US"/>
          </a:p>
        </p:txBody>
      </p:sp>
      <p:sp>
        <p:nvSpPr>
          <p:cNvPr id="7" name="Footer Placeholder 7">
            <a:extLst>
              <a:ext uri="{FF2B5EF4-FFF2-40B4-BE49-F238E27FC236}">
                <a16:creationId xmlns:a16="http://schemas.microsoft.com/office/drawing/2014/main" id="{F3545912-73FB-94B9-7AD0-FA9C4C58CB74}"/>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3698763D-012D-02BE-62E5-1C5887ED8FE7}"/>
              </a:ext>
            </a:extLst>
          </p:cNvPr>
          <p:cNvSpPr>
            <a:spLocks noGrp="1"/>
          </p:cNvSpPr>
          <p:nvPr>
            <p:ph type="title"/>
          </p:nvPr>
        </p:nvSpPr>
        <p:spPr>
          <a:xfrm>
            <a:off x="838200" y="365125"/>
            <a:ext cx="10515600" cy="1325563"/>
          </a:xfrm>
        </p:spPr>
        <p:txBody>
          <a:bodyPr/>
          <a:lstStyle/>
          <a:p>
            <a:r>
              <a:rPr lang="en-US" dirty="0"/>
              <a:t>Thermal motion of molecules</a:t>
            </a:r>
          </a:p>
        </p:txBody>
      </p:sp>
      <p:sp>
        <p:nvSpPr>
          <p:cNvPr id="10" name="Content Placeholder 2">
            <a:extLst>
              <a:ext uri="{FF2B5EF4-FFF2-40B4-BE49-F238E27FC236}">
                <a16:creationId xmlns:a16="http://schemas.microsoft.com/office/drawing/2014/main" id="{1B47DDD5-0CC7-67BA-FD34-6D2D552C0DDA}"/>
              </a:ext>
            </a:extLst>
          </p:cNvPr>
          <p:cNvSpPr>
            <a:spLocks noGrp="1"/>
          </p:cNvSpPr>
          <p:nvPr>
            <p:ph idx="1"/>
          </p:nvPr>
        </p:nvSpPr>
        <p:spPr>
          <a:xfrm>
            <a:off x="838200" y="1825625"/>
            <a:ext cx="10515600" cy="2187392"/>
          </a:xfrm>
        </p:spPr>
        <p:txBody>
          <a:bodyPr/>
          <a:lstStyle/>
          <a:p>
            <a:r>
              <a:rPr lang="en-US" dirty="0"/>
              <a:t>Molecules have kinetic energy</a:t>
            </a:r>
          </a:p>
          <a:p>
            <a:r>
              <a:rPr lang="en-US" dirty="0"/>
              <a:t>Results in movement along each dimension</a:t>
            </a:r>
          </a:p>
          <a:p>
            <a:r>
              <a:rPr lang="en-US" dirty="0"/>
              <a:t>Direction of movement is described by a probability distribution</a:t>
            </a:r>
          </a:p>
          <a:p>
            <a:endParaRPr lang="en-US" dirty="0"/>
          </a:p>
        </p:txBody>
      </p:sp>
      <p:sp>
        <p:nvSpPr>
          <p:cNvPr id="2" name="Content Placeholder 2">
            <a:extLst>
              <a:ext uri="{FF2B5EF4-FFF2-40B4-BE49-F238E27FC236}">
                <a16:creationId xmlns:a16="http://schemas.microsoft.com/office/drawing/2014/main" id="{B1104668-5330-0771-65EE-42073742A9DE}"/>
              </a:ext>
            </a:extLst>
          </p:cNvPr>
          <p:cNvSpPr txBox="1">
            <a:spLocks/>
          </p:cNvSpPr>
          <p:nvPr/>
        </p:nvSpPr>
        <p:spPr>
          <a:xfrm>
            <a:off x="838200" y="4599937"/>
            <a:ext cx="2555574" cy="10193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solidFill>
                  <a:srgbClr val="7030A0"/>
                </a:solidFill>
              </a:rPr>
              <a:t>Random walk</a:t>
            </a:r>
          </a:p>
        </p:txBody>
      </p:sp>
      <p:sp>
        <p:nvSpPr>
          <p:cNvPr id="8" name="Footer Placeholder 7">
            <a:extLst>
              <a:ext uri="{FF2B5EF4-FFF2-40B4-BE49-F238E27FC236}">
                <a16:creationId xmlns:a16="http://schemas.microsoft.com/office/drawing/2014/main" id="{F9434901-2A29-41BF-C95B-F66AF1CEFE74}"/>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Koch, Biophysics of Computation</a:t>
            </a:r>
          </a:p>
        </p:txBody>
      </p:sp>
      <p:sp>
        <p:nvSpPr>
          <p:cNvPr id="13" name="Footer Placeholder 7">
            <a:extLst>
              <a:ext uri="{FF2B5EF4-FFF2-40B4-BE49-F238E27FC236}">
                <a16:creationId xmlns:a16="http://schemas.microsoft.com/office/drawing/2014/main" id="{7EB9D9FA-E2CE-9160-5D8F-63303AD98555}"/>
              </a:ext>
            </a:extLst>
          </p:cNvPr>
          <p:cNvSpPr txBox="1">
            <a:spLocks/>
          </p:cNvSpPr>
          <p:nvPr/>
        </p:nvSpPr>
        <p:spPr>
          <a:xfrm>
            <a:off x="4190160" y="6526701"/>
            <a:ext cx="3845380" cy="361201"/>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Wikipedia: Random walk</a:t>
            </a:r>
          </a:p>
        </p:txBody>
      </p:sp>
    </p:spTree>
    <p:extLst>
      <p:ext uri="{BB962C8B-B14F-4D97-AF65-F5344CB8AC3E}">
        <p14:creationId xmlns:p14="http://schemas.microsoft.com/office/powerpoint/2010/main" val="346050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5953B-9235-573B-E9B2-CA4410E82F4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1862672-9D30-17DD-8934-207BA8EAE246}"/>
              </a:ext>
            </a:extLst>
          </p:cNvPr>
          <p:cNvPicPr>
            <a:picLocks noChangeAspect="1"/>
          </p:cNvPicPr>
          <p:nvPr/>
        </p:nvPicPr>
        <p:blipFill>
          <a:blip r:embed="rId3"/>
          <a:stretch>
            <a:fillRect/>
          </a:stretch>
        </p:blipFill>
        <p:spPr>
          <a:xfrm>
            <a:off x="7295941" y="3522507"/>
            <a:ext cx="4057859" cy="3016405"/>
          </a:xfrm>
          <a:prstGeom prst="rect">
            <a:avLst/>
          </a:prstGeom>
        </p:spPr>
      </p:pic>
      <p:sp>
        <p:nvSpPr>
          <p:cNvPr id="5" name="Slide Number Placeholder 4">
            <a:extLst>
              <a:ext uri="{FF2B5EF4-FFF2-40B4-BE49-F238E27FC236}">
                <a16:creationId xmlns:a16="http://schemas.microsoft.com/office/drawing/2014/main" id="{400E1E6B-1AC5-D4EE-5657-AE19E66B3D59}"/>
              </a:ext>
            </a:extLst>
          </p:cNvPr>
          <p:cNvSpPr>
            <a:spLocks noGrp="1"/>
          </p:cNvSpPr>
          <p:nvPr>
            <p:ph type="sldNum" sz="quarter" idx="12"/>
          </p:nvPr>
        </p:nvSpPr>
        <p:spPr/>
        <p:txBody>
          <a:bodyPr/>
          <a:lstStyle/>
          <a:p>
            <a:fld id="{CB12788D-ABA5-4E7B-998B-677A061A6405}" type="slidenum">
              <a:rPr lang="en-US" smtClean="0"/>
              <a:t>11</a:t>
            </a:fld>
            <a:endParaRPr lang="en-US" dirty="0"/>
          </a:p>
        </p:txBody>
      </p:sp>
      <p:sp>
        <p:nvSpPr>
          <p:cNvPr id="7" name="Footer Placeholder 7">
            <a:extLst>
              <a:ext uri="{FF2B5EF4-FFF2-40B4-BE49-F238E27FC236}">
                <a16:creationId xmlns:a16="http://schemas.microsoft.com/office/drawing/2014/main" id="{26CC12BD-6DD5-69CB-F4CD-868EC224D9CC}"/>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p:sp>
        <p:nvSpPr>
          <p:cNvPr id="4" name="Title 1">
            <a:extLst>
              <a:ext uri="{FF2B5EF4-FFF2-40B4-BE49-F238E27FC236}">
                <a16:creationId xmlns:a16="http://schemas.microsoft.com/office/drawing/2014/main" id="{34C14498-4691-4E26-1B42-7CC9034D8F24}"/>
              </a:ext>
            </a:extLst>
          </p:cNvPr>
          <p:cNvSpPr>
            <a:spLocks noGrp="1"/>
          </p:cNvSpPr>
          <p:nvPr>
            <p:ph type="title"/>
          </p:nvPr>
        </p:nvSpPr>
        <p:spPr>
          <a:xfrm>
            <a:off x="838200" y="365125"/>
            <a:ext cx="10515600" cy="1325563"/>
          </a:xfrm>
        </p:spPr>
        <p:txBody>
          <a:bodyPr/>
          <a:lstStyle/>
          <a:p>
            <a:r>
              <a:rPr lang="en-US" dirty="0"/>
              <a:t>Probability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8A618C-EA85-A082-1AF1-45D4382CACFB}"/>
                  </a:ext>
                </a:extLst>
              </p:cNvPr>
              <p:cNvSpPr>
                <a:spLocks noGrp="1"/>
              </p:cNvSpPr>
              <p:nvPr>
                <p:ph idx="1"/>
              </p:nvPr>
            </p:nvSpPr>
            <p:spPr/>
            <p:txBody>
              <a:bodyPr/>
              <a:lstStyle/>
              <a:p>
                <a:r>
                  <a:rPr lang="en-US" dirty="0"/>
                  <a:t>Events … outcomes from experiments or observations</a:t>
                </a:r>
              </a:p>
              <a:p>
                <a:r>
                  <a:rPr lang="en-US" dirty="0"/>
                  <a:t>P(A) … probability of the event A </a:t>
                </a:r>
                <a:r>
                  <a:rPr lang="en-US" dirty="0">
                    <a:sym typeface="Wingdings" panose="05000000000000000000" pitchFamily="2" charset="2"/>
                  </a:rPr>
                  <a:t> how likely A occurs</a:t>
                </a:r>
              </a:p>
              <a:p>
                <a:r>
                  <a:rPr lang="en-US" dirty="0">
                    <a:sym typeface="Wingdings" panose="05000000000000000000" pitchFamily="2" charset="2"/>
                  </a:rPr>
                  <a:t>Sample space </a:t>
                </a:r>
                <a:r>
                  <a:rPr lang="el-GR" dirty="0">
                    <a:sym typeface="Wingdings" panose="05000000000000000000" pitchFamily="2" charset="2"/>
                  </a:rPr>
                  <a:t>Ω</a:t>
                </a:r>
                <a:r>
                  <a:rPr lang="en-US" dirty="0">
                    <a:sym typeface="Wingdings" panose="05000000000000000000" pitchFamily="2" charset="2"/>
                  </a:rPr>
                  <a:t> … collection of all possible outcomes</a:t>
                </a:r>
              </a:p>
              <a:p>
                <a:r>
                  <a:rPr lang="en-US" dirty="0">
                    <a:sym typeface="Wingdings" panose="05000000000000000000" pitchFamily="2" charset="2"/>
                  </a:rPr>
                  <a:t>Union … </a:t>
                </a:r>
                <a:r>
                  <a:rPr lang="en-US" dirty="0"/>
                  <a:t>A ∪ B</a:t>
                </a:r>
              </a:p>
              <a:p>
                <a:r>
                  <a:rPr lang="en-US" dirty="0"/>
                  <a:t>Intersection … A ∩ B</a:t>
                </a:r>
              </a:p>
              <a:p>
                <a:r>
                  <a:rPr lang="en-US" dirty="0"/>
                  <a:t>Complement …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𝐶</m:t>
                        </m:r>
                      </m:sup>
                    </m:sSup>
                  </m:oMath>
                </a14:m>
                <a:r>
                  <a:rPr lang="en-US" dirty="0"/>
                  <a:t>, not A</a:t>
                </a:r>
              </a:p>
              <a:p>
                <a:r>
                  <a:rPr lang="en-US" dirty="0"/>
                  <a:t>Mutually exclusive … empty intersection</a:t>
                </a:r>
              </a:p>
            </p:txBody>
          </p:sp>
        </mc:Choice>
        <mc:Fallback xmlns="">
          <p:sp>
            <p:nvSpPr>
              <p:cNvPr id="3" name="Content Placeholder 2">
                <a:extLst>
                  <a:ext uri="{FF2B5EF4-FFF2-40B4-BE49-F238E27FC236}">
                    <a16:creationId xmlns:a16="http://schemas.microsoft.com/office/drawing/2014/main" id="{238A618C-EA85-A082-1AF1-45D4382CACFB}"/>
                  </a:ext>
                </a:extLst>
              </p:cNvPr>
              <p:cNvSpPr>
                <a:spLocks noGrp="1" noRot="1" noChangeAspect="1" noMove="1" noResize="1" noEditPoints="1" noAdjustHandles="1" noChangeArrowheads="1" noChangeShapeType="1" noTextEdit="1"/>
              </p:cNvSpPr>
              <p:nvPr>
                <p:ph idx="1"/>
              </p:nvPr>
            </p:nvSpPr>
            <p:spPr>
              <a:blipFill>
                <a:blip r:embed="rId4"/>
                <a:stretch>
                  <a:fillRect l="-1043" t="-2381"/>
                </a:stretch>
              </a:blipFill>
            </p:spPr>
            <p:txBody>
              <a:bodyPr/>
              <a:lstStyle/>
              <a:p>
                <a:r>
                  <a:rPr lang="en-US">
                    <a:noFill/>
                  </a:rPr>
                  <a:t> </a:t>
                </a:r>
              </a:p>
            </p:txBody>
          </p:sp>
        </mc:Fallback>
      </mc:AlternateContent>
      <p:sp>
        <p:nvSpPr>
          <p:cNvPr id="12" name="Footer Placeholder 7">
            <a:extLst>
              <a:ext uri="{FF2B5EF4-FFF2-40B4-BE49-F238E27FC236}">
                <a16:creationId xmlns:a16="http://schemas.microsoft.com/office/drawing/2014/main" id="{34C212F8-C499-8777-EF10-3A5C2ED37B52}"/>
              </a:ext>
            </a:extLst>
          </p:cNvPr>
          <p:cNvSpPr txBox="1">
            <a:spLocks/>
          </p:cNvSpPr>
          <p:nvPr/>
        </p:nvSpPr>
        <p:spPr>
          <a:xfrm>
            <a:off x="7849017" y="6383790"/>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Kass, Eden and Brown, Analysis of Neural Data</a:t>
            </a:r>
          </a:p>
        </p:txBody>
      </p:sp>
    </p:spTree>
    <p:extLst>
      <p:ext uri="{BB962C8B-B14F-4D97-AF65-F5344CB8AC3E}">
        <p14:creationId xmlns:p14="http://schemas.microsoft.com/office/powerpoint/2010/main" val="408290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638C9-F63D-FF38-B457-F803B8085C5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3B4D868-CA09-ECC9-7864-F821E7D5C3CB}"/>
              </a:ext>
            </a:extLst>
          </p:cNvPr>
          <p:cNvPicPr>
            <a:picLocks noChangeAspect="1"/>
          </p:cNvPicPr>
          <p:nvPr/>
        </p:nvPicPr>
        <p:blipFill>
          <a:blip r:embed="rId3"/>
          <a:stretch>
            <a:fillRect/>
          </a:stretch>
        </p:blipFill>
        <p:spPr>
          <a:xfrm>
            <a:off x="7112348" y="3429000"/>
            <a:ext cx="4057859" cy="3016405"/>
          </a:xfrm>
          <a:prstGeom prst="rect">
            <a:avLst/>
          </a:prstGeom>
        </p:spPr>
      </p:pic>
      <p:sp>
        <p:nvSpPr>
          <p:cNvPr id="5" name="Slide Number Placeholder 4">
            <a:extLst>
              <a:ext uri="{FF2B5EF4-FFF2-40B4-BE49-F238E27FC236}">
                <a16:creationId xmlns:a16="http://schemas.microsoft.com/office/drawing/2014/main" id="{09EB15C4-C112-69CA-302C-D487A2B3A06E}"/>
              </a:ext>
            </a:extLst>
          </p:cNvPr>
          <p:cNvSpPr>
            <a:spLocks noGrp="1"/>
          </p:cNvSpPr>
          <p:nvPr>
            <p:ph type="sldNum" sz="quarter" idx="12"/>
          </p:nvPr>
        </p:nvSpPr>
        <p:spPr/>
        <p:txBody>
          <a:bodyPr/>
          <a:lstStyle/>
          <a:p>
            <a:fld id="{CB12788D-ABA5-4E7B-998B-677A061A6405}" type="slidenum">
              <a:rPr lang="en-US" smtClean="0"/>
              <a:t>12</a:t>
            </a:fld>
            <a:endParaRPr lang="en-US"/>
          </a:p>
        </p:txBody>
      </p:sp>
      <p:sp>
        <p:nvSpPr>
          <p:cNvPr id="7" name="Footer Placeholder 7">
            <a:extLst>
              <a:ext uri="{FF2B5EF4-FFF2-40B4-BE49-F238E27FC236}">
                <a16:creationId xmlns:a16="http://schemas.microsoft.com/office/drawing/2014/main" id="{9420C85C-F63C-B4BC-8FDA-2F1921C93D82}"/>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p:sp>
        <p:nvSpPr>
          <p:cNvPr id="4" name="Title 1">
            <a:extLst>
              <a:ext uri="{FF2B5EF4-FFF2-40B4-BE49-F238E27FC236}">
                <a16:creationId xmlns:a16="http://schemas.microsoft.com/office/drawing/2014/main" id="{564ED429-5C4C-36C5-A0BC-B92A465C8618}"/>
              </a:ext>
            </a:extLst>
          </p:cNvPr>
          <p:cNvSpPr>
            <a:spLocks noGrp="1"/>
          </p:cNvSpPr>
          <p:nvPr>
            <p:ph type="title"/>
          </p:nvPr>
        </p:nvSpPr>
        <p:spPr>
          <a:xfrm>
            <a:off x="838200" y="365125"/>
            <a:ext cx="10515600" cy="1325563"/>
          </a:xfrm>
        </p:spPr>
        <p:txBody>
          <a:bodyPr/>
          <a:lstStyle/>
          <a:p>
            <a:r>
              <a:rPr lang="en-US" dirty="0"/>
              <a:t>Axioms of Probability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0F5B26-3103-4767-C80B-2F2C161377C0}"/>
                  </a:ext>
                </a:extLst>
              </p:cNvPr>
              <p:cNvSpPr>
                <a:spLocks noGrp="1"/>
              </p:cNvSpPr>
              <p:nvPr>
                <p:ph idx="1"/>
              </p:nvPr>
            </p:nvSpPr>
            <p:spPr/>
            <p:txBody>
              <a:bodyPr/>
              <a:lstStyle/>
              <a:p>
                <a:r>
                  <a:rPr lang="en-US" dirty="0"/>
                  <a:t>For all events A, P(A) &gt;= 0</a:t>
                </a:r>
                <a:endParaRPr lang="en-US" dirty="0">
                  <a:sym typeface="Wingdings" panose="05000000000000000000" pitchFamily="2" charset="2"/>
                </a:endParaRPr>
              </a:p>
              <a:p>
                <a:r>
                  <a:rPr lang="en-US" dirty="0">
                    <a:sym typeface="Wingdings" panose="05000000000000000000" pitchFamily="2" charset="2"/>
                  </a:rPr>
                  <a:t>P(</a:t>
                </a:r>
                <a:r>
                  <a:rPr lang="el-GR" dirty="0">
                    <a:sym typeface="Wingdings" panose="05000000000000000000" pitchFamily="2" charset="2"/>
                  </a:rPr>
                  <a:t>Ω</a:t>
                </a:r>
                <a:r>
                  <a:rPr lang="en-US" dirty="0">
                    <a:sym typeface="Wingdings" panose="05000000000000000000" pitchFamily="2" charset="2"/>
                  </a:rPr>
                  <a:t>)=1</a:t>
                </a:r>
              </a:p>
              <a:p>
                <a:r>
                  <a:rPr lang="en-US" dirty="0">
                    <a:sym typeface="Wingdings" panose="05000000000000000000" pitchFamily="2" charset="2"/>
                  </a:rPr>
                  <a:t>If </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𝐴</m:t>
                        </m:r>
                      </m:e>
                      <m:sub>
                        <m:r>
                          <a:rPr lang="en-US" b="0" i="1" smtClean="0">
                            <a:latin typeface="Cambria Math" panose="02040503050406030204" pitchFamily="18" charset="0"/>
                            <a:sym typeface="Wingdings" panose="05000000000000000000" pitchFamily="2" charset="2"/>
                          </a:rPr>
                          <m:t>1</m:t>
                        </m:r>
                      </m:sub>
                    </m:sSub>
                  </m:oMath>
                </a14:m>
                <a:r>
                  <a:rPr lang="en-US" dirty="0"/>
                  <a:t>, </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𝐴</m:t>
                        </m:r>
                      </m:e>
                      <m:sub>
                        <m:r>
                          <a:rPr lang="en-US" b="0" i="1" smtClean="0">
                            <a:latin typeface="Cambria Math" panose="02040503050406030204" pitchFamily="18" charset="0"/>
                            <a:sym typeface="Wingdings" panose="05000000000000000000" pitchFamily="2" charset="2"/>
                          </a:rPr>
                          <m:t>2</m:t>
                        </m:r>
                      </m:sub>
                    </m:sSub>
                  </m:oMath>
                </a14:m>
                <a:r>
                  <a:rPr lang="en-US" dirty="0"/>
                  <a:t>, …, </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𝐴</m:t>
                        </m:r>
                      </m:e>
                      <m:sub>
                        <m:r>
                          <a:rPr lang="en-US" b="0" i="1" smtClean="0">
                            <a:latin typeface="Cambria Math" panose="02040503050406030204" pitchFamily="18" charset="0"/>
                            <a:sym typeface="Wingdings" panose="05000000000000000000" pitchFamily="2" charset="2"/>
                          </a:rPr>
                          <m:t>𝑛</m:t>
                        </m:r>
                      </m:sub>
                    </m:sSub>
                  </m:oMath>
                </a14:m>
                <a:r>
                  <a:rPr lang="en-US" dirty="0"/>
                  <a:t> are mutually exclusive events, then </a:t>
                </a:r>
                <a:br>
                  <a:rPr lang="en-US" dirty="0"/>
                </a:br>
                <a:r>
                  <a:rPr lang="en-US" dirty="0"/>
                  <a:t>P(</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𝐴</m:t>
                        </m:r>
                      </m:e>
                      <m:sub>
                        <m:r>
                          <a:rPr lang="en-US" b="0" i="1" smtClean="0">
                            <a:latin typeface="Cambria Math" panose="02040503050406030204" pitchFamily="18" charset="0"/>
                            <a:sym typeface="Wingdings" panose="05000000000000000000" pitchFamily="2" charset="2"/>
                          </a:rPr>
                          <m:t>1</m:t>
                        </m:r>
                      </m:sub>
                    </m:sSub>
                  </m:oMath>
                </a14:m>
                <a:r>
                  <a:rPr lang="en-US" dirty="0"/>
                  <a:t>∪</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𝐴</m:t>
                        </m:r>
                      </m:e>
                      <m:sub>
                        <m:r>
                          <a:rPr lang="en-US" b="0" i="1" smtClean="0">
                            <a:latin typeface="Cambria Math" panose="02040503050406030204" pitchFamily="18" charset="0"/>
                            <a:sym typeface="Wingdings" panose="05000000000000000000" pitchFamily="2" charset="2"/>
                          </a:rPr>
                          <m:t>2</m:t>
                        </m:r>
                      </m:sub>
                    </m:sSub>
                  </m:oMath>
                </a14:m>
                <a:r>
                  <a:rPr lang="en-US" dirty="0"/>
                  <a:t> ∪ … ∪ </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𝐴</m:t>
                        </m:r>
                      </m:e>
                      <m:sub>
                        <m:r>
                          <a:rPr lang="en-US" b="0" i="1" smtClean="0">
                            <a:latin typeface="Cambria Math" panose="02040503050406030204" pitchFamily="18" charset="0"/>
                            <a:sym typeface="Wingdings" panose="05000000000000000000" pitchFamily="2" charset="2"/>
                          </a:rPr>
                          <m:t>𝑛</m:t>
                        </m:r>
                      </m:sub>
                    </m:sSub>
                  </m:oMath>
                </a14:m>
                <a:r>
                  <a:rPr lang="en-US" dirty="0"/>
                  <a:t>) = P(</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𝐴</m:t>
                        </m:r>
                      </m:e>
                      <m:sub>
                        <m:r>
                          <a:rPr lang="en-US" b="0" i="1" smtClean="0">
                            <a:latin typeface="Cambria Math" panose="02040503050406030204" pitchFamily="18" charset="0"/>
                            <a:sym typeface="Wingdings" panose="05000000000000000000" pitchFamily="2" charset="2"/>
                          </a:rPr>
                          <m:t>1</m:t>
                        </m:r>
                      </m:sub>
                    </m:sSub>
                  </m:oMath>
                </a14:m>
                <a:r>
                  <a:rPr lang="en-US" dirty="0"/>
                  <a:t>)+ P(</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𝐴</m:t>
                        </m:r>
                      </m:e>
                      <m:sub>
                        <m:r>
                          <a:rPr lang="en-US" b="0" i="1" smtClean="0">
                            <a:latin typeface="Cambria Math" panose="02040503050406030204" pitchFamily="18" charset="0"/>
                            <a:sym typeface="Wingdings" panose="05000000000000000000" pitchFamily="2" charset="2"/>
                          </a:rPr>
                          <m:t>2</m:t>
                        </m:r>
                      </m:sub>
                    </m:sSub>
                  </m:oMath>
                </a14:m>
                <a:r>
                  <a:rPr lang="en-US" dirty="0"/>
                  <a:t>)+…+ P(</a:t>
                </a:r>
                <a14:m>
                  <m:oMath xmlns:m="http://schemas.openxmlformats.org/officeDocument/2006/math">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𝐴</m:t>
                        </m:r>
                      </m:e>
                      <m:sub>
                        <m:r>
                          <a:rPr lang="en-US" b="0" i="1" smtClean="0">
                            <a:latin typeface="Cambria Math" panose="02040503050406030204" pitchFamily="18" charset="0"/>
                            <a:sym typeface="Wingdings" panose="05000000000000000000" pitchFamily="2" charset="2"/>
                          </a:rPr>
                          <m:t>𝑛</m:t>
                        </m:r>
                      </m:sub>
                    </m:sSub>
                  </m:oMath>
                </a14:m>
                <a:r>
                  <a:rPr lang="en-US" dirty="0"/>
                  <a:t>)</a:t>
                </a:r>
              </a:p>
            </p:txBody>
          </p:sp>
        </mc:Choice>
        <mc:Fallback xmlns="">
          <p:sp>
            <p:nvSpPr>
              <p:cNvPr id="3" name="Content Placeholder 2">
                <a:extLst>
                  <a:ext uri="{FF2B5EF4-FFF2-40B4-BE49-F238E27FC236}">
                    <a16:creationId xmlns:a16="http://schemas.microsoft.com/office/drawing/2014/main" id="{330F5B26-3103-4767-C80B-2F2C161377C0}"/>
                  </a:ext>
                </a:extLst>
              </p:cNvPr>
              <p:cNvSpPr>
                <a:spLocks noGrp="1" noRot="1" noChangeAspect="1" noMove="1" noResize="1" noEditPoints="1" noAdjustHandles="1" noChangeArrowheads="1" noChangeShapeType="1" noTextEdit="1"/>
              </p:cNvSpPr>
              <p:nvPr>
                <p:ph idx="1"/>
              </p:nvPr>
            </p:nvSpPr>
            <p:spPr>
              <a:blipFill>
                <a:blip r:embed="rId4"/>
                <a:stretch>
                  <a:fillRect l="-1043" t="-2381"/>
                </a:stretch>
              </a:blipFill>
            </p:spPr>
            <p:txBody>
              <a:bodyPr/>
              <a:lstStyle/>
              <a:p>
                <a:r>
                  <a:rPr lang="en-US">
                    <a:noFill/>
                  </a:rPr>
                  <a:t> </a:t>
                </a:r>
              </a:p>
            </p:txBody>
          </p:sp>
        </mc:Fallback>
      </mc:AlternateContent>
      <p:sp>
        <p:nvSpPr>
          <p:cNvPr id="6" name="Footer Placeholder 7">
            <a:extLst>
              <a:ext uri="{FF2B5EF4-FFF2-40B4-BE49-F238E27FC236}">
                <a16:creationId xmlns:a16="http://schemas.microsoft.com/office/drawing/2014/main" id="{582C3F39-E9AD-AE33-DC43-756F9D6F0B7D}"/>
              </a:ext>
            </a:extLst>
          </p:cNvPr>
          <p:cNvSpPr txBox="1">
            <a:spLocks/>
          </p:cNvSpPr>
          <p:nvPr/>
        </p:nvSpPr>
        <p:spPr>
          <a:xfrm>
            <a:off x="7849017" y="6383790"/>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Kass, Eden and Brown, Analysis of Neural Data</a:t>
            </a:r>
          </a:p>
        </p:txBody>
      </p:sp>
    </p:spTree>
    <p:extLst>
      <p:ext uri="{BB962C8B-B14F-4D97-AF65-F5344CB8AC3E}">
        <p14:creationId xmlns:p14="http://schemas.microsoft.com/office/powerpoint/2010/main" val="25578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EDA53-952B-B03E-4CA1-8328EB48CAF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F18DA16-C89D-9706-BD19-A1C536D66C01}"/>
              </a:ext>
            </a:extLst>
          </p:cNvPr>
          <p:cNvPicPr>
            <a:picLocks noChangeAspect="1"/>
          </p:cNvPicPr>
          <p:nvPr/>
        </p:nvPicPr>
        <p:blipFill>
          <a:blip r:embed="rId3"/>
          <a:stretch>
            <a:fillRect/>
          </a:stretch>
        </p:blipFill>
        <p:spPr>
          <a:xfrm>
            <a:off x="7112348" y="3429000"/>
            <a:ext cx="4057859" cy="3016405"/>
          </a:xfrm>
          <a:prstGeom prst="rect">
            <a:avLst/>
          </a:prstGeom>
        </p:spPr>
      </p:pic>
      <p:sp>
        <p:nvSpPr>
          <p:cNvPr id="5" name="Slide Number Placeholder 4">
            <a:extLst>
              <a:ext uri="{FF2B5EF4-FFF2-40B4-BE49-F238E27FC236}">
                <a16:creationId xmlns:a16="http://schemas.microsoft.com/office/drawing/2014/main" id="{E7EF502D-9903-342E-B409-D69517F8D71E}"/>
              </a:ext>
            </a:extLst>
          </p:cNvPr>
          <p:cNvSpPr>
            <a:spLocks noGrp="1"/>
          </p:cNvSpPr>
          <p:nvPr>
            <p:ph type="sldNum" sz="quarter" idx="12"/>
          </p:nvPr>
        </p:nvSpPr>
        <p:spPr/>
        <p:txBody>
          <a:bodyPr/>
          <a:lstStyle/>
          <a:p>
            <a:fld id="{CB12788D-ABA5-4E7B-998B-677A061A6405}" type="slidenum">
              <a:rPr lang="en-US" smtClean="0"/>
              <a:t>13</a:t>
            </a:fld>
            <a:endParaRPr lang="en-US"/>
          </a:p>
        </p:txBody>
      </p:sp>
      <p:sp>
        <p:nvSpPr>
          <p:cNvPr id="7" name="Footer Placeholder 7">
            <a:extLst>
              <a:ext uri="{FF2B5EF4-FFF2-40B4-BE49-F238E27FC236}">
                <a16:creationId xmlns:a16="http://schemas.microsoft.com/office/drawing/2014/main" id="{BE03B2F7-9EAC-6F3E-4D72-94DAA8C8B713}"/>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p:sp>
        <p:nvSpPr>
          <p:cNvPr id="4" name="Title 1">
            <a:extLst>
              <a:ext uri="{FF2B5EF4-FFF2-40B4-BE49-F238E27FC236}">
                <a16:creationId xmlns:a16="http://schemas.microsoft.com/office/drawing/2014/main" id="{9DE2573C-7E95-312D-499D-A62896434D87}"/>
              </a:ext>
            </a:extLst>
          </p:cNvPr>
          <p:cNvSpPr>
            <a:spLocks noGrp="1"/>
          </p:cNvSpPr>
          <p:nvPr>
            <p:ph type="title"/>
          </p:nvPr>
        </p:nvSpPr>
        <p:spPr>
          <a:xfrm>
            <a:off x="838200" y="365125"/>
            <a:ext cx="10515600" cy="1325563"/>
          </a:xfrm>
        </p:spPr>
        <p:txBody>
          <a:bodyPr/>
          <a:lstStyle/>
          <a:p>
            <a:r>
              <a:rPr lang="en-US" dirty="0"/>
              <a:t>Properties of Probability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BB8EFD-49E5-067E-90DA-ACFFF945B8D2}"/>
                  </a:ext>
                </a:extLst>
              </p:cNvPr>
              <p:cNvSpPr>
                <a:spLocks noGrp="1"/>
              </p:cNvSpPr>
              <p:nvPr>
                <p:ph idx="1"/>
              </p:nvPr>
            </p:nvSpPr>
            <p:spPr/>
            <p:txBody>
              <a:bodyPr/>
              <a:lstStyle/>
              <a:p>
                <a:r>
                  <a:rPr lang="en-US" dirty="0"/>
                  <a:t>P(</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𝐶</m:t>
                        </m:r>
                      </m:sup>
                    </m:sSup>
                  </m:oMath>
                </a14:m>
                <a:r>
                  <a:rPr lang="en-US" dirty="0"/>
                  <a:t>)=1-P(A)</a:t>
                </a:r>
              </a:p>
              <a:p>
                <a:r>
                  <a:rPr lang="en-US" dirty="0"/>
                  <a:t>If A and B are mutually exclusive, P(A ∩ B)=0</a:t>
                </a:r>
              </a:p>
              <a:p>
                <a:r>
                  <a:rPr lang="en-US" dirty="0"/>
                  <a:t>P(A ∪ B)=P(A)+P(B)- P(A ∩ B)</a:t>
                </a:r>
              </a:p>
              <a:p>
                <a:endParaRPr lang="en-US" dirty="0"/>
              </a:p>
            </p:txBody>
          </p:sp>
        </mc:Choice>
        <mc:Fallback xmlns="">
          <p:sp>
            <p:nvSpPr>
              <p:cNvPr id="3" name="Content Placeholder 2">
                <a:extLst>
                  <a:ext uri="{FF2B5EF4-FFF2-40B4-BE49-F238E27FC236}">
                    <a16:creationId xmlns:a16="http://schemas.microsoft.com/office/drawing/2014/main" id="{35BB8EFD-49E5-067E-90DA-ACFFF945B8D2}"/>
                  </a:ext>
                </a:extLst>
              </p:cNvPr>
              <p:cNvSpPr>
                <a:spLocks noGrp="1" noRot="1" noChangeAspect="1" noMove="1" noResize="1" noEditPoints="1" noAdjustHandles="1" noChangeArrowheads="1" noChangeShapeType="1" noTextEdit="1"/>
              </p:cNvSpPr>
              <p:nvPr>
                <p:ph idx="1"/>
              </p:nvPr>
            </p:nvSpPr>
            <p:spPr>
              <a:blipFill>
                <a:blip r:embed="rId4"/>
                <a:stretch>
                  <a:fillRect l="-1043" t="-2241"/>
                </a:stretch>
              </a:blipFill>
            </p:spPr>
            <p:txBody>
              <a:bodyPr/>
              <a:lstStyle/>
              <a:p>
                <a:r>
                  <a:rPr lang="en-US">
                    <a:noFill/>
                  </a:rPr>
                  <a:t> </a:t>
                </a:r>
              </a:p>
            </p:txBody>
          </p:sp>
        </mc:Fallback>
      </mc:AlternateContent>
      <p:sp>
        <p:nvSpPr>
          <p:cNvPr id="6" name="Footer Placeholder 7">
            <a:extLst>
              <a:ext uri="{FF2B5EF4-FFF2-40B4-BE49-F238E27FC236}">
                <a16:creationId xmlns:a16="http://schemas.microsoft.com/office/drawing/2014/main" id="{D96F3E00-F62C-C829-741C-097AEB3042C0}"/>
              </a:ext>
            </a:extLst>
          </p:cNvPr>
          <p:cNvSpPr txBox="1">
            <a:spLocks/>
          </p:cNvSpPr>
          <p:nvPr/>
        </p:nvSpPr>
        <p:spPr>
          <a:xfrm>
            <a:off x="7849017" y="6383790"/>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Kass, Eden and Brown, Analysis of Neural Data</a:t>
            </a:r>
          </a:p>
        </p:txBody>
      </p:sp>
    </p:spTree>
    <p:extLst>
      <p:ext uri="{BB962C8B-B14F-4D97-AF65-F5344CB8AC3E}">
        <p14:creationId xmlns:p14="http://schemas.microsoft.com/office/powerpoint/2010/main" val="7834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37540-C660-C84E-839D-662548EC2DF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8D1FEB8-0AE1-1BF2-77B3-4AEF48E54808}"/>
              </a:ext>
            </a:extLst>
          </p:cNvPr>
          <p:cNvPicPr>
            <a:picLocks noChangeAspect="1"/>
          </p:cNvPicPr>
          <p:nvPr/>
        </p:nvPicPr>
        <p:blipFill>
          <a:blip r:embed="rId3"/>
          <a:stretch>
            <a:fillRect/>
          </a:stretch>
        </p:blipFill>
        <p:spPr>
          <a:xfrm>
            <a:off x="7365440" y="3522507"/>
            <a:ext cx="4057859" cy="3016405"/>
          </a:xfrm>
          <a:prstGeom prst="rect">
            <a:avLst/>
          </a:prstGeom>
        </p:spPr>
      </p:pic>
      <p:sp>
        <p:nvSpPr>
          <p:cNvPr id="5" name="Slide Number Placeholder 4">
            <a:extLst>
              <a:ext uri="{FF2B5EF4-FFF2-40B4-BE49-F238E27FC236}">
                <a16:creationId xmlns:a16="http://schemas.microsoft.com/office/drawing/2014/main" id="{3691318E-B5A3-D813-B907-F3FE9A2FF28A}"/>
              </a:ext>
            </a:extLst>
          </p:cNvPr>
          <p:cNvSpPr>
            <a:spLocks noGrp="1"/>
          </p:cNvSpPr>
          <p:nvPr>
            <p:ph type="sldNum" sz="quarter" idx="12"/>
          </p:nvPr>
        </p:nvSpPr>
        <p:spPr/>
        <p:txBody>
          <a:bodyPr/>
          <a:lstStyle/>
          <a:p>
            <a:fld id="{CB12788D-ABA5-4E7B-998B-677A061A6405}" type="slidenum">
              <a:rPr lang="en-US" smtClean="0"/>
              <a:t>14</a:t>
            </a:fld>
            <a:endParaRPr lang="en-US"/>
          </a:p>
        </p:txBody>
      </p:sp>
      <p:sp>
        <p:nvSpPr>
          <p:cNvPr id="7" name="Footer Placeholder 7">
            <a:extLst>
              <a:ext uri="{FF2B5EF4-FFF2-40B4-BE49-F238E27FC236}">
                <a16:creationId xmlns:a16="http://schemas.microsoft.com/office/drawing/2014/main" id="{DFA4D143-7708-EE6F-0923-D645E2F97342}"/>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p:sp>
        <p:nvSpPr>
          <p:cNvPr id="4" name="Title 1">
            <a:extLst>
              <a:ext uri="{FF2B5EF4-FFF2-40B4-BE49-F238E27FC236}">
                <a16:creationId xmlns:a16="http://schemas.microsoft.com/office/drawing/2014/main" id="{FD89376E-EEAE-1F89-408F-5E792AE732FA}"/>
              </a:ext>
            </a:extLst>
          </p:cNvPr>
          <p:cNvSpPr>
            <a:spLocks noGrp="1"/>
          </p:cNvSpPr>
          <p:nvPr>
            <p:ph type="title"/>
          </p:nvPr>
        </p:nvSpPr>
        <p:spPr>
          <a:xfrm>
            <a:off x="838200" y="365125"/>
            <a:ext cx="10515600" cy="1325563"/>
          </a:xfrm>
        </p:spPr>
        <p:txBody>
          <a:bodyPr/>
          <a:lstStyle/>
          <a:p>
            <a:r>
              <a:rPr lang="en-US" dirty="0"/>
              <a:t>Conditional Probability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64BE90-F158-B134-8F2F-78E115FDFAEC}"/>
                  </a:ext>
                </a:extLst>
              </p:cNvPr>
              <p:cNvSpPr>
                <a:spLocks noGrp="1"/>
              </p:cNvSpPr>
              <p:nvPr>
                <p:ph idx="1"/>
              </p:nvPr>
            </p:nvSpPr>
            <p:spPr/>
            <p:txBody>
              <a:bodyPr/>
              <a:lstStyle/>
              <a:p>
                <a:r>
                  <a:rPr lang="en-US" dirty="0"/>
                  <a:t>P(A|B) … probability of A given B</a:t>
                </a:r>
              </a:p>
              <a:p>
                <a:r>
                  <a:rPr lang="en-US" dirty="0"/>
                  <a:t>We limit the universe to B</a:t>
                </a:r>
              </a:p>
              <a:p>
                <a:r>
                  <a:rPr lang="en-US" dirty="0"/>
                  <a:t>Take relative probability assigned to part of A this is contained in B</a:t>
                </a:r>
              </a:p>
              <a:p>
                <a:r>
                  <a:rPr lang="en-US" dirty="0"/>
                  <a:t>P(A|B)=</a:t>
                </a:r>
                <a14:m>
                  <m:oMath xmlns:m="http://schemas.openxmlformats.org/officeDocument/2006/math">
                    <m:f>
                      <m:fPr>
                        <m:ctrlPr>
                          <a:rPr lang="en-US" i="0" dirty="0" smtClean="0"/>
                        </m:ctrlPr>
                      </m:fPr>
                      <m:num>
                        <m:r>
                          <m:rPr>
                            <m:nor/>
                          </m:rPr>
                          <a:rPr lang="en-US" i="0" dirty="0" smtClean="0"/>
                          <m:t>P(A ∩ B)</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den>
                    </m:f>
                  </m:oMath>
                </a14:m>
                <a:endParaRPr lang="en-US" dirty="0"/>
              </a:p>
              <a:p>
                <a:r>
                  <a:rPr lang="en-US" dirty="0">
                    <a:sym typeface="Wingdings" panose="05000000000000000000" pitchFamily="2" charset="2"/>
                  </a:rPr>
                  <a:t> Multiplication rule: </a:t>
                </a:r>
                <a14:m>
                  <m:oMath xmlns:m="http://schemas.openxmlformats.org/officeDocument/2006/math">
                    <m:r>
                      <m:rPr>
                        <m:nor/>
                      </m:rPr>
                      <a:rPr lang="en-US" i="0" dirty="0" smtClean="0"/>
                      <m:t>P(A ∩ B)</m:t>
                    </m:r>
                  </m:oMath>
                </a14:m>
                <a:r>
                  <a:rPr lang="en-US" dirty="0"/>
                  <a:t>=P(A|B)*P(B)</a:t>
                </a:r>
              </a:p>
            </p:txBody>
          </p:sp>
        </mc:Choice>
        <mc:Fallback xmlns="">
          <p:sp>
            <p:nvSpPr>
              <p:cNvPr id="3" name="Content Placeholder 2">
                <a:extLst>
                  <a:ext uri="{FF2B5EF4-FFF2-40B4-BE49-F238E27FC236}">
                    <a16:creationId xmlns:a16="http://schemas.microsoft.com/office/drawing/2014/main" id="{DA64BE90-F158-B134-8F2F-78E115FDFAEC}"/>
                  </a:ext>
                </a:extLst>
              </p:cNvPr>
              <p:cNvSpPr>
                <a:spLocks noGrp="1" noRot="1" noChangeAspect="1" noMove="1" noResize="1" noEditPoints="1" noAdjustHandles="1" noChangeArrowheads="1" noChangeShapeType="1" noTextEdit="1"/>
              </p:cNvSpPr>
              <p:nvPr>
                <p:ph idx="1"/>
              </p:nvPr>
            </p:nvSpPr>
            <p:spPr>
              <a:blipFill>
                <a:blip r:embed="rId4"/>
                <a:stretch>
                  <a:fillRect l="-1043" t="-2381" r="-232"/>
                </a:stretch>
              </a:blipFill>
            </p:spPr>
            <p:txBody>
              <a:bodyPr/>
              <a:lstStyle/>
              <a:p>
                <a:r>
                  <a:rPr lang="en-US">
                    <a:noFill/>
                  </a:rPr>
                  <a:t> </a:t>
                </a:r>
              </a:p>
            </p:txBody>
          </p:sp>
        </mc:Fallback>
      </mc:AlternateContent>
      <p:sp>
        <p:nvSpPr>
          <p:cNvPr id="6" name="Footer Placeholder 7">
            <a:extLst>
              <a:ext uri="{FF2B5EF4-FFF2-40B4-BE49-F238E27FC236}">
                <a16:creationId xmlns:a16="http://schemas.microsoft.com/office/drawing/2014/main" id="{D2EFCBA6-2383-D077-BA27-D46B6609C032}"/>
              </a:ext>
            </a:extLst>
          </p:cNvPr>
          <p:cNvSpPr txBox="1">
            <a:spLocks/>
          </p:cNvSpPr>
          <p:nvPr/>
        </p:nvSpPr>
        <p:spPr>
          <a:xfrm>
            <a:off x="7849017" y="6383790"/>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Kass, Eden and Brown, Analysis of Neural Data</a:t>
            </a:r>
          </a:p>
        </p:txBody>
      </p:sp>
    </p:spTree>
    <p:extLst>
      <p:ext uri="{BB962C8B-B14F-4D97-AF65-F5344CB8AC3E}">
        <p14:creationId xmlns:p14="http://schemas.microsoft.com/office/powerpoint/2010/main" val="246606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F7965-DF31-9C86-CDA3-32972721C8E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1A0F7FD-84C0-A696-3B32-38410B8F1782}"/>
              </a:ext>
            </a:extLst>
          </p:cNvPr>
          <p:cNvPicPr>
            <a:picLocks noChangeAspect="1"/>
          </p:cNvPicPr>
          <p:nvPr/>
        </p:nvPicPr>
        <p:blipFill>
          <a:blip r:embed="rId3"/>
          <a:stretch>
            <a:fillRect/>
          </a:stretch>
        </p:blipFill>
        <p:spPr>
          <a:xfrm>
            <a:off x="6096000" y="3159579"/>
            <a:ext cx="5657245" cy="3455760"/>
          </a:xfrm>
          <a:prstGeom prst="rect">
            <a:avLst/>
          </a:prstGeom>
        </p:spPr>
      </p:pic>
      <p:sp>
        <p:nvSpPr>
          <p:cNvPr id="5" name="Slide Number Placeholder 4">
            <a:extLst>
              <a:ext uri="{FF2B5EF4-FFF2-40B4-BE49-F238E27FC236}">
                <a16:creationId xmlns:a16="http://schemas.microsoft.com/office/drawing/2014/main" id="{B52B1C92-CF19-6F52-3F46-2A2A81FCCBC1}"/>
              </a:ext>
            </a:extLst>
          </p:cNvPr>
          <p:cNvSpPr>
            <a:spLocks noGrp="1"/>
          </p:cNvSpPr>
          <p:nvPr>
            <p:ph type="sldNum" sz="quarter" idx="12"/>
          </p:nvPr>
        </p:nvSpPr>
        <p:spPr/>
        <p:txBody>
          <a:bodyPr/>
          <a:lstStyle/>
          <a:p>
            <a:fld id="{CB12788D-ABA5-4E7B-998B-677A061A6405}" type="slidenum">
              <a:rPr lang="en-US" smtClean="0"/>
              <a:t>15</a:t>
            </a:fld>
            <a:endParaRPr lang="en-US"/>
          </a:p>
        </p:txBody>
      </p:sp>
      <p:sp>
        <p:nvSpPr>
          <p:cNvPr id="7" name="Footer Placeholder 7">
            <a:extLst>
              <a:ext uri="{FF2B5EF4-FFF2-40B4-BE49-F238E27FC236}">
                <a16:creationId xmlns:a16="http://schemas.microsoft.com/office/drawing/2014/main" id="{307480D7-731D-08A8-74E7-58792EA85E85}"/>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2DB53D88-C54B-D447-7E30-8AD8AC6B3507}"/>
              </a:ext>
            </a:extLst>
          </p:cNvPr>
          <p:cNvSpPr>
            <a:spLocks noGrp="1"/>
          </p:cNvSpPr>
          <p:nvPr>
            <p:ph type="title"/>
          </p:nvPr>
        </p:nvSpPr>
        <p:spPr>
          <a:xfrm>
            <a:off x="838200" y="365125"/>
            <a:ext cx="10515600" cy="1325563"/>
          </a:xfrm>
        </p:spPr>
        <p:txBody>
          <a:bodyPr/>
          <a:lstStyle/>
          <a:p>
            <a:r>
              <a:rPr lang="en-US" dirty="0"/>
              <a:t>Random variables</a:t>
            </a:r>
          </a:p>
        </p:txBody>
      </p:sp>
      <p:sp>
        <p:nvSpPr>
          <p:cNvPr id="3" name="Content Placeholder 2">
            <a:extLst>
              <a:ext uri="{FF2B5EF4-FFF2-40B4-BE49-F238E27FC236}">
                <a16:creationId xmlns:a16="http://schemas.microsoft.com/office/drawing/2014/main" id="{3DAD595A-8F86-8470-F2A4-611E9A144681}"/>
              </a:ext>
            </a:extLst>
          </p:cNvPr>
          <p:cNvSpPr>
            <a:spLocks noGrp="1"/>
          </p:cNvSpPr>
          <p:nvPr>
            <p:ph idx="1"/>
          </p:nvPr>
        </p:nvSpPr>
        <p:spPr/>
        <p:txBody>
          <a:bodyPr/>
          <a:lstStyle/>
          <a:p>
            <a:r>
              <a:rPr lang="en-US" dirty="0"/>
              <a:t>Mathematical objects</a:t>
            </a:r>
          </a:p>
          <a:p>
            <a:r>
              <a:rPr lang="en-US" dirty="0"/>
              <a:t>Describe variation among quantitative measurements</a:t>
            </a:r>
          </a:p>
          <a:p>
            <a:r>
              <a:rPr lang="en-US" dirty="0"/>
              <a:t>Assign number to each outcome</a:t>
            </a:r>
          </a:p>
          <a:p>
            <a:r>
              <a:rPr lang="en-US" dirty="0"/>
              <a:t>E.g., spike count of each trial</a:t>
            </a:r>
          </a:p>
          <a:p>
            <a:r>
              <a:rPr lang="en-US" dirty="0"/>
              <a:t>Can be visualized by a histogram</a:t>
            </a:r>
          </a:p>
          <a:p>
            <a:endParaRPr lang="en-US" dirty="0"/>
          </a:p>
        </p:txBody>
      </p:sp>
      <p:sp>
        <p:nvSpPr>
          <p:cNvPr id="9" name="Footer Placeholder 7">
            <a:extLst>
              <a:ext uri="{FF2B5EF4-FFF2-40B4-BE49-F238E27FC236}">
                <a16:creationId xmlns:a16="http://schemas.microsoft.com/office/drawing/2014/main" id="{AAEDF892-A00E-0EBB-5DDB-AB33C633C9E1}"/>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p:sp>
        <p:nvSpPr>
          <p:cNvPr id="11" name="Footer Placeholder 7">
            <a:extLst>
              <a:ext uri="{FF2B5EF4-FFF2-40B4-BE49-F238E27FC236}">
                <a16:creationId xmlns:a16="http://schemas.microsoft.com/office/drawing/2014/main" id="{61B3E960-F591-121E-37F5-99618E6DF9F3}"/>
              </a:ext>
            </a:extLst>
          </p:cNvPr>
          <p:cNvSpPr txBox="1">
            <a:spLocks/>
          </p:cNvSpPr>
          <p:nvPr/>
        </p:nvSpPr>
        <p:spPr>
          <a:xfrm>
            <a:off x="6096000" y="6508750"/>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Kass, Eden and Brown, Analysis of Neural Data</a:t>
            </a:r>
          </a:p>
        </p:txBody>
      </p:sp>
    </p:spTree>
    <p:extLst>
      <p:ext uri="{BB962C8B-B14F-4D97-AF65-F5344CB8AC3E}">
        <p14:creationId xmlns:p14="http://schemas.microsoft.com/office/powerpoint/2010/main" val="29108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A83D6-D4A4-0739-9647-E261233ACE3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E622323-1B27-12BD-5A7D-2F530658B0F3}"/>
              </a:ext>
            </a:extLst>
          </p:cNvPr>
          <p:cNvPicPr>
            <a:picLocks noChangeAspect="1"/>
          </p:cNvPicPr>
          <p:nvPr/>
        </p:nvPicPr>
        <p:blipFill>
          <a:blip r:embed="rId3"/>
          <a:stretch>
            <a:fillRect/>
          </a:stretch>
        </p:blipFill>
        <p:spPr>
          <a:xfrm>
            <a:off x="6096000" y="3159579"/>
            <a:ext cx="5657245" cy="3455760"/>
          </a:xfrm>
          <a:prstGeom prst="rect">
            <a:avLst/>
          </a:prstGeom>
        </p:spPr>
      </p:pic>
      <p:sp>
        <p:nvSpPr>
          <p:cNvPr id="5" name="Slide Number Placeholder 4">
            <a:extLst>
              <a:ext uri="{FF2B5EF4-FFF2-40B4-BE49-F238E27FC236}">
                <a16:creationId xmlns:a16="http://schemas.microsoft.com/office/drawing/2014/main" id="{B31EA635-7D43-C1F3-44B3-5038DB6C062B}"/>
              </a:ext>
            </a:extLst>
          </p:cNvPr>
          <p:cNvSpPr>
            <a:spLocks noGrp="1"/>
          </p:cNvSpPr>
          <p:nvPr>
            <p:ph type="sldNum" sz="quarter" idx="12"/>
          </p:nvPr>
        </p:nvSpPr>
        <p:spPr/>
        <p:txBody>
          <a:bodyPr/>
          <a:lstStyle/>
          <a:p>
            <a:fld id="{CB12788D-ABA5-4E7B-998B-677A061A6405}" type="slidenum">
              <a:rPr lang="en-US" smtClean="0"/>
              <a:t>16</a:t>
            </a:fld>
            <a:endParaRPr lang="en-US"/>
          </a:p>
        </p:txBody>
      </p:sp>
      <p:sp>
        <p:nvSpPr>
          <p:cNvPr id="7" name="Footer Placeholder 7">
            <a:extLst>
              <a:ext uri="{FF2B5EF4-FFF2-40B4-BE49-F238E27FC236}">
                <a16:creationId xmlns:a16="http://schemas.microsoft.com/office/drawing/2014/main" id="{8BB681AB-B117-9F1C-6CD6-1DEBA7D46B98}"/>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BDC70CA7-CC35-A1B0-6520-A21805ABF16A}"/>
              </a:ext>
            </a:extLst>
          </p:cNvPr>
          <p:cNvSpPr>
            <a:spLocks noGrp="1"/>
          </p:cNvSpPr>
          <p:nvPr>
            <p:ph type="title"/>
          </p:nvPr>
        </p:nvSpPr>
        <p:spPr>
          <a:xfrm>
            <a:off x="838200" y="365125"/>
            <a:ext cx="10515600" cy="1325563"/>
          </a:xfrm>
        </p:spPr>
        <p:txBody>
          <a:bodyPr/>
          <a:lstStyle/>
          <a:p>
            <a:r>
              <a:rPr lang="en-US" dirty="0"/>
              <a:t>Spike count from a motor cortical neuron</a:t>
            </a:r>
          </a:p>
        </p:txBody>
      </p:sp>
      <p:sp>
        <p:nvSpPr>
          <p:cNvPr id="3" name="Content Placeholder 2">
            <a:extLst>
              <a:ext uri="{FF2B5EF4-FFF2-40B4-BE49-F238E27FC236}">
                <a16:creationId xmlns:a16="http://schemas.microsoft.com/office/drawing/2014/main" id="{6AF7CE4A-8BDF-4806-B3C1-1129423009F8}"/>
              </a:ext>
            </a:extLst>
          </p:cNvPr>
          <p:cNvSpPr>
            <a:spLocks noGrp="1"/>
          </p:cNvSpPr>
          <p:nvPr>
            <p:ph idx="1"/>
          </p:nvPr>
        </p:nvSpPr>
        <p:spPr>
          <a:xfrm>
            <a:off x="838200" y="1825625"/>
            <a:ext cx="10515600" cy="4515984"/>
          </a:xfrm>
        </p:spPr>
        <p:txBody>
          <a:bodyPr/>
          <a:lstStyle/>
          <a:p>
            <a:r>
              <a:rPr lang="en-US" dirty="0"/>
              <a:t>To study cortical correlates of practicing a movement</a:t>
            </a:r>
          </a:p>
          <a:p>
            <a:r>
              <a:rPr lang="en-US" dirty="0"/>
              <a:t>Recorded from primary motor cortex</a:t>
            </a:r>
          </a:p>
          <a:p>
            <a:r>
              <a:rPr lang="en-US" dirty="0"/>
              <a:t>Button-pressing task</a:t>
            </a:r>
          </a:p>
          <a:p>
            <a:r>
              <a:rPr lang="en-US" dirty="0"/>
              <a:t>Spike counts from single neuron</a:t>
            </a:r>
          </a:p>
          <a:p>
            <a:r>
              <a:rPr lang="en-US" dirty="0"/>
              <a:t>60 repetitions of same condition</a:t>
            </a:r>
          </a:p>
          <a:p>
            <a:r>
              <a:rPr lang="en-US" dirty="0"/>
              <a:t>Shows considerable variation</a:t>
            </a:r>
          </a:p>
          <a:p>
            <a:r>
              <a:rPr lang="en-US" dirty="0"/>
              <a:t>Uncertainty in random variable</a:t>
            </a:r>
            <a:br>
              <a:rPr lang="en-US" dirty="0"/>
            </a:br>
            <a:r>
              <a:rPr lang="en-US" dirty="0"/>
              <a:t>(spike count) is described by </a:t>
            </a:r>
            <a:br>
              <a:rPr lang="en-US" dirty="0"/>
            </a:br>
            <a:r>
              <a:rPr lang="en-US" dirty="0"/>
              <a:t>its probability distribution </a:t>
            </a:r>
          </a:p>
          <a:p>
            <a:endParaRPr lang="en-US" dirty="0"/>
          </a:p>
        </p:txBody>
      </p:sp>
      <p:sp>
        <p:nvSpPr>
          <p:cNvPr id="9" name="Footer Placeholder 7">
            <a:extLst>
              <a:ext uri="{FF2B5EF4-FFF2-40B4-BE49-F238E27FC236}">
                <a16:creationId xmlns:a16="http://schemas.microsoft.com/office/drawing/2014/main" id="{3AB14CDD-CE66-9C61-6867-9EA755168CB3}"/>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p:sp>
        <p:nvSpPr>
          <p:cNvPr id="11" name="Footer Placeholder 7">
            <a:extLst>
              <a:ext uri="{FF2B5EF4-FFF2-40B4-BE49-F238E27FC236}">
                <a16:creationId xmlns:a16="http://schemas.microsoft.com/office/drawing/2014/main" id="{56FD66EC-0095-3FEC-0DD9-0D705C84E432}"/>
              </a:ext>
            </a:extLst>
          </p:cNvPr>
          <p:cNvSpPr txBox="1">
            <a:spLocks/>
          </p:cNvSpPr>
          <p:nvPr/>
        </p:nvSpPr>
        <p:spPr>
          <a:xfrm>
            <a:off x="6096000" y="6508750"/>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Kass, Eden and Brown, Analysis of Neural Data</a:t>
            </a:r>
          </a:p>
        </p:txBody>
      </p:sp>
    </p:spTree>
    <p:extLst>
      <p:ext uri="{BB962C8B-B14F-4D97-AF65-F5344CB8AC3E}">
        <p14:creationId xmlns:p14="http://schemas.microsoft.com/office/powerpoint/2010/main" val="128357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01985-6CE2-973F-ABF3-97D29B02243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9A0CEEC-C9B5-9F13-5AAC-EF926255D07E}"/>
              </a:ext>
            </a:extLst>
          </p:cNvPr>
          <p:cNvSpPr>
            <a:spLocks noGrp="1"/>
          </p:cNvSpPr>
          <p:nvPr>
            <p:ph type="sldNum" sz="quarter" idx="12"/>
          </p:nvPr>
        </p:nvSpPr>
        <p:spPr/>
        <p:txBody>
          <a:bodyPr/>
          <a:lstStyle/>
          <a:p>
            <a:fld id="{CB12788D-ABA5-4E7B-998B-677A061A6405}" type="slidenum">
              <a:rPr lang="en-US" smtClean="0"/>
              <a:t>17</a:t>
            </a:fld>
            <a:endParaRPr lang="en-US"/>
          </a:p>
        </p:txBody>
      </p:sp>
      <p:sp>
        <p:nvSpPr>
          <p:cNvPr id="7" name="Footer Placeholder 7">
            <a:extLst>
              <a:ext uri="{FF2B5EF4-FFF2-40B4-BE49-F238E27FC236}">
                <a16:creationId xmlns:a16="http://schemas.microsoft.com/office/drawing/2014/main" id="{074F2536-B88C-0F22-400E-75968C4898C0}"/>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49F57249-9F16-E2B6-3720-8008EAD6E247}"/>
              </a:ext>
            </a:extLst>
          </p:cNvPr>
          <p:cNvSpPr>
            <a:spLocks noGrp="1"/>
          </p:cNvSpPr>
          <p:nvPr>
            <p:ph type="title"/>
          </p:nvPr>
        </p:nvSpPr>
        <p:spPr>
          <a:xfrm>
            <a:off x="838200" y="365125"/>
            <a:ext cx="10515600" cy="1325563"/>
          </a:xfrm>
        </p:spPr>
        <p:txBody>
          <a:bodyPr/>
          <a:lstStyle/>
          <a:p>
            <a:r>
              <a:rPr lang="en-US" dirty="0"/>
              <a:t>Random variables</a:t>
            </a:r>
          </a:p>
        </p:txBody>
      </p:sp>
      <p:sp>
        <p:nvSpPr>
          <p:cNvPr id="3" name="Content Placeholder 2">
            <a:extLst>
              <a:ext uri="{FF2B5EF4-FFF2-40B4-BE49-F238E27FC236}">
                <a16:creationId xmlns:a16="http://schemas.microsoft.com/office/drawing/2014/main" id="{87E5CD5A-2607-AF5B-0D05-EF876577EF28}"/>
              </a:ext>
            </a:extLst>
          </p:cNvPr>
          <p:cNvSpPr>
            <a:spLocks noGrp="1"/>
          </p:cNvSpPr>
          <p:nvPr>
            <p:ph idx="1"/>
          </p:nvPr>
        </p:nvSpPr>
        <p:spPr/>
        <p:txBody>
          <a:bodyPr/>
          <a:lstStyle/>
          <a:p>
            <a:r>
              <a:rPr lang="en-US" dirty="0"/>
              <a:t>Described by distributions</a:t>
            </a:r>
          </a:p>
          <a:p>
            <a:r>
              <a:rPr lang="en-US" dirty="0"/>
              <a:t>f(x)=P(X=x) … probability mass function or probability density function (continuous random variable)</a:t>
            </a:r>
          </a:p>
          <a:p>
            <a:r>
              <a:rPr lang="en-US" dirty="0"/>
              <a:t>F(X)=P(X&lt;=x) … cumulative distribution function</a:t>
            </a:r>
          </a:p>
          <a:p>
            <a:r>
              <a:rPr lang="en-US" dirty="0"/>
              <a:t>Means and variances of the random variables can be computed from the distribution</a:t>
            </a:r>
          </a:p>
        </p:txBody>
      </p:sp>
      <p:sp>
        <p:nvSpPr>
          <p:cNvPr id="6" name="Footer Placeholder 7">
            <a:extLst>
              <a:ext uri="{FF2B5EF4-FFF2-40B4-BE49-F238E27FC236}">
                <a16:creationId xmlns:a16="http://schemas.microsoft.com/office/drawing/2014/main" id="{CFB94046-7B60-07EE-658B-E953174F7CA6}"/>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p:spTree>
    <p:extLst>
      <p:ext uri="{BB962C8B-B14F-4D97-AF65-F5344CB8AC3E}">
        <p14:creationId xmlns:p14="http://schemas.microsoft.com/office/powerpoint/2010/main" val="3291483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66CB3-5AA1-5160-4936-5FED4324432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68603FF-7A5B-BCA6-8C3D-889F9EA8730C}"/>
              </a:ext>
            </a:extLst>
          </p:cNvPr>
          <p:cNvSpPr>
            <a:spLocks noGrp="1"/>
          </p:cNvSpPr>
          <p:nvPr>
            <p:ph type="sldNum" sz="quarter" idx="12"/>
          </p:nvPr>
        </p:nvSpPr>
        <p:spPr/>
        <p:txBody>
          <a:bodyPr/>
          <a:lstStyle/>
          <a:p>
            <a:fld id="{CB12788D-ABA5-4E7B-998B-677A061A6405}" type="slidenum">
              <a:rPr lang="en-US" smtClean="0"/>
              <a:t>18</a:t>
            </a:fld>
            <a:endParaRPr lang="en-US"/>
          </a:p>
        </p:txBody>
      </p:sp>
      <p:sp>
        <p:nvSpPr>
          <p:cNvPr id="7" name="Footer Placeholder 7">
            <a:extLst>
              <a:ext uri="{FF2B5EF4-FFF2-40B4-BE49-F238E27FC236}">
                <a16:creationId xmlns:a16="http://schemas.microsoft.com/office/drawing/2014/main" id="{3DE8E9FA-104C-618B-1C3F-DE4D009BDFAD}"/>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8248AAFE-C478-BFAA-9DF9-9732948CBEA8}"/>
              </a:ext>
            </a:extLst>
          </p:cNvPr>
          <p:cNvSpPr>
            <a:spLocks noGrp="1"/>
          </p:cNvSpPr>
          <p:nvPr>
            <p:ph type="title"/>
          </p:nvPr>
        </p:nvSpPr>
        <p:spPr>
          <a:xfrm>
            <a:off x="838200" y="365125"/>
            <a:ext cx="10515600" cy="1325563"/>
          </a:xfrm>
        </p:spPr>
        <p:txBody>
          <a:bodyPr/>
          <a:lstStyle/>
          <a:p>
            <a:r>
              <a:rPr lang="en-US" dirty="0"/>
              <a:t>Expectation (mean) of random variable 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242D0D-EF86-F11D-A772-08F10FF884A7}"/>
                  </a:ext>
                </a:extLst>
              </p:cNvPr>
              <p:cNvSpPr>
                <a:spLocks noGrp="1"/>
              </p:cNvSpPr>
              <p:nvPr>
                <p:ph idx="1"/>
              </p:nvPr>
            </p:nvSpPr>
            <p:spPr>
              <a:xfrm>
                <a:off x="2849336" y="1825625"/>
                <a:ext cx="4457700" cy="1170668"/>
              </a:xfrm>
              <a:custGeom>
                <a:avLst/>
                <a:gdLst>
                  <a:gd name="csX0" fmla="*/ 0 w 4457700"/>
                  <a:gd name="csY0" fmla="*/ 0 h 1170668"/>
                  <a:gd name="csX1" fmla="*/ 646367 w 4457700"/>
                  <a:gd name="csY1" fmla="*/ 0 h 1170668"/>
                  <a:gd name="csX2" fmla="*/ 1114425 w 4457700"/>
                  <a:gd name="csY2" fmla="*/ 0 h 1170668"/>
                  <a:gd name="csX3" fmla="*/ 1716215 w 4457700"/>
                  <a:gd name="csY3" fmla="*/ 0 h 1170668"/>
                  <a:gd name="csX4" fmla="*/ 2139696 w 4457700"/>
                  <a:gd name="csY4" fmla="*/ 0 h 1170668"/>
                  <a:gd name="csX5" fmla="*/ 2607755 w 4457700"/>
                  <a:gd name="csY5" fmla="*/ 0 h 1170668"/>
                  <a:gd name="csX6" fmla="*/ 3031236 w 4457700"/>
                  <a:gd name="csY6" fmla="*/ 0 h 1170668"/>
                  <a:gd name="csX7" fmla="*/ 3677603 w 4457700"/>
                  <a:gd name="csY7" fmla="*/ 0 h 1170668"/>
                  <a:gd name="csX8" fmla="*/ 4457700 w 4457700"/>
                  <a:gd name="csY8" fmla="*/ 0 h 1170668"/>
                  <a:gd name="csX9" fmla="*/ 4457700 w 4457700"/>
                  <a:gd name="csY9" fmla="*/ 550214 h 1170668"/>
                  <a:gd name="csX10" fmla="*/ 4457700 w 4457700"/>
                  <a:gd name="csY10" fmla="*/ 1170668 h 1170668"/>
                  <a:gd name="csX11" fmla="*/ 3855911 w 4457700"/>
                  <a:gd name="csY11" fmla="*/ 1170668 h 1170668"/>
                  <a:gd name="csX12" fmla="*/ 3254121 w 4457700"/>
                  <a:gd name="csY12" fmla="*/ 1170668 h 1170668"/>
                  <a:gd name="csX13" fmla="*/ 2786063 w 4457700"/>
                  <a:gd name="csY13" fmla="*/ 1170668 h 1170668"/>
                  <a:gd name="csX14" fmla="*/ 2273427 w 4457700"/>
                  <a:gd name="csY14" fmla="*/ 1170668 h 1170668"/>
                  <a:gd name="csX15" fmla="*/ 1805369 w 4457700"/>
                  <a:gd name="csY15" fmla="*/ 1170668 h 1170668"/>
                  <a:gd name="csX16" fmla="*/ 1337310 w 4457700"/>
                  <a:gd name="csY16" fmla="*/ 1170668 h 1170668"/>
                  <a:gd name="csX17" fmla="*/ 735521 w 4457700"/>
                  <a:gd name="csY17" fmla="*/ 1170668 h 1170668"/>
                  <a:gd name="csX18" fmla="*/ 0 w 4457700"/>
                  <a:gd name="csY18" fmla="*/ 1170668 h 1170668"/>
                  <a:gd name="csX19" fmla="*/ 0 w 4457700"/>
                  <a:gd name="csY19" fmla="*/ 561921 h 1170668"/>
                  <a:gd name="csX20" fmla="*/ 0 w 4457700"/>
                  <a:gd name="csY20" fmla="*/ 0 h 1170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457700" h="1170668" fill="none" extrusionOk="0">
                    <a:moveTo>
                      <a:pt x="0" y="0"/>
                    </a:moveTo>
                    <a:cubicBezTo>
                      <a:pt x="217143" y="-29609"/>
                      <a:pt x="510508" y="45640"/>
                      <a:pt x="646367" y="0"/>
                    </a:cubicBezTo>
                    <a:cubicBezTo>
                      <a:pt x="782226" y="-45640"/>
                      <a:pt x="979902" y="53388"/>
                      <a:pt x="1114425" y="0"/>
                    </a:cubicBezTo>
                    <a:cubicBezTo>
                      <a:pt x="1248948" y="-53388"/>
                      <a:pt x="1563277" y="46641"/>
                      <a:pt x="1716215" y="0"/>
                    </a:cubicBezTo>
                    <a:cubicBezTo>
                      <a:pt x="1869153" y="-46641"/>
                      <a:pt x="1991546" y="2358"/>
                      <a:pt x="2139696" y="0"/>
                    </a:cubicBezTo>
                    <a:cubicBezTo>
                      <a:pt x="2287846" y="-2358"/>
                      <a:pt x="2508898" y="20338"/>
                      <a:pt x="2607755" y="0"/>
                    </a:cubicBezTo>
                    <a:cubicBezTo>
                      <a:pt x="2706612" y="-20338"/>
                      <a:pt x="2912266" y="5514"/>
                      <a:pt x="3031236" y="0"/>
                    </a:cubicBezTo>
                    <a:cubicBezTo>
                      <a:pt x="3150206" y="-5514"/>
                      <a:pt x="3530615" y="42707"/>
                      <a:pt x="3677603" y="0"/>
                    </a:cubicBezTo>
                    <a:cubicBezTo>
                      <a:pt x="3824591" y="-42707"/>
                      <a:pt x="4145804" y="12917"/>
                      <a:pt x="4457700" y="0"/>
                    </a:cubicBezTo>
                    <a:cubicBezTo>
                      <a:pt x="4494012" y="127322"/>
                      <a:pt x="4454333" y="377406"/>
                      <a:pt x="4457700" y="550214"/>
                    </a:cubicBezTo>
                    <a:cubicBezTo>
                      <a:pt x="4461067" y="723022"/>
                      <a:pt x="4393342" y="1008001"/>
                      <a:pt x="4457700" y="1170668"/>
                    </a:cubicBezTo>
                    <a:cubicBezTo>
                      <a:pt x="4256002" y="1204942"/>
                      <a:pt x="4002904" y="1168738"/>
                      <a:pt x="3855911" y="1170668"/>
                    </a:cubicBezTo>
                    <a:cubicBezTo>
                      <a:pt x="3708918" y="1172598"/>
                      <a:pt x="3522719" y="1119689"/>
                      <a:pt x="3254121" y="1170668"/>
                    </a:cubicBezTo>
                    <a:cubicBezTo>
                      <a:pt x="2985523" y="1221647"/>
                      <a:pt x="2915127" y="1123982"/>
                      <a:pt x="2786063" y="1170668"/>
                    </a:cubicBezTo>
                    <a:cubicBezTo>
                      <a:pt x="2656999" y="1217354"/>
                      <a:pt x="2499132" y="1141382"/>
                      <a:pt x="2273427" y="1170668"/>
                    </a:cubicBezTo>
                    <a:cubicBezTo>
                      <a:pt x="2047722" y="1199954"/>
                      <a:pt x="1932972" y="1150097"/>
                      <a:pt x="1805369" y="1170668"/>
                    </a:cubicBezTo>
                    <a:cubicBezTo>
                      <a:pt x="1677766" y="1191239"/>
                      <a:pt x="1488270" y="1162930"/>
                      <a:pt x="1337310" y="1170668"/>
                    </a:cubicBezTo>
                    <a:cubicBezTo>
                      <a:pt x="1186350" y="1178406"/>
                      <a:pt x="970556" y="1154930"/>
                      <a:pt x="735521" y="1170668"/>
                    </a:cubicBezTo>
                    <a:cubicBezTo>
                      <a:pt x="500486" y="1186406"/>
                      <a:pt x="248091" y="1154407"/>
                      <a:pt x="0" y="1170668"/>
                    </a:cubicBezTo>
                    <a:cubicBezTo>
                      <a:pt x="-53807" y="995967"/>
                      <a:pt x="6533" y="723354"/>
                      <a:pt x="0" y="561921"/>
                    </a:cubicBezTo>
                    <a:cubicBezTo>
                      <a:pt x="-6533" y="400488"/>
                      <a:pt x="18934" y="276600"/>
                      <a:pt x="0" y="0"/>
                    </a:cubicBezTo>
                    <a:close/>
                  </a:path>
                  <a:path w="4457700" h="1170668" stroke="0" extrusionOk="0">
                    <a:moveTo>
                      <a:pt x="0" y="0"/>
                    </a:moveTo>
                    <a:cubicBezTo>
                      <a:pt x="229206" y="-2494"/>
                      <a:pt x="303963" y="3344"/>
                      <a:pt x="601790" y="0"/>
                    </a:cubicBezTo>
                    <a:cubicBezTo>
                      <a:pt x="899617" y="-3344"/>
                      <a:pt x="879754" y="330"/>
                      <a:pt x="1114425" y="0"/>
                    </a:cubicBezTo>
                    <a:cubicBezTo>
                      <a:pt x="1349096" y="-330"/>
                      <a:pt x="1506968" y="43071"/>
                      <a:pt x="1627061" y="0"/>
                    </a:cubicBezTo>
                    <a:cubicBezTo>
                      <a:pt x="1747154" y="-43071"/>
                      <a:pt x="1967240" y="34036"/>
                      <a:pt x="2184273" y="0"/>
                    </a:cubicBezTo>
                    <a:cubicBezTo>
                      <a:pt x="2401306" y="-34036"/>
                      <a:pt x="2463610" y="49465"/>
                      <a:pt x="2652332" y="0"/>
                    </a:cubicBezTo>
                    <a:cubicBezTo>
                      <a:pt x="2841054" y="-49465"/>
                      <a:pt x="3113535" y="31427"/>
                      <a:pt x="3298698" y="0"/>
                    </a:cubicBezTo>
                    <a:cubicBezTo>
                      <a:pt x="3483861" y="-31427"/>
                      <a:pt x="3652663" y="55753"/>
                      <a:pt x="3945065" y="0"/>
                    </a:cubicBezTo>
                    <a:cubicBezTo>
                      <a:pt x="4237467" y="-55753"/>
                      <a:pt x="4316082" y="28123"/>
                      <a:pt x="4457700" y="0"/>
                    </a:cubicBezTo>
                    <a:cubicBezTo>
                      <a:pt x="4507289" y="263845"/>
                      <a:pt x="4434233" y="400062"/>
                      <a:pt x="4457700" y="573627"/>
                    </a:cubicBezTo>
                    <a:cubicBezTo>
                      <a:pt x="4481167" y="747192"/>
                      <a:pt x="4421811" y="931796"/>
                      <a:pt x="4457700" y="1170668"/>
                    </a:cubicBezTo>
                    <a:cubicBezTo>
                      <a:pt x="4250603" y="1200460"/>
                      <a:pt x="4080671" y="1144706"/>
                      <a:pt x="3811334" y="1170668"/>
                    </a:cubicBezTo>
                    <a:cubicBezTo>
                      <a:pt x="3541997" y="1196630"/>
                      <a:pt x="3449186" y="1115299"/>
                      <a:pt x="3298698" y="1170668"/>
                    </a:cubicBezTo>
                    <a:cubicBezTo>
                      <a:pt x="3148210" y="1226037"/>
                      <a:pt x="2921736" y="1126838"/>
                      <a:pt x="2652332" y="1170668"/>
                    </a:cubicBezTo>
                    <a:cubicBezTo>
                      <a:pt x="2382928" y="1214498"/>
                      <a:pt x="2320312" y="1156790"/>
                      <a:pt x="2184273" y="1170668"/>
                    </a:cubicBezTo>
                    <a:cubicBezTo>
                      <a:pt x="2048234" y="1184546"/>
                      <a:pt x="1881046" y="1120872"/>
                      <a:pt x="1627061" y="1170668"/>
                    </a:cubicBezTo>
                    <a:cubicBezTo>
                      <a:pt x="1373076" y="1220464"/>
                      <a:pt x="1327946" y="1146452"/>
                      <a:pt x="1069848" y="1170668"/>
                    </a:cubicBezTo>
                    <a:cubicBezTo>
                      <a:pt x="811750" y="1194884"/>
                      <a:pt x="660254" y="1142968"/>
                      <a:pt x="557213" y="1170668"/>
                    </a:cubicBezTo>
                    <a:cubicBezTo>
                      <a:pt x="454173" y="1198368"/>
                      <a:pt x="183131" y="1129570"/>
                      <a:pt x="0" y="1170668"/>
                    </a:cubicBezTo>
                    <a:cubicBezTo>
                      <a:pt x="-16128" y="926089"/>
                      <a:pt x="43737" y="863346"/>
                      <a:pt x="0" y="561921"/>
                    </a:cubicBezTo>
                    <a:cubicBezTo>
                      <a:pt x="-43737" y="260496"/>
                      <a:pt x="805" y="236128"/>
                      <a:pt x="0" y="0"/>
                    </a:cubicBezTo>
                    <a:close/>
                  </a:path>
                </a:pathLst>
              </a:custGeom>
              <a:ln w="28575">
                <a:solidFill>
                  <a:srgbClr val="7030A0"/>
                </a:solidFill>
                <a:extLst>
                  <a:ext uri="{C807C97D-BFC1-408E-A445-0C87EB9F89A2}">
                    <ask:lineSketchStyleProps xmlns:ask="http://schemas.microsoft.com/office/drawing/2018/sketchyshapes" sd="2586132020">
                      <ask:type>
                        <ask:lineSketchScribble/>
                      </ask:type>
                    </ask:lineSketchStyleProps>
                  </a:ext>
                </a:extLst>
              </a:ln>
            </p:spPr>
            <p:txBody>
              <a:bodyPr>
                <a:normAutofit/>
              </a:bodyPr>
              <a:lstStyle/>
              <a:p>
                <a:pPr marL="0" indent="0">
                  <a:buNone/>
                </a:pPr>
                <a14:m>
                  <m:oMathPara xmlns:m="http://schemas.openxmlformats.org/officeDocument/2006/math">
                    <m:oMath>
                      <m:sSub>
                        <m:sSubPr>
                          <m:ctrlPr>
                            <a:rPr lang="el-GR" i="1">
                              <a:latin typeface="Cambria Math" panose="02040503050406030204" pitchFamily="18" charset="0"/>
                            </a:rPr>
                          </m:ctrlPr>
                        </m:sSubPr>
                        <m:e>
                          <m:r>
                            <m:rPr>
                              <m:sty m:val="p"/>
                            </m:rPr>
                            <a:rPr lang="el-GR" i="1">
                              <a:latin typeface="Cambria Math" panose="02040503050406030204" pitchFamily="18" charset="0"/>
                            </a:rPr>
                            <m:t>μ</m:t>
                          </m:r>
                        </m:e>
                        <m:sub>
                          <m:r>
                            <a:rPr lang="en-US" i="1">
                              <a:latin typeface="Cambria Math" panose="02040503050406030204" pitchFamily="18" charset="0"/>
                            </a:rPr>
                            <m:t>𝑋</m:t>
                          </m:r>
                        </m:sub>
                      </m:sSub>
                      <m:r>
                        <a:rPr lang="en-US" i="1">
                          <a:latin typeface="Cambria Math" panose="02040503050406030204" pitchFamily="18" charset="0"/>
                        </a:rPr>
                        <m:t>=</m:t>
                      </m:r>
                      <m:r>
                        <a:rPr lang="en-US" i="1">
                          <a:latin typeface="Cambria Math" panose="02040503050406030204" pitchFamily="18" charset="0"/>
                        </a:rPr>
                        <m:t>𝐸</m:t>
                      </m:r>
                      <m:d>
                        <m:dPr>
                          <m:ctrlPr>
                            <a:rPr lang="en-US" i="1">
                              <a:latin typeface="Cambria Math" panose="02040503050406030204" pitchFamily="18" charset="0"/>
                            </a:rPr>
                          </m:ctrlPr>
                        </m:dPr>
                        <m:e>
                          <m:r>
                            <a:rPr lang="en-US" i="1">
                              <a:latin typeface="Cambria Math" panose="02040503050406030204" pitchFamily="18" charset="0"/>
                            </a:rPr>
                            <m:t>𝑋</m:t>
                          </m:r>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𝑋</m:t>
                          </m:r>
                        </m:sub>
                        <m:sup/>
                        <m:e>
                          <m:r>
                            <a:rPr lang="en-US" i="1">
                              <a:latin typeface="Cambria Math" panose="02040503050406030204" pitchFamily="18" charset="0"/>
                            </a:rPr>
                            <m:t>𝑥</m:t>
                          </m:r>
                        </m:e>
                      </m:nary>
                      <m:r>
                        <a:rPr lang="en-US">
                          <a:latin typeface="Cambria Math" panose="02040503050406030204" pitchFamily="18" charset="0"/>
                        </a:rPr>
                        <m:t>∗</m:t>
                      </m:r>
                      <m:r>
                        <m:rPr>
                          <m:sty m:val="p"/>
                        </m:rPr>
                        <a:rPr lang="en-US">
                          <a:latin typeface="Cambria Math" panose="02040503050406030204" pitchFamily="18" charset="0"/>
                        </a:rPr>
                        <m:t>f</m:t>
                      </m:r>
                      <m:r>
                        <a:rPr lang="en-US">
                          <a:latin typeface="Cambria Math" panose="02040503050406030204" pitchFamily="18" charset="0"/>
                        </a:rPr>
                        <m:t>(</m:t>
                      </m:r>
                      <m:r>
                        <m:rPr>
                          <m:sty m:val="p"/>
                        </m:rPr>
                        <a:rPr lang="en-US">
                          <a:latin typeface="Cambria Math" panose="02040503050406030204" pitchFamily="18" charset="0"/>
                        </a:rPr>
                        <m:t>x</m:t>
                      </m:r>
                      <m:r>
                        <a:rPr lang="en-US">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23242D0D-EF86-F11D-A772-08F10FF884A7}"/>
                  </a:ext>
                </a:extLst>
              </p:cNvPr>
              <p:cNvSpPr>
                <a:spLocks noGrp="1" noRot="1" noChangeAspect="1" noMove="1" noResize="1" noEditPoints="1" noAdjustHandles="1" noChangeArrowheads="1" noChangeShapeType="1" noTextEdit="1"/>
              </p:cNvSpPr>
              <p:nvPr>
                <p:ph idx="1"/>
              </p:nvPr>
            </p:nvSpPr>
            <p:spPr>
              <a:xfrm>
                <a:off x="2849336" y="1825625"/>
                <a:ext cx="4457700" cy="1170668"/>
              </a:xfrm>
              <a:custGeom>
                <a:avLst/>
                <a:gdLst>
                  <a:gd name="csX0" fmla="*/ 0 w 4457700"/>
                  <a:gd name="csY0" fmla="*/ 0 h 1170668"/>
                  <a:gd name="csX1" fmla="*/ 646367 w 4457700"/>
                  <a:gd name="csY1" fmla="*/ 0 h 1170668"/>
                  <a:gd name="csX2" fmla="*/ 1114425 w 4457700"/>
                  <a:gd name="csY2" fmla="*/ 0 h 1170668"/>
                  <a:gd name="csX3" fmla="*/ 1716215 w 4457700"/>
                  <a:gd name="csY3" fmla="*/ 0 h 1170668"/>
                  <a:gd name="csX4" fmla="*/ 2139696 w 4457700"/>
                  <a:gd name="csY4" fmla="*/ 0 h 1170668"/>
                  <a:gd name="csX5" fmla="*/ 2607755 w 4457700"/>
                  <a:gd name="csY5" fmla="*/ 0 h 1170668"/>
                  <a:gd name="csX6" fmla="*/ 3031236 w 4457700"/>
                  <a:gd name="csY6" fmla="*/ 0 h 1170668"/>
                  <a:gd name="csX7" fmla="*/ 3677603 w 4457700"/>
                  <a:gd name="csY7" fmla="*/ 0 h 1170668"/>
                  <a:gd name="csX8" fmla="*/ 4457700 w 4457700"/>
                  <a:gd name="csY8" fmla="*/ 0 h 1170668"/>
                  <a:gd name="csX9" fmla="*/ 4457700 w 4457700"/>
                  <a:gd name="csY9" fmla="*/ 550214 h 1170668"/>
                  <a:gd name="csX10" fmla="*/ 4457700 w 4457700"/>
                  <a:gd name="csY10" fmla="*/ 1170668 h 1170668"/>
                  <a:gd name="csX11" fmla="*/ 3855911 w 4457700"/>
                  <a:gd name="csY11" fmla="*/ 1170668 h 1170668"/>
                  <a:gd name="csX12" fmla="*/ 3254121 w 4457700"/>
                  <a:gd name="csY12" fmla="*/ 1170668 h 1170668"/>
                  <a:gd name="csX13" fmla="*/ 2786063 w 4457700"/>
                  <a:gd name="csY13" fmla="*/ 1170668 h 1170668"/>
                  <a:gd name="csX14" fmla="*/ 2273427 w 4457700"/>
                  <a:gd name="csY14" fmla="*/ 1170668 h 1170668"/>
                  <a:gd name="csX15" fmla="*/ 1805369 w 4457700"/>
                  <a:gd name="csY15" fmla="*/ 1170668 h 1170668"/>
                  <a:gd name="csX16" fmla="*/ 1337310 w 4457700"/>
                  <a:gd name="csY16" fmla="*/ 1170668 h 1170668"/>
                  <a:gd name="csX17" fmla="*/ 735521 w 4457700"/>
                  <a:gd name="csY17" fmla="*/ 1170668 h 1170668"/>
                  <a:gd name="csX18" fmla="*/ 0 w 4457700"/>
                  <a:gd name="csY18" fmla="*/ 1170668 h 1170668"/>
                  <a:gd name="csX19" fmla="*/ 0 w 4457700"/>
                  <a:gd name="csY19" fmla="*/ 561921 h 1170668"/>
                  <a:gd name="csX20" fmla="*/ 0 w 4457700"/>
                  <a:gd name="csY20" fmla="*/ 0 h 1170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457700" h="1170668" fill="none" extrusionOk="0">
                    <a:moveTo>
                      <a:pt x="0" y="0"/>
                    </a:moveTo>
                    <a:cubicBezTo>
                      <a:pt x="217143" y="-29609"/>
                      <a:pt x="510508" y="45640"/>
                      <a:pt x="646367" y="0"/>
                    </a:cubicBezTo>
                    <a:cubicBezTo>
                      <a:pt x="782226" y="-45640"/>
                      <a:pt x="979902" y="53388"/>
                      <a:pt x="1114425" y="0"/>
                    </a:cubicBezTo>
                    <a:cubicBezTo>
                      <a:pt x="1248948" y="-53388"/>
                      <a:pt x="1563277" y="46641"/>
                      <a:pt x="1716215" y="0"/>
                    </a:cubicBezTo>
                    <a:cubicBezTo>
                      <a:pt x="1869153" y="-46641"/>
                      <a:pt x="1991546" y="2358"/>
                      <a:pt x="2139696" y="0"/>
                    </a:cubicBezTo>
                    <a:cubicBezTo>
                      <a:pt x="2287846" y="-2358"/>
                      <a:pt x="2508898" y="20338"/>
                      <a:pt x="2607755" y="0"/>
                    </a:cubicBezTo>
                    <a:cubicBezTo>
                      <a:pt x="2706612" y="-20338"/>
                      <a:pt x="2912266" y="5514"/>
                      <a:pt x="3031236" y="0"/>
                    </a:cubicBezTo>
                    <a:cubicBezTo>
                      <a:pt x="3150206" y="-5514"/>
                      <a:pt x="3530615" y="42707"/>
                      <a:pt x="3677603" y="0"/>
                    </a:cubicBezTo>
                    <a:cubicBezTo>
                      <a:pt x="3824591" y="-42707"/>
                      <a:pt x="4145804" y="12917"/>
                      <a:pt x="4457700" y="0"/>
                    </a:cubicBezTo>
                    <a:cubicBezTo>
                      <a:pt x="4494012" y="127322"/>
                      <a:pt x="4454333" y="377406"/>
                      <a:pt x="4457700" y="550214"/>
                    </a:cubicBezTo>
                    <a:cubicBezTo>
                      <a:pt x="4461067" y="723022"/>
                      <a:pt x="4393342" y="1008001"/>
                      <a:pt x="4457700" y="1170668"/>
                    </a:cubicBezTo>
                    <a:cubicBezTo>
                      <a:pt x="4256002" y="1204942"/>
                      <a:pt x="4002904" y="1168738"/>
                      <a:pt x="3855911" y="1170668"/>
                    </a:cubicBezTo>
                    <a:cubicBezTo>
                      <a:pt x="3708918" y="1172598"/>
                      <a:pt x="3522719" y="1119689"/>
                      <a:pt x="3254121" y="1170668"/>
                    </a:cubicBezTo>
                    <a:cubicBezTo>
                      <a:pt x="2985523" y="1221647"/>
                      <a:pt x="2915127" y="1123982"/>
                      <a:pt x="2786063" y="1170668"/>
                    </a:cubicBezTo>
                    <a:cubicBezTo>
                      <a:pt x="2656999" y="1217354"/>
                      <a:pt x="2499132" y="1141382"/>
                      <a:pt x="2273427" y="1170668"/>
                    </a:cubicBezTo>
                    <a:cubicBezTo>
                      <a:pt x="2047722" y="1199954"/>
                      <a:pt x="1932972" y="1150097"/>
                      <a:pt x="1805369" y="1170668"/>
                    </a:cubicBezTo>
                    <a:cubicBezTo>
                      <a:pt x="1677766" y="1191239"/>
                      <a:pt x="1488270" y="1162930"/>
                      <a:pt x="1337310" y="1170668"/>
                    </a:cubicBezTo>
                    <a:cubicBezTo>
                      <a:pt x="1186350" y="1178406"/>
                      <a:pt x="970556" y="1154930"/>
                      <a:pt x="735521" y="1170668"/>
                    </a:cubicBezTo>
                    <a:cubicBezTo>
                      <a:pt x="500486" y="1186406"/>
                      <a:pt x="248091" y="1154407"/>
                      <a:pt x="0" y="1170668"/>
                    </a:cubicBezTo>
                    <a:cubicBezTo>
                      <a:pt x="-53807" y="995967"/>
                      <a:pt x="6533" y="723354"/>
                      <a:pt x="0" y="561921"/>
                    </a:cubicBezTo>
                    <a:cubicBezTo>
                      <a:pt x="-6533" y="400488"/>
                      <a:pt x="18934" y="276600"/>
                      <a:pt x="0" y="0"/>
                    </a:cubicBezTo>
                    <a:close/>
                  </a:path>
                  <a:path w="4457700" h="1170668" stroke="0" extrusionOk="0">
                    <a:moveTo>
                      <a:pt x="0" y="0"/>
                    </a:moveTo>
                    <a:cubicBezTo>
                      <a:pt x="229206" y="-2494"/>
                      <a:pt x="303963" y="3344"/>
                      <a:pt x="601790" y="0"/>
                    </a:cubicBezTo>
                    <a:cubicBezTo>
                      <a:pt x="899617" y="-3344"/>
                      <a:pt x="879754" y="330"/>
                      <a:pt x="1114425" y="0"/>
                    </a:cubicBezTo>
                    <a:cubicBezTo>
                      <a:pt x="1349096" y="-330"/>
                      <a:pt x="1506968" y="43071"/>
                      <a:pt x="1627061" y="0"/>
                    </a:cubicBezTo>
                    <a:cubicBezTo>
                      <a:pt x="1747154" y="-43071"/>
                      <a:pt x="1967240" y="34036"/>
                      <a:pt x="2184273" y="0"/>
                    </a:cubicBezTo>
                    <a:cubicBezTo>
                      <a:pt x="2401306" y="-34036"/>
                      <a:pt x="2463610" y="49465"/>
                      <a:pt x="2652332" y="0"/>
                    </a:cubicBezTo>
                    <a:cubicBezTo>
                      <a:pt x="2841054" y="-49465"/>
                      <a:pt x="3113535" y="31427"/>
                      <a:pt x="3298698" y="0"/>
                    </a:cubicBezTo>
                    <a:cubicBezTo>
                      <a:pt x="3483861" y="-31427"/>
                      <a:pt x="3652663" y="55753"/>
                      <a:pt x="3945065" y="0"/>
                    </a:cubicBezTo>
                    <a:cubicBezTo>
                      <a:pt x="4237467" y="-55753"/>
                      <a:pt x="4316082" y="28123"/>
                      <a:pt x="4457700" y="0"/>
                    </a:cubicBezTo>
                    <a:cubicBezTo>
                      <a:pt x="4507289" y="263845"/>
                      <a:pt x="4434233" y="400062"/>
                      <a:pt x="4457700" y="573627"/>
                    </a:cubicBezTo>
                    <a:cubicBezTo>
                      <a:pt x="4481167" y="747192"/>
                      <a:pt x="4421811" y="931796"/>
                      <a:pt x="4457700" y="1170668"/>
                    </a:cubicBezTo>
                    <a:cubicBezTo>
                      <a:pt x="4250603" y="1200460"/>
                      <a:pt x="4080671" y="1144706"/>
                      <a:pt x="3811334" y="1170668"/>
                    </a:cubicBezTo>
                    <a:cubicBezTo>
                      <a:pt x="3541997" y="1196630"/>
                      <a:pt x="3449186" y="1115299"/>
                      <a:pt x="3298698" y="1170668"/>
                    </a:cubicBezTo>
                    <a:cubicBezTo>
                      <a:pt x="3148210" y="1226037"/>
                      <a:pt x="2921736" y="1126838"/>
                      <a:pt x="2652332" y="1170668"/>
                    </a:cubicBezTo>
                    <a:cubicBezTo>
                      <a:pt x="2382928" y="1214498"/>
                      <a:pt x="2320312" y="1156790"/>
                      <a:pt x="2184273" y="1170668"/>
                    </a:cubicBezTo>
                    <a:cubicBezTo>
                      <a:pt x="2048234" y="1184546"/>
                      <a:pt x="1881046" y="1120872"/>
                      <a:pt x="1627061" y="1170668"/>
                    </a:cubicBezTo>
                    <a:cubicBezTo>
                      <a:pt x="1373076" y="1220464"/>
                      <a:pt x="1327946" y="1146452"/>
                      <a:pt x="1069848" y="1170668"/>
                    </a:cubicBezTo>
                    <a:cubicBezTo>
                      <a:pt x="811750" y="1194884"/>
                      <a:pt x="660254" y="1142968"/>
                      <a:pt x="557213" y="1170668"/>
                    </a:cubicBezTo>
                    <a:cubicBezTo>
                      <a:pt x="454173" y="1198368"/>
                      <a:pt x="183131" y="1129570"/>
                      <a:pt x="0" y="1170668"/>
                    </a:cubicBezTo>
                    <a:cubicBezTo>
                      <a:pt x="-16128" y="926089"/>
                      <a:pt x="43737" y="863346"/>
                      <a:pt x="0" y="561921"/>
                    </a:cubicBezTo>
                    <a:cubicBezTo>
                      <a:pt x="-43737" y="260496"/>
                      <a:pt x="805" y="236128"/>
                      <a:pt x="0" y="0"/>
                    </a:cubicBezTo>
                    <a:close/>
                  </a:path>
                </a:pathLst>
              </a:custGeom>
              <a:blipFill>
                <a:blip r:embed="rId3"/>
                <a:stretch>
                  <a:fillRect/>
                </a:stretch>
              </a:blipFill>
              <a:ln w="28575">
                <a:solidFill>
                  <a:srgbClr val="7030A0"/>
                </a:solidFill>
                <a:extLst>
                  <a:ext uri="{C807C97D-BFC1-408E-A445-0C87EB9F89A2}">
                    <ask:lineSketchStyleProps xmlns:ask="http://schemas.microsoft.com/office/drawing/2018/sketchyshapes" sd="2586132020">
                      <ask:type>
                        <ask:lineSketchScribble/>
                      </ask:type>
                    </ask:lineSketchStyleProps>
                  </a:ext>
                </a:extLst>
              </a:ln>
            </p:spPr>
            <p:txBody>
              <a:bodyPr/>
              <a:lstStyle/>
              <a:p>
                <a:r>
                  <a:rPr lang="en-US">
                    <a:noFill/>
                  </a:rPr>
                  <a:t> </a:t>
                </a:r>
              </a:p>
            </p:txBody>
          </p:sp>
        </mc:Fallback>
      </mc:AlternateContent>
      <p:sp>
        <p:nvSpPr>
          <p:cNvPr id="6" name="Footer Placeholder 7">
            <a:extLst>
              <a:ext uri="{FF2B5EF4-FFF2-40B4-BE49-F238E27FC236}">
                <a16:creationId xmlns:a16="http://schemas.microsoft.com/office/drawing/2014/main" id="{BCBCAA9E-9C4A-7613-7068-DF33F819A193}"/>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C45D2315-CAA8-936B-552F-DED0781F50B3}"/>
                  </a:ext>
                </a:extLst>
              </p:cNvPr>
              <p:cNvSpPr txBox="1">
                <a:spLocks/>
              </p:cNvSpPr>
              <p:nvPr/>
            </p:nvSpPr>
            <p:spPr>
              <a:xfrm>
                <a:off x="838200" y="3722914"/>
                <a:ext cx="10515600" cy="23445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lang="el-GR" i="1">
                            <a:latin typeface="Cambria Math" panose="02040503050406030204" pitchFamily="18" charset="0"/>
                          </a:rPr>
                        </m:ctrlPr>
                      </m:sSubPr>
                      <m:e>
                        <m:r>
                          <m:rPr>
                            <m:sty m:val="p"/>
                          </m:rPr>
                          <a:rPr lang="el-GR" i="1">
                            <a:latin typeface="Cambria Math" panose="02040503050406030204" pitchFamily="18" charset="0"/>
                          </a:rPr>
                          <m:t>μ</m:t>
                        </m:r>
                      </m:e>
                      <m:sub>
                        <m:r>
                          <a:rPr lang="en-US" i="1">
                            <a:latin typeface="Cambria Math" panose="02040503050406030204" pitchFamily="18" charset="0"/>
                          </a:rPr>
                          <m:t>𝑋</m:t>
                        </m:r>
                      </m:sub>
                    </m:sSub>
                    <m:r>
                      <a:rPr lang="en-US" b="0" i="1" smtClean="0">
                        <a:latin typeface="Cambria Math" panose="02040503050406030204" pitchFamily="18" charset="0"/>
                      </a:rPr>
                      <m:t>…</m:t>
                    </m:r>
                    <m:r>
                      <a:rPr lang="en-US" b="0" i="1" smtClean="0">
                        <a:latin typeface="Cambria Math" panose="02040503050406030204" pitchFamily="18" charset="0"/>
                      </a:rPr>
                      <m:t>𝑒𝑥𝑝𝑒𝑐𝑡𝑒𝑑</m:t>
                    </m:r>
                    <m:r>
                      <a:rPr lang="en-US" b="0" i="1" smtClean="0">
                        <a:latin typeface="Cambria Math" panose="02040503050406030204" pitchFamily="18" charset="0"/>
                      </a:rPr>
                      <m:t> </m:t>
                    </m:r>
                    <m:r>
                      <a:rPr lang="en-US" b="0" i="1" smtClean="0">
                        <a:latin typeface="Cambria Math" panose="02040503050406030204" pitchFamily="18" charset="0"/>
                      </a:rPr>
                      <m:t>𝑣𝑎𝑙𝑢𝑒</m:t>
                    </m:r>
                  </m:oMath>
                </a14:m>
                <a:endParaRPr lang="en-US" b="0" dirty="0"/>
              </a:p>
              <a:p>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𝑟𝑎𝑛𝑑𝑜𝑚</m:t>
                    </m:r>
                    <m:r>
                      <a:rPr lang="en-US" b="0" i="1" smtClean="0">
                        <a:latin typeface="Cambria Math" panose="02040503050406030204" pitchFamily="18" charset="0"/>
                      </a:rPr>
                      <m:t> </m:t>
                    </m:r>
                    <m:r>
                      <a:rPr lang="en-US" b="0" i="1" smtClean="0">
                        <a:latin typeface="Cambria Math" panose="02040503050406030204" pitchFamily="18" charset="0"/>
                      </a:rPr>
                      <m:t>𝑣𝑎𝑟𝑖𝑏𝑙𝑒</m:t>
                    </m:r>
                  </m:oMath>
                </a14:m>
                <a:endParaRPr lang="en-US" b="0" dirty="0"/>
              </a:p>
              <a:p>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 …</m:t>
                    </m:r>
                    <m:r>
                      <a:rPr lang="en-US" b="0" i="1" smtClean="0">
                        <a:latin typeface="Cambria Math" panose="02040503050406030204" pitchFamily="18" charset="0"/>
                      </a:rPr>
                      <m:t>𝑠𝑒𝑡</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𝑎𝑙𝑙</m:t>
                    </m:r>
                    <m:r>
                      <a:rPr lang="en-US" b="0" i="1" smtClean="0">
                        <a:latin typeface="Cambria Math" panose="02040503050406030204" pitchFamily="18" charset="0"/>
                      </a:rPr>
                      <m:t> </m:t>
                    </m:r>
                    <m:r>
                      <a:rPr lang="en-US" b="0" i="1" smtClean="0">
                        <a:latin typeface="Cambria Math" panose="02040503050406030204" pitchFamily="18" charset="0"/>
                      </a:rPr>
                      <m:t>𝑒𝑣𝑒𝑛𝑡𝑠</m:t>
                    </m:r>
                  </m:oMath>
                </a14:m>
                <a:endParaRPr lang="en-US" b="0" dirty="0"/>
              </a:p>
              <a:p>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𝑝𝑟𝑜𝑏𝑎𝑏𝑖𝑙𝑖𝑡𝑦</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𝑟𝑎𝑑𝑜𝑚</m:t>
                    </m:r>
                    <m:r>
                      <a:rPr lang="en-US" b="0" i="1" smtClean="0">
                        <a:latin typeface="Cambria Math" panose="02040503050406030204" pitchFamily="18" charset="0"/>
                      </a:rPr>
                      <m:t> </m:t>
                    </m:r>
                    <m:r>
                      <a:rPr lang="en-US" b="0" i="1" smtClean="0">
                        <a:latin typeface="Cambria Math" panose="02040503050406030204" pitchFamily="18" charset="0"/>
                      </a:rPr>
                      <m:t>𝑣𝑎𝑟𝑖𝑎𝑏𝑙𝑒</m:t>
                    </m:r>
                    <m:r>
                      <a:rPr lang="en-US" b="0" i="1" smtClean="0">
                        <a:latin typeface="Cambria Math" panose="02040503050406030204" pitchFamily="18" charset="0"/>
                      </a:rPr>
                      <m:t> </m:t>
                    </m:r>
                    <m:r>
                      <a:rPr lang="en-US" b="0" i="1" smtClean="0">
                        <a:latin typeface="Cambria Math" panose="02040503050406030204" pitchFamily="18" charset="0"/>
                      </a:rPr>
                      <m:t>ℎ𝑎𝑣𝑖𝑛𝑔</m:t>
                    </m:r>
                    <m:r>
                      <a:rPr lang="en-US" b="0" i="1" smtClean="0">
                        <a:latin typeface="Cambria Math" panose="02040503050406030204" pitchFamily="18" charset="0"/>
                      </a:rPr>
                      <m:t> </m:t>
                    </m:r>
                    <m:r>
                      <a:rPr lang="en-US" b="0" i="1" smtClean="0">
                        <a:latin typeface="Cambria Math" panose="02040503050406030204" pitchFamily="18" charset="0"/>
                      </a:rPr>
                      <m:t>𝑣𝑎𝑙𝑢𝑒</m:t>
                    </m:r>
                    <m:r>
                      <a:rPr lang="en-US" b="0" i="1" smtClean="0">
                        <a:latin typeface="Cambria Math" panose="02040503050406030204" pitchFamily="18" charset="0"/>
                      </a:rPr>
                      <m:t> </m:t>
                    </m:r>
                    <m:r>
                      <a:rPr lang="en-US" b="0" i="1" smtClean="0">
                        <a:latin typeface="Cambria Math" panose="02040503050406030204" pitchFamily="18" charset="0"/>
                      </a:rPr>
                      <m:t>𝑥</m:t>
                    </m:r>
                  </m:oMath>
                </a14:m>
                <a:endParaRPr lang="en-US" dirty="0"/>
              </a:p>
            </p:txBody>
          </p:sp>
        </mc:Choice>
        <mc:Fallback xmlns="">
          <p:sp>
            <p:nvSpPr>
              <p:cNvPr id="8" name="Content Placeholder 2">
                <a:extLst>
                  <a:ext uri="{FF2B5EF4-FFF2-40B4-BE49-F238E27FC236}">
                    <a16:creationId xmlns:a16="http://schemas.microsoft.com/office/drawing/2014/main" id="{C45D2315-CAA8-936B-552F-DED0781F50B3}"/>
                  </a:ext>
                </a:extLst>
              </p:cNvPr>
              <p:cNvSpPr txBox="1">
                <a:spLocks noRot="1" noChangeAspect="1" noMove="1" noResize="1" noEditPoints="1" noAdjustHandles="1" noChangeArrowheads="1" noChangeShapeType="1" noTextEdit="1"/>
              </p:cNvSpPr>
              <p:nvPr/>
            </p:nvSpPr>
            <p:spPr>
              <a:xfrm>
                <a:off x="838200" y="3722914"/>
                <a:ext cx="10515600" cy="234451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35204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04294-3146-F9A8-431A-67026529947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5AB39C-6FE0-35D2-1864-DF846ACD22A4}"/>
              </a:ext>
            </a:extLst>
          </p:cNvPr>
          <p:cNvSpPr>
            <a:spLocks noGrp="1"/>
          </p:cNvSpPr>
          <p:nvPr>
            <p:ph type="sldNum" sz="quarter" idx="12"/>
          </p:nvPr>
        </p:nvSpPr>
        <p:spPr/>
        <p:txBody>
          <a:bodyPr/>
          <a:lstStyle/>
          <a:p>
            <a:fld id="{CB12788D-ABA5-4E7B-998B-677A061A6405}" type="slidenum">
              <a:rPr lang="en-US" smtClean="0"/>
              <a:t>19</a:t>
            </a:fld>
            <a:endParaRPr lang="en-US"/>
          </a:p>
        </p:txBody>
      </p:sp>
      <p:sp>
        <p:nvSpPr>
          <p:cNvPr id="7" name="Footer Placeholder 7">
            <a:extLst>
              <a:ext uri="{FF2B5EF4-FFF2-40B4-BE49-F238E27FC236}">
                <a16:creationId xmlns:a16="http://schemas.microsoft.com/office/drawing/2014/main" id="{2DFA2B7B-679A-BAC2-D32E-BCD0D3E1F925}"/>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50024435-469F-4DFD-CB66-9BE7B49FD56C}"/>
              </a:ext>
            </a:extLst>
          </p:cNvPr>
          <p:cNvSpPr>
            <a:spLocks noGrp="1"/>
          </p:cNvSpPr>
          <p:nvPr>
            <p:ph type="title"/>
          </p:nvPr>
        </p:nvSpPr>
        <p:spPr>
          <a:xfrm>
            <a:off x="838200" y="365125"/>
            <a:ext cx="10515600" cy="1325563"/>
          </a:xfrm>
        </p:spPr>
        <p:txBody>
          <a:bodyPr/>
          <a:lstStyle/>
          <a:p>
            <a:r>
              <a:rPr lang="en-US" dirty="0"/>
              <a:t>Variance of random variable 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E2835F-5FF9-D323-164B-5AEEBC4EEC22}"/>
                  </a:ext>
                </a:extLst>
              </p:cNvPr>
              <p:cNvSpPr>
                <a:spLocks noGrp="1"/>
              </p:cNvSpPr>
              <p:nvPr>
                <p:ph idx="1"/>
              </p:nvPr>
            </p:nvSpPr>
            <p:spPr>
              <a:xfrm>
                <a:off x="2849336" y="1825625"/>
                <a:ext cx="4457700" cy="1170668"/>
              </a:xfrm>
              <a:custGeom>
                <a:avLst/>
                <a:gdLst>
                  <a:gd name="csX0" fmla="*/ 0 w 4457700"/>
                  <a:gd name="csY0" fmla="*/ 0 h 1170668"/>
                  <a:gd name="csX1" fmla="*/ 646367 w 4457700"/>
                  <a:gd name="csY1" fmla="*/ 0 h 1170668"/>
                  <a:gd name="csX2" fmla="*/ 1114425 w 4457700"/>
                  <a:gd name="csY2" fmla="*/ 0 h 1170668"/>
                  <a:gd name="csX3" fmla="*/ 1716215 w 4457700"/>
                  <a:gd name="csY3" fmla="*/ 0 h 1170668"/>
                  <a:gd name="csX4" fmla="*/ 2139696 w 4457700"/>
                  <a:gd name="csY4" fmla="*/ 0 h 1170668"/>
                  <a:gd name="csX5" fmla="*/ 2607755 w 4457700"/>
                  <a:gd name="csY5" fmla="*/ 0 h 1170668"/>
                  <a:gd name="csX6" fmla="*/ 3031236 w 4457700"/>
                  <a:gd name="csY6" fmla="*/ 0 h 1170668"/>
                  <a:gd name="csX7" fmla="*/ 3677603 w 4457700"/>
                  <a:gd name="csY7" fmla="*/ 0 h 1170668"/>
                  <a:gd name="csX8" fmla="*/ 4457700 w 4457700"/>
                  <a:gd name="csY8" fmla="*/ 0 h 1170668"/>
                  <a:gd name="csX9" fmla="*/ 4457700 w 4457700"/>
                  <a:gd name="csY9" fmla="*/ 550214 h 1170668"/>
                  <a:gd name="csX10" fmla="*/ 4457700 w 4457700"/>
                  <a:gd name="csY10" fmla="*/ 1170668 h 1170668"/>
                  <a:gd name="csX11" fmla="*/ 3855911 w 4457700"/>
                  <a:gd name="csY11" fmla="*/ 1170668 h 1170668"/>
                  <a:gd name="csX12" fmla="*/ 3254121 w 4457700"/>
                  <a:gd name="csY12" fmla="*/ 1170668 h 1170668"/>
                  <a:gd name="csX13" fmla="*/ 2786063 w 4457700"/>
                  <a:gd name="csY13" fmla="*/ 1170668 h 1170668"/>
                  <a:gd name="csX14" fmla="*/ 2273427 w 4457700"/>
                  <a:gd name="csY14" fmla="*/ 1170668 h 1170668"/>
                  <a:gd name="csX15" fmla="*/ 1805369 w 4457700"/>
                  <a:gd name="csY15" fmla="*/ 1170668 h 1170668"/>
                  <a:gd name="csX16" fmla="*/ 1337310 w 4457700"/>
                  <a:gd name="csY16" fmla="*/ 1170668 h 1170668"/>
                  <a:gd name="csX17" fmla="*/ 735521 w 4457700"/>
                  <a:gd name="csY17" fmla="*/ 1170668 h 1170668"/>
                  <a:gd name="csX18" fmla="*/ 0 w 4457700"/>
                  <a:gd name="csY18" fmla="*/ 1170668 h 1170668"/>
                  <a:gd name="csX19" fmla="*/ 0 w 4457700"/>
                  <a:gd name="csY19" fmla="*/ 561921 h 1170668"/>
                  <a:gd name="csX20" fmla="*/ 0 w 4457700"/>
                  <a:gd name="csY20" fmla="*/ 0 h 1170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457700" h="1170668" fill="none" extrusionOk="0">
                    <a:moveTo>
                      <a:pt x="0" y="0"/>
                    </a:moveTo>
                    <a:cubicBezTo>
                      <a:pt x="217143" y="-29609"/>
                      <a:pt x="510508" y="45640"/>
                      <a:pt x="646367" y="0"/>
                    </a:cubicBezTo>
                    <a:cubicBezTo>
                      <a:pt x="782226" y="-45640"/>
                      <a:pt x="979902" y="53388"/>
                      <a:pt x="1114425" y="0"/>
                    </a:cubicBezTo>
                    <a:cubicBezTo>
                      <a:pt x="1248948" y="-53388"/>
                      <a:pt x="1563277" y="46641"/>
                      <a:pt x="1716215" y="0"/>
                    </a:cubicBezTo>
                    <a:cubicBezTo>
                      <a:pt x="1869153" y="-46641"/>
                      <a:pt x="1991546" y="2358"/>
                      <a:pt x="2139696" y="0"/>
                    </a:cubicBezTo>
                    <a:cubicBezTo>
                      <a:pt x="2287846" y="-2358"/>
                      <a:pt x="2508898" y="20338"/>
                      <a:pt x="2607755" y="0"/>
                    </a:cubicBezTo>
                    <a:cubicBezTo>
                      <a:pt x="2706612" y="-20338"/>
                      <a:pt x="2912266" y="5514"/>
                      <a:pt x="3031236" y="0"/>
                    </a:cubicBezTo>
                    <a:cubicBezTo>
                      <a:pt x="3150206" y="-5514"/>
                      <a:pt x="3530615" y="42707"/>
                      <a:pt x="3677603" y="0"/>
                    </a:cubicBezTo>
                    <a:cubicBezTo>
                      <a:pt x="3824591" y="-42707"/>
                      <a:pt x="4145804" y="12917"/>
                      <a:pt x="4457700" y="0"/>
                    </a:cubicBezTo>
                    <a:cubicBezTo>
                      <a:pt x="4494012" y="127322"/>
                      <a:pt x="4454333" y="377406"/>
                      <a:pt x="4457700" y="550214"/>
                    </a:cubicBezTo>
                    <a:cubicBezTo>
                      <a:pt x="4461067" y="723022"/>
                      <a:pt x="4393342" y="1008001"/>
                      <a:pt x="4457700" y="1170668"/>
                    </a:cubicBezTo>
                    <a:cubicBezTo>
                      <a:pt x="4256002" y="1204942"/>
                      <a:pt x="4002904" y="1168738"/>
                      <a:pt x="3855911" y="1170668"/>
                    </a:cubicBezTo>
                    <a:cubicBezTo>
                      <a:pt x="3708918" y="1172598"/>
                      <a:pt x="3522719" y="1119689"/>
                      <a:pt x="3254121" y="1170668"/>
                    </a:cubicBezTo>
                    <a:cubicBezTo>
                      <a:pt x="2985523" y="1221647"/>
                      <a:pt x="2915127" y="1123982"/>
                      <a:pt x="2786063" y="1170668"/>
                    </a:cubicBezTo>
                    <a:cubicBezTo>
                      <a:pt x="2656999" y="1217354"/>
                      <a:pt x="2499132" y="1141382"/>
                      <a:pt x="2273427" y="1170668"/>
                    </a:cubicBezTo>
                    <a:cubicBezTo>
                      <a:pt x="2047722" y="1199954"/>
                      <a:pt x="1932972" y="1150097"/>
                      <a:pt x="1805369" y="1170668"/>
                    </a:cubicBezTo>
                    <a:cubicBezTo>
                      <a:pt x="1677766" y="1191239"/>
                      <a:pt x="1488270" y="1162930"/>
                      <a:pt x="1337310" y="1170668"/>
                    </a:cubicBezTo>
                    <a:cubicBezTo>
                      <a:pt x="1186350" y="1178406"/>
                      <a:pt x="970556" y="1154930"/>
                      <a:pt x="735521" y="1170668"/>
                    </a:cubicBezTo>
                    <a:cubicBezTo>
                      <a:pt x="500486" y="1186406"/>
                      <a:pt x="248091" y="1154407"/>
                      <a:pt x="0" y="1170668"/>
                    </a:cubicBezTo>
                    <a:cubicBezTo>
                      <a:pt x="-53807" y="995967"/>
                      <a:pt x="6533" y="723354"/>
                      <a:pt x="0" y="561921"/>
                    </a:cubicBezTo>
                    <a:cubicBezTo>
                      <a:pt x="-6533" y="400488"/>
                      <a:pt x="18934" y="276600"/>
                      <a:pt x="0" y="0"/>
                    </a:cubicBezTo>
                    <a:close/>
                  </a:path>
                  <a:path w="4457700" h="1170668" stroke="0" extrusionOk="0">
                    <a:moveTo>
                      <a:pt x="0" y="0"/>
                    </a:moveTo>
                    <a:cubicBezTo>
                      <a:pt x="229206" y="-2494"/>
                      <a:pt x="303963" y="3344"/>
                      <a:pt x="601790" y="0"/>
                    </a:cubicBezTo>
                    <a:cubicBezTo>
                      <a:pt x="899617" y="-3344"/>
                      <a:pt x="879754" y="330"/>
                      <a:pt x="1114425" y="0"/>
                    </a:cubicBezTo>
                    <a:cubicBezTo>
                      <a:pt x="1349096" y="-330"/>
                      <a:pt x="1506968" y="43071"/>
                      <a:pt x="1627061" y="0"/>
                    </a:cubicBezTo>
                    <a:cubicBezTo>
                      <a:pt x="1747154" y="-43071"/>
                      <a:pt x="1967240" y="34036"/>
                      <a:pt x="2184273" y="0"/>
                    </a:cubicBezTo>
                    <a:cubicBezTo>
                      <a:pt x="2401306" y="-34036"/>
                      <a:pt x="2463610" y="49465"/>
                      <a:pt x="2652332" y="0"/>
                    </a:cubicBezTo>
                    <a:cubicBezTo>
                      <a:pt x="2841054" y="-49465"/>
                      <a:pt x="3113535" y="31427"/>
                      <a:pt x="3298698" y="0"/>
                    </a:cubicBezTo>
                    <a:cubicBezTo>
                      <a:pt x="3483861" y="-31427"/>
                      <a:pt x="3652663" y="55753"/>
                      <a:pt x="3945065" y="0"/>
                    </a:cubicBezTo>
                    <a:cubicBezTo>
                      <a:pt x="4237467" y="-55753"/>
                      <a:pt x="4316082" y="28123"/>
                      <a:pt x="4457700" y="0"/>
                    </a:cubicBezTo>
                    <a:cubicBezTo>
                      <a:pt x="4507289" y="263845"/>
                      <a:pt x="4434233" y="400062"/>
                      <a:pt x="4457700" y="573627"/>
                    </a:cubicBezTo>
                    <a:cubicBezTo>
                      <a:pt x="4481167" y="747192"/>
                      <a:pt x="4421811" y="931796"/>
                      <a:pt x="4457700" y="1170668"/>
                    </a:cubicBezTo>
                    <a:cubicBezTo>
                      <a:pt x="4250603" y="1200460"/>
                      <a:pt x="4080671" y="1144706"/>
                      <a:pt x="3811334" y="1170668"/>
                    </a:cubicBezTo>
                    <a:cubicBezTo>
                      <a:pt x="3541997" y="1196630"/>
                      <a:pt x="3449186" y="1115299"/>
                      <a:pt x="3298698" y="1170668"/>
                    </a:cubicBezTo>
                    <a:cubicBezTo>
                      <a:pt x="3148210" y="1226037"/>
                      <a:pt x="2921736" y="1126838"/>
                      <a:pt x="2652332" y="1170668"/>
                    </a:cubicBezTo>
                    <a:cubicBezTo>
                      <a:pt x="2382928" y="1214498"/>
                      <a:pt x="2320312" y="1156790"/>
                      <a:pt x="2184273" y="1170668"/>
                    </a:cubicBezTo>
                    <a:cubicBezTo>
                      <a:pt x="2048234" y="1184546"/>
                      <a:pt x="1881046" y="1120872"/>
                      <a:pt x="1627061" y="1170668"/>
                    </a:cubicBezTo>
                    <a:cubicBezTo>
                      <a:pt x="1373076" y="1220464"/>
                      <a:pt x="1327946" y="1146452"/>
                      <a:pt x="1069848" y="1170668"/>
                    </a:cubicBezTo>
                    <a:cubicBezTo>
                      <a:pt x="811750" y="1194884"/>
                      <a:pt x="660254" y="1142968"/>
                      <a:pt x="557213" y="1170668"/>
                    </a:cubicBezTo>
                    <a:cubicBezTo>
                      <a:pt x="454173" y="1198368"/>
                      <a:pt x="183131" y="1129570"/>
                      <a:pt x="0" y="1170668"/>
                    </a:cubicBezTo>
                    <a:cubicBezTo>
                      <a:pt x="-16128" y="926089"/>
                      <a:pt x="43737" y="863346"/>
                      <a:pt x="0" y="561921"/>
                    </a:cubicBezTo>
                    <a:cubicBezTo>
                      <a:pt x="-43737" y="260496"/>
                      <a:pt x="805" y="236128"/>
                      <a:pt x="0" y="0"/>
                    </a:cubicBezTo>
                    <a:close/>
                  </a:path>
                </a:pathLst>
              </a:custGeom>
              <a:ln w="28575">
                <a:solidFill>
                  <a:srgbClr val="7030A0"/>
                </a:solidFill>
                <a:extLst>
                  <a:ext uri="{C807C97D-BFC1-408E-A445-0C87EB9F89A2}">
                    <ask:lineSketchStyleProps xmlns:ask="http://schemas.microsoft.com/office/drawing/2018/sketchyshapes" sd="2586132020">
                      <ask:type>
                        <ask:lineSketchScribble/>
                      </ask:type>
                    </ask:lineSketchStyleProps>
                  </a:ext>
                </a:extLst>
              </a:ln>
            </p:spPr>
            <p:txBody>
              <a:bodyPr>
                <a:normAutofit fontScale="85000" lnSpcReduction="10000"/>
              </a:bodyPr>
              <a:lstStyle/>
              <a:p>
                <a:pPr marL="0" indent="0">
                  <a:buNone/>
                </a:pPr>
                <a14:m>
                  <m:oMathPara xmlns:m="http://schemas.openxmlformats.org/officeDocument/2006/math">
                    <m:oMath>
                      <m:sSubSup>
                        <m:sSubSupPr>
                          <m:ctrlPr>
                            <a:rPr lang="el-GR" i="1" smtClean="0">
                              <a:latin typeface="Cambria Math" panose="02040503050406030204" pitchFamily="18" charset="0"/>
                            </a:rPr>
                          </m:ctrlPr>
                        </m:sSubSupPr>
                        <m:e>
                          <m:r>
                            <m:rPr>
                              <m:sty m:val="p"/>
                            </m:rPr>
                            <a:rPr lang="el-GR" i="1" smtClean="0">
                              <a:latin typeface="Cambria Math" panose="02040503050406030204" pitchFamily="18" charset="0"/>
                            </a:rPr>
                            <m:t>σ</m:t>
                          </m:r>
                        </m:e>
                        <m:sub>
                          <m:r>
                            <a:rPr lang="en-US" b="0" i="1" smtClean="0">
                              <a:latin typeface="Cambria Math" panose="02040503050406030204" pitchFamily="18" charset="0"/>
                            </a:rPr>
                            <m:t>𝑋</m:t>
                          </m:r>
                        </m:sub>
                        <m:sup>
                          <m:r>
                            <a:rPr lang="en-US" b="0" i="1" smtClean="0">
                              <a:latin typeface="Cambria Math" panose="02040503050406030204" pitchFamily="18" charset="0"/>
                            </a:rPr>
                            <m:t>2</m:t>
                          </m:r>
                        </m:sup>
                      </m:sSubSup>
                      <m:r>
                        <a:rPr lang="en-US" i="1">
                          <a:latin typeface="Cambria Math" panose="02040503050406030204" pitchFamily="18" charset="0"/>
                        </a:rPr>
                        <m:t>=</m:t>
                      </m:r>
                      <m:r>
                        <a:rPr lang="en-US" b="0" i="1" smtClean="0">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𝑋</m:t>
                          </m:r>
                        </m:e>
                      </m:d>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𝑋</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sSub>
                                <m:sSubPr>
                                  <m:ctrlPr>
                                    <a:rPr lang="el-GR" b="0" i="1" smtClean="0">
                                      <a:latin typeface="Cambria Math" panose="02040503050406030204" pitchFamily="18" charset="0"/>
                                    </a:rPr>
                                  </m:ctrlPr>
                                </m:sSubPr>
                                <m:e>
                                  <m:r>
                                    <m:rPr>
                                      <m:sty m:val="p"/>
                                    </m:rPr>
                                    <a:rPr lang="el-GR" b="0" i="1" smtClean="0">
                                      <a:latin typeface="Cambria Math" panose="02040503050406030204" pitchFamily="18" charset="0"/>
                                    </a:rPr>
                                    <m:t>μ</m:t>
                                  </m:r>
                                </m:e>
                                <m:sub>
                                  <m:r>
                                    <a:rPr lang="en-US" b="0" i="1" smtClean="0">
                                      <a:latin typeface="Cambria Math" panose="02040503050406030204" pitchFamily="18" charset="0"/>
                                    </a:rPr>
                                    <m:t>𝑋</m:t>
                                  </m:r>
                                </m:sub>
                              </m:sSub>
                              <m:r>
                                <a:rPr lang="en-US" b="0" i="1" smtClean="0">
                                  <a:latin typeface="Cambria Math" panose="02040503050406030204" pitchFamily="18" charset="0"/>
                                </a:rPr>
                                <m:t>)</m:t>
                              </m:r>
                            </m:e>
                            <m:sup>
                              <m:r>
                                <a:rPr lang="en-US" b="0" i="1" smtClean="0">
                                  <a:latin typeface="Cambria Math" panose="02040503050406030204" pitchFamily="18" charset="0"/>
                                </a:rPr>
                                <m:t>2</m:t>
                              </m:r>
                            </m:sup>
                          </m:sSup>
                        </m:e>
                      </m:nary>
                      <m:r>
                        <a:rPr lang="en-US">
                          <a:latin typeface="Cambria Math" panose="02040503050406030204" pitchFamily="18" charset="0"/>
                        </a:rPr>
                        <m:t>∗</m:t>
                      </m:r>
                      <m:r>
                        <m:rPr>
                          <m:sty m:val="p"/>
                        </m:rPr>
                        <a:rPr lang="en-US">
                          <a:latin typeface="Cambria Math" panose="02040503050406030204" pitchFamily="18" charset="0"/>
                        </a:rPr>
                        <m:t>f</m:t>
                      </m:r>
                      <m:r>
                        <a:rPr lang="en-US">
                          <a:latin typeface="Cambria Math" panose="02040503050406030204" pitchFamily="18" charset="0"/>
                        </a:rPr>
                        <m:t>(</m:t>
                      </m:r>
                      <m:r>
                        <m:rPr>
                          <m:sty m:val="p"/>
                        </m:rPr>
                        <a:rPr lang="en-US">
                          <a:latin typeface="Cambria Math" panose="02040503050406030204" pitchFamily="18" charset="0"/>
                        </a:rPr>
                        <m:t>x</m:t>
                      </m:r>
                      <m:r>
                        <a:rPr lang="en-US">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A1E2835F-5FF9-D323-164B-5AEEBC4EEC22}"/>
                  </a:ext>
                </a:extLst>
              </p:cNvPr>
              <p:cNvSpPr>
                <a:spLocks noGrp="1" noRot="1" noChangeAspect="1" noMove="1" noResize="1" noEditPoints="1" noAdjustHandles="1" noChangeArrowheads="1" noChangeShapeType="1" noTextEdit="1"/>
              </p:cNvSpPr>
              <p:nvPr>
                <p:ph idx="1"/>
              </p:nvPr>
            </p:nvSpPr>
            <p:spPr>
              <a:xfrm>
                <a:off x="2849336" y="1825625"/>
                <a:ext cx="4457700" cy="1170668"/>
              </a:xfrm>
              <a:custGeom>
                <a:avLst/>
                <a:gdLst>
                  <a:gd name="csX0" fmla="*/ 0 w 4457700"/>
                  <a:gd name="csY0" fmla="*/ 0 h 1170668"/>
                  <a:gd name="csX1" fmla="*/ 646367 w 4457700"/>
                  <a:gd name="csY1" fmla="*/ 0 h 1170668"/>
                  <a:gd name="csX2" fmla="*/ 1114425 w 4457700"/>
                  <a:gd name="csY2" fmla="*/ 0 h 1170668"/>
                  <a:gd name="csX3" fmla="*/ 1716215 w 4457700"/>
                  <a:gd name="csY3" fmla="*/ 0 h 1170668"/>
                  <a:gd name="csX4" fmla="*/ 2139696 w 4457700"/>
                  <a:gd name="csY4" fmla="*/ 0 h 1170668"/>
                  <a:gd name="csX5" fmla="*/ 2607755 w 4457700"/>
                  <a:gd name="csY5" fmla="*/ 0 h 1170668"/>
                  <a:gd name="csX6" fmla="*/ 3031236 w 4457700"/>
                  <a:gd name="csY6" fmla="*/ 0 h 1170668"/>
                  <a:gd name="csX7" fmla="*/ 3677603 w 4457700"/>
                  <a:gd name="csY7" fmla="*/ 0 h 1170668"/>
                  <a:gd name="csX8" fmla="*/ 4457700 w 4457700"/>
                  <a:gd name="csY8" fmla="*/ 0 h 1170668"/>
                  <a:gd name="csX9" fmla="*/ 4457700 w 4457700"/>
                  <a:gd name="csY9" fmla="*/ 550214 h 1170668"/>
                  <a:gd name="csX10" fmla="*/ 4457700 w 4457700"/>
                  <a:gd name="csY10" fmla="*/ 1170668 h 1170668"/>
                  <a:gd name="csX11" fmla="*/ 3855911 w 4457700"/>
                  <a:gd name="csY11" fmla="*/ 1170668 h 1170668"/>
                  <a:gd name="csX12" fmla="*/ 3254121 w 4457700"/>
                  <a:gd name="csY12" fmla="*/ 1170668 h 1170668"/>
                  <a:gd name="csX13" fmla="*/ 2786063 w 4457700"/>
                  <a:gd name="csY13" fmla="*/ 1170668 h 1170668"/>
                  <a:gd name="csX14" fmla="*/ 2273427 w 4457700"/>
                  <a:gd name="csY14" fmla="*/ 1170668 h 1170668"/>
                  <a:gd name="csX15" fmla="*/ 1805369 w 4457700"/>
                  <a:gd name="csY15" fmla="*/ 1170668 h 1170668"/>
                  <a:gd name="csX16" fmla="*/ 1337310 w 4457700"/>
                  <a:gd name="csY16" fmla="*/ 1170668 h 1170668"/>
                  <a:gd name="csX17" fmla="*/ 735521 w 4457700"/>
                  <a:gd name="csY17" fmla="*/ 1170668 h 1170668"/>
                  <a:gd name="csX18" fmla="*/ 0 w 4457700"/>
                  <a:gd name="csY18" fmla="*/ 1170668 h 1170668"/>
                  <a:gd name="csX19" fmla="*/ 0 w 4457700"/>
                  <a:gd name="csY19" fmla="*/ 561921 h 1170668"/>
                  <a:gd name="csX20" fmla="*/ 0 w 4457700"/>
                  <a:gd name="csY20" fmla="*/ 0 h 1170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457700" h="1170668" fill="none" extrusionOk="0">
                    <a:moveTo>
                      <a:pt x="0" y="0"/>
                    </a:moveTo>
                    <a:cubicBezTo>
                      <a:pt x="217143" y="-29609"/>
                      <a:pt x="510508" y="45640"/>
                      <a:pt x="646367" y="0"/>
                    </a:cubicBezTo>
                    <a:cubicBezTo>
                      <a:pt x="782226" y="-45640"/>
                      <a:pt x="979902" y="53388"/>
                      <a:pt x="1114425" y="0"/>
                    </a:cubicBezTo>
                    <a:cubicBezTo>
                      <a:pt x="1248948" y="-53388"/>
                      <a:pt x="1563277" y="46641"/>
                      <a:pt x="1716215" y="0"/>
                    </a:cubicBezTo>
                    <a:cubicBezTo>
                      <a:pt x="1869153" y="-46641"/>
                      <a:pt x="1991546" y="2358"/>
                      <a:pt x="2139696" y="0"/>
                    </a:cubicBezTo>
                    <a:cubicBezTo>
                      <a:pt x="2287846" y="-2358"/>
                      <a:pt x="2508898" y="20338"/>
                      <a:pt x="2607755" y="0"/>
                    </a:cubicBezTo>
                    <a:cubicBezTo>
                      <a:pt x="2706612" y="-20338"/>
                      <a:pt x="2912266" y="5514"/>
                      <a:pt x="3031236" y="0"/>
                    </a:cubicBezTo>
                    <a:cubicBezTo>
                      <a:pt x="3150206" y="-5514"/>
                      <a:pt x="3530615" y="42707"/>
                      <a:pt x="3677603" y="0"/>
                    </a:cubicBezTo>
                    <a:cubicBezTo>
                      <a:pt x="3824591" y="-42707"/>
                      <a:pt x="4145804" y="12917"/>
                      <a:pt x="4457700" y="0"/>
                    </a:cubicBezTo>
                    <a:cubicBezTo>
                      <a:pt x="4494012" y="127322"/>
                      <a:pt x="4454333" y="377406"/>
                      <a:pt x="4457700" y="550214"/>
                    </a:cubicBezTo>
                    <a:cubicBezTo>
                      <a:pt x="4461067" y="723022"/>
                      <a:pt x="4393342" y="1008001"/>
                      <a:pt x="4457700" y="1170668"/>
                    </a:cubicBezTo>
                    <a:cubicBezTo>
                      <a:pt x="4256002" y="1204942"/>
                      <a:pt x="4002904" y="1168738"/>
                      <a:pt x="3855911" y="1170668"/>
                    </a:cubicBezTo>
                    <a:cubicBezTo>
                      <a:pt x="3708918" y="1172598"/>
                      <a:pt x="3522719" y="1119689"/>
                      <a:pt x="3254121" y="1170668"/>
                    </a:cubicBezTo>
                    <a:cubicBezTo>
                      <a:pt x="2985523" y="1221647"/>
                      <a:pt x="2915127" y="1123982"/>
                      <a:pt x="2786063" y="1170668"/>
                    </a:cubicBezTo>
                    <a:cubicBezTo>
                      <a:pt x="2656999" y="1217354"/>
                      <a:pt x="2499132" y="1141382"/>
                      <a:pt x="2273427" y="1170668"/>
                    </a:cubicBezTo>
                    <a:cubicBezTo>
                      <a:pt x="2047722" y="1199954"/>
                      <a:pt x="1932972" y="1150097"/>
                      <a:pt x="1805369" y="1170668"/>
                    </a:cubicBezTo>
                    <a:cubicBezTo>
                      <a:pt x="1677766" y="1191239"/>
                      <a:pt x="1488270" y="1162930"/>
                      <a:pt x="1337310" y="1170668"/>
                    </a:cubicBezTo>
                    <a:cubicBezTo>
                      <a:pt x="1186350" y="1178406"/>
                      <a:pt x="970556" y="1154930"/>
                      <a:pt x="735521" y="1170668"/>
                    </a:cubicBezTo>
                    <a:cubicBezTo>
                      <a:pt x="500486" y="1186406"/>
                      <a:pt x="248091" y="1154407"/>
                      <a:pt x="0" y="1170668"/>
                    </a:cubicBezTo>
                    <a:cubicBezTo>
                      <a:pt x="-53807" y="995967"/>
                      <a:pt x="6533" y="723354"/>
                      <a:pt x="0" y="561921"/>
                    </a:cubicBezTo>
                    <a:cubicBezTo>
                      <a:pt x="-6533" y="400488"/>
                      <a:pt x="18934" y="276600"/>
                      <a:pt x="0" y="0"/>
                    </a:cubicBezTo>
                    <a:close/>
                  </a:path>
                  <a:path w="4457700" h="1170668" stroke="0" extrusionOk="0">
                    <a:moveTo>
                      <a:pt x="0" y="0"/>
                    </a:moveTo>
                    <a:cubicBezTo>
                      <a:pt x="229206" y="-2494"/>
                      <a:pt x="303963" y="3344"/>
                      <a:pt x="601790" y="0"/>
                    </a:cubicBezTo>
                    <a:cubicBezTo>
                      <a:pt x="899617" y="-3344"/>
                      <a:pt x="879754" y="330"/>
                      <a:pt x="1114425" y="0"/>
                    </a:cubicBezTo>
                    <a:cubicBezTo>
                      <a:pt x="1349096" y="-330"/>
                      <a:pt x="1506968" y="43071"/>
                      <a:pt x="1627061" y="0"/>
                    </a:cubicBezTo>
                    <a:cubicBezTo>
                      <a:pt x="1747154" y="-43071"/>
                      <a:pt x="1967240" y="34036"/>
                      <a:pt x="2184273" y="0"/>
                    </a:cubicBezTo>
                    <a:cubicBezTo>
                      <a:pt x="2401306" y="-34036"/>
                      <a:pt x="2463610" y="49465"/>
                      <a:pt x="2652332" y="0"/>
                    </a:cubicBezTo>
                    <a:cubicBezTo>
                      <a:pt x="2841054" y="-49465"/>
                      <a:pt x="3113535" y="31427"/>
                      <a:pt x="3298698" y="0"/>
                    </a:cubicBezTo>
                    <a:cubicBezTo>
                      <a:pt x="3483861" y="-31427"/>
                      <a:pt x="3652663" y="55753"/>
                      <a:pt x="3945065" y="0"/>
                    </a:cubicBezTo>
                    <a:cubicBezTo>
                      <a:pt x="4237467" y="-55753"/>
                      <a:pt x="4316082" y="28123"/>
                      <a:pt x="4457700" y="0"/>
                    </a:cubicBezTo>
                    <a:cubicBezTo>
                      <a:pt x="4507289" y="263845"/>
                      <a:pt x="4434233" y="400062"/>
                      <a:pt x="4457700" y="573627"/>
                    </a:cubicBezTo>
                    <a:cubicBezTo>
                      <a:pt x="4481167" y="747192"/>
                      <a:pt x="4421811" y="931796"/>
                      <a:pt x="4457700" y="1170668"/>
                    </a:cubicBezTo>
                    <a:cubicBezTo>
                      <a:pt x="4250603" y="1200460"/>
                      <a:pt x="4080671" y="1144706"/>
                      <a:pt x="3811334" y="1170668"/>
                    </a:cubicBezTo>
                    <a:cubicBezTo>
                      <a:pt x="3541997" y="1196630"/>
                      <a:pt x="3449186" y="1115299"/>
                      <a:pt x="3298698" y="1170668"/>
                    </a:cubicBezTo>
                    <a:cubicBezTo>
                      <a:pt x="3148210" y="1226037"/>
                      <a:pt x="2921736" y="1126838"/>
                      <a:pt x="2652332" y="1170668"/>
                    </a:cubicBezTo>
                    <a:cubicBezTo>
                      <a:pt x="2382928" y="1214498"/>
                      <a:pt x="2320312" y="1156790"/>
                      <a:pt x="2184273" y="1170668"/>
                    </a:cubicBezTo>
                    <a:cubicBezTo>
                      <a:pt x="2048234" y="1184546"/>
                      <a:pt x="1881046" y="1120872"/>
                      <a:pt x="1627061" y="1170668"/>
                    </a:cubicBezTo>
                    <a:cubicBezTo>
                      <a:pt x="1373076" y="1220464"/>
                      <a:pt x="1327946" y="1146452"/>
                      <a:pt x="1069848" y="1170668"/>
                    </a:cubicBezTo>
                    <a:cubicBezTo>
                      <a:pt x="811750" y="1194884"/>
                      <a:pt x="660254" y="1142968"/>
                      <a:pt x="557213" y="1170668"/>
                    </a:cubicBezTo>
                    <a:cubicBezTo>
                      <a:pt x="454173" y="1198368"/>
                      <a:pt x="183131" y="1129570"/>
                      <a:pt x="0" y="1170668"/>
                    </a:cubicBezTo>
                    <a:cubicBezTo>
                      <a:pt x="-16128" y="926089"/>
                      <a:pt x="43737" y="863346"/>
                      <a:pt x="0" y="561921"/>
                    </a:cubicBezTo>
                    <a:cubicBezTo>
                      <a:pt x="-43737" y="260496"/>
                      <a:pt x="805" y="236128"/>
                      <a:pt x="0" y="0"/>
                    </a:cubicBezTo>
                    <a:close/>
                  </a:path>
                </a:pathLst>
              </a:custGeom>
              <a:blipFill>
                <a:blip r:embed="rId3"/>
                <a:stretch>
                  <a:fillRect/>
                </a:stretch>
              </a:blipFill>
              <a:ln w="28575">
                <a:solidFill>
                  <a:srgbClr val="7030A0"/>
                </a:solidFill>
                <a:extLst>
                  <a:ext uri="{C807C97D-BFC1-408E-A445-0C87EB9F89A2}">
                    <ask:lineSketchStyleProps xmlns:ask="http://schemas.microsoft.com/office/drawing/2018/sketchyshapes" sd="2586132020">
                      <ask:type>
                        <ask:lineSketchScribble/>
                      </ask:type>
                    </ask:lineSketchStyleProps>
                  </a:ext>
                </a:extLst>
              </a:ln>
            </p:spPr>
            <p:txBody>
              <a:bodyPr/>
              <a:lstStyle/>
              <a:p>
                <a:r>
                  <a:rPr lang="en-US">
                    <a:noFill/>
                  </a:rPr>
                  <a:t> </a:t>
                </a:r>
              </a:p>
            </p:txBody>
          </p:sp>
        </mc:Fallback>
      </mc:AlternateContent>
      <p:sp>
        <p:nvSpPr>
          <p:cNvPr id="6" name="Footer Placeholder 7">
            <a:extLst>
              <a:ext uri="{FF2B5EF4-FFF2-40B4-BE49-F238E27FC236}">
                <a16:creationId xmlns:a16="http://schemas.microsoft.com/office/drawing/2014/main" id="{4EDA11D6-4DFA-5835-829E-702074A03450}"/>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B626068-684E-184A-0725-7FF9D4AF76A1}"/>
                  </a:ext>
                </a:extLst>
              </p:cNvPr>
              <p:cNvSpPr txBox="1">
                <a:spLocks/>
              </p:cNvSpPr>
              <p:nvPr/>
            </p:nvSpPr>
            <p:spPr>
              <a:xfrm>
                <a:off x="838200" y="3722914"/>
                <a:ext cx="10515600" cy="27699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lang="el-GR" i="1" smtClean="0">
                            <a:latin typeface="Cambria Math" panose="02040503050406030204" pitchFamily="18" charset="0"/>
                          </a:rPr>
                        </m:ctrlPr>
                      </m:sSubPr>
                      <m:e>
                        <m:r>
                          <m:rPr>
                            <m:sty m:val="p"/>
                          </m:rPr>
                          <a:rPr lang="el-GR" i="1" smtClean="0">
                            <a:latin typeface="Cambria Math" panose="02040503050406030204" pitchFamily="18" charset="0"/>
                          </a:rPr>
                          <m:t>σ</m:t>
                        </m:r>
                      </m:e>
                      <m:sub>
                        <m:r>
                          <a:rPr lang="en-US" b="0" i="1" smtClean="0">
                            <a:latin typeface="Cambria Math" panose="02040503050406030204" pitchFamily="18" charset="0"/>
                          </a:rPr>
                          <m:t>𝑋</m:t>
                        </m:r>
                      </m:sub>
                    </m:sSub>
                    <m:r>
                      <a:rPr lang="en-US" b="0" i="1" smtClean="0">
                        <a:latin typeface="Cambria Math" panose="02040503050406030204" pitchFamily="18" charset="0"/>
                      </a:rPr>
                      <m:t> …</m:t>
                    </m:r>
                    <m:r>
                      <a:rPr lang="en-US" b="0" i="1" smtClean="0">
                        <a:latin typeface="Cambria Math" panose="02040503050406030204" pitchFamily="18" charset="0"/>
                      </a:rPr>
                      <m:t>𝑠𝑡𝑎𝑛𝑑𝑎𝑟𝑑</m:t>
                    </m:r>
                    <m:r>
                      <a:rPr lang="en-US" b="0" i="1" smtClean="0">
                        <a:latin typeface="Cambria Math" panose="02040503050406030204" pitchFamily="18" charset="0"/>
                      </a:rPr>
                      <m:t> </m:t>
                    </m:r>
                    <m:r>
                      <a:rPr lang="en-US" b="0" i="1" smtClean="0">
                        <a:latin typeface="Cambria Math" panose="02040503050406030204" pitchFamily="18" charset="0"/>
                      </a:rPr>
                      <m:t>𝑑𝑒𝑣𝑖𝑎𝑡𝑖𝑜𝑛</m:t>
                    </m:r>
                  </m:oMath>
                </a14:m>
                <a:endParaRPr lang="en-US" i="1" dirty="0">
                  <a:latin typeface="Cambria Math" panose="02040503050406030204" pitchFamily="18" charset="0"/>
                </a:endParaRPr>
              </a:p>
              <a:p>
                <a14:m>
                  <m:oMath xmlns:m="http://schemas.openxmlformats.org/officeDocument/2006/math">
                    <m:sSub>
                      <m:sSubPr>
                        <m:ctrlPr>
                          <a:rPr lang="el-GR" i="1">
                            <a:latin typeface="Cambria Math" panose="02040503050406030204" pitchFamily="18" charset="0"/>
                          </a:rPr>
                        </m:ctrlPr>
                      </m:sSubPr>
                      <m:e>
                        <m:r>
                          <m:rPr>
                            <m:sty m:val="p"/>
                          </m:rPr>
                          <a:rPr lang="el-GR" i="1">
                            <a:latin typeface="Cambria Math" panose="02040503050406030204" pitchFamily="18" charset="0"/>
                          </a:rPr>
                          <m:t>μ</m:t>
                        </m:r>
                      </m:e>
                      <m:sub>
                        <m:r>
                          <a:rPr lang="en-US" i="1">
                            <a:latin typeface="Cambria Math" panose="02040503050406030204" pitchFamily="18" charset="0"/>
                          </a:rPr>
                          <m:t>𝑋</m:t>
                        </m:r>
                      </m:sub>
                    </m:sSub>
                    <m:r>
                      <a:rPr lang="en-US" b="0" i="1" smtClean="0">
                        <a:latin typeface="Cambria Math" panose="02040503050406030204" pitchFamily="18" charset="0"/>
                      </a:rPr>
                      <m:t>…</m:t>
                    </m:r>
                    <m:r>
                      <a:rPr lang="en-US" b="0" i="1" smtClean="0">
                        <a:latin typeface="Cambria Math" panose="02040503050406030204" pitchFamily="18" charset="0"/>
                      </a:rPr>
                      <m:t>𝑒𝑥𝑝𝑒𝑐𝑡𝑒𝑑</m:t>
                    </m:r>
                    <m:r>
                      <a:rPr lang="en-US" b="0" i="1" smtClean="0">
                        <a:latin typeface="Cambria Math" panose="02040503050406030204" pitchFamily="18" charset="0"/>
                      </a:rPr>
                      <m:t> </m:t>
                    </m:r>
                    <m:r>
                      <a:rPr lang="en-US" b="0" i="1" smtClean="0">
                        <a:latin typeface="Cambria Math" panose="02040503050406030204" pitchFamily="18" charset="0"/>
                      </a:rPr>
                      <m:t>𝑣𝑎𝑙𝑢𝑒</m:t>
                    </m:r>
                  </m:oMath>
                </a14:m>
                <a:endParaRPr lang="en-US" b="0" dirty="0"/>
              </a:p>
              <a:p>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𝑟𝑎𝑛𝑑𝑜𝑚</m:t>
                    </m:r>
                    <m:r>
                      <a:rPr lang="en-US" b="0" i="1" smtClean="0">
                        <a:latin typeface="Cambria Math" panose="02040503050406030204" pitchFamily="18" charset="0"/>
                      </a:rPr>
                      <m:t> </m:t>
                    </m:r>
                    <m:r>
                      <a:rPr lang="en-US" b="0" i="1" smtClean="0">
                        <a:latin typeface="Cambria Math" panose="02040503050406030204" pitchFamily="18" charset="0"/>
                      </a:rPr>
                      <m:t>𝑣𝑎𝑟𝑖𝑏𝑙𝑒</m:t>
                    </m:r>
                  </m:oMath>
                </a14:m>
                <a:endParaRPr lang="en-US" b="0" dirty="0"/>
              </a:p>
              <a:p>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 …</m:t>
                    </m:r>
                    <m:r>
                      <a:rPr lang="en-US" b="0" i="1" smtClean="0">
                        <a:latin typeface="Cambria Math" panose="02040503050406030204" pitchFamily="18" charset="0"/>
                      </a:rPr>
                      <m:t>𝑠𝑒𝑡</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𝑎𝑙𝑙</m:t>
                    </m:r>
                    <m:r>
                      <a:rPr lang="en-US" b="0" i="1" smtClean="0">
                        <a:latin typeface="Cambria Math" panose="02040503050406030204" pitchFamily="18" charset="0"/>
                      </a:rPr>
                      <m:t> </m:t>
                    </m:r>
                    <m:r>
                      <a:rPr lang="en-US" b="0" i="1" smtClean="0">
                        <a:latin typeface="Cambria Math" panose="02040503050406030204" pitchFamily="18" charset="0"/>
                      </a:rPr>
                      <m:t>𝑒𝑣𝑒𝑛𝑡𝑠</m:t>
                    </m:r>
                  </m:oMath>
                </a14:m>
                <a:endParaRPr lang="en-US" b="0" dirty="0"/>
              </a:p>
              <a:p>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𝑝𝑟𝑜𝑏𝑎𝑏𝑖𝑙𝑖𝑡𝑦</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𝑟𝑎𝑑𝑜𝑚</m:t>
                    </m:r>
                    <m:r>
                      <a:rPr lang="en-US" b="0" i="1" smtClean="0">
                        <a:latin typeface="Cambria Math" panose="02040503050406030204" pitchFamily="18" charset="0"/>
                      </a:rPr>
                      <m:t> </m:t>
                    </m:r>
                    <m:r>
                      <a:rPr lang="en-US" b="0" i="1" smtClean="0">
                        <a:latin typeface="Cambria Math" panose="02040503050406030204" pitchFamily="18" charset="0"/>
                      </a:rPr>
                      <m:t>𝑣𝑎𝑟𝑖𝑎𝑏𝑙𝑒</m:t>
                    </m:r>
                    <m:r>
                      <a:rPr lang="en-US" b="0" i="1" smtClean="0">
                        <a:latin typeface="Cambria Math" panose="02040503050406030204" pitchFamily="18" charset="0"/>
                      </a:rPr>
                      <m:t> </m:t>
                    </m:r>
                    <m:r>
                      <a:rPr lang="en-US" b="0" i="1" smtClean="0">
                        <a:latin typeface="Cambria Math" panose="02040503050406030204" pitchFamily="18" charset="0"/>
                      </a:rPr>
                      <m:t>ℎ𝑎𝑣𝑖𝑛𝑔</m:t>
                    </m:r>
                    <m:r>
                      <a:rPr lang="en-US" b="0" i="1" smtClean="0">
                        <a:latin typeface="Cambria Math" panose="02040503050406030204" pitchFamily="18" charset="0"/>
                      </a:rPr>
                      <m:t> </m:t>
                    </m:r>
                    <m:r>
                      <a:rPr lang="en-US" b="0" i="1" smtClean="0">
                        <a:latin typeface="Cambria Math" panose="02040503050406030204" pitchFamily="18" charset="0"/>
                      </a:rPr>
                      <m:t>𝑣𝑎𝑙𝑢𝑒</m:t>
                    </m:r>
                    <m:r>
                      <a:rPr lang="en-US" b="0" i="1" smtClean="0">
                        <a:latin typeface="Cambria Math" panose="02040503050406030204" pitchFamily="18" charset="0"/>
                      </a:rPr>
                      <m:t> </m:t>
                    </m:r>
                    <m:r>
                      <a:rPr lang="en-US" b="0" i="1" smtClean="0">
                        <a:latin typeface="Cambria Math" panose="02040503050406030204" pitchFamily="18" charset="0"/>
                      </a:rPr>
                      <m:t>𝑥</m:t>
                    </m:r>
                  </m:oMath>
                </a14:m>
                <a:endParaRPr lang="en-US" dirty="0"/>
              </a:p>
            </p:txBody>
          </p:sp>
        </mc:Choice>
        <mc:Fallback xmlns="">
          <p:sp>
            <p:nvSpPr>
              <p:cNvPr id="8" name="Content Placeholder 2">
                <a:extLst>
                  <a:ext uri="{FF2B5EF4-FFF2-40B4-BE49-F238E27FC236}">
                    <a16:creationId xmlns:a16="http://schemas.microsoft.com/office/drawing/2014/main" id="{BB626068-684E-184A-0725-7FF9D4AF76A1}"/>
                  </a:ext>
                </a:extLst>
              </p:cNvPr>
              <p:cNvSpPr txBox="1">
                <a:spLocks noRot="1" noChangeAspect="1" noMove="1" noResize="1" noEditPoints="1" noAdjustHandles="1" noChangeArrowheads="1" noChangeShapeType="1" noTextEdit="1"/>
              </p:cNvSpPr>
              <p:nvPr/>
            </p:nvSpPr>
            <p:spPr>
              <a:xfrm>
                <a:off x="838200" y="3722914"/>
                <a:ext cx="10515600" cy="276996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3706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360B-DE2F-23E3-B916-5EA986A31BA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6D0BEA3-894A-0D32-712D-844C8B29348E}"/>
              </a:ext>
            </a:extLst>
          </p:cNvPr>
          <p:cNvSpPr>
            <a:spLocks noGrp="1"/>
          </p:cNvSpPr>
          <p:nvPr>
            <p:ph type="sldNum" sz="quarter" idx="12"/>
          </p:nvPr>
        </p:nvSpPr>
        <p:spPr/>
        <p:txBody>
          <a:bodyPr/>
          <a:lstStyle/>
          <a:p>
            <a:fld id="{CB12788D-ABA5-4E7B-998B-677A061A6405}" type="slidenum">
              <a:rPr lang="en-US" smtClean="0"/>
              <a:t>20</a:t>
            </a:fld>
            <a:endParaRPr lang="en-US"/>
          </a:p>
        </p:txBody>
      </p:sp>
      <p:sp>
        <p:nvSpPr>
          <p:cNvPr id="7" name="Footer Placeholder 7">
            <a:extLst>
              <a:ext uri="{FF2B5EF4-FFF2-40B4-BE49-F238E27FC236}">
                <a16:creationId xmlns:a16="http://schemas.microsoft.com/office/drawing/2014/main" id="{8BFE6B1A-8E67-D2B5-B067-DFAD3C82F586}"/>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p:sp>
        <p:nvSpPr>
          <p:cNvPr id="4" name="Title 1">
            <a:extLst>
              <a:ext uri="{FF2B5EF4-FFF2-40B4-BE49-F238E27FC236}">
                <a16:creationId xmlns:a16="http://schemas.microsoft.com/office/drawing/2014/main" id="{B465114A-DE62-11FF-E241-81C5E66E565B}"/>
              </a:ext>
            </a:extLst>
          </p:cNvPr>
          <p:cNvSpPr>
            <a:spLocks noGrp="1"/>
          </p:cNvSpPr>
          <p:nvPr>
            <p:ph type="title"/>
          </p:nvPr>
        </p:nvSpPr>
        <p:spPr>
          <a:xfrm>
            <a:off x="838200" y="365125"/>
            <a:ext cx="10515600" cy="1325563"/>
          </a:xfrm>
        </p:spPr>
        <p:txBody>
          <a:bodyPr/>
          <a:lstStyle/>
          <a:p>
            <a:r>
              <a:rPr lang="en-US" dirty="0"/>
              <a:t>Discrete vs. continuous variables</a:t>
            </a:r>
          </a:p>
        </p:txBody>
      </p:sp>
      <p:sp>
        <p:nvSpPr>
          <p:cNvPr id="3" name="Content Placeholder 2">
            <a:extLst>
              <a:ext uri="{FF2B5EF4-FFF2-40B4-BE49-F238E27FC236}">
                <a16:creationId xmlns:a16="http://schemas.microsoft.com/office/drawing/2014/main" id="{FB022E22-5982-88CB-7032-5C3866FC686A}"/>
              </a:ext>
            </a:extLst>
          </p:cNvPr>
          <p:cNvSpPr>
            <a:spLocks noGrp="1"/>
          </p:cNvSpPr>
          <p:nvPr>
            <p:ph idx="1"/>
          </p:nvPr>
        </p:nvSpPr>
        <p:spPr>
          <a:xfrm>
            <a:off x="838200" y="1825625"/>
            <a:ext cx="10515600" cy="2893332"/>
          </a:xfrm>
        </p:spPr>
        <p:txBody>
          <a:bodyPr>
            <a:normAutofit/>
          </a:bodyPr>
          <a:lstStyle/>
          <a:p>
            <a:r>
              <a:rPr lang="en-US" sz="2600" dirty="0"/>
              <a:t>So far, we talked about discrete random variables</a:t>
            </a:r>
            <a:br>
              <a:rPr lang="en-US" sz="2600" dirty="0"/>
            </a:br>
            <a:r>
              <a:rPr lang="en-US" sz="2600" dirty="0"/>
              <a:t>Spike count could have values 0,1,2,…,35</a:t>
            </a:r>
          </a:p>
          <a:p>
            <a:r>
              <a:rPr lang="en-US" sz="2600" dirty="0"/>
              <a:t>For other measures like spike time interval, it would be more appropriate to consider all values within a defined interval</a:t>
            </a:r>
          </a:p>
          <a:p>
            <a:r>
              <a:rPr lang="en-US" sz="2600" dirty="0"/>
              <a:t>X … continuous random variable on interval (A,B), with A =−∞ and B =∞</a:t>
            </a: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535D01EF-B37B-7EBA-2E95-B6BA27D24645}"/>
                  </a:ext>
                </a:extLst>
              </p:cNvPr>
              <p:cNvSpPr txBox="1">
                <a:spLocks/>
              </p:cNvSpPr>
              <p:nvPr/>
            </p:nvSpPr>
            <p:spPr>
              <a:xfrm>
                <a:off x="3322027" y="4133623"/>
                <a:ext cx="4457700" cy="1170668"/>
              </a:xfrm>
              <a:custGeom>
                <a:avLst/>
                <a:gdLst>
                  <a:gd name="csX0" fmla="*/ 0 w 4457700"/>
                  <a:gd name="csY0" fmla="*/ 0 h 1170668"/>
                  <a:gd name="csX1" fmla="*/ 646367 w 4457700"/>
                  <a:gd name="csY1" fmla="*/ 0 h 1170668"/>
                  <a:gd name="csX2" fmla="*/ 1114425 w 4457700"/>
                  <a:gd name="csY2" fmla="*/ 0 h 1170668"/>
                  <a:gd name="csX3" fmla="*/ 1716215 w 4457700"/>
                  <a:gd name="csY3" fmla="*/ 0 h 1170668"/>
                  <a:gd name="csX4" fmla="*/ 2139696 w 4457700"/>
                  <a:gd name="csY4" fmla="*/ 0 h 1170668"/>
                  <a:gd name="csX5" fmla="*/ 2607755 w 4457700"/>
                  <a:gd name="csY5" fmla="*/ 0 h 1170668"/>
                  <a:gd name="csX6" fmla="*/ 3031236 w 4457700"/>
                  <a:gd name="csY6" fmla="*/ 0 h 1170668"/>
                  <a:gd name="csX7" fmla="*/ 3677603 w 4457700"/>
                  <a:gd name="csY7" fmla="*/ 0 h 1170668"/>
                  <a:gd name="csX8" fmla="*/ 4457700 w 4457700"/>
                  <a:gd name="csY8" fmla="*/ 0 h 1170668"/>
                  <a:gd name="csX9" fmla="*/ 4457700 w 4457700"/>
                  <a:gd name="csY9" fmla="*/ 550214 h 1170668"/>
                  <a:gd name="csX10" fmla="*/ 4457700 w 4457700"/>
                  <a:gd name="csY10" fmla="*/ 1170668 h 1170668"/>
                  <a:gd name="csX11" fmla="*/ 3855911 w 4457700"/>
                  <a:gd name="csY11" fmla="*/ 1170668 h 1170668"/>
                  <a:gd name="csX12" fmla="*/ 3254121 w 4457700"/>
                  <a:gd name="csY12" fmla="*/ 1170668 h 1170668"/>
                  <a:gd name="csX13" fmla="*/ 2786063 w 4457700"/>
                  <a:gd name="csY13" fmla="*/ 1170668 h 1170668"/>
                  <a:gd name="csX14" fmla="*/ 2273427 w 4457700"/>
                  <a:gd name="csY14" fmla="*/ 1170668 h 1170668"/>
                  <a:gd name="csX15" fmla="*/ 1805369 w 4457700"/>
                  <a:gd name="csY15" fmla="*/ 1170668 h 1170668"/>
                  <a:gd name="csX16" fmla="*/ 1337310 w 4457700"/>
                  <a:gd name="csY16" fmla="*/ 1170668 h 1170668"/>
                  <a:gd name="csX17" fmla="*/ 735521 w 4457700"/>
                  <a:gd name="csY17" fmla="*/ 1170668 h 1170668"/>
                  <a:gd name="csX18" fmla="*/ 0 w 4457700"/>
                  <a:gd name="csY18" fmla="*/ 1170668 h 1170668"/>
                  <a:gd name="csX19" fmla="*/ 0 w 4457700"/>
                  <a:gd name="csY19" fmla="*/ 561921 h 1170668"/>
                  <a:gd name="csX20" fmla="*/ 0 w 4457700"/>
                  <a:gd name="csY20" fmla="*/ 0 h 1170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457700" h="1170668" fill="none" extrusionOk="0">
                    <a:moveTo>
                      <a:pt x="0" y="0"/>
                    </a:moveTo>
                    <a:cubicBezTo>
                      <a:pt x="217143" y="-29609"/>
                      <a:pt x="510508" y="45640"/>
                      <a:pt x="646367" y="0"/>
                    </a:cubicBezTo>
                    <a:cubicBezTo>
                      <a:pt x="782226" y="-45640"/>
                      <a:pt x="979902" y="53388"/>
                      <a:pt x="1114425" y="0"/>
                    </a:cubicBezTo>
                    <a:cubicBezTo>
                      <a:pt x="1248948" y="-53388"/>
                      <a:pt x="1563277" y="46641"/>
                      <a:pt x="1716215" y="0"/>
                    </a:cubicBezTo>
                    <a:cubicBezTo>
                      <a:pt x="1869153" y="-46641"/>
                      <a:pt x="1991546" y="2358"/>
                      <a:pt x="2139696" y="0"/>
                    </a:cubicBezTo>
                    <a:cubicBezTo>
                      <a:pt x="2287846" y="-2358"/>
                      <a:pt x="2508898" y="20338"/>
                      <a:pt x="2607755" y="0"/>
                    </a:cubicBezTo>
                    <a:cubicBezTo>
                      <a:pt x="2706612" y="-20338"/>
                      <a:pt x="2912266" y="5514"/>
                      <a:pt x="3031236" y="0"/>
                    </a:cubicBezTo>
                    <a:cubicBezTo>
                      <a:pt x="3150206" y="-5514"/>
                      <a:pt x="3530615" y="42707"/>
                      <a:pt x="3677603" y="0"/>
                    </a:cubicBezTo>
                    <a:cubicBezTo>
                      <a:pt x="3824591" y="-42707"/>
                      <a:pt x="4145804" y="12917"/>
                      <a:pt x="4457700" y="0"/>
                    </a:cubicBezTo>
                    <a:cubicBezTo>
                      <a:pt x="4494012" y="127322"/>
                      <a:pt x="4454333" y="377406"/>
                      <a:pt x="4457700" y="550214"/>
                    </a:cubicBezTo>
                    <a:cubicBezTo>
                      <a:pt x="4461067" y="723022"/>
                      <a:pt x="4393342" y="1008001"/>
                      <a:pt x="4457700" y="1170668"/>
                    </a:cubicBezTo>
                    <a:cubicBezTo>
                      <a:pt x="4256002" y="1204942"/>
                      <a:pt x="4002904" y="1168738"/>
                      <a:pt x="3855911" y="1170668"/>
                    </a:cubicBezTo>
                    <a:cubicBezTo>
                      <a:pt x="3708918" y="1172598"/>
                      <a:pt x="3522719" y="1119689"/>
                      <a:pt x="3254121" y="1170668"/>
                    </a:cubicBezTo>
                    <a:cubicBezTo>
                      <a:pt x="2985523" y="1221647"/>
                      <a:pt x="2915127" y="1123982"/>
                      <a:pt x="2786063" y="1170668"/>
                    </a:cubicBezTo>
                    <a:cubicBezTo>
                      <a:pt x="2656999" y="1217354"/>
                      <a:pt x="2499132" y="1141382"/>
                      <a:pt x="2273427" y="1170668"/>
                    </a:cubicBezTo>
                    <a:cubicBezTo>
                      <a:pt x="2047722" y="1199954"/>
                      <a:pt x="1932972" y="1150097"/>
                      <a:pt x="1805369" y="1170668"/>
                    </a:cubicBezTo>
                    <a:cubicBezTo>
                      <a:pt x="1677766" y="1191239"/>
                      <a:pt x="1488270" y="1162930"/>
                      <a:pt x="1337310" y="1170668"/>
                    </a:cubicBezTo>
                    <a:cubicBezTo>
                      <a:pt x="1186350" y="1178406"/>
                      <a:pt x="970556" y="1154930"/>
                      <a:pt x="735521" y="1170668"/>
                    </a:cubicBezTo>
                    <a:cubicBezTo>
                      <a:pt x="500486" y="1186406"/>
                      <a:pt x="248091" y="1154407"/>
                      <a:pt x="0" y="1170668"/>
                    </a:cubicBezTo>
                    <a:cubicBezTo>
                      <a:pt x="-53807" y="995967"/>
                      <a:pt x="6533" y="723354"/>
                      <a:pt x="0" y="561921"/>
                    </a:cubicBezTo>
                    <a:cubicBezTo>
                      <a:pt x="-6533" y="400488"/>
                      <a:pt x="18934" y="276600"/>
                      <a:pt x="0" y="0"/>
                    </a:cubicBezTo>
                    <a:close/>
                  </a:path>
                  <a:path w="4457700" h="1170668" stroke="0" extrusionOk="0">
                    <a:moveTo>
                      <a:pt x="0" y="0"/>
                    </a:moveTo>
                    <a:cubicBezTo>
                      <a:pt x="229206" y="-2494"/>
                      <a:pt x="303963" y="3344"/>
                      <a:pt x="601790" y="0"/>
                    </a:cubicBezTo>
                    <a:cubicBezTo>
                      <a:pt x="899617" y="-3344"/>
                      <a:pt x="879754" y="330"/>
                      <a:pt x="1114425" y="0"/>
                    </a:cubicBezTo>
                    <a:cubicBezTo>
                      <a:pt x="1349096" y="-330"/>
                      <a:pt x="1506968" y="43071"/>
                      <a:pt x="1627061" y="0"/>
                    </a:cubicBezTo>
                    <a:cubicBezTo>
                      <a:pt x="1747154" y="-43071"/>
                      <a:pt x="1967240" y="34036"/>
                      <a:pt x="2184273" y="0"/>
                    </a:cubicBezTo>
                    <a:cubicBezTo>
                      <a:pt x="2401306" y="-34036"/>
                      <a:pt x="2463610" y="49465"/>
                      <a:pt x="2652332" y="0"/>
                    </a:cubicBezTo>
                    <a:cubicBezTo>
                      <a:pt x="2841054" y="-49465"/>
                      <a:pt x="3113535" y="31427"/>
                      <a:pt x="3298698" y="0"/>
                    </a:cubicBezTo>
                    <a:cubicBezTo>
                      <a:pt x="3483861" y="-31427"/>
                      <a:pt x="3652663" y="55753"/>
                      <a:pt x="3945065" y="0"/>
                    </a:cubicBezTo>
                    <a:cubicBezTo>
                      <a:pt x="4237467" y="-55753"/>
                      <a:pt x="4316082" y="28123"/>
                      <a:pt x="4457700" y="0"/>
                    </a:cubicBezTo>
                    <a:cubicBezTo>
                      <a:pt x="4507289" y="263845"/>
                      <a:pt x="4434233" y="400062"/>
                      <a:pt x="4457700" y="573627"/>
                    </a:cubicBezTo>
                    <a:cubicBezTo>
                      <a:pt x="4481167" y="747192"/>
                      <a:pt x="4421811" y="931796"/>
                      <a:pt x="4457700" y="1170668"/>
                    </a:cubicBezTo>
                    <a:cubicBezTo>
                      <a:pt x="4250603" y="1200460"/>
                      <a:pt x="4080671" y="1144706"/>
                      <a:pt x="3811334" y="1170668"/>
                    </a:cubicBezTo>
                    <a:cubicBezTo>
                      <a:pt x="3541997" y="1196630"/>
                      <a:pt x="3449186" y="1115299"/>
                      <a:pt x="3298698" y="1170668"/>
                    </a:cubicBezTo>
                    <a:cubicBezTo>
                      <a:pt x="3148210" y="1226037"/>
                      <a:pt x="2921736" y="1126838"/>
                      <a:pt x="2652332" y="1170668"/>
                    </a:cubicBezTo>
                    <a:cubicBezTo>
                      <a:pt x="2382928" y="1214498"/>
                      <a:pt x="2320312" y="1156790"/>
                      <a:pt x="2184273" y="1170668"/>
                    </a:cubicBezTo>
                    <a:cubicBezTo>
                      <a:pt x="2048234" y="1184546"/>
                      <a:pt x="1881046" y="1120872"/>
                      <a:pt x="1627061" y="1170668"/>
                    </a:cubicBezTo>
                    <a:cubicBezTo>
                      <a:pt x="1373076" y="1220464"/>
                      <a:pt x="1327946" y="1146452"/>
                      <a:pt x="1069848" y="1170668"/>
                    </a:cubicBezTo>
                    <a:cubicBezTo>
                      <a:pt x="811750" y="1194884"/>
                      <a:pt x="660254" y="1142968"/>
                      <a:pt x="557213" y="1170668"/>
                    </a:cubicBezTo>
                    <a:cubicBezTo>
                      <a:pt x="454173" y="1198368"/>
                      <a:pt x="183131" y="1129570"/>
                      <a:pt x="0" y="1170668"/>
                    </a:cubicBezTo>
                    <a:cubicBezTo>
                      <a:pt x="-16128" y="926089"/>
                      <a:pt x="43737" y="863346"/>
                      <a:pt x="0" y="561921"/>
                    </a:cubicBezTo>
                    <a:cubicBezTo>
                      <a:pt x="-43737" y="260496"/>
                      <a:pt x="805" y="236128"/>
                      <a:pt x="0" y="0"/>
                    </a:cubicBezTo>
                    <a:close/>
                  </a:path>
                </a:pathLst>
              </a:custGeom>
              <a:ln w="28575">
                <a:solidFill>
                  <a:srgbClr val="7030A0"/>
                </a:solidFill>
                <a:extLst>
                  <a:ext uri="{C807C97D-BFC1-408E-A445-0C87EB9F89A2}">
                    <ask:lineSketchStyleProps xmlns:ask="http://schemas.microsoft.com/office/drawing/2018/sketchyshapes" sd="2586132020">
                      <a:prstGeom prst="rect">
                        <a:avLst/>
                      </a:prstGeom>
                      <ask:type>
                        <ask:lineSketchScribble/>
                      </ask:type>
                    </ask:lineSketchStyleProps>
                  </a:ext>
                </a:extLst>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𝑎</m:t>
                          </m:r>
                        </m:sub>
                        <m:sup>
                          <m:r>
                            <a:rPr lang="en-US" b="0" i="1" smtClean="0">
                              <a:latin typeface="Cambria Math" panose="02040503050406030204" pitchFamily="18" charset="0"/>
                            </a:rPr>
                            <m:t>𝑏</m:t>
                          </m:r>
                        </m:sup>
                        <m:e>
                          <m:r>
                            <m:rPr>
                              <m:sty m:val="p"/>
                            </m:rPr>
                            <a:rPr lang="en-US" smtClean="0">
                              <a:latin typeface="Cambria Math" panose="02040503050406030204" pitchFamily="18" charset="0"/>
                            </a:rPr>
                            <m:t>f</m:t>
                          </m:r>
                          <m:d>
                            <m:dPr>
                              <m:ctrlPr>
                                <a:rPr lang="en-US" smtClean="0">
                                  <a:latin typeface="Cambria Math" panose="02040503050406030204" pitchFamily="18" charset="0"/>
                                </a:rPr>
                              </m:ctrlPr>
                            </m:dPr>
                            <m:e>
                              <m:r>
                                <m:rPr>
                                  <m:sty m:val="p"/>
                                </m:rPr>
                                <a:rPr lang="en-US" smtClean="0">
                                  <a:latin typeface="Cambria Math" panose="02040503050406030204" pitchFamily="18" charset="0"/>
                                </a:rPr>
                                <m:t>x</m:t>
                              </m:r>
                            </m:e>
                          </m:d>
                          <m:r>
                            <a:rPr lang="en-US" b="0" i="1" smtClean="0">
                              <a:latin typeface="Cambria Math" panose="02040503050406030204" pitchFamily="18" charset="0"/>
                            </a:rPr>
                            <m:t>𝑑𝑥</m:t>
                          </m:r>
                        </m:e>
                      </m:nary>
                    </m:oMath>
                  </m:oMathPara>
                </a14:m>
                <a:endParaRPr lang="en-US" dirty="0"/>
              </a:p>
            </p:txBody>
          </p:sp>
        </mc:Choice>
        <mc:Fallback xmlns="">
          <p:sp>
            <p:nvSpPr>
              <p:cNvPr id="2" name="Content Placeholder 2">
                <a:extLst>
                  <a:ext uri="{FF2B5EF4-FFF2-40B4-BE49-F238E27FC236}">
                    <a16:creationId xmlns:a16="http://schemas.microsoft.com/office/drawing/2014/main" id="{535D01EF-B37B-7EBA-2E95-B6BA27D24645}"/>
                  </a:ext>
                </a:extLst>
              </p:cNvPr>
              <p:cNvSpPr txBox="1">
                <a:spLocks noRot="1" noChangeAspect="1" noMove="1" noResize="1" noEditPoints="1" noAdjustHandles="1" noChangeArrowheads="1" noChangeShapeType="1" noTextEdit="1"/>
              </p:cNvSpPr>
              <p:nvPr/>
            </p:nvSpPr>
            <p:spPr>
              <a:xfrm>
                <a:off x="3322027" y="4133623"/>
                <a:ext cx="4457700" cy="1170668"/>
              </a:xfrm>
              <a:prstGeom prst="rect">
                <a:avLst/>
              </a:prstGeom>
              <a:blipFill>
                <a:blip r:embed="rId3"/>
                <a:stretch>
                  <a:fillRect/>
                </a:stretch>
              </a:blipFill>
              <a:ln w="28575">
                <a:solidFill>
                  <a:srgbClr val="7030A0"/>
                </a:solidFill>
                <a:extLst>
                  <a:ext uri="{C807C97D-BFC1-408E-A445-0C87EB9F89A2}">
                    <ask:lineSketchStyleProps xmlns:ask="http://schemas.microsoft.com/office/drawing/2018/sketchyshapes" sd="2586132020">
                      <a:custGeom>
                        <a:avLst/>
                        <a:gdLst>
                          <a:gd name="csX0" fmla="*/ 0 w 4457700"/>
                          <a:gd name="csY0" fmla="*/ 0 h 1170668"/>
                          <a:gd name="csX1" fmla="*/ 646367 w 4457700"/>
                          <a:gd name="csY1" fmla="*/ 0 h 1170668"/>
                          <a:gd name="csX2" fmla="*/ 1114425 w 4457700"/>
                          <a:gd name="csY2" fmla="*/ 0 h 1170668"/>
                          <a:gd name="csX3" fmla="*/ 1716215 w 4457700"/>
                          <a:gd name="csY3" fmla="*/ 0 h 1170668"/>
                          <a:gd name="csX4" fmla="*/ 2139696 w 4457700"/>
                          <a:gd name="csY4" fmla="*/ 0 h 1170668"/>
                          <a:gd name="csX5" fmla="*/ 2607755 w 4457700"/>
                          <a:gd name="csY5" fmla="*/ 0 h 1170668"/>
                          <a:gd name="csX6" fmla="*/ 3031236 w 4457700"/>
                          <a:gd name="csY6" fmla="*/ 0 h 1170668"/>
                          <a:gd name="csX7" fmla="*/ 3677603 w 4457700"/>
                          <a:gd name="csY7" fmla="*/ 0 h 1170668"/>
                          <a:gd name="csX8" fmla="*/ 4457700 w 4457700"/>
                          <a:gd name="csY8" fmla="*/ 0 h 1170668"/>
                          <a:gd name="csX9" fmla="*/ 4457700 w 4457700"/>
                          <a:gd name="csY9" fmla="*/ 550214 h 1170668"/>
                          <a:gd name="csX10" fmla="*/ 4457700 w 4457700"/>
                          <a:gd name="csY10" fmla="*/ 1170668 h 1170668"/>
                          <a:gd name="csX11" fmla="*/ 3855911 w 4457700"/>
                          <a:gd name="csY11" fmla="*/ 1170668 h 1170668"/>
                          <a:gd name="csX12" fmla="*/ 3254121 w 4457700"/>
                          <a:gd name="csY12" fmla="*/ 1170668 h 1170668"/>
                          <a:gd name="csX13" fmla="*/ 2786063 w 4457700"/>
                          <a:gd name="csY13" fmla="*/ 1170668 h 1170668"/>
                          <a:gd name="csX14" fmla="*/ 2273427 w 4457700"/>
                          <a:gd name="csY14" fmla="*/ 1170668 h 1170668"/>
                          <a:gd name="csX15" fmla="*/ 1805369 w 4457700"/>
                          <a:gd name="csY15" fmla="*/ 1170668 h 1170668"/>
                          <a:gd name="csX16" fmla="*/ 1337310 w 4457700"/>
                          <a:gd name="csY16" fmla="*/ 1170668 h 1170668"/>
                          <a:gd name="csX17" fmla="*/ 735521 w 4457700"/>
                          <a:gd name="csY17" fmla="*/ 1170668 h 1170668"/>
                          <a:gd name="csX18" fmla="*/ 0 w 4457700"/>
                          <a:gd name="csY18" fmla="*/ 1170668 h 1170668"/>
                          <a:gd name="csX19" fmla="*/ 0 w 4457700"/>
                          <a:gd name="csY19" fmla="*/ 561921 h 1170668"/>
                          <a:gd name="csX20" fmla="*/ 0 w 4457700"/>
                          <a:gd name="csY20" fmla="*/ 0 h 1170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457700" h="1170668" fill="none" extrusionOk="0">
                            <a:moveTo>
                              <a:pt x="0" y="0"/>
                            </a:moveTo>
                            <a:cubicBezTo>
                              <a:pt x="217143" y="-29609"/>
                              <a:pt x="510508" y="45640"/>
                              <a:pt x="646367" y="0"/>
                            </a:cubicBezTo>
                            <a:cubicBezTo>
                              <a:pt x="782226" y="-45640"/>
                              <a:pt x="979902" y="53388"/>
                              <a:pt x="1114425" y="0"/>
                            </a:cubicBezTo>
                            <a:cubicBezTo>
                              <a:pt x="1248948" y="-53388"/>
                              <a:pt x="1563277" y="46641"/>
                              <a:pt x="1716215" y="0"/>
                            </a:cubicBezTo>
                            <a:cubicBezTo>
                              <a:pt x="1869153" y="-46641"/>
                              <a:pt x="1991546" y="2358"/>
                              <a:pt x="2139696" y="0"/>
                            </a:cubicBezTo>
                            <a:cubicBezTo>
                              <a:pt x="2287846" y="-2358"/>
                              <a:pt x="2508898" y="20338"/>
                              <a:pt x="2607755" y="0"/>
                            </a:cubicBezTo>
                            <a:cubicBezTo>
                              <a:pt x="2706612" y="-20338"/>
                              <a:pt x="2912266" y="5514"/>
                              <a:pt x="3031236" y="0"/>
                            </a:cubicBezTo>
                            <a:cubicBezTo>
                              <a:pt x="3150206" y="-5514"/>
                              <a:pt x="3530615" y="42707"/>
                              <a:pt x="3677603" y="0"/>
                            </a:cubicBezTo>
                            <a:cubicBezTo>
                              <a:pt x="3824591" y="-42707"/>
                              <a:pt x="4145804" y="12917"/>
                              <a:pt x="4457700" y="0"/>
                            </a:cubicBezTo>
                            <a:cubicBezTo>
                              <a:pt x="4494012" y="127322"/>
                              <a:pt x="4454333" y="377406"/>
                              <a:pt x="4457700" y="550214"/>
                            </a:cubicBezTo>
                            <a:cubicBezTo>
                              <a:pt x="4461067" y="723022"/>
                              <a:pt x="4393342" y="1008001"/>
                              <a:pt x="4457700" y="1170668"/>
                            </a:cubicBezTo>
                            <a:cubicBezTo>
                              <a:pt x="4256002" y="1204942"/>
                              <a:pt x="4002904" y="1168738"/>
                              <a:pt x="3855911" y="1170668"/>
                            </a:cubicBezTo>
                            <a:cubicBezTo>
                              <a:pt x="3708918" y="1172598"/>
                              <a:pt x="3522719" y="1119689"/>
                              <a:pt x="3254121" y="1170668"/>
                            </a:cubicBezTo>
                            <a:cubicBezTo>
                              <a:pt x="2985523" y="1221647"/>
                              <a:pt x="2915127" y="1123982"/>
                              <a:pt x="2786063" y="1170668"/>
                            </a:cubicBezTo>
                            <a:cubicBezTo>
                              <a:pt x="2656999" y="1217354"/>
                              <a:pt x="2499132" y="1141382"/>
                              <a:pt x="2273427" y="1170668"/>
                            </a:cubicBezTo>
                            <a:cubicBezTo>
                              <a:pt x="2047722" y="1199954"/>
                              <a:pt x="1932972" y="1150097"/>
                              <a:pt x="1805369" y="1170668"/>
                            </a:cubicBezTo>
                            <a:cubicBezTo>
                              <a:pt x="1677766" y="1191239"/>
                              <a:pt x="1488270" y="1162930"/>
                              <a:pt x="1337310" y="1170668"/>
                            </a:cubicBezTo>
                            <a:cubicBezTo>
                              <a:pt x="1186350" y="1178406"/>
                              <a:pt x="970556" y="1154930"/>
                              <a:pt x="735521" y="1170668"/>
                            </a:cubicBezTo>
                            <a:cubicBezTo>
                              <a:pt x="500486" y="1186406"/>
                              <a:pt x="248091" y="1154407"/>
                              <a:pt x="0" y="1170668"/>
                            </a:cubicBezTo>
                            <a:cubicBezTo>
                              <a:pt x="-53807" y="995967"/>
                              <a:pt x="6533" y="723354"/>
                              <a:pt x="0" y="561921"/>
                            </a:cubicBezTo>
                            <a:cubicBezTo>
                              <a:pt x="-6533" y="400488"/>
                              <a:pt x="18934" y="276600"/>
                              <a:pt x="0" y="0"/>
                            </a:cubicBezTo>
                            <a:close/>
                          </a:path>
                          <a:path w="4457700" h="1170668" stroke="0" extrusionOk="0">
                            <a:moveTo>
                              <a:pt x="0" y="0"/>
                            </a:moveTo>
                            <a:cubicBezTo>
                              <a:pt x="229206" y="-2494"/>
                              <a:pt x="303963" y="3344"/>
                              <a:pt x="601790" y="0"/>
                            </a:cubicBezTo>
                            <a:cubicBezTo>
                              <a:pt x="899617" y="-3344"/>
                              <a:pt x="879754" y="330"/>
                              <a:pt x="1114425" y="0"/>
                            </a:cubicBezTo>
                            <a:cubicBezTo>
                              <a:pt x="1349096" y="-330"/>
                              <a:pt x="1506968" y="43071"/>
                              <a:pt x="1627061" y="0"/>
                            </a:cubicBezTo>
                            <a:cubicBezTo>
                              <a:pt x="1747154" y="-43071"/>
                              <a:pt x="1967240" y="34036"/>
                              <a:pt x="2184273" y="0"/>
                            </a:cubicBezTo>
                            <a:cubicBezTo>
                              <a:pt x="2401306" y="-34036"/>
                              <a:pt x="2463610" y="49465"/>
                              <a:pt x="2652332" y="0"/>
                            </a:cubicBezTo>
                            <a:cubicBezTo>
                              <a:pt x="2841054" y="-49465"/>
                              <a:pt x="3113535" y="31427"/>
                              <a:pt x="3298698" y="0"/>
                            </a:cubicBezTo>
                            <a:cubicBezTo>
                              <a:pt x="3483861" y="-31427"/>
                              <a:pt x="3652663" y="55753"/>
                              <a:pt x="3945065" y="0"/>
                            </a:cubicBezTo>
                            <a:cubicBezTo>
                              <a:pt x="4237467" y="-55753"/>
                              <a:pt x="4316082" y="28123"/>
                              <a:pt x="4457700" y="0"/>
                            </a:cubicBezTo>
                            <a:cubicBezTo>
                              <a:pt x="4507289" y="263845"/>
                              <a:pt x="4434233" y="400062"/>
                              <a:pt x="4457700" y="573627"/>
                            </a:cubicBezTo>
                            <a:cubicBezTo>
                              <a:pt x="4481167" y="747192"/>
                              <a:pt x="4421811" y="931796"/>
                              <a:pt x="4457700" y="1170668"/>
                            </a:cubicBezTo>
                            <a:cubicBezTo>
                              <a:pt x="4250603" y="1200460"/>
                              <a:pt x="4080671" y="1144706"/>
                              <a:pt x="3811334" y="1170668"/>
                            </a:cubicBezTo>
                            <a:cubicBezTo>
                              <a:pt x="3541997" y="1196630"/>
                              <a:pt x="3449186" y="1115299"/>
                              <a:pt x="3298698" y="1170668"/>
                            </a:cubicBezTo>
                            <a:cubicBezTo>
                              <a:pt x="3148210" y="1226037"/>
                              <a:pt x="2921736" y="1126838"/>
                              <a:pt x="2652332" y="1170668"/>
                            </a:cubicBezTo>
                            <a:cubicBezTo>
                              <a:pt x="2382928" y="1214498"/>
                              <a:pt x="2320312" y="1156790"/>
                              <a:pt x="2184273" y="1170668"/>
                            </a:cubicBezTo>
                            <a:cubicBezTo>
                              <a:pt x="2048234" y="1184546"/>
                              <a:pt x="1881046" y="1120872"/>
                              <a:pt x="1627061" y="1170668"/>
                            </a:cubicBezTo>
                            <a:cubicBezTo>
                              <a:pt x="1373076" y="1220464"/>
                              <a:pt x="1327946" y="1146452"/>
                              <a:pt x="1069848" y="1170668"/>
                            </a:cubicBezTo>
                            <a:cubicBezTo>
                              <a:pt x="811750" y="1194884"/>
                              <a:pt x="660254" y="1142968"/>
                              <a:pt x="557213" y="1170668"/>
                            </a:cubicBezTo>
                            <a:cubicBezTo>
                              <a:pt x="454173" y="1198368"/>
                              <a:pt x="183131" y="1129570"/>
                              <a:pt x="0" y="1170668"/>
                            </a:cubicBezTo>
                            <a:cubicBezTo>
                              <a:pt x="-16128" y="926089"/>
                              <a:pt x="43737" y="863346"/>
                              <a:pt x="0" y="561921"/>
                            </a:cubicBezTo>
                            <a:cubicBezTo>
                              <a:pt x="-43737" y="260496"/>
                              <a:pt x="805" y="236128"/>
                              <a:pt x="0" y="0"/>
                            </a:cubicBezTo>
                            <a:close/>
                          </a:path>
                        </a:pathLst>
                      </a:custGeom>
                      <ask:type>
                        <ask:lineSketchScribble/>
                      </ask:type>
                    </ask:lineSketchStyleProps>
                  </a:ext>
                </a:extLst>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4B2C2CD0-5F38-9013-5DD8-6670E69BB385}"/>
                  </a:ext>
                </a:extLst>
              </p:cNvPr>
              <p:cNvSpPr txBox="1">
                <a:spLocks/>
              </p:cNvSpPr>
              <p:nvPr/>
            </p:nvSpPr>
            <p:spPr>
              <a:xfrm>
                <a:off x="1090246" y="5445579"/>
                <a:ext cx="4837025" cy="824592"/>
              </a:xfrm>
              <a:custGeom>
                <a:avLst/>
                <a:gdLst>
                  <a:gd name="csX0" fmla="*/ 0 w 4837025"/>
                  <a:gd name="csY0" fmla="*/ 0 h 824592"/>
                  <a:gd name="csX1" fmla="*/ 585817 w 4837025"/>
                  <a:gd name="csY1" fmla="*/ 0 h 824592"/>
                  <a:gd name="csX2" fmla="*/ 978154 w 4837025"/>
                  <a:gd name="csY2" fmla="*/ 0 h 824592"/>
                  <a:gd name="csX3" fmla="*/ 1418861 w 4837025"/>
                  <a:gd name="csY3" fmla="*/ 0 h 824592"/>
                  <a:gd name="csX4" fmla="*/ 1811197 w 4837025"/>
                  <a:gd name="csY4" fmla="*/ 0 h 824592"/>
                  <a:gd name="csX5" fmla="*/ 2445385 w 4837025"/>
                  <a:gd name="csY5" fmla="*/ 0 h 824592"/>
                  <a:gd name="csX6" fmla="*/ 2886092 w 4837025"/>
                  <a:gd name="csY6" fmla="*/ 0 h 824592"/>
                  <a:gd name="csX7" fmla="*/ 3278428 w 4837025"/>
                  <a:gd name="csY7" fmla="*/ 0 h 824592"/>
                  <a:gd name="csX8" fmla="*/ 3815875 w 4837025"/>
                  <a:gd name="csY8" fmla="*/ 0 h 824592"/>
                  <a:gd name="csX9" fmla="*/ 4837025 w 4837025"/>
                  <a:gd name="csY9" fmla="*/ 0 h 824592"/>
                  <a:gd name="csX10" fmla="*/ 4837025 w 4837025"/>
                  <a:gd name="csY10" fmla="*/ 387558 h 824592"/>
                  <a:gd name="csX11" fmla="*/ 4837025 w 4837025"/>
                  <a:gd name="csY11" fmla="*/ 824592 h 824592"/>
                  <a:gd name="csX12" fmla="*/ 4202837 w 4837025"/>
                  <a:gd name="csY12" fmla="*/ 824592 h 824592"/>
                  <a:gd name="csX13" fmla="*/ 3762131 w 4837025"/>
                  <a:gd name="csY13" fmla="*/ 824592 h 824592"/>
                  <a:gd name="csX14" fmla="*/ 3321424 w 4837025"/>
                  <a:gd name="csY14" fmla="*/ 824592 h 824592"/>
                  <a:gd name="csX15" fmla="*/ 2735606 w 4837025"/>
                  <a:gd name="csY15" fmla="*/ 824592 h 824592"/>
                  <a:gd name="csX16" fmla="*/ 2149789 w 4837025"/>
                  <a:gd name="csY16" fmla="*/ 824592 h 824592"/>
                  <a:gd name="csX17" fmla="*/ 1515601 w 4837025"/>
                  <a:gd name="csY17" fmla="*/ 824592 h 824592"/>
                  <a:gd name="csX18" fmla="*/ 1123265 w 4837025"/>
                  <a:gd name="csY18" fmla="*/ 824592 h 824592"/>
                  <a:gd name="csX19" fmla="*/ 489077 w 4837025"/>
                  <a:gd name="csY19" fmla="*/ 824592 h 824592"/>
                  <a:gd name="csX20" fmla="*/ 0 w 4837025"/>
                  <a:gd name="csY20" fmla="*/ 824592 h 824592"/>
                  <a:gd name="csX21" fmla="*/ 0 w 4837025"/>
                  <a:gd name="csY21" fmla="*/ 420542 h 824592"/>
                  <a:gd name="csX22" fmla="*/ 0 w 4837025"/>
                  <a:gd name="csY22" fmla="*/ 0 h 824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837025" h="824592" fill="none" extrusionOk="0">
                    <a:moveTo>
                      <a:pt x="0" y="0"/>
                    </a:moveTo>
                    <a:cubicBezTo>
                      <a:pt x="134829" y="-12418"/>
                      <a:pt x="418608" y="14663"/>
                      <a:pt x="585817" y="0"/>
                    </a:cubicBezTo>
                    <a:cubicBezTo>
                      <a:pt x="753026" y="-14663"/>
                      <a:pt x="887153" y="24996"/>
                      <a:pt x="978154" y="0"/>
                    </a:cubicBezTo>
                    <a:cubicBezTo>
                      <a:pt x="1069155" y="-24996"/>
                      <a:pt x="1265549" y="43962"/>
                      <a:pt x="1418861" y="0"/>
                    </a:cubicBezTo>
                    <a:cubicBezTo>
                      <a:pt x="1572173" y="-43962"/>
                      <a:pt x="1699921" y="9460"/>
                      <a:pt x="1811197" y="0"/>
                    </a:cubicBezTo>
                    <a:cubicBezTo>
                      <a:pt x="1922473" y="-9460"/>
                      <a:pt x="2193478" y="52861"/>
                      <a:pt x="2445385" y="0"/>
                    </a:cubicBezTo>
                    <a:cubicBezTo>
                      <a:pt x="2697292" y="-52861"/>
                      <a:pt x="2729284" y="26777"/>
                      <a:pt x="2886092" y="0"/>
                    </a:cubicBezTo>
                    <a:cubicBezTo>
                      <a:pt x="3042900" y="-26777"/>
                      <a:pt x="3152735" y="39585"/>
                      <a:pt x="3278428" y="0"/>
                    </a:cubicBezTo>
                    <a:cubicBezTo>
                      <a:pt x="3404121" y="-39585"/>
                      <a:pt x="3547957" y="55820"/>
                      <a:pt x="3815875" y="0"/>
                    </a:cubicBezTo>
                    <a:cubicBezTo>
                      <a:pt x="4083793" y="-55820"/>
                      <a:pt x="4385696" y="66478"/>
                      <a:pt x="4837025" y="0"/>
                    </a:cubicBezTo>
                    <a:cubicBezTo>
                      <a:pt x="4880478" y="97524"/>
                      <a:pt x="4791775" y="195961"/>
                      <a:pt x="4837025" y="387558"/>
                    </a:cubicBezTo>
                    <a:cubicBezTo>
                      <a:pt x="4882275" y="579155"/>
                      <a:pt x="4810398" y="656483"/>
                      <a:pt x="4837025" y="824592"/>
                    </a:cubicBezTo>
                    <a:cubicBezTo>
                      <a:pt x="4609262" y="840274"/>
                      <a:pt x="4421015" y="764113"/>
                      <a:pt x="4202837" y="824592"/>
                    </a:cubicBezTo>
                    <a:cubicBezTo>
                      <a:pt x="3984659" y="885071"/>
                      <a:pt x="3860631" y="781751"/>
                      <a:pt x="3762131" y="824592"/>
                    </a:cubicBezTo>
                    <a:cubicBezTo>
                      <a:pt x="3663631" y="867433"/>
                      <a:pt x="3446338" y="798903"/>
                      <a:pt x="3321424" y="824592"/>
                    </a:cubicBezTo>
                    <a:cubicBezTo>
                      <a:pt x="3196510" y="850281"/>
                      <a:pt x="3005061" y="777020"/>
                      <a:pt x="2735606" y="824592"/>
                    </a:cubicBezTo>
                    <a:cubicBezTo>
                      <a:pt x="2466151" y="872164"/>
                      <a:pt x="2437126" y="790794"/>
                      <a:pt x="2149789" y="824592"/>
                    </a:cubicBezTo>
                    <a:cubicBezTo>
                      <a:pt x="1862452" y="858390"/>
                      <a:pt x="1767094" y="810701"/>
                      <a:pt x="1515601" y="824592"/>
                    </a:cubicBezTo>
                    <a:cubicBezTo>
                      <a:pt x="1264108" y="838483"/>
                      <a:pt x="1249193" y="787881"/>
                      <a:pt x="1123265" y="824592"/>
                    </a:cubicBezTo>
                    <a:cubicBezTo>
                      <a:pt x="997337" y="861303"/>
                      <a:pt x="722085" y="780084"/>
                      <a:pt x="489077" y="824592"/>
                    </a:cubicBezTo>
                    <a:cubicBezTo>
                      <a:pt x="256069" y="869100"/>
                      <a:pt x="205748" y="801351"/>
                      <a:pt x="0" y="824592"/>
                    </a:cubicBezTo>
                    <a:cubicBezTo>
                      <a:pt x="-31736" y="625286"/>
                      <a:pt x="12026" y="507861"/>
                      <a:pt x="0" y="420542"/>
                    </a:cubicBezTo>
                    <a:cubicBezTo>
                      <a:pt x="-12026" y="333223"/>
                      <a:pt x="43815" y="97568"/>
                      <a:pt x="0" y="0"/>
                    </a:cubicBezTo>
                    <a:close/>
                  </a:path>
                  <a:path w="4837025" h="824592" stroke="0" extrusionOk="0">
                    <a:moveTo>
                      <a:pt x="0" y="0"/>
                    </a:moveTo>
                    <a:cubicBezTo>
                      <a:pt x="161283" y="-47181"/>
                      <a:pt x="347283" y="25768"/>
                      <a:pt x="585817" y="0"/>
                    </a:cubicBezTo>
                    <a:cubicBezTo>
                      <a:pt x="824351" y="-25768"/>
                      <a:pt x="937230" y="42583"/>
                      <a:pt x="1074894" y="0"/>
                    </a:cubicBezTo>
                    <a:cubicBezTo>
                      <a:pt x="1212558" y="-42583"/>
                      <a:pt x="1409673" y="58626"/>
                      <a:pt x="1563971" y="0"/>
                    </a:cubicBezTo>
                    <a:cubicBezTo>
                      <a:pt x="1718269" y="-58626"/>
                      <a:pt x="1927555" y="52440"/>
                      <a:pt x="2101419" y="0"/>
                    </a:cubicBezTo>
                    <a:cubicBezTo>
                      <a:pt x="2275283" y="-52440"/>
                      <a:pt x="2407439" y="14185"/>
                      <a:pt x="2542125" y="0"/>
                    </a:cubicBezTo>
                    <a:cubicBezTo>
                      <a:pt x="2676811" y="-14185"/>
                      <a:pt x="2925355" y="72054"/>
                      <a:pt x="3176313" y="0"/>
                    </a:cubicBezTo>
                    <a:cubicBezTo>
                      <a:pt x="3427271" y="-72054"/>
                      <a:pt x="3649448" y="50400"/>
                      <a:pt x="3810501" y="0"/>
                    </a:cubicBezTo>
                    <a:cubicBezTo>
                      <a:pt x="3971554" y="-50400"/>
                      <a:pt x="4109040" y="20802"/>
                      <a:pt x="4299578" y="0"/>
                    </a:cubicBezTo>
                    <a:cubicBezTo>
                      <a:pt x="4490116" y="-20802"/>
                      <a:pt x="4594963" y="48379"/>
                      <a:pt x="4837025" y="0"/>
                    </a:cubicBezTo>
                    <a:cubicBezTo>
                      <a:pt x="4874728" y="193273"/>
                      <a:pt x="4836607" y="286659"/>
                      <a:pt x="4837025" y="428788"/>
                    </a:cubicBezTo>
                    <a:cubicBezTo>
                      <a:pt x="4837443" y="570917"/>
                      <a:pt x="4797084" y="700875"/>
                      <a:pt x="4837025" y="824592"/>
                    </a:cubicBezTo>
                    <a:cubicBezTo>
                      <a:pt x="4674283" y="883757"/>
                      <a:pt x="4419898" y="816773"/>
                      <a:pt x="4251208" y="824592"/>
                    </a:cubicBezTo>
                    <a:cubicBezTo>
                      <a:pt x="4082518" y="832411"/>
                      <a:pt x="3843453" y="759610"/>
                      <a:pt x="3617020" y="824592"/>
                    </a:cubicBezTo>
                    <a:cubicBezTo>
                      <a:pt x="3390587" y="889574"/>
                      <a:pt x="3346417" y="802281"/>
                      <a:pt x="3176313" y="824592"/>
                    </a:cubicBezTo>
                    <a:cubicBezTo>
                      <a:pt x="3006209" y="846903"/>
                      <a:pt x="2770991" y="782120"/>
                      <a:pt x="2638866" y="824592"/>
                    </a:cubicBezTo>
                    <a:cubicBezTo>
                      <a:pt x="2506741" y="867064"/>
                      <a:pt x="2328495" y="820380"/>
                      <a:pt x="2101419" y="824592"/>
                    </a:cubicBezTo>
                    <a:cubicBezTo>
                      <a:pt x="1874343" y="828804"/>
                      <a:pt x="1795823" y="802903"/>
                      <a:pt x="1612342" y="824592"/>
                    </a:cubicBezTo>
                    <a:cubicBezTo>
                      <a:pt x="1428861" y="846281"/>
                      <a:pt x="1352589" y="818145"/>
                      <a:pt x="1171635" y="824592"/>
                    </a:cubicBezTo>
                    <a:cubicBezTo>
                      <a:pt x="990681" y="831039"/>
                      <a:pt x="841532" y="780342"/>
                      <a:pt x="537447" y="824592"/>
                    </a:cubicBezTo>
                    <a:cubicBezTo>
                      <a:pt x="233362" y="868842"/>
                      <a:pt x="193877" y="794084"/>
                      <a:pt x="0" y="824592"/>
                    </a:cubicBezTo>
                    <a:cubicBezTo>
                      <a:pt x="-41231" y="697176"/>
                      <a:pt x="43077" y="570191"/>
                      <a:pt x="0" y="428788"/>
                    </a:cubicBezTo>
                    <a:cubicBezTo>
                      <a:pt x="-43077" y="287385"/>
                      <a:pt x="24088" y="179425"/>
                      <a:pt x="0" y="0"/>
                    </a:cubicBezTo>
                    <a:close/>
                  </a:path>
                </a:pathLst>
              </a:custGeom>
              <a:ln w="28575">
                <a:solidFill>
                  <a:schemeClr val="bg1"/>
                </a:solidFill>
                <a:extLst>
                  <a:ext uri="{C807C97D-BFC1-408E-A445-0C87EB9F89A2}">
                    <ask:lineSketchStyleProps xmlns:ask="http://schemas.microsoft.com/office/drawing/2018/sketchyshapes" sd="2586132020">
                      <a:prstGeom prst="rect">
                        <a:avLst/>
                      </a:prstGeom>
                      <ask:type>
                        <ask:lineSketchScribble/>
                      </ask:type>
                    </ask:lineSketchStyleProps>
                  </a:ext>
                </a:extLst>
              </a:ln>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left"/>
                    </m:oMathParaPr>
                    <m:oMath>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𝐴</m:t>
                          </m:r>
                        </m:sub>
                        <m:sup>
                          <m:r>
                            <a:rPr lang="en-US" b="0" i="1" smtClean="0">
                              <a:latin typeface="Cambria Math" panose="02040503050406030204" pitchFamily="18" charset="0"/>
                            </a:rPr>
                            <m:t>𝐵</m:t>
                          </m:r>
                        </m:sup>
                        <m:e>
                          <m:r>
                            <m:rPr>
                              <m:sty m:val="p"/>
                            </m:rPr>
                            <a:rPr lang="en-US" smtClean="0">
                              <a:latin typeface="Cambria Math" panose="02040503050406030204" pitchFamily="18" charset="0"/>
                            </a:rPr>
                            <m:t>f</m:t>
                          </m:r>
                          <m:d>
                            <m:dPr>
                              <m:ctrlPr>
                                <a:rPr lang="en-US" smtClean="0">
                                  <a:latin typeface="Cambria Math" panose="02040503050406030204" pitchFamily="18" charset="0"/>
                                </a:rPr>
                              </m:ctrlPr>
                            </m:dPr>
                            <m:e>
                              <m:r>
                                <m:rPr>
                                  <m:sty m:val="p"/>
                                </m:rPr>
                                <a:rPr lang="en-US" smtClean="0">
                                  <a:latin typeface="Cambria Math" panose="02040503050406030204" pitchFamily="18" charset="0"/>
                                </a:rPr>
                                <m:t>x</m:t>
                              </m:r>
                            </m:e>
                          </m:d>
                          <m:r>
                            <a:rPr lang="en-US" b="0" i="1" smtClean="0">
                              <a:latin typeface="Cambria Math" panose="02040503050406030204" pitchFamily="18" charset="0"/>
                            </a:rPr>
                            <m:t>𝑑𝑥</m:t>
                          </m:r>
                          <m:r>
                            <a:rPr lang="en-US" b="0" i="1" smtClean="0">
                              <a:latin typeface="Cambria Math" panose="02040503050406030204" pitchFamily="18" charset="0"/>
                            </a:rPr>
                            <m:t>=1, </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=0</m:t>
                          </m:r>
                          <m:r>
                            <a:rPr lang="en-US" i="1" smtClean="0">
                              <a:latin typeface="Cambria Math" panose="02040503050406030204" pitchFamily="18" charset="0"/>
                            </a:rPr>
                            <m:t> </m:t>
                          </m:r>
                        </m:e>
                      </m:nary>
                    </m:oMath>
                  </m:oMathPara>
                </a14:m>
                <a:endParaRPr lang="en-US" dirty="0"/>
              </a:p>
            </p:txBody>
          </p:sp>
        </mc:Choice>
        <mc:Fallback xmlns="">
          <p:sp>
            <p:nvSpPr>
              <p:cNvPr id="8" name="Content Placeholder 2">
                <a:extLst>
                  <a:ext uri="{FF2B5EF4-FFF2-40B4-BE49-F238E27FC236}">
                    <a16:creationId xmlns:a16="http://schemas.microsoft.com/office/drawing/2014/main" id="{4B2C2CD0-5F38-9013-5DD8-6670E69BB385}"/>
                  </a:ext>
                </a:extLst>
              </p:cNvPr>
              <p:cNvSpPr txBox="1">
                <a:spLocks noRot="1" noChangeAspect="1" noMove="1" noResize="1" noEditPoints="1" noAdjustHandles="1" noChangeArrowheads="1" noChangeShapeType="1" noTextEdit="1"/>
              </p:cNvSpPr>
              <p:nvPr/>
            </p:nvSpPr>
            <p:spPr>
              <a:xfrm>
                <a:off x="1090246" y="5445579"/>
                <a:ext cx="4837025" cy="824592"/>
              </a:xfrm>
              <a:prstGeom prst="rect">
                <a:avLst/>
              </a:prstGeom>
              <a:blipFill>
                <a:blip r:embed="rId4"/>
                <a:stretch>
                  <a:fillRect/>
                </a:stretch>
              </a:blipFill>
              <a:ln w="28575">
                <a:solidFill>
                  <a:schemeClr val="bg1"/>
                </a:solidFill>
                <a:extLst>
                  <a:ext uri="{C807C97D-BFC1-408E-A445-0C87EB9F89A2}">
                    <ask:lineSketchStyleProps xmlns:ask="http://schemas.microsoft.com/office/drawing/2018/sketchyshapes" sd="2586132020">
                      <a:custGeom>
                        <a:avLst/>
                        <a:gdLst>
                          <a:gd name="csX0" fmla="*/ 0 w 4837025"/>
                          <a:gd name="csY0" fmla="*/ 0 h 824592"/>
                          <a:gd name="csX1" fmla="*/ 585817 w 4837025"/>
                          <a:gd name="csY1" fmla="*/ 0 h 824592"/>
                          <a:gd name="csX2" fmla="*/ 978154 w 4837025"/>
                          <a:gd name="csY2" fmla="*/ 0 h 824592"/>
                          <a:gd name="csX3" fmla="*/ 1418861 w 4837025"/>
                          <a:gd name="csY3" fmla="*/ 0 h 824592"/>
                          <a:gd name="csX4" fmla="*/ 1811197 w 4837025"/>
                          <a:gd name="csY4" fmla="*/ 0 h 824592"/>
                          <a:gd name="csX5" fmla="*/ 2445385 w 4837025"/>
                          <a:gd name="csY5" fmla="*/ 0 h 824592"/>
                          <a:gd name="csX6" fmla="*/ 2886092 w 4837025"/>
                          <a:gd name="csY6" fmla="*/ 0 h 824592"/>
                          <a:gd name="csX7" fmla="*/ 3278428 w 4837025"/>
                          <a:gd name="csY7" fmla="*/ 0 h 824592"/>
                          <a:gd name="csX8" fmla="*/ 3815875 w 4837025"/>
                          <a:gd name="csY8" fmla="*/ 0 h 824592"/>
                          <a:gd name="csX9" fmla="*/ 4837025 w 4837025"/>
                          <a:gd name="csY9" fmla="*/ 0 h 824592"/>
                          <a:gd name="csX10" fmla="*/ 4837025 w 4837025"/>
                          <a:gd name="csY10" fmla="*/ 387558 h 824592"/>
                          <a:gd name="csX11" fmla="*/ 4837025 w 4837025"/>
                          <a:gd name="csY11" fmla="*/ 824592 h 824592"/>
                          <a:gd name="csX12" fmla="*/ 4202837 w 4837025"/>
                          <a:gd name="csY12" fmla="*/ 824592 h 824592"/>
                          <a:gd name="csX13" fmla="*/ 3762131 w 4837025"/>
                          <a:gd name="csY13" fmla="*/ 824592 h 824592"/>
                          <a:gd name="csX14" fmla="*/ 3321424 w 4837025"/>
                          <a:gd name="csY14" fmla="*/ 824592 h 824592"/>
                          <a:gd name="csX15" fmla="*/ 2735606 w 4837025"/>
                          <a:gd name="csY15" fmla="*/ 824592 h 824592"/>
                          <a:gd name="csX16" fmla="*/ 2149789 w 4837025"/>
                          <a:gd name="csY16" fmla="*/ 824592 h 824592"/>
                          <a:gd name="csX17" fmla="*/ 1515601 w 4837025"/>
                          <a:gd name="csY17" fmla="*/ 824592 h 824592"/>
                          <a:gd name="csX18" fmla="*/ 1123265 w 4837025"/>
                          <a:gd name="csY18" fmla="*/ 824592 h 824592"/>
                          <a:gd name="csX19" fmla="*/ 489077 w 4837025"/>
                          <a:gd name="csY19" fmla="*/ 824592 h 824592"/>
                          <a:gd name="csX20" fmla="*/ 0 w 4837025"/>
                          <a:gd name="csY20" fmla="*/ 824592 h 824592"/>
                          <a:gd name="csX21" fmla="*/ 0 w 4837025"/>
                          <a:gd name="csY21" fmla="*/ 420542 h 824592"/>
                          <a:gd name="csX22" fmla="*/ 0 w 4837025"/>
                          <a:gd name="csY22" fmla="*/ 0 h 824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837025" h="824592" fill="none" extrusionOk="0">
                            <a:moveTo>
                              <a:pt x="0" y="0"/>
                            </a:moveTo>
                            <a:cubicBezTo>
                              <a:pt x="134829" y="-12418"/>
                              <a:pt x="418608" y="14663"/>
                              <a:pt x="585817" y="0"/>
                            </a:cubicBezTo>
                            <a:cubicBezTo>
                              <a:pt x="753026" y="-14663"/>
                              <a:pt x="887153" y="24996"/>
                              <a:pt x="978154" y="0"/>
                            </a:cubicBezTo>
                            <a:cubicBezTo>
                              <a:pt x="1069155" y="-24996"/>
                              <a:pt x="1265549" y="43962"/>
                              <a:pt x="1418861" y="0"/>
                            </a:cubicBezTo>
                            <a:cubicBezTo>
                              <a:pt x="1572173" y="-43962"/>
                              <a:pt x="1699921" y="9460"/>
                              <a:pt x="1811197" y="0"/>
                            </a:cubicBezTo>
                            <a:cubicBezTo>
                              <a:pt x="1922473" y="-9460"/>
                              <a:pt x="2193478" y="52861"/>
                              <a:pt x="2445385" y="0"/>
                            </a:cubicBezTo>
                            <a:cubicBezTo>
                              <a:pt x="2697292" y="-52861"/>
                              <a:pt x="2729284" y="26777"/>
                              <a:pt x="2886092" y="0"/>
                            </a:cubicBezTo>
                            <a:cubicBezTo>
                              <a:pt x="3042900" y="-26777"/>
                              <a:pt x="3152735" y="39585"/>
                              <a:pt x="3278428" y="0"/>
                            </a:cubicBezTo>
                            <a:cubicBezTo>
                              <a:pt x="3404121" y="-39585"/>
                              <a:pt x="3547957" y="55820"/>
                              <a:pt x="3815875" y="0"/>
                            </a:cubicBezTo>
                            <a:cubicBezTo>
                              <a:pt x="4083793" y="-55820"/>
                              <a:pt x="4385696" y="66478"/>
                              <a:pt x="4837025" y="0"/>
                            </a:cubicBezTo>
                            <a:cubicBezTo>
                              <a:pt x="4880478" y="97524"/>
                              <a:pt x="4791775" y="195961"/>
                              <a:pt x="4837025" y="387558"/>
                            </a:cubicBezTo>
                            <a:cubicBezTo>
                              <a:pt x="4882275" y="579155"/>
                              <a:pt x="4810398" y="656483"/>
                              <a:pt x="4837025" y="824592"/>
                            </a:cubicBezTo>
                            <a:cubicBezTo>
                              <a:pt x="4609262" y="840274"/>
                              <a:pt x="4421015" y="764113"/>
                              <a:pt x="4202837" y="824592"/>
                            </a:cubicBezTo>
                            <a:cubicBezTo>
                              <a:pt x="3984659" y="885071"/>
                              <a:pt x="3860631" y="781751"/>
                              <a:pt x="3762131" y="824592"/>
                            </a:cubicBezTo>
                            <a:cubicBezTo>
                              <a:pt x="3663631" y="867433"/>
                              <a:pt x="3446338" y="798903"/>
                              <a:pt x="3321424" y="824592"/>
                            </a:cubicBezTo>
                            <a:cubicBezTo>
                              <a:pt x="3196510" y="850281"/>
                              <a:pt x="3005061" y="777020"/>
                              <a:pt x="2735606" y="824592"/>
                            </a:cubicBezTo>
                            <a:cubicBezTo>
                              <a:pt x="2466151" y="872164"/>
                              <a:pt x="2437126" y="790794"/>
                              <a:pt x="2149789" y="824592"/>
                            </a:cubicBezTo>
                            <a:cubicBezTo>
                              <a:pt x="1862452" y="858390"/>
                              <a:pt x="1767094" y="810701"/>
                              <a:pt x="1515601" y="824592"/>
                            </a:cubicBezTo>
                            <a:cubicBezTo>
                              <a:pt x="1264108" y="838483"/>
                              <a:pt x="1249193" y="787881"/>
                              <a:pt x="1123265" y="824592"/>
                            </a:cubicBezTo>
                            <a:cubicBezTo>
                              <a:pt x="997337" y="861303"/>
                              <a:pt x="722085" y="780084"/>
                              <a:pt x="489077" y="824592"/>
                            </a:cubicBezTo>
                            <a:cubicBezTo>
                              <a:pt x="256069" y="869100"/>
                              <a:pt x="205748" y="801351"/>
                              <a:pt x="0" y="824592"/>
                            </a:cubicBezTo>
                            <a:cubicBezTo>
                              <a:pt x="-31736" y="625286"/>
                              <a:pt x="12026" y="507861"/>
                              <a:pt x="0" y="420542"/>
                            </a:cubicBezTo>
                            <a:cubicBezTo>
                              <a:pt x="-12026" y="333223"/>
                              <a:pt x="43815" y="97568"/>
                              <a:pt x="0" y="0"/>
                            </a:cubicBezTo>
                            <a:close/>
                          </a:path>
                          <a:path w="4837025" h="824592" stroke="0" extrusionOk="0">
                            <a:moveTo>
                              <a:pt x="0" y="0"/>
                            </a:moveTo>
                            <a:cubicBezTo>
                              <a:pt x="161283" y="-47181"/>
                              <a:pt x="347283" y="25768"/>
                              <a:pt x="585817" y="0"/>
                            </a:cubicBezTo>
                            <a:cubicBezTo>
                              <a:pt x="824351" y="-25768"/>
                              <a:pt x="937230" y="42583"/>
                              <a:pt x="1074894" y="0"/>
                            </a:cubicBezTo>
                            <a:cubicBezTo>
                              <a:pt x="1212558" y="-42583"/>
                              <a:pt x="1409673" y="58626"/>
                              <a:pt x="1563971" y="0"/>
                            </a:cubicBezTo>
                            <a:cubicBezTo>
                              <a:pt x="1718269" y="-58626"/>
                              <a:pt x="1927555" y="52440"/>
                              <a:pt x="2101419" y="0"/>
                            </a:cubicBezTo>
                            <a:cubicBezTo>
                              <a:pt x="2275283" y="-52440"/>
                              <a:pt x="2407439" y="14185"/>
                              <a:pt x="2542125" y="0"/>
                            </a:cubicBezTo>
                            <a:cubicBezTo>
                              <a:pt x="2676811" y="-14185"/>
                              <a:pt x="2925355" y="72054"/>
                              <a:pt x="3176313" y="0"/>
                            </a:cubicBezTo>
                            <a:cubicBezTo>
                              <a:pt x="3427271" y="-72054"/>
                              <a:pt x="3649448" y="50400"/>
                              <a:pt x="3810501" y="0"/>
                            </a:cubicBezTo>
                            <a:cubicBezTo>
                              <a:pt x="3971554" y="-50400"/>
                              <a:pt x="4109040" y="20802"/>
                              <a:pt x="4299578" y="0"/>
                            </a:cubicBezTo>
                            <a:cubicBezTo>
                              <a:pt x="4490116" y="-20802"/>
                              <a:pt x="4594963" y="48379"/>
                              <a:pt x="4837025" y="0"/>
                            </a:cubicBezTo>
                            <a:cubicBezTo>
                              <a:pt x="4874728" y="193273"/>
                              <a:pt x="4836607" y="286659"/>
                              <a:pt x="4837025" y="428788"/>
                            </a:cubicBezTo>
                            <a:cubicBezTo>
                              <a:pt x="4837443" y="570917"/>
                              <a:pt x="4797084" y="700875"/>
                              <a:pt x="4837025" y="824592"/>
                            </a:cubicBezTo>
                            <a:cubicBezTo>
                              <a:pt x="4674283" y="883757"/>
                              <a:pt x="4419898" y="816773"/>
                              <a:pt x="4251208" y="824592"/>
                            </a:cubicBezTo>
                            <a:cubicBezTo>
                              <a:pt x="4082518" y="832411"/>
                              <a:pt x="3843453" y="759610"/>
                              <a:pt x="3617020" y="824592"/>
                            </a:cubicBezTo>
                            <a:cubicBezTo>
                              <a:pt x="3390587" y="889574"/>
                              <a:pt x="3346417" y="802281"/>
                              <a:pt x="3176313" y="824592"/>
                            </a:cubicBezTo>
                            <a:cubicBezTo>
                              <a:pt x="3006209" y="846903"/>
                              <a:pt x="2770991" y="782120"/>
                              <a:pt x="2638866" y="824592"/>
                            </a:cubicBezTo>
                            <a:cubicBezTo>
                              <a:pt x="2506741" y="867064"/>
                              <a:pt x="2328495" y="820380"/>
                              <a:pt x="2101419" y="824592"/>
                            </a:cubicBezTo>
                            <a:cubicBezTo>
                              <a:pt x="1874343" y="828804"/>
                              <a:pt x="1795823" y="802903"/>
                              <a:pt x="1612342" y="824592"/>
                            </a:cubicBezTo>
                            <a:cubicBezTo>
                              <a:pt x="1428861" y="846281"/>
                              <a:pt x="1352589" y="818145"/>
                              <a:pt x="1171635" y="824592"/>
                            </a:cubicBezTo>
                            <a:cubicBezTo>
                              <a:pt x="990681" y="831039"/>
                              <a:pt x="841532" y="780342"/>
                              <a:pt x="537447" y="824592"/>
                            </a:cubicBezTo>
                            <a:cubicBezTo>
                              <a:pt x="233362" y="868842"/>
                              <a:pt x="193877" y="794084"/>
                              <a:pt x="0" y="824592"/>
                            </a:cubicBezTo>
                            <a:cubicBezTo>
                              <a:pt x="-41231" y="697176"/>
                              <a:pt x="43077" y="570191"/>
                              <a:pt x="0" y="428788"/>
                            </a:cubicBezTo>
                            <a:cubicBezTo>
                              <a:pt x="-43077" y="287385"/>
                              <a:pt x="24088" y="179425"/>
                              <a:pt x="0" y="0"/>
                            </a:cubicBezTo>
                            <a:close/>
                          </a:path>
                        </a:pathLst>
                      </a:custGeom>
                      <ask:type>
                        <ask:lineSketchScribble/>
                      </ask:type>
                    </ask:lineSketchStyleProps>
                  </a:ext>
                </a:extLst>
              </a:ln>
            </p:spPr>
            <p:txBody>
              <a:bodyPr/>
              <a:lstStyle/>
              <a:p>
                <a:r>
                  <a:rPr lang="en-US">
                    <a:noFill/>
                  </a:rPr>
                  <a:t> </a:t>
                </a:r>
              </a:p>
            </p:txBody>
          </p:sp>
        </mc:Fallback>
      </mc:AlternateContent>
    </p:spTree>
    <p:extLst>
      <p:ext uri="{BB962C8B-B14F-4D97-AF65-F5344CB8AC3E}">
        <p14:creationId xmlns:p14="http://schemas.microsoft.com/office/powerpoint/2010/main" val="648256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4B66E-4E9E-CC83-EB15-60116A3AE8A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9425E9-694F-3DDE-A580-BA23EEE2113B}"/>
              </a:ext>
            </a:extLst>
          </p:cNvPr>
          <p:cNvSpPr>
            <a:spLocks noGrp="1"/>
          </p:cNvSpPr>
          <p:nvPr>
            <p:ph type="sldNum" sz="quarter" idx="12"/>
          </p:nvPr>
        </p:nvSpPr>
        <p:spPr/>
        <p:txBody>
          <a:bodyPr/>
          <a:lstStyle/>
          <a:p>
            <a:fld id="{CB12788D-ABA5-4E7B-998B-677A061A6405}" type="slidenum">
              <a:rPr lang="en-US" smtClean="0"/>
              <a:t>21</a:t>
            </a:fld>
            <a:endParaRPr lang="en-US"/>
          </a:p>
        </p:txBody>
      </p:sp>
      <p:sp>
        <p:nvSpPr>
          <p:cNvPr id="7" name="Footer Placeholder 7">
            <a:extLst>
              <a:ext uri="{FF2B5EF4-FFF2-40B4-BE49-F238E27FC236}">
                <a16:creationId xmlns:a16="http://schemas.microsoft.com/office/drawing/2014/main" id="{A7AFA764-2044-CCDF-19F1-3700A18A2C7A}"/>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a:t>Kass, Eden and Brown, Analysis of Neural Data</a:t>
            </a:r>
            <a:endParaRPr lang="en-US" sz="1000" dirty="0"/>
          </a:p>
        </p:txBody>
      </p:sp>
      <p:sp>
        <p:nvSpPr>
          <p:cNvPr id="4" name="Title 1">
            <a:extLst>
              <a:ext uri="{FF2B5EF4-FFF2-40B4-BE49-F238E27FC236}">
                <a16:creationId xmlns:a16="http://schemas.microsoft.com/office/drawing/2014/main" id="{422D3173-2F98-1945-7E39-45CBBF8E5F55}"/>
              </a:ext>
            </a:extLst>
          </p:cNvPr>
          <p:cNvSpPr>
            <a:spLocks noGrp="1"/>
          </p:cNvSpPr>
          <p:nvPr>
            <p:ph type="title"/>
          </p:nvPr>
        </p:nvSpPr>
        <p:spPr>
          <a:xfrm>
            <a:off x="838200" y="365125"/>
            <a:ext cx="10515600" cy="1325563"/>
          </a:xfrm>
        </p:spPr>
        <p:txBody>
          <a:bodyPr/>
          <a:lstStyle/>
          <a:p>
            <a:r>
              <a:rPr lang="en-US" dirty="0"/>
              <a:t>Probability distributions</a:t>
            </a:r>
          </a:p>
        </p:txBody>
      </p:sp>
      <p:sp>
        <p:nvSpPr>
          <p:cNvPr id="3" name="Content Placeholder 2">
            <a:extLst>
              <a:ext uri="{FF2B5EF4-FFF2-40B4-BE49-F238E27FC236}">
                <a16:creationId xmlns:a16="http://schemas.microsoft.com/office/drawing/2014/main" id="{ABCA5868-BFD9-C46D-1877-DF2BA01419DC}"/>
              </a:ext>
            </a:extLst>
          </p:cNvPr>
          <p:cNvSpPr>
            <a:spLocks noGrp="1"/>
          </p:cNvSpPr>
          <p:nvPr>
            <p:ph idx="1"/>
          </p:nvPr>
        </p:nvSpPr>
        <p:spPr/>
        <p:txBody>
          <a:bodyPr/>
          <a:lstStyle/>
          <a:p>
            <a:r>
              <a:rPr lang="en-US" dirty="0"/>
              <a:t>Describe how probability is distributed over the possible values of a random variable</a:t>
            </a:r>
          </a:p>
          <a:p>
            <a:r>
              <a:rPr lang="en-US" dirty="0"/>
              <a:t>Different types of random variables </a:t>
            </a:r>
            <a:br>
              <a:rPr lang="en-US" dirty="0"/>
            </a:br>
            <a:r>
              <a:rPr lang="en-US" dirty="0">
                <a:sym typeface="Wingdings" panose="05000000000000000000" pitchFamily="2" charset="2"/>
              </a:rPr>
              <a:t> different types of distributions</a:t>
            </a:r>
            <a:endParaRPr lang="en-US" dirty="0"/>
          </a:p>
        </p:txBody>
      </p:sp>
      <p:pic>
        <p:nvPicPr>
          <p:cNvPr id="6" name="Picture 5">
            <a:extLst>
              <a:ext uri="{FF2B5EF4-FFF2-40B4-BE49-F238E27FC236}">
                <a16:creationId xmlns:a16="http://schemas.microsoft.com/office/drawing/2014/main" id="{2A15E72C-306F-B4FE-5361-C2804963E65E}"/>
              </a:ext>
            </a:extLst>
          </p:cNvPr>
          <p:cNvPicPr>
            <a:picLocks noChangeAspect="1"/>
          </p:cNvPicPr>
          <p:nvPr/>
        </p:nvPicPr>
        <p:blipFill>
          <a:blip r:embed="rId3"/>
          <a:stretch>
            <a:fillRect/>
          </a:stretch>
        </p:blipFill>
        <p:spPr>
          <a:xfrm>
            <a:off x="6436595" y="3178925"/>
            <a:ext cx="5155016" cy="3177425"/>
          </a:xfrm>
          <a:prstGeom prst="rect">
            <a:avLst/>
          </a:prstGeom>
        </p:spPr>
      </p:pic>
      <p:sp>
        <p:nvSpPr>
          <p:cNvPr id="9" name="Footer Placeholder 7">
            <a:extLst>
              <a:ext uri="{FF2B5EF4-FFF2-40B4-BE49-F238E27FC236}">
                <a16:creationId xmlns:a16="http://schemas.microsoft.com/office/drawing/2014/main" id="{B3B8F279-265E-69F1-7DDB-517C3F194390}"/>
              </a:ext>
            </a:extLst>
          </p:cNvPr>
          <p:cNvSpPr txBox="1">
            <a:spLocks/>
          </p:cNvSpPr>
          <p:nvPr/>
        </p:nvSpPr>
        <p:spPr>
          <a:xfrm>
            <a:off x="6436595" y="6328229"/>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Kass, Eden and Brown, Analysis of Neural Data</a:t>
            </a:r>
          </a:p>
        </p:txBody>
      </p:sp>
    </p:spTree>
    <p:extLst>
      <p:ext uri="{BB962C8B-B14F-4D97-AF65-F5344CB8AC3E}">
        <p14:creationId xmlns:p14="http://schemas.microsoft.com/office/powerpoint/2010/main" val="778038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AED81-65D1-3B6C-0F72-234D22A7963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54A0B31-F002-77CE-B23B-0E9A782B724D}"/>
              </a:ext>
            </a:extLst>
          </p:cNvPr>
          <p:cNvSpPr>
            <a:spLocks noGrp="1"/>
          </p:cNvSpPr>
          <p:nvPr>
            <p:ph type="sldNum" sz="quarter" idx="12"/>
          </p:nvPr>
        </p:nvSpPr>
        <p:spPr/>
        <p:txBody>
          <a:bodyPr/>
          <a:lstStyle/>
          <a:p>
            <a:fld id="{CB12788D-ABA5-4E7B-998B-677A061A6405}" type="slidenum">
              <a:rPr lang="en-US" smtClean="0"/>
              <a:t>22</a:t>
            </a:fld>
            <a:endParaRPr lang="en-US"/>
          </a:p>
        </p:txBody>
      </p:sp>
      <p:sp>
        <p:nvSpPr>
          <p:cNvPr id="7" name="Footer Placeholder 7">
            <a:extLst>
              <a:ext uri="{FF2B5EF4-FFF2-40B4-BE49-F238E27FC236}">
                <a16:creationId xmlns:a16="http://schemas.microsoft.com/office/drawing/2014/main" id="{4B98F9ED-BD91-B36E-0F22-C4DCE97C67E4}"/>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069DC6B7-BE7B-D5C5-AE80-AD971278DFAA}"/>
              </a:ext>
            </a:extLst>
          </p:cNvPr>
          <p:cNvSpPr>
            <a:spLocks noGrp="1"/>
          </p:cNvSpPr>
          <p:nvPr>
            <p:ph type="title"/>
          </p:nvPr>
        </p:nvSpPr>
        <p:spPr>
          <a:xfrm>
            <a:off x="838200" y="365125"/>
            <a:ext cx="10515600" cy="1325563"/>
          </a:xfrm>
        </p:spPr>
        <p:txBody>
          <a:bodyPr/>
          <a:lstStyle/>
          <a:p>
            <a:r>
              <a:rPr lang="en-US" dirty="0"/>
              <a:t>Bernoulli distribution</a:t>
            </a:r>
          </a:p>
        </p:txBody>
      </p:sp>
      <p:sp>
        <p:nvSpPr>
          <p:cNvPr id="3" name="Content Placeholder 2">
            <a:extLst>
              <a:ext uri="{FF2B5EF4-FFF2-40B4-BE49-F238E27FC236}">
                <a16:creationId xmlns:a16="http://schemas.microsoft.com/office/drawing/2014/main" id="{9102F739-2107-01F9-F533-B16C8C9EC28A}"/>
              </a:ext>
            </a:extLst>
          </p:cNvPr>
          <p:cNvSpPr>
            <a:spLocks noGrp="1"/>
          </p:cNvSpPr>
          <p:nvPr>
            <p:ph idx="1"/>
          </p:nvPr>
        </p:nvSpPr>
        <p:spPr/>
        <p:txBody>
          <a:bodyPr/>
          <a:lstStyle/>
          <a:p>
            <a:r>
              <a:rPr lang="en-US" dirty="0"/>
              <a:t>Random variables takes values 0 or 1</a:t>
            </a:r>
          </a:p>
          <a:p>
            <a:r>
              <a:rPr lang="en-US" dirty="0"/>
              <a:t>P(X=1) = p</a:t>
            </a:r>
          </a:p>
          <a:p>
            <a:r>
              <a:rPr lang="en-US" dirty="0"/>
              <a:t>P(X=0) = 1-p</a:t>
            </a:r>
          </a:p>
          <a:p>
            <a:r>
              <a:rPr lang="en-US" dirty="0"/>
              <a:t>E(X) = p</a:t>
            </a:r>
          </a:p>
          <a:p>
            <a:r>
              <a:rPr lang="en-US" dirty="0"/>
              <a:t>Var(X) = p*(1-p)</a:t>
            </a:r>
          </a:p>
        </p:txBody>
      </p:sp>
      <p:pic>
        <p:nvPicPr>
          <p:cNvPr id="6" name="Picture 5">
            <a:extLst>
              <a:ext uri="{FF2B5EF4-FFF2-40B4-BE49-F238E27FC236}">
                <a16:creationId xmlns:a16="http://schemas.microsoft.com/office/drawing/2014/main" id="{0A57C1A1-11EF-A822-5862-04597A52EFEB}"/>
              </a:ext>
            </a:extLst>
          </p:cNvPr>
          <p:cNvPicPr>
            <a:picLocks noChangeAspect="1"/>
          </p:cNvPicPr>
          <p:nvPr/>
        </p:nvPicPr>
        <p:blipFill>
          <a:blip r:embed="rId3"/>
          <a:stretch>
            <a:fillRect/>
          </a:stretch>
        </p:blipFill>
        <p:spPr>
          <a:xfrm>
            <a:off x="4663929" y="3429000"/>
            <a:ext cx="7152513" cy="2882900"/>
          </a:xfrm>
          <a:prstGeom prst="rect">
            <a:avLst/>
          </a:prstGeom>
        </p:spPr>
      </p:pic>
      <p:sp>
        <p:nvSpPr>
          <p:cNvPr id="9" name="Footer Placeholder 7">
            <a:extLst>
              <a:ext uri="{FF2B5EF4-FFF2-40B4-BE49-F238E27FC236}">
                <a16:creationId xmlns:a16="http://schemas.microsoft.com/office/drawing/2014/main" id="{D395F124-B8BC-FE24-F19C-2DB508E6E235}"/>
              </a:ext>
            </a:extLst>
          </p:cNvPr>
          <p:cNvSpPr txBox="1">
            <a:spLocks/>
          </p:cNvSpPr>
          <p:nvPr/>
        </p:nvSpPr>
        <p:spPr>
          <a:xfrm>
            <a:off x="4663929" y="6261100"/>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Wikipedia: Bernoulli distribution</a:t>
            </a:r>
          </a:p>
        </p:txBody>
      </p:sp>
    </p:spTree>
    <p:extLst>
      <p:ext uri="{BB962C8B-B14F-4D97-AF65-F5344CB8AC3E}">
        <p14:creationId xmlns:p14="http://schemas.microsoft.com/office/powerpoint/2010/main" val="4127404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A04F-D8CF-CE9E-CBFB-BB0F66A0EE6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59D3DBA-BC19-21DC-533D-613DBBD901D7}"/>
              </a:ext>
            </a:extLst>
          </p:cNvPr>
          <p:cNvSpPr>
            <a:spLocks noGrp="1"/>
          </p:cNvSpPr>
          <p:nvPr>
            <p:ph type="sldNum" sz="quarter" idx="12"/>
          </p:nvPr>
        </p:nvSpPr>
        <p:spPr/>
        <p:txBody>
          <a:bodyPr/>
          <a:lstStyle/>
          <a:p>
            <a:fld id="{CB12788D-ABA5-4E7B-998B-677A061A6405}" type="slidenum">
              <a:rPr lang="en-US" smtClean="0"/>
              <a:t>23</a:t>
            </a:fld>
            <a:endParaRPr lang="en-US"/>
          </a:p>
        </p:txBody>
      </p:sp>
      <p:sp>
        <p:nvSpPr>
          <p:cNvPr id="7" name="Footer Placeholder 7">
            <a:extLst>
              <a:ext uri="{FF2B5EF4-FFF2-40B4-BE49-F238E27FC236}">
                <a16:creationId xmlns:a16="http://schemas.microsoft.com/office/drawing/2014/main" id="{2CD2C3DF-6894-FEF8-44D3-9E7D41A88355}"/>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93800A3D-82B0-78E9-1FE9-D18E70E64285}"/>
              </a:ext>
            </a:extLst>
          </p:cNvPr>
          <p:cNvSpPr>
            <a:spLocks noGrp="1"/>
          </p:cNvSpPr>
          <p:nvPr>
            <p:ph type="title"/>
          </p:nvPr>
        </p:nvSpPr>
        <p:spPr>
          <a:xfrm>
            <a:off x="838200" y="365125"/>
            <a:ext cx="10515600" cy="1325563"/>
          </a:xfrm>
        </p:spPr>
        <p:txBody>
          <a:bodyPr/>
          <a:lstStyle/>
          <a:p>
            <a:r>
              <a:rPr lang="en-US" dirty="0"/>
              <a:t>Binomial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8879A8-0B55-F167-7A47-FC99FDF3FE6B}"/>
                  </a:ext>
                </a:extLst>
              </p:cNvPr>
              <p:cNvSpPr>
                <a:spLocks noGrp="1"/>
              </p:cNvSpPr>
              <p:nvPr>
                <p:ph idx="1"/>
              </p:nvPr>
            </p:nvSpPr>
            <p:spPr/>
            <p:txBody>
              <a:bodyPr/>
              <a:lstStyle/>
              <a:p>
                <a:r>
                  <a:rPr lang="en-US" dirty="0"/>
                  <a:t>Discrete</a:t>
                </a:r>
              </a:p>
              <a:p>
                <a:r>
                  <a:rPr lang="en-US" dirty="0"/>
                  <a:t>Number of successes in a sequence of n independent experiments</a:t>
                </a:r>
              </a:p>
              <a:p>
                <a:r>
                  <a:rPr lang="en-US" dirty="0"/>
                  <a:t>Probability of success: p</a:t>
                </a:r>
              </a:p>
              <a:p>
                <a:r>
                  <a:rPr lang="en-US" dirty="0"/>
                  <a:t>Single experiment: Bernoulli trial</a:t>
                </a:r>
              </a:p>
              <a:p>
                <a:r>
                  <a:rPr lang="en-US" dirty="0"/>
                  <a:t>P(X=x) = </a:t>
                </a:r>
                <a14:m>
                  <m:oMath xmlns:m="http://schemas.openxmlformats.org/officeDocument/2006/math">
                    <m:d>
                      <m:dPr>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𝑛</m:t>
                              </m:r>
                            </m:e>
                          </m:mr>
                          <m:mr>
                            <m:e>
                              <m:r>
                                <a:rPr lang="en-US" b="0" i="1" smtClean="0">
                                  <a:latin typeface="Cambria Math" panose="02040503050406030204" pitchFamily="18" charset="0"/>
                                </a:rPr>
                                <m:t>𝑥</m:t>
                              </m:r>
                            </m:e>
                          </m:mr>
                        </m:m>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𝑥</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𝑥</m:t>
                        </m:r>
                      </m:sup>
                    </m:sSup>
                  </m:oMath>
                </a14:m>
                <a:endParaRPr lang="en-US" dirty="0"/>
              </a:p>
              <a:p>
                <a:r>
                  <a:rPr lang="en-US" dirty="0"/>
                  <a:t>E(X) = n*p</a:t>
                </a:r>
              </a:p>
              <a:p>
                <a:r>
                  <a:rPr lang="en-US" dirty="0"/>
                  <a:t>Var(X) = n*p*(1-p)</a:t>
                </a:r>
              </a:p>
            </p:txBody>
          </p:sp>
        </mc:Choice>
        <mc:Fallback xmlns="">
          <p:sp>
            <p:nvSpPr>
              <p:cNvPr id="3" name="Content Placeholder 2">
                <a:extLst>
                  <a:ext uri="{FF2B5EF4-FFF2-40B4-BE49-F238E27FC236}">
                    <a16:creationId xmlns:a16="http://schemas.microsoft.com/office/drawing/2014/main" id="{C28879A8-0B55-F167-7A47-FC99FDF3FE6B}"/>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6AB200B5-B42F-D190-876B-3F87A7D7C2AB}"/>
              </a:ext>
            </a:extLst>
          </p:cNvPr>
          <p:cNvPicPr>
            <a:picLocks noChangeAspect="1"/>
          </p:cNvPicPr>
          <p:nvPr/>
        </p:nvPicPr>
        <p:blipFill>
          <a:blip r:embed="rId4"/>
          <a:stretch>
            <a:fillRect/>
          </a:stretch>
        </p:blipFill>
        <p:spPr>
          <a:xfrm>
            <a:off x="7213946" y="3787636"/>
            <a:ext cx="4197566" cy="2705239"/>
          </a:xfrm>
          <a:prstGeom prst="rect">
            <a:avLst/>
          </a:prstGeom>
        </p:spPr>
      </p:pic>
      <p:sp>
        <p:nvSpPr>
          <p:cNvPr id="9" name="Footer Placeholder 7">
            <a:extLst>
              <a:ext uri="{FF2B5EF4-FFF2-40B4-BE49-F238E27FC236}">
                <a16:creationId xmlns:a16="http://schemas.microsoft.com/office/drawing/2014/main" id="{5072303B-BCF0-0019-63CB-1B01089E5212}"/>
              </a:ext>
            </a:extLst>
          </p:cNvPr>
          <p:cNvSpPr txBox="1">
            <a:spLocks/>
          </p:cNvSpPr>
          <p:nvPr/>
        </p:nvSpPr>
        <p:spPr>
          <a:xfrm>
            <a:off x="7213946" y="6371657"/>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Wikipedia: Binomial distribution</a:t>
            </a:r>
          </a:p>
        </p:txBody>
      </p:sp>
    </p:spTree>
    <p:extLst>
      <p:ext uri="{BB962C8B-B14F-4D97-AF65-F5344CB8AC3E}">
        <p14:creationId xmlns:p14="http://schemas.microsoft.com/office/powerpoint/2010/main" val="1663892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E1C19-816C-D8C2-5F52-818675C9A97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D05CBE0-2F7D-E745-7F09-A71170A0D846}"/>
              </a:ext>
            </a:extLst>
          </p:cNvPr>
          <p:cNvPicPr>
            <a:picLocks noChangeAspect="1"/>
          </p:cNvPicPr>
          <p:nvPr/>
        </p:nvPicPr>
        <p:blipFill>
          <a:blip r:embed="rId3"/>
          <a:stretch>
            <a:fillRect/>
          </a:stretch>
        </p:blipFill>
        <p:spPr>
          <a:xfrm>
            <a:off x="5135335" y="3823945"/>
            <a:ext cx="6478616" cy="2714967"/>
          </a:xfrm>
          <a:prstGeom prst="rect">
            <a:avLst/>
          </a:prstGeom>
        </p:spPr>
      </p:pic>
      <p:sp>
        <p:nvSpPr>
          <p:cNvPr id="5" name="Slide Number Placeholder 4">
            <a:extLst>
              <a:ext uri="{FF2B5EF4-FFF2-40B4-BE49-F238E27FC236}">
                <a16:creationId xmlns:a16="http://schemas.microsoft.com/office/drawing/2014/main" id="{F797DA24-444B-1959-8796-0E31AD67B314}"/>
              </a:ext>
            </a:extLst>
          </p:cNvPr>
          <p:cNvSpPr>
            <a:spLocks noGrp="1"/>
          </p:cNvSpPr>
          <p:nvPr>
            <p:ph type="sldNum" sz="quarter" idx="12"/>
          </p:nvPr>
        </p:nvSpPr>
        <p:spPr/>
        <p:txBody>
          <a:bodyPr/>
          <a:lstStyle/>
          <a:p>
            <a:fld id="{CB12788D-ABA5-4E7B-998B-677A061A6405}" type="slidenum">
              <a:rPr lang="en-US" smtClean="0"/>
              <a:t>24</a:t>
            </a:fld>
            <a:endParaRPr lang="en-US" dirty="0"/>
          </a:p>
        </p:txBody>
      </p:sp>
      <p:sp>
        <p:nvSpPr>
          <p:cNvPr id="7" name="Footer Placeholder 7">
            <a:extLst>
              <a:ext uri="{FF2B5EF4-FFF2-40B4-BE49-F238E27FC236}">
                <a16:creationId xmlns:a16="http://schemas.microsoft.com/office/drawing/2014/main" id="{EDCCEA24-6808-CCEC-BEDE-A0717F4E2BDF}"/>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06B5BE5C-885D-A754-8C6F-303314D729DD}"/>
              </a:ext>
            </a:extLst>
          </p:cNvPr>
          <p:cNvSpPr>
            <a:spLocks noGrp="1"/>
          </p:cNvSpPr>
          <p:nvPr>
            <p:ph type="title"/>
          </p:nvPr>
        </p:nvSpPr>
        <p:spPr>
          <a:xfrm>
            <a:off x="838200" y="365125"/>
            <a:ext cx="10515600" cy="1325563"/>
          </a:xfrm>
        </p:spPr>
        <p:txBody>
          <a:bodyPr/>
          <a:lstStyle/>
          <a:p>
            <a:r>
              <a:rPr lang="en-US" dirty="0"/>
              <a:t>Quantal response in synaptic transmission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214918-8C13-1FA1-3ADC-C2216F0D7DA8}"/>
                  </a:ext>
                </a:extLst>
              </p:cNvPr>
              <p:cNvSpPr>
                <a:spLocks noGrp="1"/>
              </p:cNvSpPr>
              <p:nvPr>
                <p:ph idx="1"/>
              </p:nvPr>
            </p:nvSpPr>
            <p:spPr>
              <a:xfrm>
                <a:off x="838200" y="1825625"/>
                <a:ext cx="10515600" cy="3824061"/>
              </a:xfrm>
            </p:spPr>
            <p:txBody>
              <a:bodyPr>
                <a:normAutofit/>
              </a:bodyPr>
              <a:lstStyle/>
              <a:p>
                <a:r>
                  <a:rPr lang="en-US" sz="2400" dirty="0"/>
                  <a:t>Example for binomial distribution</a:t>
                </a:r>
              </a:p>
              <a:p>
                <a:r>
                  <a:rPr lang="en-US" sz="2400" dirty="0"/>
                  <a:t>Action potential </a:t>
                </a:r>
                <a:r>
                  <a:rPr lang="en-US" sz="2400" dirty="0">
                    <a:sym typeface="Wingdings" panose="05000000000000000000" pitchFamily="2" charset="2"/>
                  </a:rPr>
                  <a:t> calcium influx  vesicles with neurotransmitter fuse with membrane</a:t>
                </a:r>
              </a:p>
              <a:p>
                <a:r>
                  <a:rPr lang="en-US" sz="2400" dirty="0">
                    <a:sym typeface="Wingdings" panose="05000000000000000000" pitchFamily="2" charset="2"/>
                  </a:rPr>
                  <a:t>Probabilistic release of each quantum of transmitter</a:t>
                </a:r>
              </a:p>
              <a:p>
                <a:r>
                  <a:rPr lang="en-US" sz="2400" dirty="0">
                    <a:sym typeface="Wingdings" panose="05000000000000000000" pitchFamily="2" charset="2"/>
                  </a:rPr>
                  <a:t>Probability of x quanta</a:t>
                </a:r>
                <a:br>
                  <a:rPr lang="en-US" sz="2400" dirty="0">
                    <a:sym typeface="Wingdings" panose="05000000000000000000" pitchFamily="2" charset="2"/>
                  </a:rPr>
                </a:br>
                <a:r>
                  <a:rPr lang="en-US" sz="2400" dirty="0">
                    <a:sym typeface="Wingdings" panose="05000000000000000000" pitchFamily="2" charset="2"/>
                  </a:rPr>
                  <a:t>being released (Katz, 1969)</a:t>
                </a:r>
              </a:p>
              <a:p>
                <a:endParaRPr lang="en-US" sz="2400" dirty="0">
                  <a:sym typeface="Wingdings" panose="05000000000000000000" pitchFamily="2" charset="2"/>
                </a:endParaRPr>
              </a:p>
              <a:p>
                <a:pPr marL="0" indent="0">
                  <a:buNone/>
                </a:pPr>
                <a:r>
                  <a:rPr lang="en-US" sz="2400" dirty="0"/>
                  <a:t>P(x) = </a:t>
                </a:r>
                <a14:m>
                  <m:oMath xmlns:m="http://schemas.openxmlformats.org/officeDocument/2006/math">
                    <m:d>
                      <m:dPr>
                        <m:ctrlPr>
                          <a:rPr lang="en-US" sz="2400" b="0" i="1" smtClean="0">
                            <a:latin typeface="Cambria Math" panose="02040503050406030204" pitchFamily="18" charset="0"/>
                          </a:rPr>
                        </m:ctrlPr>
                      </m:dPr>
                      <m:e>
                        <m:m>
                          <m:mPr>
                            <m:mcs>
                              <m:mc>
                                <m:mcPr>
                                  <m:count m:val="1"/>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𝑛</m:t>
                              </m:r>
                            </m:e>
                          </m:mr>
                          <m:mr>
                            <m:e>
                              <m:r>
                                <a:rPr lang="en-US" sz="2400" b="0" i="1" smtClean="0">
                                  <a:latin typeface="Cambria Math" panose="02040503050406030204" pitchFamily="18" charset="0"/>
                                </a:rPr>
                                <m:t>𝑥</m:t>
                              </m:r>
                            </m:e>
                          </m:mr>
                        </m:m>
                      </m:e>
                    </m:d>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𝑝</m:t>
                        </m:r>
                      </m:e>
                      <m:sup>
                        <m:r>
                          <a:rPr lang="en-US" sz="2400" b="0" i="1" smtClean="0">
                            <a:latin typeface="Cambria Math" panose="02040503050406030204" pitchFamily="18" charset="0"/>
                          </a:rPr>
                          <m:t>𝑥</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m:t>
                        </m:r>
                        <m:r>
                          <a:rPr lang="en-US" sz="2400" b="0" i="1" smtClean="0">
                            <a:latin typeface="Cambria Math" panose="02040503050406030204" pitchFamily="18" charset="0"/>
                          </a:rPr>
                          <m:t>𝑝</m:t>
                        </m:r>
                        <m:r>
                          <a:rPr lang="en-US" sz="2400" b="0" i="1" smtClean="0">
                            <a:latin typeface="Cambria Math" panose="02040503050406030204" pitchFamily="18" charset="0"/>
                          </a:rPr>
                          <m:t>)</m:t>
                        </m:r>
                      </m:e>
                      <m:sup>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𝑥</m:t>
                        </m:r>
                      </m:sup>
                    </m:sSup>
                  </m:oMath>
                </a14:m>
                <a:endParaRPr lang="en-US" sz="2400" dirty="0"/>
              </a:p>
            </p:txBody>
          </p:sp>
        </mc:Choice>
        <mc:Fallback xmlns="">
          <p:sp>
            <p:nvSpPr>
              <p:cNvPr id="3" name="Content Placeholder 2">
                <a:extLst>
                  <a:ext uri="{FF2B5EF4-FFF2-40B4-BE49-F238E27FC236}">
                    <a16:creationId xmlns:a16="http://schemas.microsoft.com/office/drawing/2014/main" id="{7B214918-8C13-1FA1-3ADC-C2216F0D7DA8}"/>
                  </a:ext>
                </a:extLst>
              </p:cNvPr>
              <p:cNvSpPr>
                <a:spLocks noGrp="1" noRot="1" noChangeAspect="1" noMove="1" noResize="1" noEditPoints="1" noAdjustHandles="1" noChangeArrowheads="1" noChangeShapeType="1" noTextEdit="1"/>
              </p:cNvSpPr>
              <p:nvPr>
                <p:ph idx="1"/>
              </p:nvPr>
            </p:nvSpPr>
            <p:spPr>
              <a:xfrm>
                <a:off x="838200" y="1825625"/>
                <a:ext cx="10515600" cy="3824061"/>
              </a:xfrm>
              <a:blipFill>
                <a:blip r:embed="rId4"/>
                <a:stretch>
                  <a:fillRect l="-928" t="-2070" r="-464"/>
                </a:stretch>
              </a:blipFill>
            </p:spPr>
            <p:txBody>
              <a:bodyPr/>
              <a:lstStyle/>
              <a:p>
                <a:r>
                  <a:rPr lang="en-US">
                    <a:noFill/>
                  </a:rPr>
                  <a:t> </a:t>
                </a:r>
              </a:p>
            </p:txBody>
          </p:sp>
        </mc:Fallback>
      </mc:AlternateContent>
      <p:sp>
        <p:nvSpPr>
          <p:cNvPr id="6" name="Footer Placeholder 7">
            <a:extLst>
              <a:ext uri="{FF2B5EF4-FFF2-40B4-BE49-F238E27FC236}">
                <a16:creationId xmlns:a16="http://schemas.microsoft.com/office/drawing/2014/main" id="{8514E504-F1F6-D2A3-13A8-0F24F99C11D4}"/>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Koch, Biophysics of Computation</a:t>
            </a:r>
          </a:p>
        </p:txBody>
      </p:sp>
      <p:sp>
        <p:nvSpPr>
          <p:cNvPr id="11" name="Footer Placeholder 7">
            <a:extLst>
              <a:ext uri="{FF2B5EF4-FFF2-40B4-BE49-F238E27FC236}">
                <a16:creationId xmlns:a16="http://schemas.microsoft.com/office/drawing/2014/main" id="{7852F3AC-5EFD-46C2-0F7A-CDF253779E1A}"/>
              </a:ext>
            </a:extLst>
          </p:cNvPr>
          <p:cNvSpPr txBox="1">
            <a:spLocks/>
          </p:cNvSpPr>
          <p:nvPr/>
        </p:nvSpPr>
        <p:spPr>
          <a:xfrm>
            <a:off x="5140778" y="6492875"/>
            <a:ext cx="6113376"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Jessel and Kandel (1993), Neuron, Synaptic Transmission: A bidirectional and self-modifiable form of cell-cell communication</a:t>
            </a:r>
          </a:p>
        </p:txBody>
      </p:sp>
    </p:spTree>
    <p:extLst>
      <p:ext uri="{BB962C8B-B14F-4D97-AF65-F5344CB8AC3E}">
        <p14:creationId xmlns:p14="http://schemas.microsoft.com/office/powerpoint/2010/main" val="168631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5822B-07FD-993A-C301-A9DB1E800E7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B0A7F2F-88DF-7491-E76B-0B79D6491B80}"/>
              </a:ext>
            </a:extLst>
          </p:cNvPr>
          <p:cNvSpPr>
            <a:spLocks noGrp="1"/>
          </p:cNvSpPr>
          <p:nvPr>
            <p:ph type="sldNum" sz="quarter" idx="12"/>
          </p:nvPr>
        </p:nvSpPr>
        <p:spPr/>
        <p:txBody>
          <a:bodyPr/>
          <a:lstStyle/>
          <a:p>
            <a:fld id="{CB12788D-ABA5-4E7B-998B-677A061A6405}" type="slidenum">
              <a:rPr lang="en-US" smtClean="0"/>
              <a:t>25</a:t>
            </a:fld>
            <a:endParaRPr lang="en-US"/>
          </a:p>
        </p:txBody>
      </p:sp>
      <p:sp>
        <p:nvSpPr>
          <p:cNvPr id="7" name="Footer Placeholder 7">
            <a:extLst>
              <a:ext uri="{FF2B5EF4-FFF2-40B4-BE49-F238E27FC236}">
                <a16:creationId xmlns:a16="http://schemas.microsoft.com/office/drawing/2014/main" id="{A0302B65-3530-A0C0-C4CD-870CA6B3A527}"/>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F112681F-957D-CE74-015D-278A35F7805C}"/>
              </a:ext>
            </a:extLst>
          </p:cNvPr>
          <p:cNvSpPr>
            <a:spLocks noGrp="1"/>
          </p:cNvSpPr>
          <p:nvPr>
            <p:ph type="title"/>
          </p:nvPr>
        </p:nvSpPr>
        <p:spPr>
          <a:xfrm>
            <a:off x="838200" y="365125"/>
            <a:ext cx="10515600" cy="1325563"/>
          </a:xfrm>
        </p:spPr>
        <p:txBody>
          <a:bodyPr/>
          <a:lstStyle/>
          <a:p>
            <a:r>
              <a:rPr lang="en-US" dirty="0"/>
              <a:t>Poisson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FF5439-1D54-BC2D-E7EF-F747C1F5B127}"/>
                  </a:ext>
                </a:extLst>
              </p:cNvPr>
              <p:cNvSpPr>
                <a:spLocks noGrp="1"/>
              </p:cNvSpPr>
              <p:nvPr>
                <p:ph idx="1"/>
              </p:nvPr>
            </p:nvSpPr>
            <p:spPr/>
            <p:txBody>
              <a:bodyPr/>
              <a:lstStyle/>
              <a:p>
                <a:r>
                  <a:rPr lang="en-US" dirty="0"/>
                  <a:t>Used to describe counts of binary events</a:t>
                </a:r>
              </a:p>
              <a:p>
                <a:r>
                  <a:rPr lang="en-US" dirty="0"/>
                  <a:t>Assigns probability to every nonnegative integer</a:t>
                </a:r>
              </a:p>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m:rPr>
                            <m:sty m:val="p"/>
                          </m:rPr>
                          <a:rPr lang="el-GR" b="0" i="1" smtClean="0">
                            <a:latin typeface="Cambria Math" panose="02040503050406030204" pitchFamily="18" charset="0"/>
                          </a:rPr>
                          <m:t>λ</m:t>
                        </m:r>
                      </m:sup>
                    </m:sSup>
                    <m:f>
                      <m:fPr>
                        <m:ctrlPr>
                          <a:rPr lang="el-GR" b="0" i="1" smtClean="0">
                            <a:latin typeface="Cambria Math" panose="02040503050406030204" pitchFamily="18" charset="0"/>
                          </a:rPr>
                        </m:ctrlPr>
                      </m:fPr>
                      <m:num>
                        <m:sSup>
                          <m:sSupPr>
                            <m:ctrlPr>
                              <a:rPr lang="el-GR" b="0" i="1" smtClean="0">
                                <a:latin typeface="Cambria Math" panose="02040503050406030204" pitchFamily="18" charset="0"/>
                              </a:rPr>
                            </m:ctrlPr>
                          </m:sSupPr>
                          <m:e>
                            <m:r>
                              <m:rPr>
                                <m:sty m:val="p"/>
                              </m:rPr>
                              <a:rPr lang="el-GR" b="0" i="1" smtClean="0">
                                <a:latin typeface="Cambria Math" panose="02040503050406030204" pitchFamily="18" charset="0"/>
                              </a:rPr>
                              <m:t>λ</m:t>
                            </m:r>
                          </m:e>
                          <m:sup>
                            <m:r>
                              <a:rPr lang="en-US" b="0" i="1" smtClean="0">
                                <a:latin typeface="Cambria Math" panose="02040503050406030204" pitchFamily="18" charset="0"/>
                              </a:rPr>
                              <m:t>𝑥</m:t>
                            </m:r>
                          </m:sup>
                        </m:sSup>
                      </m:num>
                      <m:den>
                        <m:r>
                          <a:rPr lang="en-US" b="0" i="1" smtClean="0">
                            <a:latin typeface="Cambria Math" panose="02040503050406030204" pitchFamily="18" charset="0"/>
                          </a:rPr>
                          <m:t>𝑥</m:t>
                        </m:r>
                        <m:r>
                          <a:rPr lang="en-US" b="0" i="1" smtClean="0">
                            <a:latin typeface="Cambria Math" panose="02040503050406030204" pitchFamily="18" charset="0"/>
                          </a:rPr>
                          <m:t>!</m:t>
                        </m:r>
                      </m:den>
                    </m:f>
                  </m:oMath>
                </a14:m>
                <a:endParaRPr lang="en-US" dirty="0"/>
              </a:p>
              <a:p>
                <a:r>
                  <a:rPr lang="en-US" dirty="0"/>
                  <a:t>E(X) = λ</a:t>
                </a:r>
              </a:p>
              <a:p>
                <a:r>
                  <a:rPr lang="en-US" dirty="0"/>
                  <a:t>Var(X) = λ</a:t>
                </a:r>
              </a:p>
            </p:txBody>
          </p:sp>
        </mc:Choice>
        <mc:Fallback xmlns="">
          <p:sp>
            <p:nvSpPr>
              <p:cNvPr id="3" name="Content Placeholder 2">
                <a:extLst>
                  <a:ext uri="{FF2B5EF4-FFF2-40B4-BE49-F238E27FC236}">
                    <a16:creationId xmlns:a16="http://schemas.microsoft.com/office/drawing/2014/main" id="{E6FF5439-1D54-BC2D-E7EF-F747C1F5B127}"/>
                  </a:ext>
                </a:extLst>
              </p:cNvPr>
              <p:cNvSpPr>
                <a:spLocks noGrp="1" noRot="1" noChangeAspect="1" noMove="1" noResize="1" noEditPoints="1" noAdjustHandles="1" noChangeArrowheads="1" noChangeShapeType="1" noTextEdit="1"/>
              </p:cNvSpPr>
              <p:nvPr>
                <p:ph idx="1"/>
              </p:nvPr>
            </p:nvSpPr>
            <p:spPr>
              <a:blipFill>
                <a:blip r:embed="rId3"/>
                <a:stretch>
                  <a:fillRect l="-1043" t="-238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72DDC745-E134-8A15-FB45-C491E0A1B6C1}"/>
              </a:ext>
            </a:extLst>
          </p:cNvPr>
          <p:cNvPicPr>
            <a:picLocks noChangeAspect="1"/>
          </p:cNvPicPr>
          <p:nvPr/>
        </p:nvPicPr>
        <p:blipFill>
          <a:blip r:embed="rId4"/>
          <a:stretch>
            <a:fillRect/>
          </a:stretch>
        </p:blipFill>
        <p:spPr>
          <a:xfrm>
            <a:off x="4408714" y="3526484"/>
            <a:ext cx="3787052" cy="2874316"/>
          </a:xfrm>
          <a:prstGeom prst="rect">
            <a:avLst/>
          </a:prstGeom>
        </p:spPr>
      </p:pic>
      <p:pic>
        <p:nvPicPr>
          <p:cNvPr id="9" name="Picture 8">
            <a:extLst>
              <a:ext uri="{FF2B5EF4-FFF2-40B4-BE49-F238E27FC236}">
                <a16:creationId xmlns:a16="http://schemas.microsoft.com/office/drawing/2014/main" id="{FB8B6FD8-D578-DD6D-095C-848B69C1126A}"/>
              </a:ext>
            </a:extLst>
          </p:cNvPr>
          <p:cNvPicPr>
            <a:picLocks noChangeAspect="1"/>
          </p:cNvPicPr>
          <p:nvPr/>
        </p:nvPicPr>
        <p:blipFill>
          <a:blip r:embed="rId5"/>
          <a:stretch>
            <a:fillRect/>
          </a:stretch>
        </p:blipFill>
        <p:spPr>
          <a:xfrm>
            <a:off x="8334044" y="3565525"/>
            <a:ext cx="3698067" cy="2835275"/>
          </a:xfrm>
          <a:prstGeom prst="rect">
            <a:avLst/>
          </a:prstGeom>
        </p:spPr>
      </p:pic>
      <p:sp>
        <p:nvSpPr>
          <p:cNvPr id="11" name="Footer Placeholder 7">
            <a:extLst>
              <a:ext uri="{FF2B5EF4-FFF2-40B4-BE49-F238E27FC236}">
                <a16:creationId xmlns:a16="http://schemas.microsoft.com/office/drawing/2014/main" id="{D7EF0409-DE5D-8FF5-71F4-7B66CD1A5E66}"/>
              </a:ext>
            </a:extLst>
          </p:cNvPr>
          <p:cNvSpPr txBox="1">
            <a:spLocks/>
          </p:cNvSpPr>
          <p:nvPr/>
        </p:nvSpPr>
        <p:spPr>
          <a:xfrm>
            <a:off x="4408714" y="6311900"/>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Wikipedia: Poisson distribution</a:t>
            </a:r>
          </a:p>
        </p:txBody>
      </p:sp>
      <p:sp>
        <p:nvSpPr>
          <p:cNvPr id="13" name="Footer Placeholder 7">
            <a:extLst>
              <a:ext uri="{FF2B5EF4-FFF2-40B4-BE49-F238E27FC236}">
                <a16:creationId xmlns:a16="http://schemas.microsoft.com/office/drawing/2014/main" id="{F54BCE4C-473B-3770-1E73-4F1FB559594A}"/>
              </a:ext>
            </a:extLst>
          </p:cNvPr>
          <p:cNvSpPr txBox="1">
            <a:spLocks/>
          </p:cNvSpPr>
          <p:nvPr/>
        </p:nvSpPr>
        <p:spPr>
          <a:xfrm>
            <a:off x="5059135" y="3147638"/>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dirty="0">
                <a:solidFill>
                  <a:schemeClr val="tx1"/>
                </a:solidFill>
              </a:rPr>
              <a:t>Probability mass function</a:t>
            </a:r>
          </a:p>
        </p:txBody>
      </p:sp>
      <p:sp>
        <p:nvSpPr>
          <p:cNvPr id="15" name="Footer Placeholder 7">
            <a:extLst>
              <a:ext uri="{FF2B5EF4-FFF2-40B4-BE49-F238E27FC236}">
                <a16:creationId xmlns:a16="http://schemas.microsoft.com/office/drawing/2014/main" id="{9FF93019-4FE8-B4AD-84D6-8D6183F47D77}"/>
              </a:ext>
            </a:extLst>
          </p:cNvPr>
          <p:cNvSpPr txBox="1">
            <a:spLocks/>
          </p:cNvSpPr>
          <p:nvPr/>
        </p:nvSpPr>
        <p:spPr>
          <a:xfrm>
            <a:off x="8752114" y="3147638"/>
            <a:ext cx="3184072"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dirty="0">
                <a:solidFill>
                  <a:schemeClr val="tx1"/>
                </a:solidFill>
              </a:rPr>
              <a:t>Cumulative distribution function</a:t>
            </a:r>
          </a:p>
        </p:txBody>
      </p:sp>
    </p:spTree>
    <p:extLst>
      <p:ext uri="{BB962C8B-B14F-4D97-AF65-F5344CB8AC3E}">
        <p14:creationId xmlns:p14="http://schemas.microsoft.com/office/powerpoint/2010/main" val="999328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2D3FD-56E0-1296-9128-5ED331E8EEA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B6FF418-3B9A-7D56-8D1C-F4F97FE97914}"/>
              </a:ext>
            </a:extLst>
          </p:cNvPr>
          <p:cNvSpPr>
            <a:spLocks noGrp="1"/>
          </p:cNvSpPr>
          <p:nvPr>
            <p:ph type="sldNum" sz="quarter" idx="12"/>
          </p:nvPr>
        </p:nvSpPr>
        <p:spPr/>
        <p:txBody>
          <a:bodyPr/>
          <a:lstStyle/>
          <a:p>
            <a:fld id="{CB12788D-ABA5-4E7B-998B-677A061A6405}" type="slidenum">
              <a:rPr lang="en-US" smtClean="0"/>
              <a:t>26</a:t>
            </a:fld>
            <a:endParaRPr lang="en-US"/>
          </a:p>
        </p:txBody>
      </p:sp>
      <p:sp>
        <p:nvSpPr>
          <p:cNvPr id="7" name="Footer Placeholder 7">
            <a:extLst>
              <a:ext uri="{FF2B5EF4-FFF2-40B4-BE49-F238E27FC236}">
                <a16:creationId xmlns:a16="http://schemas.microsoft.com/office/drawing/2014/main" id="{2A06371F-6D94-0CE8-3CFA-E4ECEE276FBA}"/>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B1AC5639-BA93-42FB-9A59-ABBAA50F3A35}"/>
              </a:ext>
            </a:extLst>
          </p:cNvPr>
          <p:cNvSpPr>
            <a:spLocks noGrp="1"/>
          </p:cNvSpPr>
          <p:nvPr>
            <p:ph type="title"/>
          </p:nvPr>
        </p:nvSpPr>
        <p:spPr>
          <a:xfrm>
            <a:off x="838200" y="365125"/>
            <a:ext cx="10515600" cy="1325563"/>
          </a:xfrm>
        </p:spPr>
        <p:txBody>
          <a:bodyPr/>
          <a:lstStyle/>
          <a:p>
            <a:r>
              <a:rPr lang="en-US" dirty="0"/>
              <a:t>Normal distribution (Gaussian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D9EC0A-06F8-1910-8899-21F8FB9F7AD7}"/>
                  </a:ext>
                </a:extLst>
              </p:cNvPr>
              <p:cNvSpPr>
                <a:spLocks noGrp="1"/>
              </p:cNvSpPr>
              <p:nvPr>
                <p:ph idx="1"/>
              </p:nvPr>
            </p:nvSpPr>
            <p:spPr/>
            <p:txBody>
              <a:bodyPr/>
              <a:lstStyle/>
              <a:p>
                <a:pPr marL="0" indent="0">
                  <a:buNone/>
                </a:pPr>
                <a14:m>
                  <m:oMathPara xmlns:m="http://schemas.openxmlformats.org/officeDocument/2006/math">
                    <m:o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m:rPr>
                                  <m:sty m:val="p"/>
                                </m:rPr>
                                <a:rPr lang="el-GR" b="0" i="1" smtClean="0">
                                  <a:latin typeface="Cambria Math" panose="02040503050406030204" pitchFamily="18" charset="0"/>
                                </a:rPr>
                                <m:t>π</m:t>
                              </m:r>
                              <m:sSup>
                                <m:sSupPr>
                                  <m:ctrlPr>
                                    <a:rPr lang="el-GR" b="0" i="1" smtClean="0">
                                      <a:latin typeface="Cambria Math" panose="02040503050406030204" pitchFamily="18" charset="0"/>
                                    </a:rPr>
                                  </m:ctrlPr>
                                </m:sSupPr>
                                <m:e>
                                  <m:r>
                                    <m:rPr>
                                      <m:sty m:val="p"/>
                                    </m:rPr>
                                    <a:rPr lang="el-GR" b="0" i="1" smtClean="0">
                                      <a:latin typeface="Cambria Math" panose="02040503050406030204" pitchFamily="18" charset="0"/>
                                    </a:rPr>
                                    <m:t>σ</m:t>
                                  </m:r>
                                </m:e>
                                <m:sup>
                                  <m:r>
                                    <a:rPr lang="en-US" b="0" i="1" smtClean="0">
                                      <a:latin typeface="Cambria Math" panose="02040503050406030204" pitchFamily="18" charset="0"/>
                                    </a:rPr>
                                    <m:t>2</m:t>
                                  </m:r>
                                </m:sup>
                              </m:sSup>
                            </m:e>
                          </m:rad>
                        </m:den>
                      </m:f>
                      <m:r>
                        <m:rPr>
                          <m:sty m:val="p"/>
                        </m:rPr>
                        <a:rPr lang="en-US" b="0" i="0" smtClean="0">
                          <a:latin typeface="Cambria Math" panose="02040503050406030204" pitchFamily="18" charset="0"/>
                        </a:rPr>
                        <m:t>exp</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l-GR" b="0" i="1" smtClean="0">
                                      <a:latin typeface="Cambria Math" panose="02040503050406030204" pitchFamily="18" charset="0"/>
                                    </a:rPr>
                                    <m:t>𝜇</m:t>
                                  </m:r>
                                </m:e>
                              </m:d>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r>
                                <m:rPr>
                                  <m:sty m:val="p"/>
                                </m:rPr>
                                <a:rPr lang="el-GR" b="0" i="1" smtClean="0">
                                  <a:latin typeface="Cambria Math" panose="02040503050406030204" pitchFamily="18" charset="0"/>
                                </a:rPr>
                                <m:t>σ</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D7D9EC0A-06F8-1910-8899-21F8FB9F7AD7}"/>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EC1155EB-D0F3-4CF7-A1E4-A3ABB4921033}"/>
              </a:ext>
            </a:extLst>
          </p:cNvPr>
          <p:cNvPicPr>
            <a:picLocks noChangeAspect="1"/>
          </p:cNvPicPr>
          <p:nvPr/>
        </p:nvPicPr>
        <p:blipFill>
          <a:blip r:embed="rId4"/>
          <a:stretch>
            <a:fillRect/>
          </a:stretch>
        </p:blipFill>
        <p:spPr>
          <a:xfrm>
            <a:off x="482234" y="3543300"/>
            <a:ext cx="4977315" cy="3178175"/>
          </a:xfrm>
          <a:prstGeom prst="rect">
            <a:avLst/>
          </a:prstGeom>
        </p:spPr>
      </p:pic>
      <p:pic>
        <p:nvPicPr>
          <p:cNvPr id="9" name="Picture 8">
            <a:extLst>
              <a:ext uri="{FF2B5EF4-FFF2-40B4-BE49-F238E27FC236}">
                <a16:creationId xmlns:a16="http://schemas.microsoft.com/office/drawing/2014/main" id="{59135CE6-03BF-7BAB-3F08-8ACC1E08CD62}"/>
              </a:ext>
            </a:extLst>
          </p:cNvPr>
          <p:cNvPicPr>
            <a:picLocks noChangeAspect="1"/>
          </p:cNvPicPr>
          <p:nvPr/>
        </p:nvPicPr>
        <p:blipFill>
          <a:blip r:embed="rId5"/>
          <a:stretch>
            <a:fillRect/>
          </a:stretch>
        </p:blipFill>
        <p:spPr>
          <a:xfrm>
            <a:off x="5728971" y="3543300"/>
            <a:ext cx="4838628" cy="3063875"/>
          </a:xfrm>
          <a:prstGeom prst="rect">
            <a:avLst/>
          </a:prstGeom>
        </p:spPr>
      </p:pic>
      <p:sp>
        <p:nvSpPr>
          <p:cNvPr id="15" name="Footer Placeholder 7">
            <a:extLst>
              <a:ext uri="{FF2B5EF4-FFF2-40B4-BE49-F238E27FC236}">
                <a16:creationId xmlns:a16="http://schemas.microsoft.com/office/drawing/2014/main" id="{1CD660B2-8ACF-9B50-A5BD-16FD93517C76}"/>
              </a:ext>
            </a:extLst>
          </p:cNvPr>
          <p:cNvSpPr txBox="1">
            <a:spLocks/>
          </p:cNvSpPr>
          <p:nvPr/>
        </p:nvSpPr>
        <p:spPr>
          <a:xfrm>
            <a:off x="1711778" y="3141322"/>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dirty="0">
                <a:solidFill>
                  <a:schemeClr val="tx1"/>
                </a:solidFill>
              </a:rPr>
              <a:t>Probability mass function</a:t>
            </a:r>
          </a:p>
        </p:txBody>
      </p:sp>
      <p:sp>
        <p:nvSpPr>
          <p:cNvPr id="17" name="Footer Placeholder 7">
            <a:extLst>
              <a:ext uri="{FF2B5EF4-FFF2-40B4-BE49-F238E27FC236}">
                <a16:creationId xmlns:a16="http://schemas.microsoft.com/office/drawing/2014/main" id="{31E61B0D-FE08-C0BE-0783-A3F996D9F6BD}"/>
              </a:ext>
            </a:extLst>
          </p:cNvPr>
          <p:cNvSpPr txBox="1">
            <a:spLocks/>
          </p:cNvSpPr>
          <p:nvPr/>
        </p:nvSpPr>
        <p:spPr>
          <a:xfrm>
            <a:off x="6556249" y="3072266"/>
            <a:ext cx="3184072"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00" dirty="0">
                <a:solidFill>
                  <a:schemeClr val="tx1"/>
                </a:solidFill>
              </a:rPr>
              <a:t>Cumulative distribution function</a:t>
            </a:r>
          </a:p>
        </p:txBody>
      </p:sp>
      <p:sp>
        <p:nvSpPr>
          <p:cNvPr id="21" name="Footer Placeholder 7">
            <a:extLst>
              <a:ext uri="{FF2B5EF4-FFF2-40B4-BE49-F238E27FC236}">
                <a16:creationId xmlns:a16="http://schemas.microsoft.com/office/drawing/2014/main" id="{A3611445-2D3B-7483-EBBB-59FDC3BA4E91}"/>
              </a:ext>
            </a:extLst>
          </p:cNvPr>
          <p:cNvSpPr txBox="1">
            <a:spLocks/>
          </p:cNvSpPr>
          <p:nvPr/>
        </p:nvSpPr>
        <p:spPr>
          <a:xfrm>
            <a:off x="838200" y="6546396"/>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Wikipedia: Normal distribution</a:t>
            </a:r>
          </a:p>
        </p:txBody>
      </p:sp>
    </p:spTree>
    <p:extLst>
      <p:ext uri="{BB962C8B-B14F-4D97-AF65-F5344CB8AC3E}">
        <p14:creationId xmlns:p14="http://schemas.microsoft.com/office/powerpoint/2010/main" val="1550187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C00DA-A053-73C6-CDA4-5485EB5BCB9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0CAEC90-0FEF-640E-7CFA-95BEDA7D27A7}"/>
              </a:ext>
            </a:extLst>
          </p:cNvPr>
          <p:cNvSpPr>
            <a:spLocks noGrp="1"/>
          </p:cNvSpPr>
          <p:nvPr>
            <p:ph type="sldNum" sz="quarter" idx="12"/>
          </p:nvPr>
        </p:nvSpPr>
        <p:spPr/>
        <p:txBody>
          <a:bodyPr/>
          <a:lstStyle/>
          <a:p>
            <a:fld id="{CB12788D-ABA5-4E7B-998B-677A061A6405}" type="slidenum">
              <a:rPr lang="en-US" smtClean="0"/>
              <a:t>27</a:t>
            </a:fld>
            <a:endParaRPr lang="en-US" dirty="0"/>
          </a:p>
        </p:txBody>
      </p:sp>
      <p:sp>
        <p:nvSpPr>
          <p:cNvPr id="7" name="Footer Placeholder 7">
            <a:extLst>
              <a:ext uri="{FF2B5EF4-FFF2-40B4-BE49-F238E27FC236}">
                <a16:creationId xmlns:a16="http://schemas.microsoft.com/office/drawing/2014/main" id="{55143FBF-417F-37CC-284C-81069FB79423}"/>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6C36D311-F54F-3F21-59A0-9185F2EE49F3}"/>
              </a:ext>
            </a:extLst>
          </p:cNvPr>
          <p:cNvSpPr>
            <a:spLocks noGrp="1"/>
          </p:cNvSpPr>
          <p:nvPr>
            <p:ph type="title"/>
          </p:nvPr>
        </p:nvSpPr>
        <p:spPr>
          <a:xfrm>
            <a:off x="838200" y="365125"/>
            <a:ext cx="10515600" cy="1325563"/>
          </a:xfrm>
        </p:spPr>
        <p:txBody>
          <a:bodyPr/>
          <a:lstStyle/>
          <a:p>
            <a:r>
              <a:rPr lang="en-US" dirty="0"/>
              <a:t>Spike train</a:t>
            </a:r>
          </a:p>
        </p:txBody>
      </p:sp>
      <p:sp>
        <p:nvSpPr>
          <p:cNvPr id="3" name="Content Placeholder 2">
            <a:extLst>
              <a:ext uri="{FF2B5EF4-FFF2-40B4-BE49-F238E27FC236}">
                <a16:creationId xmlns:a16="http://schemas.microsoft.com/office/drawing/2014/main" id="{E6B2B65A-0A5F-1685-0486-9EFB71B5C476}"/>
              </a:ext>
            </a:extLst>
          </p:cNvPr>
          <p:cNvSpPr>
            <a:spLocks noGrp="1"/>
          </p:cNvSpPr>
          <p:nvPr>
            <p:ph idx="1"/>
          </p:nvPr>
        </p:nvSpPr>
        <p:spPr>
          <a:xfrm>
            <a:off x="838200" y="1825625"/>
            <a:ext cx="10515600" cy="1399268"/>
          </a:xfrm>
        </p:spPr>
        <p:txBody>
          <a:bodyPr>
            <a:normAutofit/>
          </a:bodyPr>
          <a:lstStyle/>
          <a:p>
            <a:r>
              <a:rPr lang="en-US" sz="2400" dirty="0"/>
              <a:t>Discrete series of time events at which action potential is generated</a:t>
            </a:r>
          </a:p>
          <a:p>
            <a:r>
              <a:rPr lang="en-US" sz="2400" dirty="0"/>
              <a:t>Stochastic</a:t>
            </a:r>
          </a:p>
          <a:p>
            <a:r>
              <a:rPr lang="en-US" sz="2400" dirty="0"/>
              <a:t>Irregular discharge pattern of neuron</a:t>
            </a:r>
          </a:p>
        </p:txBody>
      </p:sp>
      <p:sp>
        <p:nvSpPr>
          <p:cNvPr id="6" name="Footer Placeholder 7">
            <a:extLst>
              <a:ext uri="{FF2B5EF4-FFF2-40B4-BE49-F238E27FC236}">
                <a16:creationId xmlns:a16="http://schemas.microsoft.com/office/drawing/2014/main" id="{E775509E-908B-A8F5-47A9-BEBBB1463975}"/>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Koch, Biophysics of Computation</a:t>
            </a:r>
          </a:p>
        </p:txBody>
      </p:sp>
      <p:sp>
        <p:nvSpPr>
          <p:cNvPr id="2" name="Content Placeholder 2">
            <a:extLst>
              <a:ext uri="{FF2B5EF4-FFF2-40B4-BE49-F238E27FC236}">
                <a16:creationId xmlns:a16="http://schemas.microsoft.com/office/drawing/2014/main" id="{1A8D28C9-9962-484C-D153-34F426A5E210}"/>
              </a:ext>
            </a:extLst>
          </p:cNvPr>
          <p:cNvSpPr txBox="1">
            <a:spLocks/>
          </p:cNvSpPr>
          <p:nvPr/>
        </p:nvSpPr>
        <p:spPr>
          <a:xfrm>
            <a:off x="838200" y="3633108"/>
            <a:ext cx="10515600" cy="13992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dirty="0"/>
              <a:t>What property encodes information?</a:t>
            </a:r>
          </a:p>
          <a:p>
            <a:r>
              <a:rPr lang="en-US" sz="2400" dirty="0"/>
              <a:t>Mean rate code (firing frequency averaged over long time)</a:t>
            </a:r>
          </a:p>
          <a:p>
            <a:r>
              <a:rPr lang="en-US" sz="2400" dirty="0"/>
              <a:t>Intervals between spikes</a:t>
            </a:r>
          </a:p>
        </p:txBody>
      </p:sp>
    </p:spTree>
    <p:extLst>
      <p:ext uri="{BB962C8B-B14F-4D97-AF65-F5344CB8AC3E}">
        <p14:creationId xmlns:p14="http://schemas.microsoft.com/office/powerpoint/2010/main" val="2099510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D70BF-31E4-EFD6-0792-8D4BB783162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A027C5E-D797-1348-D9F5-D4747358B8A8}"/>
              </a:ext>
            </a:extLst>
          </p:cNvPr>
          <p:cNvSpPr>
            <a:spLocks noGrp="1"/>
          </p:cNvSpPr>
          <p:nvPr>
            <p:ph type="sldNum" sz="quarter" idx="12"/>
          </p:nvPr>
        </p:nvSpPr>
        <p:spPr/>
        <p:txBody>
          <a:bodyPr/>
          <a:lstStyle/>
          <a:p>
            <a:fld id="{CB12788D-ABA5-4E7B-998B-677A061A6405}" type="slidenum">
              <a:rPr lang="en-US" smtClean="0"/>
              <a:t>28</a:t>
            </a:fld>
            <a:endParaRPr lang="en-US" dirty="0"/>
          </a:p>
        </p:txBody>
      </p:sp>
      <p:sp>
        <p:nvSpPr>
          <p:cNvPr id="7" name="Footer Placeholder 7">
            <a:extLst>
              <a:ext uri="{FF2B5EF4-FFF2-40B4-BE49-F238E27FC236}">
                <a16:creationId xmlns:a16="http://schemas.microsoft.com/office/drawing/2014/main" id="{41A5A10B-86DE-F820-749D-B8C04CFE4A7D}"/>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9AD83A8D-0874-A439-92BB-544A4FD9397C}"/>
              </a:ext>
            </a:extLst>
          </p:cNvPr>
          <p:cNvSpPr>
            <a:spLocks noGrp="1"/>
          </p:cNvSpPr>
          <p:nvPr>
            <p:ph type="title"/>
          </p:nvPr>
        </p:nvSpPr>
        <p:spPr>
          <a:xfrm>
            <a:off x="838200" y="365125"/>
            <a:ext cx="10515600" cy="1325563"/>
          </a:xfrm>
        </p:spPr>
        <p:txBody>
          <a:bodyPr/>
          <a:lstStyle/>
          <a:p>
            <a:r>
              <a:rPr lang="en-US" dirty="0"/>
              <a:t>Spike train variability</a:t>
            </a:r>
          </a:p>
        </p:txBody>
      </p:sp>
      <p:sp>
        <p:nvSpPr>
          <p:cNvPr id="3" name="Content Placeholder 2">
            <a:extLst>
              <a:ext uri="{FF2B5EF4-FFF2-40B4-BE49-F238E27FC236}">
                <a16:creationId xmlns:a16="http://schemas.microsoft.com/office/drawing/2014/main" id="{0A187020-1C57-00C6-2C20-1A663D9FF627}"/>
              </a:ext>
            </a:extLst>
          </p:cNvPr>
          <p:cNvSpPr>
            <a:spLocks noGrp="1"/>
          </p:cNvSpPr>
          <p:nvPr>
            <p:ph idx="1"/>
          </p:nvPr>
        </p:nvSpPr>
        <p:spPr>
          <a:xfrm>
            <a:off x="838200" y="1825625"/>
            <a:ext cx="4966607" cy="3219904"/>
          </a:xfrm>
        </p:spPr>
        <p:txBody>
          <a:bodyPr>
            <a:normAutofit/>
          </a:bodyPr>
          <a:lstStyle/>
          <a:p>
            <a:r>
              <a:rPr lang="en-US" sz="2400" dirty="0"/>
              <a:t>Spike train of 50 trials</a:t>
            </a:r>
          </a:p>
          <a:p>
            <a:r>
              <a:rPr lang="en-US" sz="2400" dirty="0"/>
              <a:t>Spike rate (3 </a:t>
            </a:r>
            <a:r>
              <a:rPr lang="en-US" sz="2400" dirty="0" err="1"/>
              <a:t>ms</a:t>
            </a:r>
            <a:r>
              <a:rPr lang="en-US" sz="2400" dirty="0"/>
              <a:t> window)</a:t>
            </a:r>
          </a:p>
          <a:p>
            <a:r>
              <a:rPr lang="en-US" sz="2400" dirty="0"/>
              <a:t>Inter-spike interval (ISI)</a:t>
            </a:r>
          </a:p>
          <a:p>
            <a:r>
              <a:rPr lang="en-US" sz="2400" dirty="0"/>
              <a:t>Spike count</a:t>
            </a:r>
          </a:p>
          <a:p>
            <a:pPr marL="0" indent="0">
              <a:buNone/>
            </a:pPr>
            <a:r>
              <a:rPr lang="en-US" sz="2400" dirty="0">
                <a:sym typeface="Wingdings" panose="05000000000000000000" pitchFamily="2" charset="2"/>
              </a:rPr>
              <a:t> High variability</a:t>
            </a:r>
            <a:endParaRPr lang="en-US" sz="2400" dirty="0"/>
          </a:p>
        </p:txBody>
      </p:sp>
      <p:sp>
        <p:nvSpPr>
          <p:cNvPr id="6" name="Footer Placeholder 7">
            <a:extLst>
              <a:ext uri="{FF2B5EF4-FFF2-40B4-BE49-F238E27FC236}">
                <a16:creationId xmlns:a16="http://schemas.microsoft.com/office/drawing/2014/main" id="{77CC20AB-8627-0139-F981-BA5AC58BE655}"/>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Koch, Biophysics of Computation</a:t>
            </a:r>
          </a:p>
        </p:txBody>
      </p:sp>
      <p:sp>
        <p:nvSpPr>
          <p:cNvPr id="11" name="Footer Placeholder 7">
            <a:extLst>
              <a:ext uri="{FF2B5EF4-FFF2-40B4-BE49-F238E27FC236}">
                <a16:creationId xmlns:a16="http://schemas.microsoft.com/office/drawing/2014/main" id="{F67E4FAE-8839-A7DF-C637-F628598AD147}"/>
              </a:ext>
            </a:extLst>
          </p:cNvPr>
          <p:cNvSpPr txBox="1">
            <a:spLocks/>
          </p:cNvSpPr>
          <p:nvPr/>
        </p:nvSpPr>
        <p:spPr>
          <a:xfrm>
            <a:off x="6096000" y="6371657"/>
            <a:ext cx="6113376"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Ruyter et al. (1997), Science, Reproducibility and Variability in Neural Slike Tranis</a:t>
            </a:r>
          </a:p>
        </p:txBody>
      </p:sp>
      <p:pic>
        <p:nvPicPr>
          <p:cNvPr id="9" name="Picture 8">
            <a:extLst>
              <a:ext uri="{FF2B5EF4-FFF2-40B4-BE49-F238E27FC236}">
                <a16:creationId xmlns:a16="http://schemas.microsoft.com/office/drawing/2014/main" id="{752146FC-7F7E-A043-EB7A-BDB54A6B159D}"/>
              </a:ext>
            </a:extLst>
          </p:cNvPr>
          <p:cNvPicPr>
            <a:picLocks noChangeAspect="1"/>
          </p:cNvPicPr>
          <p:nvPr/>
        </p:nvPicPr>
        <p:blipFill>
          <a:blip r:embed="rId3"/>
          <a:stretch>
            <a:fillRect/>
          </a:stretch>
        </p:blipFill>
        <p:spPr>
          <a:xfrm>
            <a:off x="6027656" y="886732"/>
            <a:ext cx="5786672" cy="5545818"/>
          </a:xfrm>
          <a:prstGeom prst="rect">
            <a:avLst/>
          </a:prstGeom>
        </p:spPr>
      </p:pic>
      <p:sp>
        <p:nvSpPr>
          <p:cNvPr id="10" name="Content Placeholder 2">
            <a:extLst>
              <a:ext uri="{FF2B5EF4-FFF2-40B4-BE49-F238E27FC236}">
                <a16:creationId xmlns:a16="http://schemas.microsoft.com/office/drawing/2014/main" id="{968E5DF9-EC1F-C352-51FB-7D256184C962}"/>
              </a:ext>
            </a:extLst>
          </p:cNvPr>
          <p:cNvSpPr txBox="1">
            <a:spLocks/>
          </p:cNvSpPr>
          <p:nvPr/>
        </p:nvSpPr>
        <p:spPr>
          <a:xfrm>
            <a:off x="838199" y="4599937"/>
            <a:ext cx="3750129" cy="10193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solidFill>
                  <a:srgbClr val="7030A0"/>
                </a:solidFill>
              </a:rPr>
              <a:t>We need to work with probabilities</a:t>
            </a:r>
          </a:p>
        </p:txBody>
      </p:sp>
    </p:spTree>
    <p:extLst>
      <p:ext uri="{BB962C8B-B14F-4D97-AF65-F5344CB8AC3E}">
        <p14:creationId xmlns:p14="http://schemas.microsoft.com/office/powerpoint/2010/main" val="1893114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7563A-76C2-CC4D-9BF1-20189082F04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1BF304C-E320-AC0A-971A-D332A9A7C106}"/>
              </a:ext>
            </a:extLst>
          </p:cNvPr>
          <p:cNvSpPr>
            <a:spLocks noGrp="1"/>
          </p:cNvSpPr>
          <p:nvPr>
            <p:ph type="sldNum" sz="quarter" idx="12"/>
          </p:nvPr>
        </p:nvSpPr>
        <p:spPr/>
        <p:txBody>
          <a:bodyPr/>
          <a:lstStyle/>
          <a:p>
            <a:fld id="{CB12788D-ABA5-4E7B-998B-677A061A6405}" type="slidenum">
              <a:rPr lang="en-US" smtClean="0"/>
              <a:t>29</a:t>
            </a:fld>
            <a:endParaRPr lang="en-US" dirty="0"/>
          </a:p>
        </p:txBody>
      </p:sp>
      <p:sp>
        <p:nvSpPr>
          <p:cNvPr id="7" name="Footer Placeholder 7">
            <a:extLst>
              <a:ext uri="{FF2B5EF4-FFF2-40B4-BE49-F238E27FC236}">
                <a16:creationId xmlns:a16="http://schemas.microsoft.com/office/drawing/2014/main" id="{7A603DE2-DB56-87B2-CF09-77E2EDD77CA6}"/>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BB3C273D-3594-5B43-9866-F6DFCFC8733F}"/>
              </a:ext>
            </a:extLst>
          </p:cNvPr>
          <p:cNvSpPr>
            <a:spLocks noGrp="1"/>
          </p:cNvSpPr>
          <p:nvPr>
            <p:ph type="title"/>
          </p:nvPr>
        </p:nvSpPr>
        <p:spPr>
          <a:xfrm>
            <a:off x="838200" y="365125"/>
            <a:ext cx="10515600" cy="1325563"/>
          </a:xfrm>
        </p:spPr>
        <p:txBody>
          <a:bodyPr/>
          <a:lstStyle/>
          <a:p>
            <a:r>
              <a:rPr lang="en-US" dirty="0"/>
              <a:t>Poisson Process</a:t>
            </a:r>
          </a:p>
        </p:txBody>
      </p:sp>
      <p:sp>
        <p:nvSpPr>
          <p:cNvPr id="3" name="Content Placeholder 2">
            <a:extLst>
              <a:ext uri="{FF2B5EF4-FFF2-40B4-BE49-F238E27FC236}">
                <a16:creationId xmlns:a16="http://schemas.microsoft.com/office/drawing/2014/main" id="{6BD1DEE1-0D83-60B8-4730-D45FB8274602}"/>
              </a:ext>
            </a:extLst>
          </p:cNvPr>
          <p:cNvSpPr>
            <a:spLocks noGrp="1"/>
          </p:cNvSpPr>
          <p:nvPr>
            <p:ph idx="1"/>
          </p:nvPr>
        </p:nvSpPr>
        <p:spPr/>
        <p:txBody>
          <a:bodyPr>
            <a:normAutofit/>
          </a:bodyPr>
          <a:lstStyle/>
          <a:p>
            <a:r>
              <a:rPr lang="en-US" sz="2400" dirty="0"/>
              <a:t>Extremely useful to approximate stochastic neuronal firing</a:t>
            </a:r>
          </a:p>
          <a:p>
            <a:r>
              <a:rPr lang="en-US" sz="2400" dirty="0"/>
              <a:t>Describes a stochastic process that generates events</a:t>
            </a:r>
          </a:p>
          <a:p>
            <a:r>
              <a:rPr lang="en-US" sz="2400" dirty="0"/>
              <a:t>In our case: Spikes</a:t>
            </a:r>
          </a:p>
          <a:p>
            <a:r>
              <a:rPr lang="en-US" sz="2400" dirty="0"/>
              <a:t>Gives probability of a spike train of n spikes within a given time interval T and a time-dependent firing rate r</a:t>
            </a:r>
          </a:p>
        </p:txBody>
      </p:sp>
      <p:sp>
        <p:nvSpPr>
          <p:cNvPr id="6" name="Footer Placeholder 7">
            <a:extLst>
              <a:ext uri="{FF2B5EF4-FFF2-40B4-BE49-F238E27FC236}">
                <a16:creationId xmlns:a16="http://schemas.microsoft.com/office/drawing/2014/main" id="{39A67101-FBAF-653E-92BF-C10150B2ACDE}"/>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Dayan and Abbott, Theoretical Neuroscience</a:t>
            </a:r>
          </a:p>
        </p:txBody>
      </p:sp>
      <p:pic>
        <p:nvPicPr>
          <p:cNvPr id="8" name="Picture 7">
            <a:extLst>
              <a:ext uri="{FF2B5EF4-FFF2-40B4-BE49-F238E27FC236}">
                <a16:creationId xmlns:a16="http://schemas.microsoft.com/office/drawing/2014/main" id="{A8CBF11D-AE4F-4379-41D4-5CCB5A5041DD}"/>
              </a:ext>
            </a:extLst>
          </p:cNvPr>
          <p:cNvPicPr>
            <a:picLocks noChangeAspect="1"/>
          </p:cNvPicPr>
          <p:nvPr/>
        </p:nvPicPr>
        <p:blipFill>
          <a:blip r:embed="rId3"/>
          <a:stretch>
            <a:fillRect/>
          </a:stretch>
        </p:blipFill>
        <p:spPr>
          <a:xfrm>
            <a:off x="926834" y="4657874"/>
            <a:ext cx="4901633" cy="975509"/>
          </a:xfrm>
          <a:prstGeom prst="rect">
            <a:avLst/>
          </a:prstGeom>
        </p:spPr>
      </p:pic>
      <p:pic>
        <p:nvPicPr>
          <p:cNvPr id="10" name="Picture 9">
            <a:extLst>
              <a:ext uri="{FF2B5EF4-FFF2-40B4-BE49-F238E27FC236}">
                <a16:creationId xmlns:a16="http://schemas.microsoft.com/office/drawing/2014/main" id="{533CE008-7C7D-BFAD-4010-B511DFCF6B50}"/>
              </a:ext>
            </a:extLst>
          </p:cNvPr>
          <p:cNvPicPr>
            <a:picLocks noChangeAspect="1"/>
          </p:cNvPicPr>
          <p:nvPr/>
        </p:nvPicPr>
        <p:blipFill>
          <a:blip r:embed="rId4"/>
          <a:stretch>
            <a:fillRect/>
          </a:stretch>
        </p:blipFill>
        <p:spPr>
          <a:xfrm>
            <a:off x="6363534" y="4059435"/>
            <a:ext cx="4738220" cy="2144515"/>
          </a:xfrm>
          <a:prstGeom prst="rect">
            <a:avLst/>
          </a:prstGeom>
        </p:spPr>
      </p:pic>
      <p:sp>
        <p:nvSpPr>
          <p:cNvPr id="13" name="Footer Placeholder 7">
            <a:extLst>
              <a:ext uri="{FF2B5EF4-FFF2-40B4-BE49-F238E27FC236}">
                <a16:creationId xmlns:a16="http://schemas.microsoft.com/office/drawing/2014/main" id="{0B0DE02E-CEF3-016D-B0B0-7511852A0F2B}"/>
              </a:ext>
            </a:extLst>
          </p:cNvPr>
          <p:cNvSpPr txBox="1">
            <a:spLocks/>
          </p:cNvSpPr>
          <p:nvPr/>
        </p:nvSpPr>
        <p:spPr>
          <a:xfrm>
            <a:off x="6534150" y="6084094"/>
            <a:ext cx="288743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Dayan and Abbott, Theoretical Neuroscience</a:t>
            </a:r>
          </a:p>
        </p:txBody>
      </p:sp>
    </p:spTree>
    <p:extLst>
      <p:ext uri="{BB962C8B-B14F-4D97-AF65-F5344CB8AC3E}">
        <p14:creationId xmlns:p14="http://schemas.microsoft.com/office/powerpoint/2010/main" val="238736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7AD73-0BF9-24FA-A4DC-04C243FDE35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9F9CD4B-32D8-714A-859B-256C36DDB14D}"/>
              </a:ext>
            </a:extLst>
          </p:cNvPr>
          <p:cNvSpPr>
            <a:spLocks noGrp="1"/>
          </p:cNvSpPr>
          <p:nvPr>
            <p:ph type="sldNum" sz="quarter" idx="12"/>
          </p:nvPr>
        </p:nvSpPr>
        <p:spPr/>
        <p:txBody>
          <a:bodyPr/>
          <a:lstStyle/>
          <a:p>
            <a:fld id="{CB12788D-ABA5-4E7B-998B-677A061A6405}" type="slidenum">
              <a:rPr lang="en-US" smtClean="0"/>
              <a:t>30</a:t>
            </a:fld>
            <a:endParaRPr lang="en-US" dirty="0"/>
          </a:p>
        </p:txBody>
      </p:sp>
      <p:sp>
        <p:nvSpPr>
          <p:cNvPr id="7" name="Footer Placeholder 7">
            <a:extLst>
              <a:ext uri="{FF2B5EF4-FFF2-40B4-BE49-F238E27FC236}">
                <a16:creationId xmlns:a16="http://schemas.microsoft.com/office/drawing/2014/main" id="{ED09FE72-E624-857A-16E7-89EE393CB195}"/>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7D51810F-6302-E742-1EA3-37E71090ABA1}"/>
              </a:ext>
            </a:extLst>
          </p:cNvPr>
          <p:cNvSpPr>
            <a:spLocks noGrp="1"/>
          </p:cNvSpPr>
          <p:nvPr>
            <p:ph type="title"/>
          </p:nvPr>
        </p:nvSpPr>
        <p:spPr>
          <a:xfrm>
            <a:off x="838200" y="365125"/>
            <a:ext cx="10515600" cy="1325563"/>
          </a:xfrm>
        </p:spPr>
        <p:txBody>
          <a:bodyPr/>
          <a:lstStyle/>
          <a:p>
            <a:r>
              <a:rPr lang="en-US" dirty="0"/>
              <a:t>Poisson Spike Generator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CE4103-FE87-9CFB-BC3A-43F76C39EFD0}"/>
                  </a:ext>
                </a:extLst>
              </p:cNvPr>
              <p:cNvSpPr>
                <a:spLocks noGrp="1"/>
              </p:cNvSpPr>
              <p:nvPr>
                <p:ph idx="1"/>
              </p:nvPr>
            </p:nvSpPr>
            <p:spPr>
              <a:xfrm>
                <a:off x="838200" y="1825625"/>
                <a:ext cx="5350329" cy="4351338"/>
              </a:xfrm>
            </p:spPr>
            <p:txBody>
              <a:bodyPr>
                <a:normAutofit/>
              </a:bodyPr>
              <a:lstStyle/>
              <a:p>
                <a:r>
                  <a:rPr lang="en-US" sz="2400" dirty="0"/>
                  <a:t>Spike sequence is generated by estimate of firing rate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𝑒𝑠𝑡</m:t>
                        </m:r>
                      </m:sub>
                    </m:sSub>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a14:m>
                <a:endParaRPr lang="en-US" sz="2400" dirty="0"/>
              </a:p>
              <a:p>
                <a:r>
                  <a:rPr lang="en-US" sz="2400" dirty="0"/>
                  <a:t>Needed: probability of spike during short time interval</a:t>
                </a:r>
              </a:p>
              <a:p>
                <a:r>
                  <a:rPr lang="en-US" sz="2400" dirty="0"/>
                  <a:t>Iterate over time steps </a:t>
                </a:r>
                <a:r>
                  <a:rPr lang="el-GR" sz="2400" dirty="0"/>
                  <a:t>Δ</a:t>
                </a:r>
                <a:r>
                  <a:rPr lang="en-US" sz="2400" dirty="0"/>
                  <a:t>t</a:t>
                </a:r>
              </a:p>
              <a:p>
                <a:r>
                  <a:rPr lang="en-US" sz="2400" dirty="0"/>
                  <a:t>Generate random number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𝑟𝑎𝑛𝑑</m:t>
                        </m:r>
                      </m:sub>
                    </m:sSub>
                  </m:oMath>
                </a14:m>
                <a:endParaRPr lang="en-US" sz="2400" dirty="0"/>
              </a:p>
              <a:p>
                <a:r>
                  <a:rPr lang="en-US" sz="2400" dirty="0"/>
                  <a:t>Compare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𝑒𝑠𝑡</m:t>
                        </m:r>
                      </m:sub>
                    </m:sSub>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a14:m>
                <a:r>
                  <a:rPr lang="el-GR" sz="2400" dirty="0"/>
                  <a:t>Δ</a:t>
                </a:r>
                <a:r>
                  <a:rPr lang="en-US" sz="2400" dirty="0"/>
                  <a:t>t with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𝑟𝑎𝑛𝑑</m:t>
                        </m:r>
                      </m:sub>
                    </m:sSub>
                  </m:oMath>
                </a14:m>
                <a:endParaRPr lang="en-US" sz="2400" b="0" dirty="0"/>
              </a:p>
              <a:p>
                <a:r>
                  <a:rPr lang="en-US" sz="2400" dirty="0"/>
                  <a:t>Spike if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𝑟𝑎𝑛𝑑</m:t>
                        </m:r>
                      </m:sub>
                    </m:sSub>
                    <m:r>
                      <a:rPr lang="en-US" sz="2400" b="0" i="1" smtClean="0">
                        <a:latin typeface="Cambria Math" panose="02040503050406030204" pitchFamily="18" charset="0"/>
                        <a:ea typeface="Cambria Math" panose="02040503050406030204" pitchFamily="18" charset="0"/>
                      </a:rPr>
                      <m:t>&lt;</m:t>
                    </m:r>
                  </m:oMath>
                </a14:m>
                <a:r>
                  <a:rPr lang="en-US" sz="2400" b="0" dirty="0"/>
                  <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𝑟</m:t>
                        </m:r>
                      </m:e>
                      <m:sub>
                        <m:r>
                          <a:rPr lang="en-US" sz="2400" b="0" i="1" smtClean="0">
                            <a:latin typeface="Cambria Math" panose="02040503050406030204" pitchFamily="18" charset="0"/>
                          </a:rPr>
                          <m:t>𝑒𝑠𝑡</m:t>
                        </m:r>
                      </m:sub>
                    </m:sSub>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a14:m>
                <a:r>
                  <a:rPr lang="en-US" sz="2400" dirty="0"/>
                  <a:t> </a:t>
                </a:r>
                <a:r>
                  <a:rPr lang="el-GR" sz="2400" dirty="0"/>
                  <a:t>Δ</a:t>
                </a:r>
                <a:r>
                  <a:rPr lang="en-US" sz="2400" dirty="0"/>
                  <a:t>t</a:t>
                </a:r>
              </a:p>
            </p:txBody>
          </p:sp>
        </mc:Choice>
        <mc:Fallback xmlns="">
          <p:sp>
            <p:nvSpPr>
              <p:cNvPr id="3" name="Content Placeholder 2">
                <a:extLst>
                  <a:ext uri="{FF2B5EF4-FFF2-40B4-BE49-F238E27FC236}">
                    <a16:creationId xmlns:a16="http://schemas.microsoft.com/office/drawing/2014/main" id="{1DCE4103-FE87-9CFB-BC3A-43F76C39EFD0}"/>
                  </a:ext>
                </a:extLst>
              </p:cNvPr>
              <p:cNvSpPr>
                <a:spLocks noGrp="1" noRot="1" noChangeAspect="1" noMove="1" noResize="1" noEditPoints="1" noAdjustHandles="1" noChangeArrowheads="1" noChangeShapeType="1" noTextEdit="1"/>
              </p:cNvSpPr>
              <p:nvPr>
                <p:ph idx="1"/>
              </p:nvPr>
            </p:nvSpPr>
            <p:spPr>
              <a:xfrm>
                <a:off x="838200" y="1825625"/>
                <a:ext cx="5350329" cy="4351338"/>
              </a:xfrm>
              <a:blipFill>
                <a:blip r:embed="rId3"/>
                <a:stretch>
                  <a:fillRect l="-1596" t="-1821"/>
                </a:stretch>
              </a:blipFill>
            </p:spPr>
            <p:txBody>
              <a:bodyPr/>
              <a:lstStyle/>
              <a:p>
                <a:r>
                  <a:rPr lang="en-US">
                    <a:noFill/>
                  </a:rPr>
                  <a:t> </a:t>
                </a:r>
              </a:p>
            </p:txBody>
          </p:sp>
        </mc:Fallback>
      </mc:AlternateContent>
      <p:sp>
        <p:nvSpPr>
          <p:cNvPr id="6" name="Footer Placeholder 7">
            <a:extLst>
              <a:ext uri="{FF2B5EF4-FFF2-40B4-BE49-F238E27FC236}">
                <a16:creationId xmlns:a16="http://schemas.microsoft.com/office/drawing/2014/main" id="{3A63A7E8-5ED0-97BE-825B-1DC7B0928E91}"/>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Dayan and Abbott, Theoretical Neuroscience</a:t>
            </a:r>
          </a:p>
        </p:txBody>
      </p:sp>
      <p:sp>
        <p:nvSpPr>
          <p:cNvPr id="13" name="Footer Placeholder 7">
            <a:extLst>
              <a:ext uri="{FF2B5EF4-FFF2-40B4-BE49-F238E27FC236}">
                <a16:creationId xmlns:a16="http://schemas.microsoft.com/office/drawing/2014/main" id="{E26D47B8-1B21-E23E-B09D-79AE83AA1434}"/>
              </a:ext>
            </a:extLst>
          </p:cNvPr>
          <p:cNvSpPr txBox="1">
            <a:spLocks/>
          </p:cNvSpPr>
          <p:nvPr/>
        </p:nvSpPr>
        <p:spPr>
          <a:xfrm>
            <a:off x="6534150" y="6424612"/>
            <a:ext cx="288743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Dayan and Abbott, Theoretical Neuroscience</a:t>
            </a:r>
          </a:p>
        </p:txBody>
      </p:sp>
      <p:pic>
        <p:nvPicPr>
          <p:cNvPr id="9" name="Picture 8">
            <a:extLst>
              <a:ext uri="{FF2B5EF4-FFF2-40B4-BE49-F238E27FC236}">
                <a16:creationId xmlns:a16="http://schemas.microsoft.com/office/drawing/2014/main" id="{3C0A35F3-358F-A6D6-034C-8A8B18785766}"/>
              </a:ext>
            </a:extLst>
          </p:cNvPr>
          <p:cNvPicPr>
            <a:picLocks noChangeAspect="1"/>
          </p:cNvPicPr>
          <p:nvPr/>
        </p:nvPicPr>
        <p:blipFill>
          <a:blip r:embed="rId4"/>
          <a:stretch>
            <a:fillRect/>
          </a:stretch>
        </p:blipFill>
        <p:spPr>
          <a:xfrm>
            <a:off x="6534150" y="1205454"/>
            <a:ext cx="5143257" cy="5235033"/>
          </a:xfrm>
          <a:prstGeom prst="rect">
            <a:avLst/>
          </a:prstGeom>
        </p:spPr>
      </p:pic>
    </p:spTree>
    <p:extLst>
      <p:ext uri="{BB962C8B-B14F-4D97-AF65-F5344CB8AC3E}">
        <p14:creationId xmlns:p14="http://schemas.microsoft.com/office/powerpoint/2010/main" val="2754886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3A9CF-F8BE-65D2-24A6-9E4785F2C15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1FFEFEF-F034-56E4-7576-9558694534DC}"/>
              </a:ext>
            </a:extLst>
          </p:cNvPr>
          <p:cNvSpPr>
            <a:spLocks noGrp="1"/>
          </p:cNvSpPr>
          <p:nvPr>
            <p:ph type="sldNum" sz="quarter" idx="12"/>
          </p:nvPr>
        </p:nvSpPr>
        <p:spPr/>
        <p:txBody>
          <a:bodyPr/>
          <a:lstStyle/>
          <a:p>
            <a:fld id="{CB12788D-ABA5-4E7B-998B-677A061A6405}" type="slidenum">
              <a:rPr lang="en-US" smtClean="0"/>
              <a:t>31</a:t>
            </a:fld>
            <a:endParaRPr lang="en-US" dirty="0"/>
          </a:p>
        </p:txBody>
      </p:sp>
      <p:sp>
        <p:nvSpPr>
          <p:cNvPr id="7" name="Footer Placeholder 7">
            <a:extLst>
              <a:ext uri="{FF2B5EF4-FFF2-40B4-BE49-F238E27FC236}">
                <a16:creationId xmlns:a16="http://schemas.microsoft.com/office/drawing/2014/main" id="{753A7EA0-4D66-D2F8-5868-0FB0424B234B}"/>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3AF2E484-3CE1-9570-B703-2DB125045B90}"/>
              </a:ext>
            </a:extLst>
          </p:cNvPr>
          <p:cNvSpPr>
            <a:spLocks noGrp="1"/>
          </p:cNvSpPr>
          <p:nvPr>
            <p:ph type="title"/>
          </p:nvPr>
        </p:nvSpPr>
        <p:spPr>
          <a:xfrm>
            <a:off x="838200" y="365125"/>
            <a:ext cx="10515600" cy="1325563"/>
          </a:xfrm>
        </p:spPr>
        <p:txBody>
          <a:bodyPr/>
          <a:lstStyle/>
          <a:p>
            <a:r>
              <a:rPr lang="en-US" dirty="0"/>
              <a:t>Spike Count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EC32CF-7E9B-802C-B8BC-8D74B324AD06}"/>
                  </a:ext>
                </a:extLst>
              </p:cNvPr>
              <p:cNvSpPr>
                <a:spLocks noGrp="1"/>
              </p:cNvSpPr>
              <p:nvPr>
                <p:ph idx="1"/>
              </p:nvPr>
            </p:nvSpPr>
            <p:spPr>
              <a:xfrm>
                <a:off x="838199" y="1825625"/>
                <a:ext cx="5382987" cy="4351338"/>
              </a:xfrm>
            </p:spPr>
            <p:txBody>
              <a:bodyPr>
                <a:normAutofit/>
              </a:bodyPr>
              <a:lstStyle/>
              <a:p>
                <a:r>
                  <a:rPr lang="en-US" sz="2400" dirty="0"/>
                  <a:t>Fano factor describes relationship between mean spike count and variance</a:t>
                </a:r>
              </a:p>
              <a:p>
                <a14:m>
                  <m:oMath xmlns:m="http://schemas.openxmlformats.org/officeDocument/2006/math">
                    <m:sSubSup>
                      <m:sSubSupPr>
                        <m:ctrlPr>
                          <a:rPr lang="el-GR" sz="2400" i="1" smtClean="0">
                            <a:latin typeface="Cambria Math" panose="02040503050406030204" pitchFamily="18" charset="0"/>
                          </a:rPr>
                        </m:ctrlPr>
                      </m:sSubSupPr>
                      <m:e>
                        <m:r>
                          <m:rPr>
                            <m:sty m:val="p"/>
                          </m:rPr>
                          <a:rPr lang="el-GR" sz="2400" i="1" smtClean="0">
                            <a:latin typeface="Cambria Math" panose="02040503050406030204" pitchFamily="18" charset="0"/>
                          </a:rPr>
                          <m:t>σ</m:t>
                        </m:r>
                      </m:e>
                      <m:sub>
                        <m:r>
                          <a:rPr lang="en-US" sz="2400" b="0" i="1" smtClean="0">
                            <a:latin typeface="Cambria Math" panose="02040503050406030204" pitchFamily="18" charset="0"/>
                          </a:rPr>
                          <m:t>𝑛</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r>
                      <a:rPr lang="en-US" sz="2400" b="0" i="1" smtClean="0">
                        <a:latin typeface="Cambria Math" panose="02040503050406030204" pitchFamily="18" charset="0"/>
                      </a:rPr>
                      <m:t>𝐴</m:t>
                    </m:r>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bar>
                          <m:barPr>
                            <m:pos m:val="top"/>
                            <m:ctrlPr>
                              <a:rPr lang="en-US" sz="2400" b="0" i="1" smtClean="0">
                                <a:latin typeface="Cambria Math" panose="02040503050406030204" pitchFamily="18" charset="0"/>
                              </a:rPr>
                            </m:ctrlPr>
                          </m:barPr>
                          <m:e>
                            <m:r>
                              <a:rPr lang="en-US" sz="2400" b="0" i="1" smtClean="0">
                                <a:latin typeface="Cambria Math" panose="02040503050406030204" pitchFamily="18" charset="0"/>
                              </a:rPr>
                              <m:t>𝑛</m:t>
                            </m:r>
                          </m:e>
                        </m:bar>
                      </m:e>
                      <m:sup>
                        <m:r>
                          <a:rPr lang="en-US" sz="2400" b="0" i="1" smtClean="0">
                            <a:latin typeface="Cambria Math" panose="02040503050406030204" pitchFamily="18" charset="0"/>
                          </a:rPr>
                          <m:t>𝐵</m:t>
                        </m:r>
                      </m:sup>
                    </m:sSup>
                  </m:oMath>
                </a14:m>
                <a:endParaRPr lang="en-US" sz="2400" dirty="0"/>
              </a:p>
              <a:p>
                <a:r>
                  <a:rPr lang="en-US" sz="2400" dirty="0"/>
                  <a:t>Experiments: A and B between [1,1.5]</a:t>
                </a:r>
              </a:p>
              <a:p>
                <a:r>
                  <a:rPr lang="en-US" sz="2400" dirty="0"/>
                  <a:t>Poisson model: A=B=1</a:t>
                </a:r>
              </a:p>
              <a:p>
                <a:r>
                  <a:rPr lang="en-US" sz="2400" dirty="0"/>
                  <a:t>Fano factors fitted with experimental data show a higher variability than Poisson models would predict</a:t>
                </a:r>
              </a:p>
            </p:txBody>
          </p:sp>
        </mc:Choice>
        <mc:Fallback xmlns="">
          <p:sp>
            <p:nvSpPr>
              <p:cNvPr id="3" name="Content Placeholder 2">
                <a:extLst>
                  <a:ext uri="{FF2B5EF4-FFF2-40B4-BE49-F238E27FC236}">
                    <a16:creationId xmlns:a16="http://schemas.microsoft.com/office/drawing/2014/main" id="{15EC32CF-7E9B-802C-B8BC-8D74B324AD06}"/>
                  </a:ext>
                </a:extLst>
              </p:cNvPr>
              <p:cNvSpPr>
                <a:spLocks noGrp="1" noRot="1" noChangeAspect="1" noMove="1" noResize="1" noEditPoints="1" noAdjustHandles="1" noChangeArrowheads="1" noChangeShapeType="1" noTextEdit="1"/>
              </p:cNvSpPr>
              <p:nvPr>
                <p:ph idx="1"/>
              </p:nvPr>
            </p:nvSpPr>
            <p:spPr>
              <a:xfrm>
                <a:off x="838199" y="1825625"/>
                <a:ext cx="5382987" cy="4351338"/>
              </a:xfrm>
              <a:blipFill>
                <a:blip r:embed="rId3"/>
                <a:stretch>
                  <a:fillRect l="-1471" t="-1821" r="-226"/>
                </a:stretch>
              </a:blipFill>
            </p:spPr>
            <p:txBody>
              <a:bodyPr/>
              <a:lstStyle/>
              <a:p>
                <a:r>
                  <a:rPr lang="en-US">
                    <a:noFill/>
                  </a:rPr>
                  <a:t> </a:t>
                </a:r>
              </a:p>
            </p:txBody>
          </p:sp>
        </mc:Fallback>
      </mc:AlternateContent>
      <p:sp>
        <p:nvSpPr>
          <p:cNvPr id="6" name="Footer Placeholder 7">
            <a:extLst>
              <a:ext uri="{FF2B5EF4-FFF2-40B4-BE49-F238E27FC236}">
                <a16:creationId xmlns:a16="http://schemas.microsoft.com/office/drawing/2014/main" id="{0A4CB90E-3132-C0A0-CD3E-794E5AE6D696}"/>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Dayan and Abbott, Theoretical Neuroscience</a:t>
            </a:r>
          </a:p>
        </p:txBody>
      </p:sp>
      <p:sp>
        <p:nvSpPr>
          <p:cNvPr id="13" name="Footer Placeholder 7">
            <a:extLst>
              <a:ext uri="{FF2B5EF4-FFF2-40B4-BE49-F238E27FC236}">
                <a16:creationId xmlns:a16="http://schemas.microsoft.com/office/drawing/2014/main" id="{452C83D0-CD11-F2F4-B58C-9D03998F8F43}"/>
              </a:ext>
            </a:extLst>
          </p:cNvPr>
          <p:cNvSpPr txBox="1">
            <a:spLocks/>
          </p:cNvSpPr>
          <p:nvPr/>
        </p:nvSpPr>
        <p:spPr>
          <a:xfrm>
            <a:off x="6292354" y="6219825"/>
            <a:ext cx="2887436"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Dayan and Abbott, Theoretical Neuroscience</a:t>
            </a:r>
          </a:p>
        </p:txBody>
      </p:sp>
      <p:pic>
        <p:nvPicPr>
          <p:cNvPr id="8" name="Picture 7">
            <a:extLst>
              <a:ext uri="{FF2B5EF4-FFF2-40B4-BE49-F238E27FC236}">
                <a16:creationId xmlns:a16="http://schemas.microsoft.com/office/drawing/2014/main" id="{AAB41D89-8701-0BAA-B8B9-CCD121D55EE7}"/>
              </a:ext>
            </a:extLst>
          </p:cNvPr>
          <p:cNvPicPr>
            <a:picLocks noChangeAspect="1"/>
          </p:cNvPicPr>
          <p:nvPr/>
        </p:nvPicPr>
        <p:blipFill>
          <a:blip r:embed="rId4"/>
          <a:stretch>
            <a:fillRect/>
          </a:stretch>
        </p:blipFill>
        <p:spPr>
          <a:xfrm>
            <a:off x="6368292" y="2130878"/>
            <a:ext cx="5622996" cy="4176485"/>
          </a:xfrm>
          <a:prstGeom prst="rect">
            <a:avLst/>
          </a:prstGeom>
        </p:spPr>
      </p:pic>
    </p:spTree>
    <p:extLst>
      <p:ext uri="{BB962C8B-B14F-4D97-AF65-F5344CB8AC3E}">
        <p14:creationId xmlns:p14="http://schemas.microsoft.com/office/powerpoint/2010/main" val="33148357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32E07-E2E1-EBF7-4F38-0DE6EC8E59AA}"/>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4BE119C-3FDB-C347-7D59-6D8365DE409C}"/>
              </a:ext>
            </a:extLst>
          </p:cNvPr>
          <p:cNvPicPr>
            <a:picLocks noChangeAspect="1"/>
          </p:cNvPicPr>
          <p:nvPr/>
        </p:nvPicPr>
        <p:blipFill>
          <a:blip r:embed="rId3"/>
          <a:stretch>
            <a:fillRect/>
          </a:stretch>
        </p:blipFill>
        <p:spPr>
          <a:xfrm>
            <a:off x="3401117" y="4035293"/>
            <a:ext cx="8312577" cy="2571882"/>
          </a:xfrm>
          <a:prstGeom prst="rect">
            <a:avLst/>
          </a:prstGeom>
        </p:spPr>
      </p:pic>
      <p:sp>
        <p:nvSpPr>
          <p:cNvPr id="5" name="Slide Number Placeholder 4">
            <a:extLst>
              <a:ext uri="{FF2B5EF4-FFF2-40B4-BE49-F238E27FC236}">
                <a16:creationId xmlns:a16="http://schemas.microsoft.com/office/drawing/2014/main" id="{13B7B3D1-2ADB-AFF4-C4D2-94C7B3229789}"/>
              </a:ext>
            </a:extLst>
          </p:cNvPr>
          <p:cNvSpPr>
            <a:spLocks noGrp="1"/>
          </p:cNvSpPr>
          <p:nvPr>
            <p:ph type="sldNum" sz="quarter" idx="12"/>
          </p:nvPr>
        </p:nvSpPr>
        <p:spPr/>
        <p:txBody>
          <a:bodyPr/>
          <a:lstStyle/>
          <a:p>
            <a:fld id="{CB12788D-ABA5-4E7B-998B-677A061A6405}" type="slidenum">
              <a:rPr lang="en-US" smtClean="0"/>
              <a:t>32</a:t>
            </a:fld>
            <a:endParaRPr lang="en-US" dirty="0"/>
          </a:p>
        </p:txBody>
      </p:sp>
      <p:sp>
        <p:nvSpPr>
          <p:cNvPr id="7" name="Footer Placeholder 7">
            <a:extLst>
              <a:ext uri="{FF2B5EF4-FFF2-40B4-BE49-F238E27FC236}">
                <a16:creationId xmlns:a16="http://schemas.microsoft.com/office/drawing/2014/main" id="{8EFAA3EB-A591-002C-DB87-4F499404A78C}"/>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FC8653D4-62E4-0D5F-65D6-3B0FFC844EBB}"/>
              </a:ext>
            </a:extLst>
          </p:cNvPr>
          <p:cNvSpPr>
            <a:spLocks noGrp="1"/>
          </p:cNvSpPr>
          <p:nvPr>
            <p:ph type="title"/>
          </p:nvPr>
        </p:nvSpPr>
        <p:spPr>
          <a:xfrm>
            <a:off x="838200" y="365125"/>
            <a:ext cx="10515600" cy="1325563"/>
          </a:xfrm>
        </p:spPr>
        <p:txBody>
          <a:bodyPr/>
          <a:lstStyle/>
          <a:p>
            <a:r>
              <a:rPr lang="en-US" dirty="0" err="1"/>
              <a:t>Interspike</a:t>
            </a:r>
            <a:r>
              <a:rPr lang="en-US" dirty="0"/>
              <a:t> interval (ISI)</a:t>
            </a:r>
          </a:p>
        </p:txBody>
      </p:sp>
      <p:sp>
        <p:nvSpPr>
          <p:cNvPr id="3" name="Content Placeholder 2">
            <a:extLst>
              <a:ext uri="{FF2B5EF4-FFF2-40B4-BE49-F238E27FC236}">
                <a16:creationId xmlns:a16="http://schemas.microsoft.com/office/drawing/2014/main" id="{A480FF3C-1FFF-F72B-4570-6A726D25AC46}"/>
              </a:ext>
            </a:extLst>
          </p:cNvPr>
          <p:cNvSpPr>
            <a:spLocks noGrp="1"/>
          </p:cNvSpPr>
          <p:nvPr>
            <p:ph idx="1"/>
          </p:nvPr>
        </p:nvSpPr>
        <p:spPr/>
        <p:txBody>
          <a:bodyPr>
            <a:normAutofit/>
          </a:bodyPr>
          <a:lstStyle/>
          <a:p>
            <a:r>
              <a:rPr lang="en-US" sz="2200" dirty="0"/>
              <a:t>Neuron recorded from cortical area responding to a moving image</a:t>
            </a:r>
          </a:p>
          <a:p>
            <a:r>
              <a:rPr lang="en-US" sz="2200" dirty="0"/>
              <a:t>ISI calculated from spike train</a:t>
            </a:r>
          </a:p>
          <a:p>
            <a:r>
              <a:rPr lang="en-US" sz="2200" dirty="0"/>
              <a:t>Counting number of intervals falling in discrete time bins</a:t>
            </a:r>
          </a:p>
          <a:p>
            <a:r>
              <a:rPr lang="en-US" sz="2200" dirty="0"/>
              <a:t>Poisson model with stochastic refractory period</a:t>
            </a:r>
          </a:p>
        </p:txBody>
      </p:sp>
      <p:sp>
        <p:nvSpPr>
          <p:cNvPr id="11" name="Footer Placeholder 7">
            <a:extLst>
              <a:ext uri="{FF2B5EF4-FFF2-40B4-BE49-F238E27FC236}">
                <a16:creationId xmlns:a16="http://schemas.microsoft.com/office/drawing/2014/main" id="{B169A933-2929-7D19-61DC-9B30E9B81340}"/>
              </a:ext>
            </a:extLst>
          </p:cNvPr>
          <p:cNvSpPr txBox="1">
            <a:spLocks/>
          </p:cNvSpPr>
          <p:nvPr/>
        </p:nvSpPr>
        <p:spPr>
          <a:xfrm>
            <a:off x="5140778" y="6492875"/>
            <a:ext cx="6113376"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Dayan and Abbott (2001),Theoretical Neuroscience</a:t>
            </a:r>
          </a:p>
        </p:txBody>
      </p:sp>
      <p:sp>
        <p:nvSpPr>
          <p:cNvPr id="9" name="TextBox 8">
            <a:extLst>
              <a:ext uri="{FF2B5EF4-FFF2-40B4-BE49-F238E27FC236}">
                <a16:creationId xmlns:a16="http://schemas.microsoft.com/office/drawing/2014/main" id="{D7B0F775-F4A0-1947-ABD1-B12ECFC80AB1}"/>
              </a:ext>
            </a:extLst>
          </p:cNvPr>
          <p:cNvSpPr txBox="1"/>
          <p:nvPr/>
        </p:nvSpPr>
        <p:spPr>
          <a:xfrm>
            <a:off x="5189762" y="3920993"/>
            <a:ext cx="2237014" cy="369332"/>
          </a:xfrm>
          <a:prstGeom prst="rect">
            <a:avLst/>
          </a:prstGeom>
          <a:noFill/>
        </p:spPr>
        <p:txBody>
          <a:bodyPr wrap="square" rtlCol="0">
            <a:spAutoFit/>
          </a:bodyPr>
          <a:lstStyle/>
          <a:p>
            <a:r>
              <a:rPr lang="en-US" dirty="0"/>
              <a:t>Neuron</a:t>
            </a:r>
          </a:p>
        </p:txBody>
      </p:sp>
      <p:sp>
        <p:nvSpPr>
          <p:cNvPr id="12" name="TextBox 11">
            <a:extLst>
              <a:ext uri="{FF2B5EF4-FFF2-40B4-BE49-F238E27FC236}">
                <a16:creationId xmlns:a16="http://schemas.microsoft.com/office/drawing/2014/main" id="{75E38541-C99B-2885-8039-241E1DCA5DFB}"/>
              </a:ext>
            </a:extLst>
          </p:cNvPr>
          <p:cNvSpPr txBox="1"/>
          <p:nvPr/>
        </p:nvSpPr>
        <p:spPr>
          <a:xfrm>
            <a:off x="9476680" y="3920993"/>
            <a:ext cx="2237014" cy="369332"/>
          </a:xfrm>
          <a:prstGeom prst="rect">
            <a:avLst/>
          </a:prstGeom>
          <a:noFill/>
        </p:spPr>
        <p:txBody>
          <a:bodyPr wrap="square" rtlCol="0">
            <a:spAutoFit/>
          </a:bodyPr>
          <a:lstStyle/>
          <a:p>
            <a:r>
              <a:rPr lang="en-US" dirty="0"/>
              <a:t>Model</a:t>
            </a:r>
          </a:p>
        </p:txBody>
      </p:sp>
      <p:sp>
        <p:nvSpPr>
          <p:cNvPr id="14" name="Footer Placeholder 7">
            <a:extLst>
              <a:ext uri="{FF2B5EF4-FFF2-40B4-BE49-F238E27FC236}">
                <a16:creationId xmlns:a16="http://schemas.microsoft.com/office/drawing/2014/main" id="{E85ACE9B-BC78-3D6A-5552-914C6AAFA11C}"/>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Dayan and Abbott, Theoretical Neuroscience</a:t>
            </a:r>
          </a:p>
        </p:txBody>
      </p:sp>
    </p:spTree>
    <p:extLst>
      <p:ext uri="{BB962C8B-B14F-4D97-AF65-F5344CB8AC3E}">
        <p14:creationId xmlns:p14="http://schemas.microsoft.com/office/powerpoint/2010/main" val="2112629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33638-C5B8-34DD-CBAF-E78A9895CCD2}"/>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8135A43-665B-A2AE-A886-98FC6BFE2BE5}"/>
              </a:ext>
            </a:extLst>
          </p:cNvPr>
          <p:cNvSpPr>
            <a:spLocks noGrp="1"/>
          </p:cNvSpPr>
          <p:nvPr>
            <p:ph type="sldNum" sz="quarter" idx="12"/>
          </p:nvPr>
        </p:nvSpPr>
        <p:spPr/>
        <p:txBody>
          <a:bodyPr/>
          <a:lstStyle/>
          <a:p>
            <a:fld id="{CB12788D-ABA5-4E7B-998B-677A061A6405}" type="slidenum">
              <a:rPr lang="en-US" smtClean="0"/>
              <a:t>33</a:t>
            </a:fld>
            <a:endParaRPr lang="en-US"/>
          </a:p>
        </p:txBody>
      </p:sp>
      <p:sp>
        <p:nvSpPr>
          <p:cNvPr id="7" name="Footer Placeholder 7">
            <a:extLst>
              <a:ext uri="{FF2B5EF4-FFF2-40B4-BE49-F238E27FC236}">
                <a16:creationId xmlns:a16="http://schemas.microsoft.com/office/drawing/2014/main" id="{E97E0E94-6950-040E-93B2-4E8133BF7DE0}"/>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67973074-66D0-9721-616A-1B7C730A4538}"/>
              </a:ext>
            </a:extLst>
          </p:cNvPr>
          <p:cNvSpPr>
            <a:spLocks noGrp="1"/>
          </p:cNvSpPr>
          <p:nvPr>
            <p:ph type="title"/>
          </p:nvPr>
        </p:nvSpPr>
        <p:spPr>
          <a:xfrm>
            <a:off x="838200" y="365125"/>
            <a:ext cx="10515600" cy="1325563"/>
          </a:xfrm>
        </p:spPr>
        <p:txBody>
          <a:bodyPr/>
          <a:lstStyle/>
          <a:p>
            <a:r>
              <a:rPr lang="en-US" dirty="0"/>
              <a:t>Noise</a:t>
            </a:r>
          </a:p>
        </p:txBody>
      </p:sp>
      <p:sp>
        <p:nvSpPr>
          <p:cNvPr id="3" name="Content Placeholder 2">
            <a:extLst>
              <a:ext uri="{FF2B5EF4-FFF2-40B4-BE49-F238E27FC236}">
                <a16:creationId xmlns:a16="http://schemas.microsoft.com/office/drawing/2014/main" id="{B677315F-9FF0-7AEB-6BF8-6125A87D4E4C}"/>
              </a:ext>
            </a:extLst>
          </p:cNvPr>
          <p:cNvSpPr>
            <a:spLocks noGrp="1"/>
          </p:cNvSpPr>
          <p:nvPr>
            <p:ph idx="1"/>
          </p:nvPr>
        </p:nvSpPr>
        <p:spPr>
          <a:xfrm>
            <a:off x="838200" y="1825625"/>
            <a:ext cx="4182836" cy="4351338"/>
          </a:xfrm>
        </p:spPr>
        <p:txBody>
          <a:bodyPr/>
          <a:lstStyle/>
          <a:p>
            <a:r>
              <a:rPr lang="en-US" dirty="0"/>
              <a:t>Thermal motion of molecules (“Intrinsic noise”)</a:t>
            </a:r>
          </a:p>
          <a:p>
            <a:r>
              <a:rPr lang="en-US" dirty="0"/>
              <a:t>Network noise</a:t>
            </a:r>
          </a:p>
          <a:p>
            <a:r>
              <a:rPr lang="en-US" dirty="0"/>
              <a:t>Measurement noise</a:t>
            </a:r>
          </a:p>
          <a:p>
            <a:endParaRPr lang="en-US" dirty="0"/>
          </a:p>
        </p:txBody>
      </p:sp>
      <p:pic>
        <p:nvPicPr>
          <p:cNvPr id="6" name="Picture 5">
            <a:extLst>
              <a:ext uri="{FF2B5EF4-FFF2-40B4-BE49-F238E27FC236}">
                <a16:creationId xmlns:a16="http://schemas.microsoft.com/office/drawing/2014/main" id="{BECEA341-2418-63F3-01C8-4A6691E531A7}"/>
              </a:ext>
            </a:extLst>
          </p:cNvPr>
          <p:cNvPicPr>
            <a:picLocks noChangeAspect="1"/>
          </p:cNvPicPr>
          <p:nvPr/>
        </p:nvPicPr>
        <p:blipFill>
          <a:blip r:embed="rId3"/>
          <a:stretch>
            <a:fillRect/>
          </a:stretch>
        </p:blipFill>
        <p:spPr>
          <a:xfrm>
            <a:off x="5166126" y="1934936"/>
            <a:ext cx="6542083" cy="4513724"/>
          </a:xfrm>
          <a:prstGeom prst="rect">
            <a:avLst/>
          </a:prstGeom>
        </p:spPr>
      </p:pic>
      <p:sp>
        <p:nvSpPr>
          <p:cNvPr id="9" name="Footer Placeholder 7">
            <a:extLst>
              <a:ext uri="{FF2B5EF4-FFF2-40B4-BE49-F238E27FC236}">
                <a16:creationId xmlns:a16="http://schemas.microsoft.com/office/drawing/2014/main" id="{FC60792B-80BB-1E16-EEEE-D02ED5595041}"/>
              </a:ext>
            </a:extLst>
          </p:cNvPr>
          <p:cNvSpPr txBox="1">
            <a:spLocks/>
          </p:cNvSpPr>
          <p:nvPr/>
        </p:nvSpPr>
        <p:spPr>
          <a:xfrm>
            <a:off x="5808575" y="6288087"/>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Faisal et al. (2008), Noise in the nervous system</a:t>
            </a:r>
          </a:p>
        </p:txBody>
      </p:sp>
    </p:spTree>
    <p:extLst>
      <p:ext uri="{BB962C8B-B14F-4D97-AF65-F5344CB8AC3E}">
        <p14:creationId xmlns:p14="http://schemas.microsoft.com/office/powerpoint/2010/main" val="36960274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E0060-E73B-3827-1370-0C529923D70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1444D99-F40B-58AC-F4D6-D1D0666E9431}"/>
              </a:ext>
            </a:extLst>
          </p:cNvPr>
          <p:cNvPicPr>
            <a:picLocks noChangeAspect="1"/>
          </p:cNvPicPr>
          <p:nvPr/>
        </p:nvPicPr>
        <p:blipFill>
          <a:blip r:embed="rId3"/>
          <a:stretch>
            <a:fillRect/>
          </a:stretch>
        </p:blipFill>
        <p:spPr>
          <a:xfrm>
            <a:off x="5323648" y="3870444"/>
            <a:ext cx="6573903" cy="2668468"/>
          </a:xfrm>
          <a:prstGeom prst="rect">
            <a:avLst/>
          </a:prstGeom>
        </p:spPr>
      </p:pic>
      <p:sp>
        <p:nvSpPr>
          <p:cNvPr id="5" name="Slide Number Placeholder 4">
            <a:extLst>
              <a:ext uri="{FF2B5EF4-FFF2-40B4-BE49-F238E27FC236}">
                <a16:creationId xmlns:a16="http://schemas.microsoft.com/office/drawing/2014/main" id="{8F8465A1-A57A-0BBD-B98C-5E2520FE11F6}"/>
              </a:ext>
            </a:extLst>
          </p:cNvPr>
          <p:cNvSpPr>
            <a:spLocks noGrp="1"/>
          </p:cNvSpPr>
          <p:nvPr>
            <p:ph type="sldNum" sz="quarter" idx="12"/>
          </p:nvPr>
        </p:nvSpPr>
        <p:spPr/>
        <p:txBody>
          <a:bodyPr/>
          <a:lstStyle/>
          <a:p>
            <a:fld id="{CB12788D-ABA5-4E7B-998B-677A061A6405}" type="slidenum">
              <a:rPr lang="en-US" smtClean="0"/>
              <a:t>34</a:t>
            </a:fld>
            <a:endParaRPr lang="en-US"/>
          </a:p>
        </p:txBody>
      </p:sp>
      <p:sp>
        <p:nvSpPr>
          <p:cNvPr id="7" name="Footer Placeholder 7">
            <a:extLst>
              <a:ext uri="{FF2B5EF4-FFF2-40B4-BE49-F238E27FC236}">
                <a16:creationId xmlns:a16="http://schemas.microsoft.com/office/drawing/2014/main" id="{A86AE719-C621-6062-FE0B-9265825707DF}"/>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C9DC02D6-2AC7-6891-65F3-CC50B3A0C788}"/>
              </a:ext>
            </a:extLst>
          </p:cNvPr>
          <p:cNvSpPr>
            <a:spLocks noGrp="1"/>
          </p:cNvSpPr>
          <p:nvPr>
            <p:ph type="title"/>
          </p:nvPr>
        </p:nvSpPr>
        <p:spPr>
          <a:xfrm>
            <a:off x="838200" y="365125"/>
            <a:ext cx="10515600" cy="1325563"/>
          </a:xfrm>
        </p:spPr>
        <p:txBody>
          <a:bodyPr/>
          <a:lstStyle/>
          <a:p>
            <a:r>
              <a:rPr lang="en-US" dirty="0"/>
              <a:t>Network Noise</a:t>
            </a:r>
          </a:p>
        </p:txBody>
      </p:sp>
      <p:sp>
        <p:nvSpPr>
          <p:cNvPr id="3" name="Content Placeholder 2">
            <a:extLst>
              <a:ext uri="{FF2B5EF4-FFF2-40B4-BE49-F238E27FC236}">
                <a16:creationId xmlns:a16="http://schemas.microsoft.com/office/drawing/2014/main" id="{FE619007-0747-71E0-CA36-CD5B03327E27}"/>
              </a:ext>
            </a:extLst>
          </p:cNvPr>
          <p:cNvSpPr>
            <a:spLocks noGrp="1"/>
          </p:cNvSpPr>
          <p:nvPr>
            <p:ph idx="1"/>
          </p:nvPr>
        </p:nvSpPr>
        <p:spPr/>
        <p:txBody>
          <a:bodyPr>
            <a:normAutofit/>
          </a:bodyPr>
          <a:lstStyle/>
          <a:p>
            <a:r>
              <a:rPr lang="en-US" sz="2400" dirty="0"/>
              <a:t>“Extrinsic noise”</a:t>
            </a:r>
          </a:p>
          <a:p>
            <a:r>
              <a:rPr lang="en-US" sz="2400" dirty="0"/>
              <a:t>Neurons receive input from thousands of other neurons</a:t>
            </a:r>
          </a:p>
          <a:p>
            <a:r>
              <a:rPr lang="en-US" sz="2400" dirty="0"/>
              <a:t>A lot of presynaptic spikes do not generate a postsynaptic response</a:t>
            </a:r>
          </a:p>
          <a:p>
            <a:r>
              <a:rPr lang="en-US" sz="2400" dirty="0"/>
              <a:t>High irregular spike trains</a:t>
            </a:r>
          </a:p>
          <a:p>
            <a:r>
              <a:rPr lang="en-US" sz="2400" dirty="0"/>
              <a:t>Can be modeled by adding </a:t>
            </a:r>
            <a:br>
              <a:rPr lang="en-US" sz="2400" dirty="0"/>
            </a:br>
            <a:r>
              <a:rPr lang="en-US" sz="2400" dirty="0"/>
              <a:t>noise term to differential </a:t>
            </a:r>
            <a:br>
              <a:rPr lang="en-US" sz="2400" dirty="0"/>
            </a:br>
            <a:r>
              <a:rPr lang="en-US" sz="2400" dirty="0"/>
              <a:t>equation</a:t>
            </a:r>
          </a:p>
          <a:p>
            <a:endParaRPr lang="en-US" sz="2400" dirty="0"/>
          </a:p>
        </p:txBody>
      </p:sp>
      <p:sp>
        <p:nvSpPr>
          <p:cNvPr id="11" name="Footer Placeholder 7">
            <a:extLst>
              <a:ext uri="{FF2B5EF4-FFF2-40B4-BE49-F238E27FC236}">
                <a16:creationId xmlns:a16="http://schemas.microsoft.com/office/drawing/2014/main" id="{20912371-DD5B-CAC5-D619-FD98BB1653F6}"/>
              </a:ext>
            </a:extLst>
          </p:cNvPr>
          <p:cNvSpPr txBox="1">
            <a:spLocks/>
          </p:cNvSpPr>
          <p:nvPr/>
        </p:nvSpPr>
        <p:spPr>
          <a:xfrm>
            <a:off x="152400" y="6508750"/>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Gerstner et al., Neural Dynamics</a:t>
            </a:r>
          </a:p>
        </p:txBody>
      </p:sp>
      <p:sp>
        <p:nvSpPr>
          <p:cNvPr id="15" name="Footer Placeholder 7">
            <a:extLst>
              <a:ext uri="{FF2B5EF4-FFF2-40B4-BE49-F238E27FC236}">
                <a16:creationId xmlns:a16="http://schemas.microsoft.com/office/drawing/2014/main" id="{3B74DD3B-9D99-1AE3-F42D-1FECCBAE2DEC}"/>
              </a:ext>
            </a:extLst>
          </p:cNvPr>
          <p:cNvSpPr txBox="1">
            <a:spLocks/>
          </p:cNvSpPr>
          <p:nvPr/>
        </p:nvSpPr>
        <p:spPr>
          <a:xfrm>
            <a:off x="5277897" y="6356350"/>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Gerstner et al., Neural Dynamics</a:t>
            </a:r>
          </a:p>
        </p:txBody>
      </p:sp>
    </p:spTree>
    <p:extLst>
      <p:ext uri="{BB962C8B-B14F-4D97-AF65-F5344CB8AC3E}">
        <p14:creationId xmlns:p14="http://schemas.microsoft.com/office/powerpoint/2010/main" val="17080687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1579C-19BB-8DC8-A38F-2777EB685033}"/>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E9E370F-12F8-9041-CAD2-3E56CCC96560}"/>
              </a:ext>
            </a:extLst>
          </p:cNvPr>
          <p:cNvSpPr>
            <a:spLocks noGrp="1"/>
          </p:cNvSpPr>
          <p:nvPr>
            <p:ph type="sldNum" sz="quarter" idx="12"/>
          </p:nvPr>
        </p:nvSpPr>
        <p:spPr/>
        <p:txBody>
          <a:bodyPr/>
          <a:lstStyle/>
          <a:p>
            <a:fld id="{CB12788D-ABA5-4E7B-998B-677A061A6405}" type="slidenum">
              <a:rPr lang="en-US" smtClean="0"/>
              <a:t>35</a:t>
            </a:fld>
            <a:endParaRPr lang="en-US"/>
          </a:p>
        </p:txBody>
      </p:sp>
      <p:sp>
        <p:nvSpPr>
          <p:cNvPr id="7" name="Footer Placeholder 7">
            <a:extLst>
              <a:ext uri="{FF2B5EF4-FFF2-40B4-BE49-F238E27FC236}">
                <a16:creationId xmlns:a16="http://schemas.microsoft.com/office/drawing/2014/main" id="{D1182394-4F7C-1485-3AF5-73CAC1E356BA}"/>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B47EBD99-0F1F-3EC6-32D7-C74C3315FD18}"/>
              </a:ext>
            </a:extLst>
          </p:cNvPr>
          <p:cNvSpPr>
            <a:spLocks noGrp="1"/>
          </p:cNvSpPr>
          <p:nvPr>
            <p:ph type="title"/>
          </p:nvPr>
        </p:nvSpPr>
        <p:spPr>
          <a:xfrm>
            <a:off x="838200" y="365125"/>
            <a:ext cx="10515600" cy="1325563"/>
          </a:xfrm>
        </p:spPr>
        <p:txBody>
          <a:bodyPr/>
          <a:lstStyle/>
          <a:p>
            <a:r>
              <a:rPr lang="en-US" dirty="0"/>
              <a:t>Network Noise</a:t>
            </a:r>
          </a:p>
        </p:txBody>
      </p:sp>
      <p:sp>
        <p:nvSpPr>
          <p:cNvPr id="3" name="Content Placeholder 2">
            <a:extLst>
              <a:ext uri="{FF2B5EF4-FFF2-40B4-BE49-F238E27FC236}">
                <a16:creationId xmlns:a16="http://schemas.microsoft.com/office/drawing/2014/main" id="{73218A3C-57B4-C1D8-169D-B47AB4031318}"/>
              </a:ext>
            </a:extLst>
          </p:cNvPr>
          <p:cNvSpPr>
            <a:spLocks noGrp="1"/>
          </p:cNvSpPr>
          <p:nvPr>
            <p:ph idx="1"/>
          </p:nvPr>
        </p:nvSpPr>
        <p:spPr/>
        <p:txBody>
          <a:bodyPr>
            <a:normAutofit/>
          </a:bodyPr>
          <a:lstStyle/>
          <a:p>
            <a:pPr marL="0" indent="0">
              <a:buNone/>
            </a:pPr>
            <a:r>
              <a:rPr lang="en-US" sz="2400" b="1" dirty="0">
                <a:solidFill>
                  <a:srgbClr val="7030A0"/>
                </a:solidFill>
              </a:rPr>
              <a:t>White noise</a:t>
            </a:r>
          </a:p>
          <a:p>
            <a:r>
              <a:rPr lang="en-US" sz="2400" dirty="0"/>
              <a:t>Stochastic process</a:t>
            </a:r>
          </a:p>
          <a:p>
            <a:r>
              <a:rPr lang="en-US" sz="2400" dirty="0"/>
              <a:t>Expected value is 0</a:t>
            </a:r>
          </a:p>
          <a:p>
            <a:r>
              <a:rPr lang="en-US" sz="2400" dirty="0"/>
              <a:t>Standard deviation is amplitude</a:t>
            </a:r>
          </a:p>
          <a:p>
            <a:r>
              <a:rPr lang="en-US" sz="2400" dirty="0"/>
              <a:t>Added to differential equation</a:t>
            </a:r>
          </a:p>
          <a:p>
            <a:endParaRPr lang="en-US" sz="2400" dirty="0"/>
          </a:p>
          <a:p>
            <a:pPr marL="0" indent="0">
              <a:buNone/>
            </a:pPr>
            <a:r>
              <a:rPr lang="en-US" sz="2400" b="1" dirty="0">
                <a:solidFill>
                  <a:srgbClr val="7030A0"/>
                </a:solidFill>
              </a:rPr>
              <a:t>Colored noise</a:t>
            </a:r>
          </a:p>
          <a:p>
            <a:r>
              <a:rPr lang="en-US" sz="2400" dirty="0"/>
              <a:t>Filtered white noise</a:t>
            </a:r>
          </a:p>
        </p:txBody>
      </p:sp>
      <p:sp>
        <p:nvSpPr>
          <p:cNvPr id="11" name="Footer Placeholder 7">
            <a:extLst>
              <a:ext uri="{FF2B5EF4-FFF2-40B4-BE49-F238E27FC236}">
                <a16:creationId xmlns:a16="http://schemas.microsoft.com/office/drawing/2014/main" id="{1C3A291D-73DC-32C5-026E-09F91489E2CD}"/>
              </a:ext>
            </a:extLst>
          </p:cNvPr>
          <p:cNvSpPr txBox="1">
            <a:spLocks/>
          </p:cNvSpPr>
          <p:nvPr/>
        </p:nvSpPr>
        <p:spPr>
          <a:xfrm>
            <a:off x="152400" y="6508750"/>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Gerstner et al., Neural Dynamics</a:t>
            </a:r>
          </a:p>
        </p:txBody>
      </p:sp>
      <p:sp>
        <p:nvSpPr>
          <p:cNvPr id="15" name="Footer Placeholder 7">
            <a:extLst>
              <a:ext uri="{FF2B5EF4-FFF2-40B4-BE49-F238E27FC236}">
                <a16:creationId xmlns:a16="http://schemas.microsoft.com/office/drawing/2014/main" id="{B8333A5D-D486-76AE-E84F-58F2817E4782}"/>
              </a:ext>
            </a:extLst>
          </p:cNvPr>
          <p:cNvSpPr txBox="1">
            <a:spLocks/>
          </p:cNvSpPr>
          <p:nvPr/>
        </p:nvSpPr>
        <p:spPr>
          <a:xfrm>
            <a:off x="3943145" y="6288087"/>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Gerstner et al., Neural Dynamics</a:t>
            </a:r>
          </a:p>
        </p:txBody>
      </p:sp>
      <p:pic>
        <p:nvPicPr>
          <p:cNvPr id="8" name="Picture 7">
            <a:extLst>
              <a:ext uri="{FF2B5EF4-FFF2-40B4-BE49-F238E27FC236}">
                <a16:creationId xmlns:a16="http://schemas.microsoft.com/office/drawing/2014/main" id="{7AADCB02-7C26-2CF6-C9DC-113839F2F618}"/>
              </a:ext>
            </a:extLst>
          </p:cNvPr>
          <p:cNvPicPr>
            <a:picLocks noChangeAspect="1"/>
          </p:cNvPicPr>
          <p:nvPr/>
        </p:nvPicPr>
        <p:blipFill>
          <a:blip r:embed="rId3"/>
          <a:stretch>
            <a:fillRect/>
          </a:stretch>
        </p:blipFill>
        <p:spPr>
          <a:xfrm>
            <a:off x="8743880" y="520175"/>
            <a:ext cx="2705239" cy="1390721"/>
          </a:xfrm>
          <a:prstGeom prst="rect">
            <a:avLst/>
          </a:prstGeom>
        </p:spPr>
      </p:pic>
      <p:pic>
        <p:nvPicPr>
          <p:cNvPr id="10" name="Picture 9">
            <a:extLst>
              <a:ext uri="{FF2B5EF4-FFF2-40B4-BE49-F238E27FC236}">
                <a16:creationId xmlns:a16="http://schemas.microsoft.com/office/drawing/2014/main" id="{858B8C3C-4201-514C-AA4F-2370CFC7405D}"/>
              </a:ext>
            </a:extLst>
          </p:cNvPr>
          <p:cNvPicPr>
            <a:picLocks noChangeAspect="1"/>
          </p:cNvPicPr>
          <p:nvPr/>
        </p:nvPicPr>
        <p:blipFill>
          <a:blip r:embed="rId4"/>
          <a:stretch>
            <a:fillRect/>
          </a:stretch>
        </p:blipFill>
        <p:spPr>
          <a:xfrm>
            <a:off x="7867535" y="2908273"/>
            <a:ext cx="3581584" cy="520727"/>
          </a:xfrm>
          <a:prstGeom prst="rect">
            <a:avLst/>
          </a:prstGeom>
        </p:spPr>
      </p:pic>
      <p:pic>
        <p:nvPicPr>
          <p:cNvPr id="13" name="Picture 12">
            <a:extLst>
              <a:ext uri="{FF2B5EF4-FFF2-40B4-BE49-F238E27FC236}">
                <a16:creationId xmlns:a16="http://schemas.microsoft.com/office/drawing/2014/main" id="{79FBD19D-50C8-BBBF-EDD8-84C9269DC765}"/>
              </a:ext>
            </a:extLst>
          </p:cNvPr>
          <p:cNvPicPr>
            <a:picLocks noChangeAspect="1"/>
          </p:cNvPicPr>
          <p:nvPr/>
        </p:nvPicPr>
        <p:blipFill>
          <a:blip r:embed="rId5"/>
          <a:stretch>
            <a:fillRect/>
          </a:stretch>
        </p:blipFill>
        <p:spPr>
          <a:xfrm>
            <a:off x="3943145" y="4426377"/>
            <a:ext cx="7963309" cy="2006703"/>
          </a:xfrm>
          <a:prstGeom prst="rect">
            <a:avLst/>
          </a:prstGeom>
        </p:spPr>
      </p:pic>
    </p:spTree>
    <p:extLst>
      <p:ext uri="{BB962C8B-B14F-4D97-AF65-F5344CB8AC3E}">
        <p14:creationId xmlns:p14="http://schemas.microsoft.com/office/powerpoint/2010/main" val="34201740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AF591-42F4-AE00-77EA-823AE41191A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053D8EA-ED55-57D7-7E95-5D1D16CBFA52}"/>
              </a:ext>
            </a:extLst>
          </p:cNvPr>
          <p:cNvSpPr>
            <a:spLocks noGrp="1"/>
          </p:cNvSpPr>
          <p:nvPr>
            <p:ph type="sldNum" sz="quarter" idx="12"/>
          </p:nvPr>
        </p:nvSpPr>
        <p:spPr/>
        <p:txBody>
          <a:bodyPr/>
          <a:lstStyle/>
          <a:p>
            <a:fld id="{CB12788D-ABA5-4E7B-998B-677A061A6405}" type="slidenum">
              <a:rPr lang="en-US" smtClean="0"/>
              <a:t>36</a:t>
            </a:fld>
            <a:endParaRPr lang="en-US"/>
          </a:p>
        </p:txBody>
      </p:sp>
      <p:sp>
        <p:nvSpPr>
          <p:cNvPr id="7" name="Footer Placeholder 7">
            <a:extLst>
              <a:ext uri="{FF2B5EF4-FFF2-40B4-BE49-F238E27FC236}">
                <a16:creationId xmlns:a16="http://schemas.microsoft.com/office/drawing/2014/main" id="{499A4228-F3ED-7786-0AB0-3FA67B8C0622}"/>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AB16B0A9-AB0D-715D-423E-857535AF3F0E}"/>
              </a:ext>
            </a:extLst>
          </p:cNvPr>
          <p:cNvSpPr>
            <a:spLocks noGrp="1"/>
          </p:cNvSpPr>
          <p:nvPr>
            <p:ph type="title"/>
          </p:nvPr>
        </p:nvSpPr>
        <p:spPr>
          <a:xfrm>
            <a:off x="838200" y="365125"/>
            <a:ext cx="10515600" cy="1325563"/>
          </a:xfrm>
        </p:spPr>
        <p:txBody>
          <a:bodyPr/>
          <a:lstStyle/>
          <a:p>
            <a:r>
              <a:rPr lang="en-US" dirty="0"/>
              <a:t>Measurement Noise</a:t>
            </a:r>
          </a:p>
        </p:txBody>
      </p:sp>
      <p:sp>
        <p:nvSpPr>
          <p:cNvPr id="3" name="Content Placeholder 2">
            <a:extLst>
              <a:ext uri="{FF2B5EF4-FFF2-40B4-BE49-F238E27FC236}">
                <a16:creationId xmlns:a16="http://schemas.microsoft.com/office/drawing/2014/main" id="{7C6AA295-AA0D-D4F0-2C65-213AFDE340B7}"/>
              </a:ext>
            </a:extLst>
          </p:cNvPr>
          <p:cNvSpPr>
            <a:spLocks noGrp="1"/>
          </p:cNvSpPr>
          <p:nvPr>
            <p:ph idx="1"/>
          </p:nvPr>
        </p:nvSpPr>
        <p:spPr/>
        <p:txBody>
          <a:bodyPr>
            <a:normAutofit lnSpcReduction="10000"/>
          </a:bodyPr>
          <a:lstStyle/>
          <a:p>
            <a:r>
              <a:rPr lang="en-US" dirty="0"/>
              <a:t>Measurement artifacts also lead to trail to trial variability</a:t>
            </a:r>
          </a:p>
          <a:p>
            <a:r>
              <a:rPr lang="en-US" dirty="0"/>
              <a:t>Background noise</a:t>
            </a:r>
          </a:p>
          <a:p>
            <a:r>
              <a:rPr lang="en-US" dirty="0"/>
              <a:t>Biological Noise (EMG, EOG, EEG, …)</a:t>
            </a:r>
          </a:p>
          <a:p>
            <a:r>
              <a:rPr lang="en-US" dirty="0"/>
              <a:t>Powerline noise</a:t>
            </a:r>
          </a:p>
          <a:p>
            <a:r>
              <a:rPr lang="en-US" dirty="0"/>
              <a:t>Noise from technical equipment (amplifier, electrodes)</a:t>
            </a:r>
          </a:p>
          <a:p>
            <a:endParaRPr lang="en-US" dirty="0"/>
          </a:p>
          <a:p>
            <a:pPr>
              <a:buFont typeface="Wingdings" panose="05000000000000000000" pitchFamily="2" charset="2"/>
              <a:buChar char="à"/>
            </a:pPr>
            <a:r>
              <a:rPr lang="en-US" dirty="0">
                <a:sym typeface="Wingdings" panose="05000000000000000000" pitchFamily="2" charset="2"/>
              </a:rPr>
              <a:t>Filter</a:t>
            </a:r>
          </a:p>
          <a:p>
            <a:pPr>
              <a:buFont typeface="Wingdings" panose="05000000000000000000" pitchFamily="2" charset="2"/>
              <a:buChar char="à"/>
            </a:pPr>
            <a:r>
              <a:rPr lang="en-US" dirty="0">
                <a:sym typeface="Wingdings" panose="05000000000000000000" pitchFamily="2" charset="2"/>
              </a:rPr>
              <a:t>Repeat measurement and average over trails</a:t>
            </a:r>
          </a:p>
          <a:p>
            <a:pPr>
              <a:buFont typeface="Wingdings" panose="05000000000000000000" pitchFamily="2" charset="2"/>
              <a:buChar char="à"/>
            </a:pPr>
            <a:r>
              <a:rPr lang="en-US" dirty="0"/>
              <a:t>Probabilistic modeling </a:t>
            </a:r>
          </a:p>
          <a:p>
            <a:endParaRPr lang="en-US" dirty="0"/>
          </a:p>
          <a:p>
            <a:endParaRPr lang="en-US" dirty="0"/>
          </a:p>
        </p:txBody>
      </p:sp>
    </p:spTree>
    <p:extLst>
      <p:ext uri="{BB962C8B-B14F-4D97-AF65-F5344CB8AC3E}">
        <p14:creationId xmlns:p14="http://schemas.microsoft.com/office/powerpoint/2010/main" val="8948261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C9162-F437-264B-3D33-1030BE8880C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093446F-C296-7016-2F51-5EA0C0C4DCB3}"/>
              </a:ext>
            </a:extLst>
          </p:cNvPr>
          <p:cNvPicPr>
            <a:picLocks noChangeAspect="1"/>
          </p:cNvPicPr>
          <p:nvPr/>
        </p:nvPicPr>
        <p:blipFill>
          <a:blip r:embed="rId3"/>
          <a:stretch>
            <a:fillRect/>
          </a:stretch>
        </p:blipFill>
        <p:spPr>
          <a:xfrm>
            <a:off x="8528880" y="3847140"/>
            <a:ext cx="3546481" cy="2509210"/>
          </a:xfrm>
          <a:prstGeom prst="rect">
            <a:avLst/>
          </a:prstGeom>
        </p:spPr>
      </p:pic>
      <p:sp>
        <p:nvSpPr>
          <p:cNvPr id="5" name="Slide Number Placeholder 4">
            <a:extLst>
              <a:ext uri="{FF2B5EF4-FFF2-40B4-BE49-F238E27FC236}">
                <a16:creationId xmlns:a16="http://schemas.microsoft.com/office/drawing/2014/main" id="{8B00431C-C9F5-E685-AE15-30F440F552EE}"/>
              </a:ext>
            </a:extLst>
          </p:cNvPr>
          <p:cNvSpPr>
            <a:spLocks noGrp="1"/>
          </p:cNvSpPr>
          <p:nvPr>
            <p:ph type="sldNum" sz="quarter" idx="12"/>
          </p:nvPr>
        </p:nvSpPr>
        <p:spPr/>
        <p:txBody>
          <a:bodyPr/>
          <a:lstStyle/>
          <a:p>
            <a:fld id="{CB12788D-ABA5-4E7B-998B-677A061A6405}" type="slidenum">
              <a:rPr lang="en-US" smtClean="0"/>
              <a:t>37</a:t>
            </a:fld>
            <a:endParaRPr lang="en-US"/>
          </a:p>
        </p:txBody>
      </p:sp>
      <p:sp>
        <p:nvSpPr>
          <p:cNvPr id="7" name="Footer Placeholder 7">
            <a:extLst>
              <a:ext uri="{FF2B5EF4-FFF2-40B4-BE49-F238E27FC236}">
                <a16:creationId xmlns:a16="http://schemas.microsoft.com/office/drawing/2014/main" id="{2CC0C812-87B3-6AE5-5730-675A689FC46A}"/>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65D90C9E-D8D6-EBA2-A558-0684A9D3E174}"/>
              </a:ext>
            </a:extLst>
          </p:cNvPr>
          <p:cNvSpPr>
            <a:spLocks noGrp="1"/>
          </p:cNvSpPr>
          <p:nvPr>
            <p:ph type="title"/>
          </p:nvPr>
        </p:nvSpPr>
        <p:spPr>
          <a:xfrm>
            <a:off x="838200" y="365125"/>
            <a:ext cx="10515600" cy="1325563"/>
          </a:xfrm>
        </p:spPr>
        <p:txBody>
          <a:bodyPr/>
          <a:lstStyle/>
          <a:p>
            <a:r>
              <a:rPr lang="en-US" dirty="0"/>
              <a:t>Neural data analysis</a:t>
            </a:r>
          </a:p>
        </p:txBody>
      </p:sp>
      <p:sp>
        <p:nvSpPr>
          <p:cNvPr id="2" name="Content Placeholder 2">
            <a:extLst>
              <a:ext uri="{FF2B5EF4-FFF2-40B4-BE49-F238E27FC236}">
                <a16:creationId xmlns:a16="http://schemas.microsoft.com/office/drawing/2014/main" id="{31CA12F6-9171-641D-6117-3708E0F7ABD0}"/>
              </a:ext>
            </a:extLst>
          </p:cNvPr>
          <p:cNvSpPr>
            <a:spLocks noGrp="1"/>
          </p:cNvSpPr>
          <p:nvPr>
            <p:ph idx="1"/>
          </p:nvPr>
        </p:nvSpPr>
        <p:spPr>
          <a:xfrm>
            <a:off x="838200" y="1825625"/>
            <a:ext cx="10515600" cy="4351338"/>
          </a:xfrm>
        </p:spPr>
        <p:txBody>
          <a:bodyPr>
            <a:normAutofit/>
          </a:bodyPr>
          <a:lstStyle/>
          <a:p>
            <a:pPr marL="0" indent="0">
              <a:buNone/>
            </a:pPr>
            <a:r>
              <a:rPr lang="en-US" sz="2400" b="1" dirty="0">
                <a:solidFill>
                  <a:srgbClr val="7030A0"/>
                </a:solidFill>
              </a:rPr>
              <a:t>Encoding</a:t>
            </a:r>
          </a:p>
          <a:p>
            <a:r>
              <a:rPr lang="en-US" sz="2400" dirty="0"/>
              <a:t>How information is encoded in neural spike trains</a:t>
            </a:r>
          </a:p>
          <a:p>
            <a:r>
              <a:rPr lang="en-US" sz="2400" dirty="0"/>
              <a:t>Predict spike trains of a neuron</a:t>
            </a:r>
          </a:p>
          <a:p>
            <a:r>
              <a:rPr lang="en-US" sz="2400" dirty="0"/>
              <a:t>Given synaptic input, current injection, or sensory stimulus</a:t>
            </a:r>
          </a:p>
          <a:p>
            <a:endParaRPr lang="en-US" sz="2400" dirty="0"/>
          </a:p>
          <a:p>
            <a:pPr marL="0" indent="0">
              <a:buNone/>
            </a:pPr>
            <a:r>
              <a:rPr lang="en-US" sz="2400" b="1" dirty="0">
                <a:solidFill>
                  <a:srgbClr val="7030A0"/>
                </a:solidFill>
              </a:rPr>
              <a:t>Decoding</a:t>
            </a:r>
          </a:p>
          <a:p>
            <a:r>
              <a:rPr lang="en-US" sz="2400" dirty="0"/>
              <a:t>What can we learn from observation of spike sequence</a:t>
            </a:r>
          </a:p>
          <a:p>
            <a:r>
              <a:rPr lang="en-US" sz="2400" dirty="0"/>
              <a:t>Estimate stimulus that gave rise to spike train</a:t>
            </a:r>
          </a:p>
        </p:txBody>
      </p:sp>
      <p:sp>
        <p:nvSpPr>
          <p:cNvPr id="6" name="Footer Placeholder 7">
            <a:extLst>
              <a:ext uri="{FF2B5EF4-FFF2-40B4-BE49-F238E27FC236}">
                <a16:creationId xmlns:a16="http://schemas.microsoft.com/office/drawing/2014/main" id="{8732E00E-7929-0D9F-B3E2-9C0F31C65D88}"/>
              </a:ext>
            </a:extLst>
          </p:cNvPr>
          <p:cNvSpPr txBox="1">
            <a:spLocks/>
          </p:cNvSpPr>
          <p:nvPr/>
        </p:nvSpPr>
        <p:spPr>
          <a:xfrm>
            <a:off x="152400" y="6508750"/>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Gerstner et al., Neural Dynamics</a:t>
            </a:r>
          </a:p>
        </p:txBody>
      </p:sp>
      <p:pic>
        <p:nvPicPr>
          <p:cNvPr id="8" name="Picture 7">
            <a:extLst>
              <a:ext uri="{FF2B5EF4-FFF2-40B4-BE49-F238E27FC236}">
                <a16:creationId xmlns:a16="http://schemas.microsoft.com/office/drawing/2014/main" id="{802230FB-3190-263A-3DBB-2801D10EE4F9}"/>
              </a:ext>
            </a:extLst>
          </p:cNvPr>
          <p:cNvPicPr>
            <a:picLocks noChangeAspect="1"/>
          </p:cNvPicPr>
          <p:nvPr/>
        </p:nvPicPr>
        <p:blipFill>
          <a:blip r:embed="rId4"/>
          <a:stretch>
            <a:fillRect/>
          </a:stretch>
        </p:blipFill>
        <p:spPr>
          <a:xfrm>
            <a:off x="7003631" y="179172"/>
            <a:ext cx="4930640" cy="2004047"/>
          </a:xfrm>
          <a:prstGeom prst="rect">
            <a:avLst/>
          </a:prstGeom>
        </p:spPr>
      </p:pic>
      <p:sp>
        <p:nvSpPr>
          <p:cNvPr id="12" name="Footer Placeholder 7">
            <a:extLst>
              <a:ext uri="{FF2B5EF4-FFF2-40B4-BE49-F238E27FC236}">
                <a16:creationId xmlns:a16="http://schemas.microsoft.com/office/drawing/2014/main" id="{0794C484-E4EF-AC95-8221-66A162E613A7}"/>
              </a:ext>
            </a:extLst>
          </p:cNvPr>
          <p:cNvSpPr txBox="1">
            <a:spLocks/>
          </p:cNvSpPr>
          <p:nvPr/>
        </p:nvSpPr>
        <p:spPr>
          <a:xfrm>
            <a:off x="8681280" y="6267450"/>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Gerstner et al., Neural Dynamics</a:t>
            </a:r>
          </a:p>
        </p:txBody>
      </p:sp>
      <p:sp>
        <p:nvSpPr>
          <p:cNvPr id="14" name="Footer Placeholder 7">
            <a:extLst>
              <a:ext uri="{FF2B5EF4-FFF2-40B4-BE49-F238E27FC236}">
                <a16:creationId xmlns:a16="http://schemas.microsoft.com/office/drawing/2014/main" id="{58EFA1EC-7AEC-9DF6-2A4D-A652796E78D3}"/>
              </a:ext>
            </a:extLst>
          </p:cNvPr>
          <p:cNvSpPr txBox="1">
            <a:spLocks/>
          </p:cNvSpPr>
          <p:nvPr/>
        </p:nvSpPr>
        <p:spPr>
          <a:xfrm>
            <a:off x="10393942" y="2067331"/>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Gerstner et al., Neural Dynamics</a:t>
            </a:r>
          </a:p>
        </p:txBody>
      </p:sp>
    </p:spTree>
    <p:extLst>
      <p:ext uri="{BB962C8B-B14F-4D97-AF65-F5344CB8AC3E}">
        <p14:creationId xmlns:p14="http://schemas.microsoft.com/office/powerpoint/2010/main" val="33005486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A7C61-3AA0-35F1-3F72-0C31808C082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7C5D886-0F62-C859-054B-856C9C3A6D54}"/>
              </a:ext>
            </a:extLst>
          </p:cNvPr>
          <p:cNvSpPr>
            <a:spLocks noGrp="1"/>
          </p:cNvSpPr>
          <p:nvPr>
            <p:ph type="sldNum" sz="quarter" idx="12"/>
          </p:nvPr>
        </p:nvSpPr>
        <p:spPr/>
        <p:txBody>
          <a:bodyPr/>
          <a:lstStyle/>
          <a:p>
            <a:fld id="{CB12788D-ABA5-4E7B-998B-677A061A6405}" type="slidenum">
              <a:rPr lang="en-US" smtClean="0"/>
              <a:t>38</a:t>
            </a:fld>
            <a:endParaRPr lang="en-US"/>
          </a:p>
        </p:txBody>
      </p:sp>
      <p:sp>
        <p:nvSpPr>
          <p:cNvPr id="7" name="Footer Placeholder 7">
            <a:extLst>
              <a:ext uri="{FF2B5EF4-FFF2-40B4-BE49-F238E27FC236}">
                <a16:creationId xmlns:a16="http://schemas.microsoft.com/office/drawing/2014/main" id="{65161EA5-5A9F-07BE-E29C-A6FA8B42BD29}"/>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1A3185CF-78C4-FDDE-F323-4B082466E3F9}"/>
              </a:ext>
            </a:extLst>
          </p:cNvPr>
          <p:cNvSpPr>
            <a:spLocks noGrp="1"/>
          </p:cNvSpPr>
          <p:nvPr>
            <p:ph type="title"/>
          </p:nvPr>
        </p:nvSpPr>
        <p:spPr>
          <a:xfrm>
            <a:off x="838200" y="365125"/>
            <a:ext cx="10515600" cy="1325563"/>
          </a:xfrm>
        </p:spPr>
        <p:txBody>
          <a:bodyPr/>
          <a:lstStyle/>
          <a:p>
            <a:r>
              <a:rPr lang="en-US" dirty="0"/>
              <a:t>Model selection</a:t>
            </a:r>
          </a:p>
        </p:txBody>
      </p:sp>
      <p:sp>
        <p:nvSpPr>
          <p:cNvPr id="2" name="Content Placeholder 2">
            <a:extLst>
              <a:ext uri="{FF2B5EF4-FFF2-40B4-BE49-F238E27FC236}">
                <a16:creationId xmlns:a16="http://schemas.microsoft.com/office/drawing/2014/main" id="{6E870DF7-60EE-C680-B8C8-0B8B3492FCC5}"/>
              </a:ext>
            </a:extLst>
          </p:cNvPr>
          <p:cNvSpPr>
            <a:spLocks noGrp="1"/>
          </p:cNvSpPr>
          <p:nvPr>
            <p:ph idx="1"/>
          </p:nvPr>
        </p:nvSpPr>
        <p:spPr>
          <a:xfrm>
            <a:off x="838200" y="1825625"/>
            <a:ext cx="10515600" cy="4351338"/>
          </a:xfrm>
        </p:spPr>
        <p:txBody>
          <a:bodyPr>
            <a:normAutofit/>
          </a:bodyPr>
          <a:lstStyle/>
          <a:p>
            <a:r>
              <a:rPr lang="en-US" sz="2400" dirty="0"/>
              <a:t>Flexible and powerful enough to fit observed data</a:t>
            </a:r>
          </a:p>
          <a:p>
            <a:r>
              <a:rPr lang="en-US" sz="2400" dirty="0"/>
              <a:t>Tractable (possible to fit model with available data)</a:t>
            </a:r>
          </a:p>
          <a:p>
            <a:r>
              <a:rPr lang="en-US" sz="2400" dirty="0"/>
              <a:t>Respect underlying physiology and anatomy of system</a:t>
            </a:r>
          </a:p>
          <a:p>
            <a:r>
              <a:rPr lang="en-US" sz="2400" dirty="0"/>
              <a:t>Biophysical interpretability</a:t>
            </a:r>
          </a:p>
          <a:p>
            <a:endParaRPr lang="en-US" sz="2400" dirty="0"/>
          </a:p>
        </p:txBody>
      </p:sp>
      <p:sp>
        <p:nvSpPr>
          <p:cNvPr id="6" name="Footer Placeholder 7">
            <a:extLst>
              <a:ext uri="{FF2B5EF4-FFF2-40B4-BE49-F238E27FC236}">
                <a16:creationId xmlns:a16="http://schemas.microsoft.com/office/drawing/2014/main" id="{79913A3C-10F1-8BC2-4543-66001DB11A77}"/>
              </a:ext>
            </a:extLst>
          </p:cNvPr>
          <p:cNvSpPr txBox="1">
            <a:spLocks/>
          </p:cNvSpPr>
          <p:nvPr/>
        </p:nvSpPr>
        <p:spPr>
          <a:xfrm>
            <a:off x="152400" y="6508750"/>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Gerstner et al., Neural Dynamics</a:t>
            </a:r>
          </a:p>
        </p:txBody>
      </p:sp>
    </p:spTree>
    <p:extLst>
      <p:ext uri="{BB962C8B-B14F-4D97-AF65-F5344CB8AC3E}">
        <p14:creationId xmlns:p14="http://schemas.microsoft.com/office/powerpoint/2010/main" val="32558164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56EF9-7F67-38B3-0C45-F84E5F02EE78}"/>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12033A4-3110-5AFC-D2F0-83A63F407B66}"/>
              </a:ext>
            </a:extLst>
          </p:cNvPr>
          <p:cNvSpPr>
            <a:spLocks noGrp="1"/>
          </p:cNvSpPr>
          <p:nvPr>
            <p:ph type="sldNum" sz="quarter" idx="12"/>
          </p:nvPr>
        </p:nvSpPr>
        <p:spPr/>
        <p:txBody>
          <a:bodyPr/>
          <a:lstStyle/>
          <a:p>
            <a:fld id="{CB12788D-ABA5-4E7B-998B-677A061A6405}" type="slidenum">
              <a:rPr lang="en-US" smtClean="0"/>
              <a:t>39</a:t>
            </a:fld>
            <a:endParaRPr lang="en-US"/>
          </a:p>
        </p:txBody>
      </p:sp>
      <p:sp>
        <p:nvSpPr>
          <p:cNvPr id="7" name="Footer Placeholder 7">
            <a:extLst>
              <a:ext uri="{FF2B5EF4-FFF2-40B4-BE49-F238E27FC236}">
                <a16:creationId xmlns:a16="http://schemas.microsoft.com/office/drawing/2014/main" id="{9CB77797-0D41-66FE-15DD-AA92AB24C793}"/>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306BE8CC-8A39-958F-32DC-F95E5C0E9AA4}"/>
              </a:ext>
            </a:extLst>
          </p:cNvPr>
          <p:cNvSpPr>
            <a:spLocks noGrp="1"/>
          </p:cNvSpPr>
          <p:nvPr>
            <p:ph type="title"/>
          </p:nvPr>
        </p:nvSpPr>
        <p:spPr>
          <a:xfrm>
            <a:off x="838200" y="365125"/>
            <a:ext cx="10515600" cy="1325563"/>
          </a:xfrm>
        </p:spPr>
        <p:txBody>
          <a:bodyPr/>
          <a:lstStyle/>
          <a:p>
            <a:r>
              <a:rPr lang="en-US" dirty="0"/>
              <a:t>Statistical Formulation</a:t>
            </a: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B1640AE6-2989-493D-684B-F3DABAEC1644}"/>
                  </a:ext>
                </a:extLst>
              </p:cNvPr>
              <p:cNvSpPr>
                <a:spLocks noGrp="1"/>
              </p:cNvSpPr>
              <p:nvPr>
                <p:ph idx="1"/>
              </p:nvPr>
            </p:nvSpPr>
            <p:spPr>
              <a:xfrm>
                <a:off x="838200" y="1825625"/>
                <a:ext cx="10515600" cy="4351338"/>
              </a:xfrm>
            </p:spPr>
            <p:txBody>
              <a:bodyPr>
                <a:normAutofit/>
              </a:bodyPr>
              <a:lstStyle/>
              <a:p>
                <a:r>
                  <a:rPr lang="en-US" sz="2000" dirty="0"/>
                  <a:t>D … spike train data</a:t>
                </a:r>
              </a:p>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𝑡</m:t>
                        </m:r>
                      </m:sub>
                    </m:sSub>
                  </m:oMath>
                </a14:m>
                <a:r>
                  <a:rPr lang="en-US" sz="2000" dirty="0"/>
                  <a:t> … variables of discretized spike train</a:t>
                </a:r>
              </a:p>
              <a:p>
                <a:r>
                  <a:rPr lang="en-US" sz="2000" dirty="0"/>
                  <a:t>T … time of spike train</a:t>
                </a:r>
              </a:p>
              <a:p>
                <a:r>
                  <a:rPr lang="el-GR" sz="2000" dirty="0">
                    <a:sym typeface="Wingdings" panose="05000000000000000000" pitchFamily="2" charset="2"/>
                  </a:rPr>
                  <a:t>θ</a:t>
                </a:r>
                <a:r>
                  <a:rPr lang="en-US" sz="2000" dirty="0">
                    <a:sym typeface="Wingdings" panose="05000000000000000000" pitchFamily="2" charset="2"/>
                  </a:rPr>
                  <a:t> … set of all model parameters</a:t>
                </a:r>
                <a:endParaRPr lang="en-US" sz="2000" dirty="0"/>
              </a:p>
              <a:p>
                <a:endParaRPr lang="en-US" sz="2000" dirty="0"/>
              </a:p>
              <a:p>
                <a:pPr marL="0" indent="0">
                  <a:buNone/>
                </a:pPr>
                <a:r>
                  <a:rPr lang="en-US" sz="2000" dirty="0">
                    <a:solidFill>
                      <a:srgbClr val="7030A0"/>
                    </a:solidFill>
                  </a:rPr>
                  <a:t>Encoding Model</a:t>
                </a:r>
              </a:p>
              <a:p>
                <a:r>
                  <a:rPr lang="en-US" sz="2000" dirty="0"/>
                  <a:t>Assigns conditional probability to any possible neural response D given stimulus x </a:t>
                </a:r>
                <a:r>
                  <a:rPr lang="en-US" sz="2000" dirty="0">
                    <a:sym typeface="Wingdings" panose="05000000000000000000" pitchFamily="2" charset="2"/>
                  </a:rPr>
                  <a:t> P(</a:t>
                </a:r>
                <a:r>
                  <a:rPr lang="en-US" sz="2000" dirty="0" err="1">
                    <a:sym typeface="Wingdings" panose="05000000000000000000" pitchFamily="2" charset="2"/>
                  </a:rPr>
                  <a:t>D|x</a:t>
                </a:r>
                <a:r>
                  <a:rPr lang="en-US" sz="2000" dirty="0">
                    <a:sym typeface="Wingdings" panose="05000000000000000000" pitchFamily="2" charset="2"/>
                  </a:rPr>
                  <a:t>)</a:t>
                </a:r>
              </a:p>
              <a:p>
                <a:r>
                  <a:rPr lang="en-US" sz="2000" dirty="0">
                    <a:sym typeface="Wingdings" panose="05000000000000000000" pitchFamily="2" charset="2"/>
                  </a:rPr>
                  <a:t>Not possible to directly measure p for all pairs </a:t>
                </a:r>
                <a:r>
                  <a:rPr lang="en-US" sz="2000" dirty="0" err="1">
                    <a:sym typeface="Wingdings" panose="05000000000000000000" pitchFamily="2" charset="2"/>
                  </a:rPr>
                  <a:t>x,D</a:t>
                </a:r>
                <a:r>
                  <a:rPr lang="en-US" sz="2000" dirty="0">
                    <a:sym typeface="Wingdings" panose="05000000000000000000" pitchFamily="2" charset="2"/>
                  </a:rPr>
                  <a:t> because there are infinitely many potential stimuli  P(</a:t>
                </a:r>
                <a:r>
                  <a:rPr lang="en-US" sz="2000" dirty="0" err="1">
                    <a:sym typeface="Wingdings" panose="05000000000000000000" pitchFamily="2" charset="2"/>
                  </a:rPr>
                  <a:t>D|x</a:t>
                </a:r>
                <a:r>
                  <a:rPr lang="en-US" sz="2000" dirty="0">
                    <a:sym typeface="Wingdings" panose="05000000000000000000" pitchFamily="2" charset="2"/>
                  </a:rPr>
                  <a:t>,</a:t>
                </a:r>
                <a:r>
                  <a:rPr lang="el-GR" sz="2000" dirty="0">
                    <a:sym typeface="Wingdings" panose="05000000000000000000" pitchFamily="2" charset="2"/>
                  </a:rPr>
                  <a:t>θ</a:t>
                </a:r>
                <a:r>
                  <a:rPr lang="en-US" sz="2000" dirty="0">
                    <a:sym typeface="Wingdings" panose="05000000000000000000" pitchFamily="2" charset="2"/>
                  </a:rPr>
                  <a:t>)</a:t>
                </a:r>
              </a:p>
              <a:p>
                <a:r>
                  <a:rPr lang="en-US" sz="2000" dirty="0">
                    <a:sym typeface="Wingdings" panose="05000000000000000000" pitchFamily="2" charset="2"/>
                  </a:rPr>
                  <a:t>Goal: Estimate model parameters </a:t>
                </a:r>
                <a:r>
                  <a:rPr lang="el-GR" sz="2000" dirty="0">
                    <a:sym typeface="Wingdings" panose="05000000000000000000" pitchFamily="2" charset="2"/>
                  </a:rPr>
                  <a:t>θ</a:t>
                </a:r>
                <a:r>
                  <a:rPr lang="en-US" sz="2000" dirty="0">
                    <a:sym typeface="Wingdings" panose="05000000000000000000" pitchFamily="2" charset="2"/>
                  </a:rPr>
                  <a:t> so that model fits the observed data D</a:t>
                </a:r>
              </a:p>
              <a:p>
                <a:r>
                  <a:rPr lang="en-US" sz="2000" dirty="0">
                    <a:sym typeface="Wingdings" panose="05000000000000000000" pitchFamily="2" charset="2"/>
                  </a:rPr>
                  <a:t>With estimated </a:t>
                </a:r>
                <a:r>
                  <a:rPr lang="el-GR" sz="2000" dirty="0">
                    <a:sym typeface="Wingdings" panose="05000000000000000000" pitchFamily="2" charset="2"/>
                  </a:rPr>
                  <a:t>θ</a:t>
                </a:r>
                <a:r>
                  <a:rPr lang="en-US" sz="2000" dirty="0">
                    <a:sym typeface="Wingdings" panose="05000000000000000000" pitchFamily="2" charset="2"/>
                  </a:rPr>
                  <a:t> we can then compute response probability for new stimuli x</a:t>
                </a:r>
                <a:endParaRPr lang="en-US" sz="2000" dirty="0"/>
              </a:p>
              <a:p>
                <a:endParaRPr lang="en-US" sz="2000" dirty="0"/>
              </a:p>
              <a:p>
                <a:endParaRPr lang="en-US" sz="2000" dirty="0"/>
              </a:p>
            </p:txBody>
          </p:sp>
        </mc:Choice>
        <mc:Fallback xmlns="">
          <p:sp>
            <p:nvSpPr>
              <p:cNvPr id="2" name="Content Placeholder 2">
                <a:extLst>
                  <a:ext uri="{FF2B5EF4-FFF2-40B4-BE49-F238E27FC236}">
                    <a16:creationId xmlns:a16="http://schemas.microsoft.com/office/drawing/2014/main" id="{B1640AE6-2989-493D-684B-F3DABAEC1644}"/>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l="-638" t="-1261" b="-280"/>
                </a:stretch>
              </a:blipFill>
            </p:spPr>
            <p:txBody>
              <a:bodyPr/>
              <a:lstStyle/>
              <a:p>
                <a:r>
                  <a:rPr lang="en-US">
                    <a:noFill/>
                  </a:rPr>
                  <a:t> </a:t>
                </a:r>
              </a:p>
            </p:txBody>
          </p:sp>
        </mc:Fallback>
      </mc:AlternateContent>
      <p:sp>
        <p:nvSpPr>
          <p:cNvPr id="6" name="Footer Placeholder 7">
            <a:extLst>
              <a:ext uri="{FF2B5EF4-FFF2-40B4-BE49-F238E27FC236}">
                <a16:creationId xmlns:a16="http://schemas.microsoft.com/office/drawing/2014/main" id="{0295EBD3-109F-C2A9-1089-90A0D701751E}"/>
              </a:ext>
            </a:extLst>
          </p:cNvPr>
          <p:cNvSpPr txBox="1">
            <a:spLocks/>
          </p:cNvSpPr>
          <p:nvPr/>
        </p:nvSpPr>
        <p:spPr>
          <a:xfrm>
            <a:off x="152400" y="6508750"/>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Gerstner et al., Neural Dynamics</a:t>
            </a:r>
          </a:p>
        </p:txBody>
      </p:sp>
    </p:spTree>
    <p:extLst>
      <p:ext uri="{BB962C8B-B14F-4D97-AF65-F5344CB8AC3E}">
        <p14:creationId xmlns:p14="http://schemas.microsoft.com/office/powerpoint/2010/main" val="37589394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231EB-9A67-ED3E-7EB2-6C8A8233C25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4E14EA7-7157-28B6-4FEE-2C8B0555F966}"/>
              </a:ext>
            </a:extLst>
          </p:cNvPr>
          <p:cNvSpPr>
            <a:spLocks noGrp="1"/>
          </p:cNvSpPr>
          <p:nvPr>
            <p:ph type="sldNum" sz="quarter" idx="12"/>
          </p:nvPr>
        </p:nvSpPr>
        <p:spPr/>
        <p:txBody>
          <a:bodyPr/>
          <a:lstStyle/>
          <a:p>
            <a:fld id="{CB12788D-ABA5-4E7B-998B-677A061A6405}" type="slidenum">
              <a:rPr lang="en-US" smtClean="0"/>
              <a:t>40</a:t>
            </a:fld>
            <a:endParaRPr lang="en-US"/>
          </a:p>
        </p:txBody>
      </p:sp>
      <p:sp>
        <p:nvSpPr>
          <p:cNvPr id="7" name="Footer Placeholder 7">
            <a:extLst>
              <a:ext uri="{FF2B5EF4-FFF2-40B4-BE49-F238E27FC236}">
                <a16:creationId xmlns:a16="http://schemas.microsoft.com/office/drawing/2014/main" id="{84D98700-2404-2277-55C1-2C60838BE743}"/>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0208D590-2D56-B442-FA9B-1FC6C4D7470F}"/>
              </a:ext>
            </a:extLst>
          </p:cNvPr>
          <p:cNvSpPr>
            <a:spLocks noGrp="1"/>
          </p:cNvSpPr>
          <p:nvPr>
            <p:ph type="title"/>
          </p:nvPr>
        </p:nvSpPr>
        <p:spPr>
          <a:xfrm>
            <a:off x="838200" y="365125"/>
            <a:ext cx="10515600" cy="1325563"/>
          </a:xfrm>
        </p:spPr>
        <p:txBody>
          <a:bodyPr/>
          <a:lstStyle/>
          <a:p>
            <a:r>
              <a:rPr lang="en-US" dirty="0"/>
              <a:t>Parameter Estimation</a:t>
            </a:r>
          </a:p>
        </p:txBody>
      </p:sp>
      <p:sp>
        <p:nvSpPr>
          <p:cNvPr id="2" name="Content Placeholder 2">
            <a:extLst>
              <a:ext uri="{FF2B5EF4-FFF2-40B4-BE49-F238E27FC236}">
                <a16:creationId xmlns:a16="http://schemas.microsoft.com/office/drawing/2014/main" id="{4775A681-F984-9654-44AC-69202D81FE7E}"/>
              </a:ext>
            </a:extLst>
          </p:cNvPr>
          <p:cNvSpPr>
            <a:spLocks noGrp="1"/>
          </p:cNvSpPr>
          <p:nvPr>
            <p:ph idx="1"/>
          </p:nvPr>
        </p:nvSpPr>
        <p:spPr>
          <a:xfrm>
            <a:off x="838201" y="1825625"/>
            <a:ext cx="5257800" cy="4351338"/>
          </a:xfrm>
        </p:spPr>
        <p:txBody>
          <a:bodyPr>
            <a:normAutofit/>
          </a:bodyPr>
          <a:lstStyle/>
          <a:p>
            <a:r>
              <a:rPr lang="en-US" sz="2400" dirty="0"/>
              <a:t>Compute posterior distribution of model parameters given observed data using Bayes` rule</a:t>
            </a:r>
          </a:p>
          <a:p>
            <a:r>
              <a:rPr lang="en-US" sz="2400" dirty="0"/>
              <a:t>Posterior: P(</a:t>
            </a:r>
            <a:r>
              <a:rPr lang="el-GR" sz="2400" dirty="0">
                <a:sym typeface="Wingdings" panose="05000000000000000000" pitchFamily="2" charset="2"/>
              </a:rPr>
              <a:t>θ</a:t>
            </a:r>
            <a:r>
              <a:rPr lang="en-US" sz="2400" dirty="0">
                <a:sym typeface="Wingdings" panose="05000000000000000000" pitchFamily="2" charset="2"/>
              </a:rPr>
              <a:t>|D)</a:t>
            </a:r>
            <a:endParaRPr lang="en-US" sz="2400" dirty="0"/>
          </a:p>
          <a:p>
            <a:r>
              <a:rPr lang="en-US" sz="2400" dirty="0"/>
              <a:t>Likelihood: P(D|X,</a:t>
            </a:r>
            <a:r>
              <a:rPr lang="el-GR" sz="2400" dirty="0">
                <a:sym typeface="Wingdings" panose="05000000000000000000" pitchFamily="2" charset="2"/>
              </a:rPr>
              <a:t> θ</a:t>
            </a:r>
            <a:r>
              <a:rPr lang="en-US" sz="2400" dirty="0"/>
              <a:t>)</a:t>
            </a:r>
          </a:p>
          <a:p>
            <a:r>
              <a:rPr lang="el-GR" sz="2400" dirty="0">
                <a:sym typeface="Wingdings" panose="05000000000000000000" pitchFamily="2" charset="2"/>
              </a:rPr>
              <a:t>θ</a:t>
            </a:r>
            <a:r>
              <a:rPr lang="en-US" sz="2400" dirty="0"/>
              <a:t> … model parameter</a:t>
            </a:r>
          </a:p>
          <a:p>
            <a:r>
              <a:rPr lang="en-US" sz="2400" dirty="0"/>
              <a:t>X … set of stimuli</a:t>
            </a:r>
          </a:p>
          <a:p>
            <a:r>
              <a:rPr lang="en-US" sz="2400" dirty="0"/>
              <a:t>Find </a:t>
            </a:r>
            <a:r>
              <a:rPr lang="el-GR" sz="2400" dirty="0">
                <a:sym typeface="Wingdings" panose="05000000000000000000" pitchFamily="2" charset="2"/>
              </a:rPr>
              <a:t>θ</a:t>
            </a:r>
            <a:r>
              <a:rPr lang="en-US" sz="2400" dirty="0"/>
              <a:t> that maximizes likelihood or posterior</a:t>
            </a:r>
          </a:p>
          <a:p>
            <a:pPr marL="0" indent="0">
              <a:buNone/>
            </a:pPr>
            <a:endParaRPr lang="en-US" sz="2400" dirty="0"/>
          </a:p>
        </p:txBody>
      </p:sp>
      <p:sp>
        <p:nvSpPr>
          <p:cNvPr id="6" name="Footer Placeholder 7">
            <a:extLst>
              <a:ext uri="{FF2B5EF4-FFF2-40B4-BE49-F238E27FC236}">
                <a16:creationId xmlns:a16="http://schemas.microsoft.com/office/drawing/2014/main" id="{DF670E71-6995-2AC7-9BA6-A6B52393B107}"/>
              </a:ext>
            </a:extLst>
          </p:cNvPr>
          <p:cNvSpPr txBox="1">
            <a:spLocks/>
          </p:cNvSpPr>
          <p:nvPr/>
        </p:nvSpPr>
        <p:spPr>
          <a:xfrm>
            <a:off x="152400" y="6508750"/>
            <a:ext cx="3080657"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Gerstner et al., Neural Dynamics</a:t>
            </a:r>
          </a:p>
        </p:txBody>
      </p:sp>
      <p:pic>
        <p:nvPicPr>
          <p:cNvPr id="8" name="Picture 7">
            <a:extLst>
              <a:ext uri="{FF2B5EF4-FFF2-40B4-BE49-F238E27FC236}">
                <a16:creationId xmlns:a16="http://schemas.microsoft.com/office/drawing/2014/main" id="{2853C1BE-DBE2-F89E-1BD7-E9191DC6BB0B}"/>
              </a:ext>
            </a:extLst>
          </p:cNvPr>
          <p:cNvPicPr>
            <a:picLocks noChangeAspect="1"/>
          </p:cNvPicPr>
          <p:nvPr/>
        </p:nvPicPr>
        <p:blipFill>
          <a:blip r:embed="rId3"/>
          <a:stretch>
            <a:fillRect/>
          </a:stretch>
        </p:blipFill>
        <p:spPr>
          <a:xfrm>
            <a:off x="9748866" y="692099"/>
            <a:ext cx="2159111" cy="997001"/>
          </a:xfrm>
          <a:prstGeom prst="rect">
            <a:avLst/>
          </a:prstGeom>
        </p:spPr>
      </p:pic>
      <p:sp>
        <p:nvSpPr>
          <p:cNvPr id="9" name="TextBox 8">
            <a:extLst>
              <a:ext uri="{FF2B5EF4-FFF2-40B4-BE49-F238E27FC236}">
                <a16:creationId xmlns:a16="http://schemas.microsoft.com/office/drawing/2014/main" id="{0BF450F3-C336-3934-DCBC-B49C557D6212}"/>
              </a:ext>
            </a:extLst>
          </p:cNvPr>
          <p:cNvSpPr txBox="1"/>
          <p:nvPr/>
        </p:nvSpPr>
        <p:spPr>
          <a:xfrm>
            <a:off x="9753601" y="183216"/>
            <a:ext cx="3541295" cy="400110"/>
          </a:xfrm>
          <a:prstGeom prst="rect">
            <a:avLst/>
          </a:prstGeom>
          <a:noFill/>
        </p:spPr>
        <p:txBody>
          <a:bodyPr wrap="square" rtlCol="0">
            <a:spAutoFit/>
          </a:bodyPr>
          <a:lstStyle/>
          <a:p>
            <a:r>
              <a:rPr lang="en-US" sz="2000" dirty="0"/>
              <a:t>Bayes` theorem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95EEF9-1AB8-5605-BDDA-002069FAE288}"/>
                  </a:ext>
                </a:extLst>
              </p:cNvPr>
              <p:cNvSpPr txBox="1">
                <a:spLocks/>
              </p:cNvSpPr>
              <p:nvPr/>
            </p:nvSpPr>
            <p:spPr>
              <a:xfrm>
                <a:off x="6847367" y="2424224"/>
                <a:ext cx="4104168" cy="1970568"/>
              </a:xfrm>
              <a:custGeom>
                <a:avLst/>
                <a:gdLst>
                  <a:gd name="csX0" fmla="*/ 0 w 4104168"/>
                  <a:gd name="csY0" fmla="*/ 0 h 1970568"/>
                  <a:gd name="csX1" fmla="*/ 545268 w 4104168"/>
                  <a:gd name="csY1" fmla="*/ 0 h 1970568"/>
                  <a:gd name="csX2" fmla="*/ 1090536 w 4104168"/>
                  <a:gd name="csY2" fmla="*/ 0 h 1970568"/>
                  <a:gd name="csX3" fmla="*/ 1594762 w 4104168"/>
                  <a:gd name="csY3" fmla="*/ 0 h 1970568"/>
                  <a:gd name="csX4" fmla="*/ 2181072 w 4104168"/>
                  <a:gd name="csY4" fmla="*/ 0 h 1970568"/>
                  <a:gd name="csX5" fmla="*/ 2849465 w 4104168"/>
                  <a:gd name="csY5" fmla="*/ 0 h 1970568"/>
                  <a:gd name="csX6" fmla="*/ 3435775 w 4104168"/>
                  <a:gd name="csY6" fmla="*/ 0 h 1970568"/>
                  <a:gd name="csX7" fmla="*/ 4104168 w 4104168"/>
                  <a:gd name="csY7" fmla="*/ 0 h 1970568"/>
                  <a:gd name="csX8" fmla="*/ 4104168 w 4104168"/>
                  <a:gd name="csY8" fmla="*/ 492642 h 1970568"/>
                  <a:gd name="csX9" fmla="*/ 4104168 w 4104168"/>
                  <a:gd name="csY9" fmla="*/ 945873 h 1970568"/>
                  <a:gd name="csX10" fmla="*/ 4104168 w 4104168"/>
                  <a:gd name="csY10" fmla="*/ 1379398 h 1970568"/>
                  <a:gd name="csX11" fmla="*/ 4104168 w 4104168"/>
                  <a:gd name="csY11" fmla="*/ 1970568 h 1970568"/>
                  <a:gd name="csX12" fmla="*/ 3517858 w 4104168"/>
                  <a:gd name="csY12" fmla="*/ 1970568 h 1970568"/>
                  <a:gd name="csX13" fmla="*/ 2972590 w 4104168"/>
                  <a:gd name="csY13" fmla="*/ 1970568 h 1970568"/>
                  <a:gd name="csX14" fmla="*/ 2509406 w 4104168"/>
                  <a:gd name="csY14" fmla="*/ 1970568 h 1970568"/>
                  <a:gd name="csX15" fmla="*/ 1882054 w 4104168"/>
                  <a:gd name="csY15" fmla="*/ 1970568 h 1970568"/>
                  <a:gd name="csX16" fmla="*/ 1213661 w 4104168"/>
                  <a:gd name="csY16" fmla="*/ 1970568 h 1970568"/>
                  <a:gd name="csX17" fmla="*/ 586310 w 4104168"/>
                  <a:gd name="csY17" fmla="*/ 1970568 h 1970568"/>
                  <a:gd name="csX18" fmla="*/ 0 w 4104168"/>
                  <a:gd name="csY18" fmla="*/ 1970568 h 1970568"/>
                  <a:gd name="csX19" fmla="*/ 0 w 4104168"/>
                  <a:gd name="csY19" fmla="*/ 1497632 h 1970568"/>
                  <a:gd name="csX20" fmla="*/ 0 w 4104168"/>
                  <a:gd name="csY20" fmla="*/ 1004990 h 1970568"/>
                  <a:gd name="csX21" fmla="*/ 0 w 4104168"/>
                  <a:gd name="csY21" fmla="*/ 512348 h 1970568"/>
                  <a:gd name="csX22" fmla="*/ 0 w 4104168"/>
                  <a:gd name="csY22" fmla="*/ 0 h 1970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104168" h="1970568" fill="none" extrusionOk="0">
                    <a:moveTo>
                      <a:pt x="0" y="0"/>
                    </a:moveTo>
                    <a:cubicBezTo>
                      <a:pt x="116962" y="-25121"/>
                      <a:pt x="411358" y="6085"/>
                      <a:pt x="545268" y="0"/>
                    </a:cubicBezTo>
                    <a:cubicBezTo>
                      <a:pt x="679178" y="-6085"/>
                      <a:pt x="898694" y="82"/>
                      <a:pt x="1090536" y="0"/>
                    </a:cubicBezTo>
                    <a:cubicBezTo>
                      <a:pt x="1282378" y="-82"/>
                      <a:pt x="1433725" y="34447"/>
                      <a:pt x="1594762" y="0"/>
                    </a:cubicBezTo>
                    <a:cubicBezTo>
                      <a:pt x="1755799" y="-34447"/>
                      <a:pt x="1936414" y="17865"/>
                      <a:pt x="2181072" y="0"/>
                    </a:cubicBezTo>
                    <a:cubicBezTo>
                      <a:pt x="2425730" y="-17865"/>
                      <a:pt x="2565733" y="56791"/>
                      <a:pt x="2849465" y="0"/>
                    </a:cubicBezTo>
                    <a:cubicBezTo>
                      <a:pt x="3133197" y="-56791"/>
                      <a:pt x="3301874" y="54536"/>
                      <a:pt x="3435775" y="0"/>
                    </a:cubicBezTo>
                    <a:cubicBezTo>
                      <a:pt x="3569676" y="-54536"/>
                      <a:pt x="3852918" y="13742"/>
                      <a:pt x="4104168" y="0"/>
                    </a:cubicBezTo>
                    <a:cubicBezTo>
                      <a:pt x="4148458" y="219398"/>
                      <a:pt x="4066148" y="329046"/>
                      <a:pt x="4104168" y="492642"/>
                    </a:cubicBezTo>
                    <a:cubicBezTo>
                      <a:pt x="4142188" y="656238"/>
                      <a:pt x="4079137" y="724859"/>
                      <a:pt x="4104168" y="945873"/>
                    </a:cubicBezTo>
                    <a:cubicBezTo>
                      <a:pt x="4129199" y="1166887"/>
                      <a:pt x="4102592" y="1167449"/>
                      <a:pt x="4104168" y="1379398"/>
                    </a:cubicBezTo>
                    <a:cubicBezTo>
                      <a:pt x="4105744" y="1591347"/>
                      <a:pt x="4056904" y="1812193"/>
                      <a:pt x="4104168" y="1970568"/>
                    </a:cubicBezTo>
                    <a:cubicBezTo>
                      <a:pt x="3827058" y="2036170"/>
                      <a:pt x="3734634" y="1914131"/>
                      <a:pt x="3517858" y="1970568"/>
                    </a:cubicBezTo>
                    <a:cubicBezTo>
                      <a:pt x="3301082" y="2027005"/>
                      <a:pt x="3137504" y="1954365"/>
                      <a:pt x="2972590" y="1970568"/>
                    </a:cubicBezTo>
                    <a:cubicBezTo>
                      <a:pt x="2807676" y="1986771"/>
                      <a:pt x="2700669" y="1926390"/>
                      <a:pt x="2509406" y="1970568"/>
                    </a:cubicBezTo>
                    <a:cubicBezTo>
                      <a:pt x="2318143" y="2014746"/>
                      <a:pt x="2189739" y="1938011"/>
                      <a:pt x="1882054" y="1970568"/>
                    </a:cubicBezTo>
                    <a:cubicBezTo>
                      <a:pt x="1574369" y="2003125"/>
                      <a:pt x="1447406" y="1894800"/>
                      <a:pt x="1213661" y="1970568"/>
                    </a:cubicBezTo>
                    <a:cubicBezTo>
                      <a:pt x="979916" y="2046336"/>
                      <a:pt x="732307" y="1962196"/>
                      <a:pt x="586310" y="1970568"/>
                    </a:cubicBezTo>
                    <a:cubicBezTo>
                      <a:pt x="440313" y="1978940"/>
                      <a:pt x="271467" y="1963500"/>
                      <a:pt x="0" y="1970568"/>
                    </a:cubicBezTo>
                    <a:cubicBezTo>
                      <a:pt x="-34438" y="1746400"/>
                      <a:pt x="39873" y="1648759"/>
                      <a:pt x="0" y="1497632"/>
                    </a:cubicBezTo>
                    <a:cubicBezTo>
                      <a:pt x="-39873" y="1346505"/>
                      <a:pt x="25135" y="1126041"/>
                      <a:pt x="0" y="1004990"/>
                    </a:cubicBezTo>
                    <a:cubicBezTo>
                      <a:pt x="-25135" y="883939"/>
                      <a:pt x="17217" y="643891"/>
                      <a:pt x="0" y="512348"/>
                    </a:cubicBezTo>
                    <a:cubicBezTo>
                      <a:pt x="-17217" y="380805"/>
                      <a:pt x="31427" y="165471"/>
                      <a:pt x="0" y="0"/>
                    </a:cubicBezTo>
                    <a:close/>
                  </a:path>
                  <a:path w="4104168" h="1970568" stroke="0" extrusionOk="0">
                    <a:moveTo>
                      <a:pt x="0" y="0"/>
                    </a:moveTo>
                    <a:cubicBezTo>
                      <a:pt x="189218" y="-44366"/>
                      <a:pt x="385057" y="32805"/>
                      <a:pt x="668393" y="0"/>
                    </a:cubicBezTo>
                    <a:cubicBezTo>
                      <a:pt x="951729" y="-32805"/>
                      <a:pt x="964832" y="50879"/>
                      <a:pt x="1213661" y="0"/>
                    </a:cubicBezTo>
                    <a:cubicBezTo>
                      <a:pt x="1462490" y="-50879"/>
                      <a:pt x="1640702" y="57825"/>
                      <a:pt x="1841013" y="0"/>
                    </a:cubicBezTo>
                    <a:cubicBezTo>
                      <a:pt x="2041324" y="-57825"/>
                      <a:pt x="2212166" y="38025"/>
                      <a:pt x="2468364" y="0"/>
                    </a:cubicBezTo>
                    <a:cubicBezTo>
                      <a:pt x="2724562" y="-38025"/>
                      <a:pt x="2926412" y="34158"/>
                      <a:pt x="3054674" y="0"/>
                    </a:cubicBezTo>
                    <a:cubicBezTo>
                      <a:pt x="3182936" y="-34158"/>
                      <a:pt x="3454633" y="44551"/>
                      <a:pt x="3558900" y="0"/>
                    </a:cubicBezTo>
                    <a:cubicBezTo>
                      <a:pt x="3663167" y="-44551"/>
                      <a:pt x="3960363" y="24342"/>
                      <a:pt x="4104168" y="0"/>
                    </a:cubicBezTo>
                    <a:cubicBezTo>
                      <a:pt x="4134760" y="167528"/>
                      <a:pt x="4091822" y="235630"/>
                      <a:pt x="4104168" y="453231"/>
                    </a:cubicBezTo>
                    <a:cubicBezTo>
                      <a:pt x="4116514" y="670832"/>
                      <a:pt x="4089039" y="773875"/>
                      <a:pt x="4104168" y="945873"/>
                    </a:cubicBezTo>
                    <a:cubicBezTo>
                      <a:pt x="4119297" y="1117871"/>
                      <a:pt x="4056279" y="1240076"/>
                      <a:pt x="4104168" y="1438515"/>
                    </a:cubicBezTo>
                    <a:cubicBezTo>
                      <a:pt x="4152057" y="1636954"/>
                      <a:pt x="4060082" y="1792261"/>
                      <a:pt x="4104168" y="1970568"/>
                    </a:cubicBezTo>
                    <a:cubicBezTo>
                      <a:pt x="3915540" y="1988743"/>
                      <a:pt x="3751157" y="1944424"/>
                      <a:pt x="3599942" y="1970568"/>
                    </a:cubicBezTo>
                    <a:cubicBezTo>
                      <a:pt x="3448727" y="1996712"/>
                      <a:pt x="3231546" y="1952395"/>
                      <a:pt x="2931549" y="1970568"/>
                    </a:cubicBezTo>
                    <a:cubicBezTo>
                      <a:pt x="2631552" y="1988741"/>
                      <a:pt x="2596593" y="1968866"/>
                      <a:pt x="2427322" y="1970568"/>
                    </a:cubicBezTo>
                    <a:cubicBezTo>
                      <a:pt x="2258051" y="1972270"/>
                      <a:pt x="2152349" y="1960461"/>
                      <a:pt x="1923096" y="1970568"/>
                    </a:cubicBezTo>
                    <a:cubicBezTo>
                      <a:pt x="1693843" y="1980675"/>
                      <a:pt x="1575343" y="1942246"/>
                      <a:pt x="1459911" y="1970568"/>
                    </a:cubicBezTo>
                    <a:cubicBezTo>
                      <a:pt x="1344479" y="1998890"/>
                      <a:pt x="1094207" y="1903191"/>
                      <a:pt x="873601" y="1970568"/>
                    </a:cubicBezTo>
                    <a:cubicBezTo>
                      <a:pt x="652995" y="2037945"/>
                      <a:pt x="436567" y="1908974"/>
                      <a:pt x="0" y="1970568"/>
                    </a:cubicBezTo>
                    <a:cubicBezTo>
                      <a:pt x="-52070" y="1762620"/>
                      <a:pt x="24612" y="1593802"/>
                      <a:pt x="0" y="1458220"/>
                    </a:cubicBezTo>
                    <a:cubicBezTo>
                      <a:pt x="-24612" y="1322638"/>
                      <a:pt x="53255" y="1049389"/>
                      <a:pt x="0" y="926167"/>
                    </a:cubicBezTo>
                    <a:cubicBezTo>
                      <a:pt x="-53255" y="802945"/>
                      <a:pt x="9319" y="581671"/>
                      <a:pt x="0" y="472936"/>
                    </a:cubicBezTo>
                    <a:cubicBezTo>
                      <a:pt x="-9319" y="364201"/>
                      <a:pt x="36518" y="217545"/>
                      <a:pt x="0" y="0"/>
                    </a:cubicBezTo>
                    <a:close/>
                  </a:path>
                </a:pathLst>
              </a:custGeom>
              <a:ln w="28575">
                <a:solidFill>
                  <a:srgbClr val="7030A0"/>
                </a:solidFill>
                <a:extLst>
                  <a:ext uri="{C807C97D-BFC1-408E-A445-0C87EB9F89A2}">
                    <ask:lineSketchStyleProps xmlns:ask="http://schemas.microsoft.com/office/drawing/2018/sketchyshapes" sd="2937297951">
                      <a:prstGeom prst="rect">
                        <a:avLst/>
                      </a:prstGeom>
                      <ask:type>
                        <ask:lineSketchScribble/>
                      </ask:type>
                    </ask:lineSketchStyleProps>
                  </a:ext>
                </a:extLst>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P(</a:t>
                </a:r>
                <a:r>
                  <a:rPr lang="el-GR" sz="2000" dirty="0">
                    <a:sym typeface="Wingdings" panose="05000000000000000000" pitchFamily="2" charset="2"/>
                  </a:rPr>
                  <a:t>θ</a:t>
                </a:r>
                <a:r>
                  <a:rPr lang="en-US" sz="2000" dirty="0">
                    <a:sym typeface="Wingdings" panose="05000000000000000000" pitchFamily="2" charset="2"/>
                  </a:rPr>
                  <a:t>|D) ≈ P</a:t>
                </a:r>
                <a:r>
                  <a:rPr lang="en-US" sz="2000" dirty="0"/>
                  <a:t>(D|</a:t>
                </a:r>
                <a:r>
                  <a:rPr lang="el-GR" sz="2000" dirty="0">
                    <a:sym typeface="Wingdings" panose="05000000000000000000" pitchFamily="2" charset="2"/>
                  </a:rPr>
                  <a:t>θ</a:t>
                </a:r>
                <a:r>
                  <a:rPr lang="en-US" sz="2000" dirty="0"/>
                  <a:t>) * P(</a:t>
                </a:r>
                <a:r>
                  <a:rPr lang="el-GR" sz="2000" dirty="0">
                    <a:sym typeface="Wingdings" panose="05000000000000000000" pitchFamily="2" charset="2"/>
                  </a:rPr>
                  <a:t>θ</a:t>
                </a:r>
                <a:r>
                  <a:rPr lang="en-US" sz="2000" dirty="0">
                    <a:sym typeface="Wingdings" panose="05000000000000000000" pitchFamily="2" charset="2"/>
                  </a:rPr>
                  <a:t>)</a:t>
                </a:r>
              </a:p>
              <a:p>
                <a:pPr marL="0" indent="0">
                  <a:buNone/>
                </a:pPr>
                <a:endParaRPr lang="en-US" sz="2000" dirty="0">
                  <a:sym typeface="Wingdings" panose="05000000000000000000" pitchFamily="2" charset="2"/>
                </a:endParaRPr>
              </a:p>
              <a:p>
                <a:pPr marL="0" indent="0">
                  <a:buNone/>
                </a:pPr>
                <a14:m>
                  <m:oMathPara xmlns:m="http://schemas.openxmlformats.org/officeDocument/2006/math">
                    <m:oMath>
                      <m:sSub>
                        <m:sSubPr>
                          <m:ctrlPr>
                            <a:rPr lang="el-GR" sz="2000" i="1" dirty="0">
                              <a:latin typeface="Cambria Math" panose="02040503050406030204" pitchFamily="18" charset="0"/>
                              <a:sym typeface="Wingdings" panose="05000000000000000000" pitchFamily="2" charset="2"/>
                            </a:rPr>
                          </m:ctrlPr>
                        </m:sSubPr>
                        <m:e>
                          <m:acc>
                            <m:accPr>
                              <m:chr m:val="̂"/>
                              <m:ctrlPr>
                                <a:rPr lang="el-GR" sz="2000" i="0" dirty="0">
                                  <a:sym typeface="Wingdings" panose="05000000000000000000" pitchFamily="2" charset="2"/>
                                </a:rPr>
                              </m:ctrlPr>
                            </m:accPr>
                            <m:e>
                              <m:r>
                                <m:rPr>
                                  <m:nor/>
                                </m:rPr>
                                <a:rPr lang="el-GR" sz="2000" i="0" dirty="0">
                                  <a:sym typeface="Wingdings" panose="05000000000000000000" pitchFamily="2" charset="2"/>
                                </a:rPr>
                                <m:t>θ</m:t>
                              </m:r>
                            </m:e>
                          </m:acc>
                        </m:e>
                        <m:sub>
                          <m:r>
                            <a:rPr lang="en-US" sz="2000" b="0" i="1" smtClean="0">
                              <a:latin typeface="Cambria Math" panose="02040503050406030204" pitchFamily="18" charset="0"/>
                            </a:rPr>
                            <m:t>𝑀𝐿</m:t>
                          </m:r>
                        </m:sub>
                      </m:sSub>
                      <m:r>
                        <a:rPr lang="en-US" sz="2000" b="0" i="1" smtClean="0">
                          <a:latin typeface="Cambria Math" panose="02040503050406030204" pitchFamily="18" charset="0"/>
                        </a:rPr>
                        <m:t>=</m:t>
                      </m:r>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arg</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𝑚𝑎𝑥</m:t>
                              </m:r>
                            </m:e>
                            <m:sub>
                              <m:r>
                                <m:rPr>
                                  <m:nor/>
                                </m:rPr>
                                <a:rPr lang="el-GR" sz="2000" i="0" dirty="0">
                                  <a:sym typeface="Wingdings" panose="05000000000000000000" pitchFamily="2" charset="2"/>
                                </a:rPr>
                                <m:t>θ</m:t>
                              </m:r>
                            </m:sub>
                          </m:sSub>
                          <m:r>
                            <a:rPr lang="en-US" sz="2000" b="0" i="1" smtClean="0">
                              <a:latin typeface="Cambria Math" panose="02040503050406030204" pitchFamily="18" charset="0"/>
                            </a:rPr>
                            <m:t> </m:t>
                          </m:r>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𝐷</m:t>
                          </m:r>
                          <m:r>
                            <a:rPr lang="en-US" sz="2000" b="0" i="1" smtClean="0">
                              <a:latin typeface="Cambria Math" panose="02040503050406030204" pitchFamily="18" charset="0"/>
                            </a:rPr>
                            <m:t>|</m:t>
                          </m:r>
                          <m:r>
                            <m:rPr>
                              <m:nor/>
                            </m:rPr>
                            <a:rPr lang="en-US" sz="2000" b="0" i="0" smtClean="0">
                              <a:latin typeface="Cambria Math" panose="02040503050406030204" pitchFamily="18" charset="0"/>
                            </a:rPr>
                            <m:t>X,</m:t>
                          </m:r>
                          <m:r>
                            <m:rPr>
                              <m:nor/>
                            </m:rPr>
                            <a:rPr lang="el-GR" sz="2000" i="0" dirty="0">
                              <a:sym typeface="Wingdings" panose="05000000000000000000" pitchFamily="2" charset="2"/>
                            </a:rPr>
                            <m:t>θ</m:t>
                          </m:r>
                          <m:r>
                            <m:rPr>
                              <m:nor/>
                            </m:rPr>
                            <a:rPr lang="en-US" sz="2000" b="0" i="0" dirty="0" smtClean="0">
                              <a:sym typeface="Wingdings" panose="05000000000000000000" pitchFamily="2" charset="2"/>
                            </a:rPr>
                            <m:t>)</m:t>
                          </m:r>
                        </m:e>
                      </m:func>
                    </m:oMath>
                  </m:oMathPara>
                </a14:m>
                <a:endParaRPr lang="en-US" sz="2000" dirty="0"/>
              </a:p>
              <a:p>
                <a:pPr marL="0" indent="0">
                  <a:buNone/>
                </a:pPr>
                <a:endParaRPr lang="en-US" sz="2000" dirty="0">
                  <a:sym typeface="Wingdings" panose="05000000000000000000" pitchFamily="2" charset="2"/>
                </a:endParaRPr>
              </a:p>
              <a:p>
                <a:pPr marL="0" indent="0">
                  <a:buNone/>
                </a:pPr>
                <a14:m>
                  <m:oMathPara xmlns:m="http://schemas.openxmlformats.org/officeDocument/2006/math">
                    <m:oMath>
                      <m:sSub>
                        <m:sSubPr>
                          <m:ctrlPr>
                            <a:rPr lang="el-GR" sz="2000" i="1" dirty="0">
                              <a:latin typeface="Cambria Math" panose="02040503050406030204" pitchFamily="18" charset="0"/>
                              <a:sym typeface="Wingdings" panose="05000000000000000000" pitchFamily="2" charset="2"/>
                            </a:rPr>
                          </m:ctrlPr>
                        </m:sSubPr>
                        <m:e>
                          <m:acc>
                            <m:accPr>
                              <m:chr m:val="̂"/>
                              <m:ctrlPr>
                                <a:rPr lang="el-GR" sz="2000" i="0" dirty="0">
                                  <a:sym typeface="Wingdings" panose="05000000000000000000" pitchFamily="2" charset="2"/>
                                </a:rPr>
                              </m:ctrlPr>
                            </m:accPr>
                            <m:e>
                              <m:r>
                                <m:rPr>
                                  <m:nor/>
                                </m:rPr>
                                <a:rPr lang="el-GR" sz="2000" i="0" dirty="0">
                                  <a:sym typeface="Wingdings" panose="05000000000000000000" pitchFamily="2" charset="2"/>
                                </a:rPr>
                                <m:t>θ</m:t>
                              </m:r>
                            </m:e>
                          </m:acc>
                        </m:e>
                        <m:sub>
                          <m:r>
                            <a:rPr lang="en-US" sz="2000" i="1">
                              <a:latin typeface="Cambria Math" panose="02040503050406030204" pitchFamily="18" charset="0"/>
                            </a:rPr>
                            <m:t>𝑀</m:t>
                          </m:r>
                          <m:r>
                            <a:rPr lang="en-US" sz="2000" b="0" i="1" smtClean="0">
                              <a:latin typeface="Cambria Math" panose="02040503050406030204" pitchFamily="18" charset="0"/>
                            </a:rPr>
                            <m:t>𝐴𝑃</m:t>
                          </m:r>
                        </m:sub>
                      </m:sSub>
                      <m:r>
                        <a:rPr lang="en-US" sz="2000" i="1">
                          <a:latin typeface="Cambria Math" panose="02040503050406030204" pitchFamily="18" charset="0"/>
                        </a:rPr>
                        <m:t>=</m:t>
                      </m:r>
                      <m:func>
                        <m:funcPr>
                          <m:ctrlPr>
                            <a:rPr lang="en-US" sz="2000">
                              <a:latin typeface="Cambria Math" panose="02040503050406030204" pitchFamily="18" charset="0"/>
                            </a:rPr>
                          </m:ctrlPr>
                        </m:funcPr>
                        <m:fName>
                          <m:r>
                            <m:rPr>
                              <m:sty m:val="p"/>
                            </m:rPr>
                            <a:rPr lang="en-US" sz="2000">
                              <a:latin typeface="Cambria Math" panose="02040503050406030204" pitchFamily="18" charset="0"/>
                            </a:rPr>
                            <m:t>arg</m:t>
                          </m:r>
                        </m:fName>
                        <m:e>
                          <m:sSub>
                            <m:sSubPr>
                              <m:ctrlPr>
                                <a:rPr lang="en-US" sz="2000" i="1">
                                  <a:latin typeface="Cambria Math" panose="02040503050406030204" pitchFamily="18" charset="0"/>
                                </a:rPr>
                              </m:ctrlPr>
                            </m:sSubPr>
                            <m:e>
                              <m:r>
                                <a:rPr lang="en-US" sz="2000" i="1">
                                  <a:latin typeface="Cambria Math" panose="02040503050406030204" pitchFamily="18" charset="0"/>
                                </a:rPr>
                                <m:t>𝑚𝑎𝑥</m:t>
                              </m:r>
                            </m:e>
                            <m:sub>
                              <m:r>
                                <m:rPr>
                                  <m:nor/>
                                </m:rPr>
                                <a:rPr lang="el-GR" sz="2000" i="0" dirty="0">
                                  <a:sym typeface="Wingdings" panose="05000000000000000000" pitchFamily="2" charset="2"/>
                                </a:rPr>
                                <m:t>θ</m:t>
                              </m:r>
                            </m:sub>
                          </m:sSub>
                          <m:r>
                            <a:rPr lang="en-US" sz="2000" i="1">
                              <a:latin typeface="Cambria Math" panose="02040503050406030204" pitchFamily="18" charset="0"/>
                            </a:rPr>
                            <m:t> </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𝐷</m:t>
                          </m:r>
                          <m:r>
                            <a:rPr lang="en-US" sz="2000" i="1">
                              <a:latin typeface="Cambria Math" panose="02040503050406030204" pitchFamily="18" charset="0"/>
                            </a:rPr>
                            <m:t>|</m:t>
                          </m:r>
                          <m:r>
                            <m:rPr>
                              <m:nor/>
                            </m:rPr>
                            <a:rPr lang="en-US" sz="2000" b="0" i="0" smtClean="0">
                              <a:latin typeface="Cambria Math" panose="02040503050406030204" pitchFamily="18" charset="0"/>
                            </a:rPr>
                            <m:t>X,</m:t>
                          </m:r>
                          <m:r>
                            <m:rPr>
                              <m:nor/>
                            </m:rPr>
                            <a:rPr lang="el-GR" sz="2000" i="0" dirty="0">
                              <a:sym typeface="Wingdings" panose="05000000000000000000" pitchFamily="2" charset="2"/>
                            </a:rPr>
                            <m:t>θ</m:t>
                          </m:r>
                          <m:r>
                            <m:rPr>
                              <m:nor/>
                            </m:rPr>
                            <a:rPr lang="en-US" sz="2000" i="0" dirty="0">
                              <a:sym typeface="Wingdings" panose="05000000000000000000" pitchFamily="2" charset="2"/>
                            </a:rPr>
                            <m:t>)</m:t>
                          </m:r>
                          <m:r>
                            <m:rPr>
                              <m:nor/>
                            </m:rPr>
                            <a:rPr lang="en-US" sz="2000" b="0" i="0" dirty="0" smtClean="0">
                              <a:sym typeface="Wingdings" panose="05000000000000000000" pitchFamily="2" charset="2"/>
                            </a:rPr>
                            <m:t> ∗ P(</m:t>
                          </m:r>
                          <m:r>
                            <m:rPr>
                              <m:nor/>
                            </m:rPr>
                            <a:rPr lang="el-GR" sz="2000" i="0" dirty="0">
                              <a:sym typeface="Wingdings" panose="05000000000000000000" pitchFamily="2" charset="2"/>
                            </a:rPr>
                            <m:t>θ</m:t>
                          </m:r>
                          <m:r>
                            <m:rPr>
                              <m:nor/>
                            </m:rPr>
                            <a:rPr lang="en-US" sz="2000" b="0" i="0" dirty="0" smtClean="0">
                              <a:sym typeface="Wingdings" panose="05000000000000000000" pitchFamily="2" charset="2"/>
                            </a:rPr>
                            <m:t>)</m:t>
                          </m:r>
                        </m:e>
                      </m:func>
                    </m:oMath>
                  </m:oMathPara>
                </a14:m>
                <a:endParaRPr lang="en-US" sz="2000" dirty="0"/>
              </a:p>
              <a:p>
                <a:pPr marL="0" indent="0">
                  <a:buNone/>
                </a:pPr>
                <a:endParaRPr lang="en-US" sz="2000" dirty="0"/>
              </a:p>
              <a:p>
                <a:pPr marL="0" indent="0">
                  <a:buFont typeface="Arial" panose="020B0604020202020204" pitchFamily="34" charset="0"/>
                  <a:buNone/>
                </a:pPr>
                <a:endParaRPr lang="en-US" sz="2000" dirty="0"/>
              </a:p>
              <a:p>
                <a:endParaRPr lang="en-US" sz="2000" dirty="0"/>
              </a:p>
            </p:txBody>
          </p:sp>
        </mc:Choice>
        <mc:Fallback xmlns="">
          <p:sp>
            <p:nvSpPr>
              <p:cNvPr id="3" name="Content Placeholder 2">
                <a:extLst>
                  <a:ext uri="{FF2B5EF4-FFF2-40B4-BE49-F238E27FC236}">
                    <a16:creationId xmlns:a16="http://schemas.microsoft.com/office/drawing/2014/main" id="{FA95EEF9-1AB8-5605-BDDA-002069FAE288}"/>
                  </a:ext>
                </a:extLst>
              </p:cNvPr>
              <p:cNvSpPr txBox="1">
                <a:spLocks noRot="1" noChangeAspect="1" noMove="1" noResize="1" noEditPoints="1" noAdjustHandles="1" noChangeArrowheads="1" noChangeShapeType="1" noTextEdit="1"/>
              </p:cNvSpPr>
              <p:nvPr/>
            </p:nvSpPr>
            <p:spPr>
              <a:xfrm>
                <a:off x="6847367" y="2424224"/>
                <a:ext cx="4104168" cy="1970568"/>
              </a:xfrm>
              <a:prstGeom prst="rect">
                <a:avLst/>
              </a:prstGeom>
              <a:blipFill>
                <a:blip r:embed="rId4"/>
                <a:stretch>
                  <a:fillRect t="-1183"/>
                </a:stretch>
              </a:blipFill>
              <a:ln w="28575">
                <a:solidFill>
                  <a:srgbClr val="7030A0"/>
                </a:solidFill>
                <a:extLst>
                  <a:ext uri="{C807C97D-BFC1-408E-A445-0C87EB9F89A2}">
                    <ask:lineSketchStyleProps xmlns:ask="http://schemas.microsoft.com/office/drawing/2018/sketchyshapes" sd="2937297951">
                      <a:custGeom>
                        <a:avLst/>
                        <a:gdLst>
                          <a:gd name="csX0" fmla="*/ 0 w 4104168"/>
                          <a:gd name="csY0" fmla="*/ 0 h 1970568"/>
                          <a:gd name="csX1" fmla="*/ 545268 w 4104168"/>
                          <a:gd name="csY1" fmla="*/ 0 h 1970568"/>
                          <a:gd name="csX2" fmla="*/ 1090536 w 4104168"/>
                          <a:gd name="csY2" fmla="*/ 0 h 1970568"/>
                          <a:gd name="csX3" fmla="*/ 1594762 w 4104168"/>
                          <a:gd name="csY3" fmla="*/ 0 h 1970568"/>
                          <a:gd name="csX4" fmla="*/ 2181072 w 4104168"/>
                          <a:gd name="csY4" fmla="*/ 0 h 1970568"/>
                          <a:gd name="csX5" fmla="*/ 2849465 w 4104168"/>
                          <a:gd name="csY5" fmla="*/ 0 h 1970568"/>
                          <a:gd name="csX6" fmla="*/ 3435775 w 4104168"/>
                          <a:gd name="csY6" fmla="*/ 0 h 1970568"/>
                          <a:gd name="csX7" fmla="*/ 4104168 w 4104168"/>
                          <a:gd name="csY7" fmla="*/ 0 h 1970568"/>
                          <a:gd name="csX8" fmla="*/ 4104168 w 4104168"/>
                          <a:gd name="csY8" fmla="*/ 492642 h 1970568"/>
                          <a:gd name="csX9" fmla="*/ 4104168 w 4104168"/>
                          <a:gd name="csY9" fmla="*/ 945873 h 1970568"/>
                          <a:gd name="csX10" fmla="*/ 4104168 w 4104168"/>
                          <a:gd name="csY10" fmla="*/ 1379398 h 1970568"/>
                          <a:gd name="csX11" fmla="*/ 4104168 w 4104168"/>
                          <a:gd name="csY11" fmla="*/ 1970568 h 1970568"/>
                          <a:gd name="csX12" fmla="*/ 3517858 w 4104168"/>
                          <a:gd name="csY12" fmla="*/ 1970568 h 1970568"/>
                          <a:gd name="csX13" fmla="*/ 2972590 w 4104168"/>
                          <a:gd name="csY13" fmla="*/ 1970568 h 1970568"/>
                          <a:gd name="csX14" fmla="*/ 2509406 w 4104168"/>
                          <a:gd name="csY14" fmla="*/ 1970568 h 1970568"/>
                          <a:gd name="csX15" fmla="*/ 1882054 w 4104168"/>
                          <a:gd name="csY15" fmla="*/ 1970568 h 1970568"/>
                          <a:gd name="csX16" fmla="*/ 1213661 w 4104168"/>
                          <a:gd name="csY16" fmla="*/ 1970568 h 1970568"/>
                          <a:gd name="csX17" fmla="*/ 586310 w 4104168"/>
                          <a:gd name="csY17" fmla="*/ 1970568 h 1970568"/>
                          <a:gd name="csX18" fmla="*/ 0 w 4104168"/>
                          <a:gd name="csY18" fmla="*/ 1970568 h 1970568"/>
                          <a:gd name="csX19" fmla="*/ 0 w 4104168"/>
                          <a:gd name="csY19" fmla="*/ 1497632 h 1970568"/>
                          <a:gd name="csX20" fmla="*/ 0 w 4104168"/>
                          <a:gd name="csY20" fmla="*/ 1004990 h 1970568"/>
                          <a:gd name="csX21" fmla="*/ 0 w 4104168"/>
                          <a:gd name="csY21" fmla="*/ 512348 h 1970568"/>
                          <a:gd name="csX22" fmla="*/ 0 w 4104168"/>
                          <a:gd name="csY22" fmla="*/ 0 h 1970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104168" h="1970568" fill="none" extrusionOk="0">
                            <a:moveTo>
                              <a:pt x="0" y="0"/>
                            </a:moveTo>
                            <a:cubicBezTo>
                              <a:pt x="116962" y="-25121"/>
                              <a:pt x="411358" y="6085"/>
                              <a:pt x="545268" y="0"/>
                            </a:cubicBezTo>
                            <a:cubicBezTo>
                              <a:pt x="679178" y="-6085"/>
                              <a:pt x="898694" y="82"/>
                              <a:pt x="1090536" y="0"/>
                            </a:cubicBezTo>
                            <a:cubicBezTo>
                              <a:pt x="1282378" y="-82"/>
                              <a:pt x="1433725" y="34447"/>
                              <a:pt x="1594762" y="0"/>
                            </a:cubicBezTo>
                            <a:cubicBezTo>
                              <a:pt x="1755799" y="-34447"/>
                              <a:pt x="1936414" y="17865"/>
                              <a:pt x="2181072" y="0"/>
                            </a:cubicBezTo>
                            <a:cubicBezTo>
                              <a:pt x="2425730" y="-17865"/>
                              <a:pt x="2565733" y="56791"/>
                              <a:pt x="2849465" y="0"/>
                            </a:cubicBezTo>
                            <a:cubicBezTo>
                              <a:pt x="3133197" y="-56791"/>
                              <a:pt x="3301874" y="54536"/>
                              <a:pt x="3435775" y="0"/>
                            </a:cubicBezTo>
                            <a:cubicBezTo>
                              <a:pt x="3569676" y="-54536"/>
                              <a:pt x="3852918" y="13742"/>
                              <a:pt x="4104168" y="0"/>
                            </a:cubicBezTo>
                            <a:cubicBezTo>
                              <a:pt x="4148458" y="219398"/>
                              <a:pt x="4066148" y="329046"/>
                              <a:pt x="4104168" y="492642"/>
                            </a:cubicBezTo>
                            <a:cubicBezTo>
                              <a:pt x="4142188" y="656238"/>
                              <a:pt x="4079137" y="724859"/>
                              <a:pt x="4104168" y="945873"/>
                            </a:cubicBezTo>
                            <a:cubicBezTo>
                              <a:pt x="4129199" y="1166887"/>
                              <a:pt x="4102592" y="1167449"/>
                              <a:pt x="4104168" y="1379398"/>
                            </a:cubicBezTo>
                            <a:cubicBezTo>
                              <a:pt x="4105744" y="1591347"/>
                              <a:pt x="4056904" y="1812193"/>
                              <a:pt x="4104168" y="1970568"/>
                            </a:cubicBezTo>
                            <a:cubicBezTo>
                              <a:pt x="3827058" y="2036170"/>
                              <a:pt x="3734634" y="1914131"/>
                              <a:pt x="3517858" y="1970568"/>
                            </a:cubicBezTo>
                            <a:cubicBezTo>
                              <a:pt x="3301082" y="2027005"/>
                              <a:pt x="3137504" y="1954365"/>
                              <a:pt x="2972590" y="1970568"/>
                            </a:cubicBezTo>
                            <a:cubicBezTo>
                              <a:pt x="2807676" y="1986771"/>
                              <a:pt x="2700669" y="1926390"/>
                              <a:pt x="2509406" y="1970568"/>
                            </a:cubicBezTo>
                            <a:cubicBezTo>
                              <a:pt x="2318143" y="2014746"/>
                              <a:pt x="2189739" y="1938011"/>
                              <a:pt x="1882054" y="1970568"/>
                            </a:cubicBezTo>
                            <a:cubicBezTo>
                              <a:pt x="1574369" y="2003125"/>
                              <a:pt x="1447406" y="1894800"/>
                              <a:pt x="1213661" y="1970568"/>
                            </a:cubicBezTo>
                            <a:cubicBezTo>
                              <a:pt x="979916" y="2046336"/>
                              <a:pt x="732307" y="1962196"/>
                              <a:pt x="586310" y="1970568"/>
                            </a:cubicBezTo>
                            <a:cubicBezTo>
                              <a:pt x="440313" y="1978940"/>
                              <a:pt x="271467" y="1963500"/>
                              <a:pt x="0" y="1970568"/>
                            </a:cubicBezTo>
                            <a:cubicBezTo>
                              <a:pt x="-34438" y="1746400"/>
                              <a:pt x="39873" y="1648759"/>
                              <a:pt x="0" y="1497632"/>
                            </a:cubicBezTo>
                            <a:cubicBezTo>
                              <a:pt x="-39873" y="1346505"/>
                              <a:pt x="25135" y="1126041"/>
                              <a:pt x="0" y="1004990"/>
                            </a:cubicBezTo>
                            <a:cubicBezTo>
                              <a:pt x="-25135" y="883939"/>
                              <a:pt x="17217" y="643891"/>
                              <a:pt x="0" y="512348"/>
                            </a:cubicBezTo>
                            <a:cubicBezTo>
                              <a:pt x="-17217" y="380805"/>
                              <a:pt x="31427" y="165471"/>
                              <a:pt x="0" y="0"/>
                            </a:cubicBezTo>
                            <a:close/>
                          </a:path>
                          <a:path w="4104168" h="1970568" stroke="0" extrusionOk="0">
                            <a:moveTo>
                              <a:pt x="0" y="0"/>
                            </a:moveTo>
                            <a:cubicBezTo>
                              <a:pt x="189218" y="-44366"/>
                              <a:pt x="385057" y="32805"/>
                              <a:pt x="668393" y="0"/>
                            </a:cubicBezTo>
                            <a:cubicBezTo>
                              <a:pt x="951729" y="-32805"/>
                              <a:pt x="964832" y="50879"/>
                              <a:pt x="1213661" y="0"/>
                            </a:cubicBezTo>
                            <a:cubicBezTo>
                              <a:pt x="1462490" y="-50879"/>
                              <a:pt x="1640702" y="57825"/>
                              <a:pt x="1841013" y="0"/>
                            </a:cubicBezTo>
                            <a:cubicBezTo>
                              <a:pt x="2041324" y="-57825"/>
                              <a:pt x="2212166" y="38025"/>
                              <a:pt x="2468364" y="0"/>
                            </a:cubicBezTo>
                            <a:cubicBezTo>
                              <a:pt x="2724562" y="-38025"/>
                              <a:pt x="2926412" y="34158"/>
                              <a:pt x="3054674" y="0"/>
                            </a:cubicBezTo>
                            <a:cubicBezTo>
                              <a:pt x="3182936" y="-34158"/>
                              <a:pt x="3454633" y="44551"/>
                              <a:pt x="3558900" y="0"/>
                            </a:cubicBezTo>
                            <a:cubicBezTo>
                              <a:pt x="3663167" y="-44551"/>
                              <a:pt x="3960363" y="24342"/>
                              <a:pt x="4104168" y="0"/>
                            </a:cubicBezTo>
                            <a:cubicBezTo>
                              <a:pt x="4134760" y="167528"/>
                              <a:pt x="4091822" y="235630"/>
                              <a:pt x="4104168" y="453231"/>
                            </a:cubicBezTo>
                            <a:cubicBezTo>
                              <a:pt x="4116514" y="670832"/>
                              <a:pt x="4089039" y="773875"/>
                              <a:pt x="4104168" y="945873"/>
                            </a:cubicBezTo>
                            <a:cubicBezTo>
                              <a:pt x="4119297" y="1117871"/>
                              <a:pt x="4056279" y="1240076"/>
                              <a:pt x="4104168" y="1438515"/>
                            </a:cubicBezTo>
                            <a:cubicBezTo>
                              <a:pt x="4152057" y="1636954"/>
                              <a:pt x="4060082" y="1792261"/>
                              <a:pt x="4104168" y="1970568"/>
                            </a:cubicBezTo>
                            <a:cubicBezTo>
                              <a:pt x="3915540" y="1988743"/>
                              <a:pt x="3751157" y="1944424"/>
                              <a:pt x="3599942" y="1970568"/>
                            </a:cubicBezTo>
                            <a:cubicBezTo>
                              <a:pt x="3448727" y="1996712"/>
                              <a:pt x="3231546" y="1952395"/>
                              <a:pt x="2931549" y="1970568"/>
                            </a:cubicBezTo>
                            <a:cubicBezTo>
                              <a:pt x="2631552" y="1988741"/>
                              <a:pt x="2596593" y="1968866"/>
                              <a:pt x="2427322" y="1970568"/>
                            </a:cubicBezTo>
                            <a:cubicBezTo>
                              <a:pt x="2258051" y="1972270"/>
                              <a:pt x="2152349" y="1960461"/>
                              <a:pt x="1923096" y="1970568"/>
                            </a:cubicBezTo>
                            <a:cubicBezTo>
                              <a:pt x="1693843" y="1980675"/>
                              <a:pt x="1575343" y="1942246"/>
                              <a:pt x="1459911" y="1970568"/>
                            </a:cubicBezTo>
                            <a:cubicBezTo>
                              <a:pt x="1344479" y="1998890"/>
                              <a:pt x="1094207" y="1903191"/>
                              <a:pt x="873601" y="1970568"/>
                            </a:cubicBezTo>
                            <a:cubicBezTo>
                              <a:pt x="652995" y="2037945"/>
                              <a:pt x="436567" y="1908974"/>
                              <a:pt x="0" y="1970568"/>
                            </a:cubicBezTo>
                            <a:cubicBezTo>
                              <a:pt x="-52070" y="1762620"/>
                              <a:pt x="24612" y="1593802"/>
                              <a:pt x="0" y="1458220"/>
                            </a:cubicBezTo>
                            <a:cubicBezTo>
                              <a:pt x="-24612" y="1322638"/>
                              <a:pt x="53255" y="1049389"/>
                              <a:pt x="0" y="926167"/>
                            </a:cubicBezTo>
                            <a:cubicBezTo>
                              <a:pt x="-53255" y="802945"/>
                              <a:pt x="9319" y="581671"/>
                              <a:pt x="0" y="472936"/>
                            </a:cubicBezTo>
                            <a:cubicBezTo>
                              <a:pt x="-9319" y="364201"/>
                              <a:pt x="36518" y="217545"/>
                              <a:pt x="0" y="0"/>
                            </a:cubicBezTo>
                            <a:close/>
                          </a:path>
                        </a:pathLst>
                      </a:custGeom>
                      <ask:type>
                        <ask:lineSketchScribble/>
                      </ask:type>
                    </ask:lineSketchStyleProps>
                  </a:ext>
                </a:extLst>
              </a:ln>
            </p:spPr>
            <p:txBody>
              <a:bodyPr/>
              <a:lstStyle/>
              <a:p>
                <a:r>
                  <a:rPr lang="en-US">
                    <a:noFill/>
                  </a:rPr>
                  <a:t> </a:t>
                </a:r>
              </a:p>
            </p:txBody>
          </p:sp>
        </mc:Fallback>
      </mc:AlternateContent>
    </p:spTree>
    <p:extLst>
      <p:ext uri="{BB962C8B-B14F-4D97-AF65-F5344CB8AC3E}">
        <p14:creationId xmlns:p14="http://schemas.microsoft.com/office/powerpoint/2010/main" val="34187730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0449C-5757-F6E8-DCC8-97B03AE8AC3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AEC3CA6-5564-774E-DF93-C6E878D56109}"/>
              </a:ext>
            </a:extLst>
          </p:cNvPr>
          <p:cNvSpPr>
            <a:spLocks noGrp="1"/>
          </p:cNvSpPr>
          <p:nvPr>
            <p:ph type="sldNum" sz="quarter" idx="12"/>
          </p:nvPr>
        </p:nvSpPr>
        <p:spPr/>
        <p:txBody>
          <a:bodyPr/>
          <a:lstStyle/>
          <a:p>
            <a:fld id="{CB12788D-ABA5-4E7B-998B-677A061A6405}" type="slidenum">
              <a:rPr lang="en-US" smtClean="0"/>
              <a:t>41</a:t>
            </a:fld>
            <a:endParaRPr lang="en-US"/>
          </a:p>
        </p:txBody>
      </p:sp>
      <p:sp>
        <p:nvSpPr>
          <p:cNvPr id="7" name="Footer Placeholder 7">
            <a:extLst>
              <a:ext uri="{FF2B5EF4-FFF2-40B4-BE49-F238E27FC236}">
                <a16:creationId xmlns:a16="http://schemas.microsoft.com/office/drawing/2014/main" id="{B0C0D422-4E3C-BB11-DEAF-726A3D69BDC2}"/>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A62462BC-3B66-E750-7DAA-F867D2FCA244}"/>
              </a:ext>
            </a:extLst>
          </p:cNvPr>
          <p:cNvSpPr>
            <a:spLocks noGrp="1"/>
          </p:cNvSpPr>
          <p:nvPr>
            <p:ph type="title"/>
          </p:nvPr>
        </p:nvSpPr>
        <p:spPr>
          <a:xfrm>
            <a:off x="838200" y="365125"/>
            <a:ext cx="10515600" cy="1325563"/>
          </a:xfrm>
        </p:spPr>
        <p:txBody>
          <a:bodyPr/>
          <a:lstStyle/>
          <a:p>
            <a:r>
              <a:rPr lang="en-US" dirty="0"/>
              <a:t>Likelihood P(D|X,</a:t>
            </a:r>
            <a:r>
              <a:rPr lang="el-GR" dirty="0">
                <a:sym typeface="Wingdings" panose="05000000000000000000" pitchFamily="2" charset="2"/>
              </a:rPr>
              <a:t> θ</a:t>
            </a:r>
            <a:r>
              <a:rPr lang="en-US" dirty="0"/>
              <a:t>)</a:t>
            </a:r>
          </a:p>
        </p:txBody>
      </p:sp>
      <p:sp>
        <p:nvSpPr>
          <p:cNvPr id="2" name="Content Placeholder 2">
            <a:extLst>
              <a:ext uri="{FF2B5EF4-FFF2-40B4-BE49-F238E27FC236}">
                <a16:creationId xmlns:a16="http://schemas.microsoft.com/office/drawing/2014/main" id="{BDD3B1BB-68BC-118E-4F96-04E19AE8506F}"/>
              </a:ext>
            </a:extLst>
          </p:cNvPr>
          <p:cNvSpPr>
            <a:spLocks noGrp="1"/>
          </p:cNvSpPr>
          <p:nvPr>
            <p:ph idx="1"/>
          </p:nvPr>
        </p:nvSpPr>
        <p:spPr>
          <a:xfrm>
            <a:off x="838201" y="1825625"/>
            <a:ext cx="5257800" cy="4351338"/>
          </a:xfrm>
        </p:spPr>
        <p:txBody>
          <a:bodyPr>
            <a:normAutofit/>
          </a:bodyPr>
          <a:lstStyle/>
          <a:p>
            <a:r>
              <a:rPr lang="en-US" sz="2400" dirty="0"/>
              <a:t>Gives us probability of observing the data D given stimulus X and parameter </a:t>
            </a:r>
            <a:r>
              <a:rPr lang="el-GR" sz="2400" dirty="0"/>
              <a:t>θ</a:t>
            </a:r>
            <a:endParaRPr lang="en-US" sz="2400" dirty="0"/>
          </a:p>
          <a:p>
            <a:r>
              <a:rPr lang="en-US" sz="2400" dirty="0"/>
              <a:t>We want to find the parameter </a:t>
            </a:r>
            <a:r>
              <a:rPr lang="el-GR" sz="2400" dirty="0">
                <a:sym typeface="Wingdings" panose="05000000000000000000" pitchFamily="2" charset="2"/>
              </a:rPr>
              <a:t>θ</a:t>
            </a:r>
            <a:r>
              <a:rPr lang="en-US" sz="2400" dirty="0">
                <a:sym typeface="Wingdings" panose="05000000000000000000" pitchFamily="2" charset="2"/>
              </a:rPr>
              <a:t>, which gives us the highest probability of observing our data D</a:t>
            </a:r>
          </a:p>
          <a:p>
            <a:r>
              <a:rPr lang="en-US" sz="2400" dirty="0">
                <a:sym typeface="Wingdings" panose="05000000000000000000" pitchFamily="2" charset="2"/>
              </a:rPr>
              <a:t>Maximize Likelihood function</a:t>
            </a:r>
            <a:endParaRPr lang="en-US" sz="2400" dirty="0"/>
          </a:p>
        </p:txBody>
      </p:sp>
      <p:pic>
        <p:nvPicPr>
          <p:cNvPr id="8" name="Picture 7">
            <a:extLst>
              <a:ext uri="{FF2B5EF4-FFF2-40B4-BE49-F238E27FC236}">
                <a16:creationId xmlns:a16="http://schemas.microsoft.com/office/drawing/2014/main" id="{0FC1840D-DF58-A4E9-0DC1-8A44EA07A4B8}"/>
              </a:ext>
            </a:extLst>
          </p:cNvPr>
          <p:cNvPicPr>
            <a:picLocks noChangeAspect="1"/>
          </p:cNvPicPr>
          <p:nvPr/>
        </p:nvPicPr>
        <p:blipFill>
          <a:blip r:embed="rId3"/>
          <a:stretch>
            <a:fillRect/>
          </a:stretch>
        </p:blipFill>
        <p:spPr>
          <a:xfrm>
            <a:off x="9748866" y="692099"/>
            <a:ext cx="2159111" cy="997001"/>
          </a:xfrm>
          <a:prstGeom prst="rect">
            <a:avLst/>
          </a:prstGeom>
        </p:spPr>
      </p:pic>
      <p:sp>
        <p:nvSpPr>
          <p:cNvPr id="9" name="TextBox 8">
            <a:extLst>
              <a:ext uri="{FF2B5EF4-FFF2-40B4-BE49-F238E27FC236}">
                <a16:creationId xmlns:a16="http://schemas.microsoft.com/office/drawing/2014/main" id="{FBCEF498-8CBB-DC79-2C20-B08D924E0699}"/>
              </a:ext>
            </a:extLst>
          </p:cNvPr>
          <p:cNvSpPr txBox="1"/>
          <p:nvPr/>
        </p:nvSpPr>
        <p:spPr>
          <a:xfrm>
            <a:off x="9753601" y="183216"/>
            <a:ext cx="3541295" cy="400110"/>
          </a:xfrm>
          <a:prstGeom prst="rect">
            <a:avLst/>
          </a:prstGeom>
          <a:noFill/>
        </p:spPr>
        <p:txBody>
          <a:bodyPr wrap="square" rtlCol="0">
            <a:spAutoFit/>
          </a:bodyPr>
          <a:lstStyle/>
          <a:p>
            <a:r>
              <a:rPr lang="en-US" sz="2000" dirty="0"/>
              <a:t>Bayes` theorem</a:t>
            </a: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6F275A98-EBC6-B234-9D1D-09F6A380151F}"/>
                  </a:ext>
                </a:extLst>
              </p:cNvPr>
              <p:cNvSpPr txBox="1">
                <a:spLocks/>
              </p:cNvSpPr>
              <p:nvPr/>
            </p:nvSpPr>
            <p:spPr>
              <a:xfrm>
                <a:off x="6847367" y="2424224"/>
                <a:ext cx="4104168" cy="1970568"/>
              </a:xfrm>
              <a:custGeom>
                <a:avLst/>
                <a:gdLst>
                  <a:gd name="csX0" fmla="*/ 0 w 4104168"/>
                  <a:gd name="csY0" fmla="*/ 0 h 1970568"/>
                  <a:gd name="csX1" fmla="*/ 545268 w 4104168"/>
                  <a:gd name="csY1" fmla="*/ 0 h 1970568"/>
                  <a:gd name="csX2" fmla="*/ 1090536 w 4104168"/>
                  <a:gd name="csY2" fmla="*/ 0 h 1970568"/>
                  <a:gd name="csX3" fmla="*/ 1594762 w 4104168"/>
                  <a:gd name="csY3" fmla="*/ 0 h 1970568"/>
                  <a:gd name="csX4" fmla="*/ 2181072 w 4104168"/>
                  <a:gd name="csY4" fmla="*/ 0 h 1970568"/>
                  <a:gd name="csX5" fmla="*/ 2849465 w 4104168"/>
                  <a:gd name="csY5" fmla="*/ 0 h 1970568"/>
                  <a:gd name="csX6" fmla="*/ 3435775 w 4104168"/>
                  <a:gd name="csY6" fmla="*/ 0 h 1970568"/>
                  <a:gd name="csX7" fmla="*/ 4104168 w 4104168"/>
                  <a:gd name="csY7" fmla="*/ 0 h 1970568"/>
                  <a:gd name="csX8" fmla="*/ 4104168 w 4104168"/>
                  <a:gd name="csY8" fmla="*/ 492642 h 1970568"/>
                  <a:gd name="csX9" fmla="*/ 4104168 w 4104168"/>
                  <a:gd name="csY9" fmla="*/ 945873 h 1970568"/>
                  <a:gd name="csX10" fmla="*/ 4104168 w 4104168"/>
                  <a:gd name="csY10" fmla="*/ 1379398 h 1970568"/>
                  <a:gd name="csX11" fmla="*/ 4104168 w 4104168"/>
                  <a:gd name="csY11" fmla="*/ 1970568 h 1970568"/>
                  <a:gd name="csX12" fmla="*/ 3517858 w 4104168"/>
                  <a:gd name="csY12" fmla="*/ 1970568 h 1970568"/>
                  <a:gd name="csX13" fmla="*/ 2972590 w 4104168"/>
                  <a:gd name="csY13" fmla="*/ 1970568 h 1970568"/>
                  <a:gd name="csX14" fmla="*/ 2509406 w 4104168"/>
                  <a:gd name="csY14" fmla="*/ 1970568 h 1970568"/>
                  <a:gd name="csX15" fmla="*/ 1882054 w 4104168"/>
                  <a:gd name="csY15" fmla="*/ 1970568 h 1970568"/>
                  <a:gd name="csX16" fmla="*/ 1213661 w 4104168"/>
                  <a:gd name="csY16" fmla="*/ 1970568 h 1970568"/>
                  <a:gd name="csX17" fmla="*/ 586310 w 4104168"/>
                  <a:gd name="csY17" fmla="*/ 1970568 h 1970568"/>
                  <a:gd name="csX18" fmla="*/ 0 w 4104168"/>
                  <a:gd name="csY18" fmla="*/ 1970568 h 1970568"/>
                  <a:gd name="csX19" fmla="*/ 0 w 4104168"/>
                  <a:gd name="csY19" fmla="*/ 1497632 h 1970568"/>
                  <a:gd name="csX20" fmla="*/ 0 w 4104168"/>
                  <a:gd name="csY20" fmla="*/ 1004990 h 1970568"/>
                  <a:gd name="csX21" fmla="*/ 0 w 4104168"/>
                  <a:gd name="csY21" fmla="*/ 512348 h 1970568"/>
                  <a:gd name="csX22" fmla="*/ 0 w 4104168"/>
                  <a:gd name="csY22" fmla="*/ 0 h 1970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104168" h="1970568" fill="none" extrusionOk="0">
                    <a:moveTo>
                      <a:pt x="0" y="0"/>
                    </a:moveTo>
                    <a:cubicBezTo>
                      <a:pt x="116962" y="-25121"/>
                      <a:pt x="411358" y="6085"/>
                      <a:pt x="545268" y="0"/>
                    </a:cubicBezTo>
                    <a:cubicBezTo>
                      <a:pt x="679178" y="-6085"/>
                      <a:pt x="898694" y="82"/>
                      <a:pt x="1090536" y="0"/>
                    </a:cubicBezTo>
                    <a:cubicBezTo>
                      <a:pt x="1282378" y="-82"/>
                      <a:pt x="1433725" y="34447"/>
                      <a:pt x="1594762" y="0"/>
                    </a:cubicBezTo>
                    <a:cubicBezTo>
                      <a:pt x="1755799" y="-34447"/>
                      <a:pt x="1936414" y="17865"/>
                      <a:pt x="2181072" y="0"/>
                    </a:cubicBezTo>
                    <a:cubicBezTo>
                      <a:pt x="2425730" y="-17865"/>
                      <a:pt x="2565733" y="56791"/>
                      <a:pt x="2849465" y="0"/>
                    </a:cubicBezTo>
                    <a:cubicBezTo>
                      <a:pt x="3133197" y="-56791"/>
                      <a:pt x="3301874" y="54536"/>
                      <a:pt x="3435775" y="0"/>
                    </a:cubicBezTo>
                    <a:cubicBezTo>
                      <a:pt x="3569676" y="-54536"/>
                      <a:pt x="3852918" y="13742"/>
                      <a:pt x="4104168" y="0"/>
                    </a:cubicBezTo>
                    <a:cubicBezTo>
                      <a:pt x="4148458" y="219398"/>
                      <a:pt x="4066148" y="329046"/>
                      <a:pt x="4104168" y="492642"/>
                    </a:cubicBezTo>
                    <a:cubicBezTo>
                      <a:pt x="4142188" y="656238"/>
                      <a:pt x="4079137" y="724859"/>
                      <a:pt x="4104168" y="945873"/>
                    </a:cubicBezTo>
                    <a:cubicBezTo>
                      <a:pt x="4129199" y="1166887"/>
                      <a:pt x="4102592" y="1167449"/>
                      <a:pt x="4104168" y="1379398"/>
                    </a:cubicBezTo>
                    <a:cubicBezTo>
                      <a:pt x="4105744" y="1591347"/>
                      <a:pt x="4056904" y="1812193"/>
                      <a:pt x="4104168" y="1970568"/>
                    </a:cubicBezTo>
                    <a:cubicBezTo>
                      <a:pt x="3827058" y="2036170"/>
                      <a:pt x="3734634" y="1914131"/>
                      <a:pt x="3517858" y="1970568"/>
                    </a:cubicBezTo>
                    <a:cubicBezTo>
                      <a:pt x="3301082" y="2027005"/>
                      <a:pt x="3137504" y="1954365"/>
                      <a:pt x="2972590" y="1970568"/>
                    </a:cubicBezTo>
                    <a:cubicBezTo>
                      <a:pt x="2807676" y="1986771"/>
                      <a:pt x="2700669" y="1926390"/>
                      <a:pt x="2509406" y="1970568"/>
                    </a:cubicBezTo>
                    <a:cubicBezTo>
                      <a:pt x="2318143" y="2014746"/>
                      <a:pt x="2189739" y="1938011"/>
                      <a:pt x="1882054" y="1970568"/>
                    </a:cubicBezTo>
                    <a:cubicBezTo>
                      <a:pt x="1574369" y="2003125"/>
                      <a:pt x="1447406" y="1894800"/>
                      <a:pt x="1213661" y="1970568"/>
                    </a:cubicBezTo>
                    <a:cubicBezTo>
                      <a:pt x="979916" y="2046336"/>
                      <a:pt x="732307" y="1962196"/>
                      <a:pt x="586310" y="1970568"/>
                    </a:cubicBezTo>
                    <a:cubicBezTo>
                      <a:pt x="440313" y="1978940"/>
                      <a:pt x="271467" y="1963500"/>
                      <a:pt x="0" y="1970568"/>
                    </a:cubicBezTo>
                    <a:cubicBezTo>
                      <a:pt x="-34438" y="1746400"/>
                      <a:pt x="39873" y="1648759"/>
                      <a:pt x="0" y="1497632"/>
                    </a:cubicBezTo>
                    <a:cubicBezTo>
                      <a:pt x="-39873" y="1346505"/>
                      <a:pt x="25135" y="1126041"/>
                      <a:pt x="0" y="1004990"/>
                    </a:cubicBezTo>
                    <a:cubicBezTo>
                      <a:pt x="-25135" y="883939"/>
                      <a:pt x="17217" y="643891"/>
                      <a:pt x="0" y="512348"/>
                    </a:cubicBezTo>
                    <a:cubicBezTo>
                      <a:pt x="-17217" y="380805"/>
                      <a:pt x="31427" y="165471"/>
                      <a:pt x="0" y="0"/>
                    </a:cubicBezTo>
                    <a:close/>
                  </a:path>
                  <a:path w="4104168" h="1970568" stroke="0" extrusionOk="0">
                    <a:moveTo>
                      <a:pt x="0" y="0"/>
                    </a:moveTo>
                    <a:cubicBezTo>
                      <a:pt x="189218" y="-44366"/>
                      <a:pt x="385057" y="32805"/>
                      <a:pt x="668393" y="0"/>
                    </a:cubicBezTo>
                    <a:cubicBezTo>
                      <a:pt x="951729" y="-32805"/>
                      <a:pt x="964832" y="50879"/>
                      <a:pt x="1213661" y="0"/>
                    </a:cubicBezTo>
                    <a:cubicBezTo>
                      <a:pt x="1462490" y="-50879"/>
                      <a:pt x="1640702" y="57825"/>
                      <a:pt x="1841013" y="0"/>
                    </a:cubicBezTo>
                    <a:cubicBezTo>
                      <a:pt x="2041324" y="-57825"/>
                      <a:pt x="2212166" y="38025"/>
                      <a:pt x="2468364" y="0"/>
                    </a:cubicBezTo>
                    <a:cubicBezTo>
                      <a:pt x="2724562" y="-38025"/>
                      <a:pt x="2926412" y="34158"/>
                      <a:pt x="3054674" y="0"/>
                    </a:cubicBezTo>
                    <a:cubicBezTo>
                      <a:pt x="3182936" y="-34158"/>
                      <a:pt x="3454633" y="44551"/>
                      <a:pt x="3558900" y="0"/>
                    </a:cubicBezTo>
                    <a:cubicBezTo>
                      <a:pt x="3663167" y="-44551"/>
                      <a:pt x="3960363" y="24342"/>
                      <a:pt x="4104168" y="0"/>
                    </a:cubicBezTo>
                    <a:cubicBezTo>
                      <a:pt x="4134760" y="167528"/>
                      <a:pt x="4091822" y="235630"/>
                      <a:pt x="4104168" y="453231"/>
                    </a:cubicBezTo>
                    <a:cubicBezTo>
                      <a:pt x="4116514" y="670832"/>
                      <a:pt x="4089039" y="773875"/>
                      <a:pt x="4104168" y="945873"/>
                    </a:cubicBezTo>
                    <a:cubicBezTo>
                      <a:pt x="4119297" y="1117871"/>
                      <a:pt x="4056279" y="1240076"/>
                      <a:pt x="4104168" y="1438515"/>
                    </a:cubicBezTo>
                    <a:cubicBezTo>
                      <a:pt x="4152057" y="1636954"/>
                      <a:pt x="4060082" y="1792261"/>
                      <a:pt x="4104168" y="1970568"/>
                    </a:cubicBezTo>
                    <a:cubicBezTo>
                      <a:pt x="3915540" y="1988743"/>
                      <a:pt x="3751157" y="1944424"/>
                      <a:pt x="3599942" y="1970568"/>
                    </a:cubicBezTo>
                    <a:cubicBezTo>
                      <a:pt x="3448727" y="1996712"/>
                      <a:pt x="3231546" y="1952395"/>
                      <a:pt x="2931549" y="1970568"/>
                    </a:cubicBezTo>
                    <a:cubicBezTo>
                      <a:pt x="2631552" y="1988741"/>
                      <a:pt x="2596593" y="1968866"/>
                      <a:pt x="2427322" y="1970568"/>
                    </a:cubicBezTo>
                    <a:cubicBezTo>
                      <a:pt x="2258051" y="1972270"/>
                      <a:pt x="2152349" y="1960461"/>
                      <a:pt x="1923096" y="1970568"/>
                    </a:cubicBezTo>
                    <a:cubicBezTo>
                      <a:pt x="1693843" y="1980675"/>
                      <a:pt x="1575343" y="1942246"/>
                      <a:pt x="1459911" y="1970568"/>
                    </a:cubicBezTo>
                    <a:cubicBezTo>
                      <a:pt x="1344479" y="1998890"/>
                      <a:pt x="1094207" y="1903191"/>
                      <a:pt x="873601" y="1970568"/>
                    </a:cubicBezTo>
                    <a:cubicBezTo>
                      <a:pt x="652995" y="2037945"/>
                      <a:pt x="436567" y="1908974"/>
                      <a:pt x="0" y="1970568"/>
                    </a:cubicBezTo>
                    <a:cubicBezTo>
                      <a:pt x="-52070" y="1762620"/>
                      <a:pt x="24612" y="1593802"/>
                      <a:pt x="0" y="1458220"/>
                    </a:cubicBezTo>
                    <a:cubicBezTo>
                      <a:pt x="-24612" y="1322638"/>
                      <a:pt x="53255" y="1049389"/>
                      <a:pt x="0" y="926167"/>
                    </a:cubicBezTo>
                    <a:cubicBezTo>
                      <a:pt x="-53255" y="802945"/>
                      <a:pt x="9319" y="581671"/>
                      <a:pt x="0" y="472936"/>
                    </a:cubicBezTo>
                    <a:cubicBezTo>
                      <a:pt x="-9319" y="364201"/>
                      <a:pt x="36518" y="217545"/>
                      <a:pt x="0" y="0"/>
                    </a:cubicBezTo>
                    <a:close/>
                  </a:path>
                </a:pathLst>
              </a:custGeom>
              <a:ln w="28575">
                <a:solidFill>
                  <a:srgbClr val="7030A0"/>
                </a:solidFill>
                <a:extLst>
                  <a:ext uri="{C807C97D-BFC1-408E-A445-0C87EB9F89A2}">
                    <ask:lineSketchStyleProps xmlns:ask="http://schemas.microsoft.com/office/drawing/2018/sketchyshapes" sd="2937297951">
                      <a:prstGeom prst="rect">
                        <a:avLst/>
                      </a:prstGeom>
                      <ask:type>
                        <ask:lineSketchScribble/>
                      </ask:type>
                    </ask:lineSketchStyleProps>
                  </a:ext>
                </a:extLst>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P(</a:t>
                </a:r>
                <a:r>
                  <a:rPr lang="el-GR" sz="2000" dirty="0">
                    <a:sym typeface="Wingdings" panose="05000000000000000000" pitchFamily="2" charset="2"/>
                  </a:rPr>
                  <a:t>θ</a:t>
                </a:r>
                <a:r>
                  <a:rPr lang="en-US" sz="2000" dirty="0">
                    <a:sym typeface="Wingdings" panose="05000000000000000000" pitchFamily="2" charset="2"/>
                  </a:rPr>
                  <a:t>|D) ≈ P</a:t>
                </a:r>
                <a:r>
                  <a:rPr lang="en-US" sz="2000" dirty="0"/>
                  <a:t>(D|</a:t>
                </a:r>
                <a:r>
                  <a:rPr lang="el-GR" sz="2000" dirty="0">
                    <a:sym typeface="Wingdings" panose="05000000000000000000" pitchFamily="2" charset="2"/>
                  </a:rPr>
                  <a:t>θ</a:t>
                </a:r>
                <a:r>
                  <a:rPr lang="en-US" sz="2000" dirty="0"/>
                  <a:t>) * P(</a:t>
                </a:r>
                <a:r>
                  <a:rPr lang="el-GR" sz="2000" dirty="0">
                    <a:sym typeface="Wingdings" panose="05000000000000000000" pitchFamily="2" charset="2"/>
                  </a:rPr>
                  <a:t>θ</a:t>
                </a:r>
                <a:r>
                  <a:rPr lang="en-US" sz="2000" dirty="0">
                    <a:sym typeface="Wingdings" panose="05000000000000000000" pitchFamily="2" charset="2"/>
                  </a:rPr>
                  <a:t>)</a:t>
                </a:r>
              </a:p>
              <a:p>
                <a:pPr marL="0" indent="0">
                  <a:buNone/>
                </a:pPr>
                <a:endParaRPr lang="en-US" sz="2000" dirty="0">
                  <a:sym typeface="Wingdings" panose="05000000000000000000" pitchFamily="2" charset="2"/>
                </a:endParaRPr>
              </a:p>
              <a:p>
                <a:pPr marL="0" indent="0">
                  <a:buNone/>
                </a:pPr>
                <a14:m>
                  <m:oMathPara xmlns:m="http://schemas.openxmlformats.org/officeDocument/2006/math">
                    <m:oMath>
                      <m:sSub>
                        <m:sSubPr>
                          <m:ctrlPr>
                            <a:rPr lang="el-GR" sz="2000" i="1" dirty="0">
                              <a:latin typeface="Cambria Math" panose="02040503050406030204" pitchFamily="18" charset="0"/>
                              <a:sym typeface="Wingdings" panose="05000000000000000000" pitchFamily="2" charset="2"/>
                            </a:rPr>
                          </m:ctrlPr>
                        </m:sSubPr>
                        <m:e>
                          <m:acc>
                            <m:accPr>
                              <m:chr m:val="̂"/>
                              <m:ctrlPr>
                                <a:rPr lang="el-GR" sz="2000" i="0" dirty="0">
                                  <a:sym typeface="Wingdings" panose="05000000000000000000" pitchFamily="2" charset="2"/>
                                </a:rPr>
                              </m:ctrlPr>
                            </m:accPr>
                            <m:e>
                              <m:r>
                                <m:rPr>
                                  <m:nor/>
                                </m:rPr>
                                <a:rPr lang="el-GR" sz="2000" i="0" dirty="0">
                                  <a:sym typeface="Wingdings" panose="05000000000000000000" pitchFamily="2" charset="2"/>
                                </a:rPr>
                                <m:t>θ</m:t>
                              </m:r>
                            </m:e>
                          </m:acc>
                        </m:e>
                        <m:sub>
                          <m:r>
                            <a:rPr lang="en-US" sz="2000" b="0" i="1" smtClean="0">
                              <a:latin typeface="Cambria Math" panose="02040503050406030204" pitchFamily="18" charset="0"/>
                            </a:rPr>
                            <m:t>𝑀𝐿</m:t>
                          </m:r>
                        </m:sub>
                      </m:sSub>
                      <m:r>
                        <a:rPr lang="en-US" sz="2000" b="0" i="1" smtClean="0">
                          <a:latin typeface="Cambria Math" panose="02040503050406030204" pitchFamily="18" charset="0"/>
                        </a:rPr>
                        <m:t>=</m:t>
                      </m:r>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arg</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𝑚𝑎𝑥</m:t>
                              </m:r>
                            </m:e>
                            <m:sub>
                              <m:r>
                                <m:rPr>
                                  <m:nor/>
                                </m:rPr>
                                <a:rPr lang="el-GR" sz="2000" i="0" dirty="0">
                                  <a:sym typeface="Wingdings" panose="05000000000000000000" pitchFamily="2" charset="2"/>
                                </a:rPr>
                                <m:t>θ</m:t>
                              </m:r>
                            </m:sub>
                          </m:sSub>
                          <m:r>
                            <a:rPr lang="en-US" sz="2000" b="0" i="1" smtClean="0">
                              <a:latin typeface="Cambria Math" panose="02040503050406030204" pitchFamily="18" charset="0"/>
                            </a:rPr>
                            <m:t> </m:t>
                          </m:r>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𝐷</m:t>
                          </m:r>
                          <m:r>
                            <a:rPr lang="en-US" sz="2000" b="0" i="1" smtClean="0">
                              <a:latin typeface="Cambria Math" panose="02040503050406030204" pitchFamily="18" charset="0"/>
                            </a:rPr>
                            <m:t>|</m:t>
                          </m:r>
                          <m:r>
                            <m:rPr>
                              <m:nor/>
                            </m:rPr>
                            <a:rPr lang="el-GR" sz="2000" i="0" dirty="0">
                              <a:sym typeface="Wingdings" panose="05000000000000000000" pitchFamily="2" charset="2"/>
                            </a:rPr>
                            <m:t>θ</m:t>
                          </m:r>
                          <m:r>
                            <m:rPr>
                              <m:nor/>
                            </m:rPr>
                            <a:rPr lang="en-US" sz="2000" b="0" i="0" dirty="0" smtClean="0">
                              <a:sym typeface="Wingdings" panose="05000000000000000000" pitchFamily="2" charset="2"/>
                            </a:rPr>
                            <m:t>)</m:t>
                          </m:r>
                        </m:e>
                      </m:func>
                    </m:oMath>
                  </m:oMathPara>
                </a14:m>
                <a:endParaRPr lang="en-US" sz="2000" dirty="0"/>
              </a:p>
              <a:p>
                <a:pPr marL="0" indent="0">
                  <a:buNone/>
                </a:pPr>
                <a:endParaRPr lang="en-US" sz="2000" dirty="0">
                  <a:sym typeface="Wingdings" panose="05000000000000000000" pitchFamily="2" charset="2"/>
                </a:endParaRPr>
              </a:p>
              <a:p>
                <a:pPr marL="0" indent="0">
                  <a:buNone/>
                </a:pPr>
                <a14:m>
                  <m:oMathPara xmlns:m="http://schemas.openxmlformats.org/officeDocument/2006/math">
                    <m:oMath>
                      <m:sSub>
                        <m:sSubPr>
                          <m:ctrlPr>
                            <a:rPr lang="el-GR" sz="2000" i="1" dirty="0">
                              <a:latin typeface="Cambria Math" panose="02040503050406030204" pitchFamily="18" charset="0"/>
                              <a:sym typeface="Wingdings" panose="05000000000000000000" pitchFamily="2" charset="2"/>
                            </a:rPr>
                          </m:ctrlPr>
                        </m:sSubPr>
                        <m:e>
                          <m:acc>
                            <m:accPr>
                              <m:chr m:val="̂"/>
                              <m:ctrlPr>
                                <a:rPr lang="el-GR" sz="2000" i="0" dirty="0">
                                  <a:sym typeface="Wingdings" panose="05000000000000000000" pitchFamily="2" charset="2"/>
                                </a:rPr>
                              </m:ctrlPr>
                            </m:accPr>
                            <m:e>
                              <m:r>
                                <m:rPr>
                                  <m:nor/>
                                </m:rPr>
                                <a:rPr lang="el-GR" sz="2000" i="0" dirty="0">
                                  <a:sym typeface="Wingdings" panose="05000000000000000000" pitchFamily="2" charset="2"/>
                                </a:rPr>
                                <m:t>θ</m:t>
                              </m:r>
                            </m:e>
                          </m:acc>
                        </m:e>
                        <m:sub>
                          <m:r>
                            <a:rPr lang="en-US" sz="2000" i="1">
                              <a:latin typeface="Cambria Math" panose="02040503050406030204" pitchFamily="18" charset="0"/>
                            </a:rPr>
                            <m:t>𝑀</m:t>
                          </m:r>
                          <m:r>
                            <a:rPr lang="en-US" sz="2000" b="0" i="1" smtClean="0">
                              <a:latin typeface="Cambria Math" panose="02040503050406030204" pitchFamily="18" charset="0"/>
                            </a:rPr>
                            <m:t>𝐴𝑃</m:t>
                          </m:r>
                        </m:sub>
                      </m:sSub>
                      <m:r>
                        <a:rPr lang="en-US" sz="2000" i="1">
                          <a:latin typeface="Cambria Math" panose="02040503050406030204" pitchFamily="18" charset="0"/>
                        </a:rPr>
                        <m:t>=</m:t>
                      </m:r>
                      <m:func>
                        <m:funcPr>
                          <m:ctrlPr>
                            <a:rPr lang="en-US" sz="2000">
                              <a:latin typeface="Cambria Math" panose="02040503050406030204" pitchFamily="18" charset="0"/>
                            </a:rPr>
                          </m:ctrlPr>
                        </m:funcPr>
                        <m:fName>
                          <m:r>
                            <m:rPr>
                              <m:sty m:val="p"/>
                            </m:rPr>
                            <a:rPr lang="en-US" sz="2000">
                              <a:latin typeface="Cambria Math" panose="02040503050406030204" pitchFamily="18" charset="0"/>
                            </a:rPr>
                            <m:t>arg</m:t>
                          </m:r>
                        </m:fName>
                        <m:e>
                          <m:sSub>
                            <m:sSubPr>
                              <m:ctrlPr>
                                <a:rPr lang="en-US" sz="2000" i="1">
                                  <a:latin typeface="Cambria Math" panose="02040503050406030204" pitchFamily="18" charset="0"/>
                                </a:rPr>
                              </m:ctrlPr>
                            </m:sSubPr>
                            <m:e>
                              <m:r>
                                <a:rPr lang="en-US" sz="2000" i="1">
                                  <a:latin typeface="Cambria Math" panose="02040503050406030204" pitchFamily="18" charset="0"/>
                                </a:rPr>
                                <m:t>𝑚𝑎𝑥</m:t>
                              </m:r>
                            </m:e>
                            <m:sub>
                              <m:r>
                                <m:rPr>
                                  <m:nor/>
                                </m:rPr>
                                <a:rPr lang="el-GR" sz="2000" i="0" dirty="0">
                                  <a:sym typeface="Wingdings" panose="05000000000000000000" pitchFamily="2" charset="2"/>
                                </a:rPr>
                                <m:t>θ</m:t>
                              </m:r>
                            </m:sub>
                          </m:sSub>
                          <m:r>
                            <a:rPr lang="en-US" sz="2000" i="1">
                              <a:latin typeface="Cambria Math" panose="02040503050406030204" pitchFamily="18" charset="0"/>
                            </a:rPr>
                            <m:t> </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𝐷</m:t>
                          </m:r>
                          <m:r>
                            <a:rPr lang="en-US" sz="2000" i="1">
                              <a:latin typeface="Cambria Math" panose="02040503050406030204" pitchFamily="18" charset="0"/>
                            </a:rPr>
                            <m:t>|</m:t>
                          </m:r>
                          <m:r>
                            <m:rPr>
                              <m:nor/>
                            </m:rPr>
                            <a:rPr lang="el-GR" sz="2000" i="0" dirty="0">
                              <a:sym typeface="Wingdings" panose="05000000000000000000" pitchFamily="2" charset="2"/>
                            </a:rPr>
                            <m:t>θ</m:t>
                          </m:r>
                          <m:r>
                            <m:rPr>
                              <m:nor/>
                            </m:rPr>
                            <a:rPr lang="en-US" sz="2000" i="0" dirty="0">
                              <a:sym typeface="Wingdings" panose="05000000000000000000" pitchFamily="2" charset="2"/>
                            </a:rPr>
                            <m:t>)</m:t>
                          </m:r>
                          <m:r>
                            <m:rPr>
                              <m:nor/>
                            </m:rPr>
                            <a:rPr lang="en-US" sz="2000" b="0" i="0" dirty="0" smtClean="0">
                              <a:sym typeface="Wingdings" panose="05000000000000000000" pitchFamily="2" charset="2"/>
                            </a:rPr>
                            <m:t> ∗ P(</m:t>
                          </m:r>
                          <m:r>
                            <m:rPr>
                              <m:nor/>
                            </m:rPr>
                            <a:rPr lang="el-GR" sz="2000" i="0" dirty="0">
                              <a:sym typeface="Wingdings" panose="05000000000000000000" pitchFamily="2" charset="2"/>
                            </a:rPr>
                            <m:t>θ</m:t>
                          </m:r>
                          <m:r>
                            <m:rPr>
                              <m:nor/>
                            </m:rPr>
                            <a:rPr lang="en-US" sz="2000" b="0" i="0" dirty="0" smtClean="0">
                              <a:sym typeface="Wingdings" panose="05000000000000000000" pitchFamily="2" charset="2"/>
                            </a:rPr>
                            <m:t>)</m:t>
                          </m:r>
                        </m:e>
                      </m:func>
                    </m:oMath>
                  </m:oMathPara>
                </a14:m>
                <a:endParaRPr lang="en-US" sz="2000" dirty="0"/>
              </a:p>
              <a:p>
                <a:pPr marL="0" indent="0">
                  <a:buNone/>
                </a:pPr>
                <a:endParaRPr lang="en-US" sz="2000" dirty="0"/>
              </a:p>
              <a:p>
                <a:pPr marL="0" indent="0">
                  <a:buFont typeface="Arial" panose="020B0604020202020204" pitchFamily="34" charset="0"/>
                  <a:buNone/>
                </a:pPr>
                <a:endParaRPr lang="en-US" sz="2000" dirty="0"/>
              </a:p>
              <a:p>
                <a:endParaRPr lang="en-US" sz="2000" dirty="0"/>
              </a:p>
            </p:txBody>
          </p:sp>
        </mc:Choice>
        <mc:Fallback xmlns="">
          <p:sp>
            <p:nvSpPr>
              <p:cNvPr id="11" name="Content Placeholder 2">
                <a:extLst>
                  <a:ext uri="{FF2B5EF4-FFF2-40B4-BE49-F238E27FC236}">
                    <a16:creationId xmlns:a16="http://schemas.microsoft.com/office/drawing/2014/main" id="{6F275A98-EBC6-B234-9D1D-09F6A380151F}"/>
                  </a:ext>
                </a:extLst>
              </p:cNvPr>
              <p:cNvSpPr txBox="1">
                <a:spLocks noRot="1" noChangeAspect="1" noMove="1" noResize="1" noEditPoints="1" noAdjustHandles="1" noChangeArrowheads="1" noChangeShapeType="1" noTextEdit="1"/>
              </p:cNvSpPr>
              <p:nvPr/>
            </p:nvSpPr>
            <p:spPr>
              <a:xfrm>
                <a:off x="6847367" y="2424224"/>
                <a:ext cx="4104168" cy="1970568"/>
              </a:xfrm>
              <a:prstGeom prst="rect">
                <a:avLst/>
              </a:prstGeom>
              <a:blipFill>
                <a:blip r:embed="rId4"/>
                <a:stretch>
                  <a:fillRect t="-1183"/>
                </a:stretch>
              </a:blipFill>
              <a:ln w="28575">
                <a:solidFill>
                  <a:srgbClr val="7030A0"/>
                </a:solidFill>
                <a:extLst>
                  <a:ext uri="{C807C97D-BFC1-408E-A445-0C87EB9F89A2}">
                    <ask:lineSketchStyleProps xmlns:ask="http://schemas.microsoft.com/office/drawing/2018/sketchyshapes" sd="2937297951">
                      <a:custGeom>
                        <a:avLst/>
                        <a:gdLst>
                          <a:gd name="csX0" fmla="*/ 0 w 4104168"/>
                          <a:gd name="csY0" fmla="*/ 0 h 1970568"/>
                          <a:gd name="csX1" fmla="*/ 545268 w 4104168"/>
                          <a:gd name="csY1" fmla="*/ 0 h 1970568"/>
                          <a:gd name="csX2" fmla="*/ 1090536 w 4104168"/>
                          <a:gd name="csY2" fmla="*/ 0 h 1970568"/>
                          <a:gd name="csX3" fmla="*/ 1594762 w 4104168"/>
                          <a:gd name="csY3" fmla="*/ 0 h 1970568"/>
                          <a:gd name="csX4" fmla="*/ 2181072 w 4104168"/>
                          <a:gd name="csY4" fmla="*/ 0 h 1970568"/>
                          <a:gd name="csX5" fmla="*/ 2849465 w 4104168"/>
                          <a:gd name="csY5" fmla="*/ 0 h 1970568"/>
                          <a:gd name="csX6" fmla="*/ 3435775 w 4104168"/>
                          <a:gd name="csY6" fmla="*/ 0 h 1970568"/>
                          <a:gd name="csX7" fmla="*/ 4104168 w 4104168"/>
                          <a:gd name="csY7" fmla="*/ 0 h 1970568"/>
                          <a:gd name="csX8" fmla="*/ 4104168 w 4104168"/>
                          <a:gd name="csY8" fmla="*/ 492642 h 1970568"/>
                          <a:gd name="csX9" fmla="*/ 4104168 w 4104168"/>
                          <a:gd name="csY9" fmla="*/ 945873 h 1970568"/>
                          <a:gd name="csX10" fmla="*/ 4104168 w 4104168"/>
                          <a:gd name="csY10" fmla="*/ 1379398 h 1970568"/>
                          <a:gd name="csX11" fmla="*/ 4104168 w 4104168"/>
                          <a:gd name="csY11" fmla="*/ 1970568 h 1970568"/>
                          <a:gd name="csX12" fmla="*/ 3517858 w 4104168"/>
                          <a:gd name="csY12" fmla="*/ 1970568 h 1970568"/>
                          <a:gd name="csX13" fmla="*/ 2972590 w 4104168"/>
                          <a:gd name="csY13" fmla="*/ 1970568 h 1970568"/>
                          <a:gd name="csX14" fmla="*/ 2509406 w 4104168"/>
                          <a:gd name="csY14" fmla="*/ 1970568 h 1970568"/>
                          <a:gd name="csX15" fmla="*/ 1882054 w 4104168"/>
                          <a:gd name="csY15" fmla="*/ 1970568 h 1970568"/>
                          <a:gd name="csX16" fmla="*/ 1213661 w 4104168"/>
                          <a:gd name="csY16" fmla="*/ 1970568 h 1970568"/>
                          <a:gd name="csX17" fmla="*/ 586310 w 4104168"/>
                          <a:gd name="csY17" fmla="*/ 1970568 h 1970568"/>
                          <a:gd name="csX18" fmla="*/ 0 w 4104168"/>
                          <a:gd name="csY18" fmla="*/ 1970568 h 1970568"/>
                          <a:gd name="csX19" fmla="*/ 0 w 4104168"/>
                          <a:gd name="csY19" fmla="*/ 1497632 h 1970568"/>
                          <a:gd name="csX20" fmla="*/ 0 w 4104168"/>
                          <a:gd name="csY20" fmla="*/ 1004990 h 1970568"/>
                          <a:gd name="csX21" fmla="*/ 0 w 4104168"/>
                          <a:gd name="csY21" fmla="*/ 512348 h 1970568"/>
                          <a:gd name="csX22" fmla="*/ 0 w 4104168"/>
                          <a:gd name="csY22" fmla="*/ 0 h 1970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4104168" h="1970568" fill="none" extrusionOk="0">
                            <a:moveTo>
                              <a:pt x="0" y="0"/>
                            </a:moveTo>
                            <a:cubicBezTo>
                              <a:pt x="116962" y="-25121"/>
                              <a:pt x="411358" y="6085"/>
                              <a:pt x="545268" y="0"/>
                            </a:cubicBezTo>
                            <a:cubicBezTo>
                              <a:pt x="679178" y="-6085"/>
                              <a:pt x="898694" y="82"/>
                              <a:pt x="1090536" y="0"/>
                            </a:cubicBezTo>
                            <a:cubicBezTo>
                              <a:pt x="1282378" y="-82"/>
                              <a:pt x="1433725" y="34447"/>
                              <a:pt x="1594762" y="0"/>
                            </a:cubicBezTo>
                            <a:cubicBezTo>
                              <a:pt x="1755799" y="-34447"/>
                              <a:pt x="1936414" y="17865"/>
                              <a:pt x="2181072" y="0"/>
                            </a:cubicBezTo>
                            <a:cubicBezTo>
                              <a:pt x="2425730" y="-17865"/>
                              <a:pt x="2565733" y="56791"/>
                              <a:pt x="2849465" y="0"/>
                            </a:cubicBezTo>
                            <a:cubicBezTo>
                              <a:pt x="3133197" y="-56791"/>
                              <a:pt x="3301874" y="54536"/>
                              <a:pt x="3435775" y="0"/>
                            </a:cubicBezTo>
                            <a:cubicBezTo>
                              <a:pt x="3569676" y="-54536"/>
                              <a:pt x="3852918" y="13742"/>
                              <a:pt x="4104168" y="0"/>
                            </a:cubicBezTo>
                            <a:cubicBezTo>
                              <a:pt x="4148458" y="219398"/>
                              <a:pt x="4066148" y="329046"/>
                              <a:pt x="4104168" y="492642"/>
                            </a:cubicBezTo>
                            <a:cubicBezTo>
                              <a:pt x="4142188" y="656238"/>
                              <a:pt x="4079137" y="724859"/>
                              <a:pt x="4104168" y="945873"/>
                            </a:cubicBezTo>
                            <a:cubicBezTo>
                              <a:pt x="4129199" y="1166887"/>
                              <a:pt x="4102592" y="1167449"/>
                              <a:pt x="4104168" y="1379398"/>
                            </a:cubicBezTo>
                            <a:cubicBezTo>
                              <a:pt x="4105744" y="1591347"/>
                              <a:pt x="4056904" y="1812193"/>
                              <a:pt x="4104168" y="1970568"/>
                            </a:cubicBezTo>
                            <a:cubicBezTo>
                              <a:pt x="3827058" y="2036170"/>
                              <a:pt x="3734634" y="1914131"/>
                              <a:pt x="3517858" y="1970568"/>
                            </a:cubicBezTo>
                            <a:cubicBezTo>
                              <a:pt x="3301082" y="2027005"/>
                              <a:pt x="3137504" y="1954365"/>
                              <a:pt x="2972590" y="1970568"/>
                            </a:cubicBezTo>
                            <a:cubicBezTo>
                              <a:pt x="2807676" y="1986771"/>
                              <a:pt x="2700669" y="1926390"/>
                              <a:pt x="2509406" y="1970568"/>
                            </a:cubicBezTo>
                            <a:cubicBezTo>
                              <a:pt x="2318143" y="2014746"/>
                              <a:pt x="2189739" y="1938011"/>
                              <a:pt x="1882054" y="1970568"/>
                            </a:cubicBezTo>
                            <a:cubicBezTo>
                              <a:pt x="1574369" y="2003125"/>
                              <a:pt x="1447406" y="1894800"/>
                              <a:pt x="1213661" y="1970568"/>
                            </a:cubicBezTo>
                            <a:cubicBezTo>
                              <a:pt x="979916" y="2046336"/>
                              <a:pt x="732307" y="1962196"/>
                              <a:pt x="586310" y="1970568"/>
                            </a:cubicBezTo>
                            <a:cubicBezTo>
                              <a:pt x="440313" y="1978940"/>
                              <a:pt x="271467" y="1963500"/>
                              <a:pt x="0" y="1970568"/>
                            </a:cubicBezTo>
                            <a:cubicBezTo>
                              <a:pt x="-34438" y="1746400"/>
                              <a:pt x="39873" y="1648759"/>
                              <a:pt x="0" y="1497632"/>
                            </a:cubicBezTo>
                            <a:cubicBezTo>
                              <a:pt x="-39873" y="1346505"/>
                              <a:pt x="25135" y="1126041"/>
                              <a:pt x="0" y="1004990"/>
                            </a:cubicBezTo>
                            <a:cubicBezTo>
                              <a:pt x="-25135" y="883939"/>
                              <a:pt x="17217" y="643891"/>
                              <a:pt x="0" y="512348"/>
                            </a:cubicBezTo>
                            <a:cubicBezTo>
                              <a:pt x="-17217" y="380805"/>
                              <a:pt x="31427" y="165471"/>
                              <a:pt x="0" y="0"/>
                            </a:cubicBezTo>
                            <a:close/>
                          </a:path>
                          <a:path w="4104168" h="1970568" stroke="0" extrusionOk="0">
                            <a:moveTo>
                              <a:pt x="0" y="0"/>
                            </a:moveTo>
                            <a:cubicBezTo>
                              <a:pt x="189218" y="-44366"/>
                              <a:pt x="385057" y="32805"/>
                              <a:pt x="668393" y="0"/>
                            </a:cubicBezTo>
                            <a:cubicBezTo>
                              <a:pt x="951729" y="-32805"/>
                              <a:pt x="964832" y="50879"/>
                              <a:pt x="1213661" y="0"/>
                            </a:cubicBezTo>
                            <a:cubicBezTo>
                              <a:pt x="1462490" y="-50879"/>
                              <a:pt x="1640702" y="57825"/>
                              <a:pt x="1841013" y="0"/>
                            </a:cubicBezTo>
                            <a:cubicBezTo>
                              <a:pt x="2041324" y="-57825"/>
                              <a:pt x="2212166" y="38025"/>
                              <a:pt x="2468364" y="0"/>
                            </a:cubicBezTo>
                            <a:cubicBezTo>
                              <a:pt x="2724562" y="-38025"/>
                              <a:pt x="2926412" y="34158"/>
                              <a:pt x="3054674" y="0"/>
                            </a:cubicBezTo>
                            <a:cubicBezTo>
                              <a:pt x="3182936" y="-34158"/>
                              <a:pt x="3454633" y="44551"/>
                              <a:pt x="3558900" y="0"/>
                            </a:cubicBezTo>
                            <a:cubicBezTo>
                              <a:pt x="3663167" y="-44551"/>
                              <a:pt x="3960363" y="24342"/>
                              <a:pt x="4104168" y="0"/>
                            </a:cubicBezTo>
                            <a:cubicBezTo>
                              <a:pt x="4134760" y="167528"/>
                              <a:pt x="4091822" y="235630"/>
                              <a:pt x="4104168" y="453231"/>
                            </a:cubicBezTo>
                            <a:cubicBezTo>
                              <a:pt x="4116514" y="670832"/>
                              <a:pt x="4089039" y="773875"/>
                              <a:pt x="4104168" y="945873"/>
                            </a:cubicBezTo>
                            <a:cubicBezTo>
                              <a:pt x="4119297" y="1117871"/>
                              <a:pt x="4056279" y="1240076"/>
                              <a:pt x="4104168" y="1438515"/>
                            </a:cubicBezTo>
                            <a:cubicBezTo>
                              <a:pt x="4152057" y="1636954"/>
                              <a:pt x="4060082" y="1792261"/>
                              <a:pt x="4104168" y="1970568"/>
                            </a:cubicBezTo>
                            <a:cubicBezTo>
                              <a:pt x="3915540" y="1988743"/>
                              <a:pt x="3751157" y="1944424"/>
                              <a:pt x="3599942" y="1970568"/>
                            </a:cubicBezTo>
                            <a:cubicBezTo>
                              <a:pt x="3448727" y="1996712"/>
                              <a:pt x="3231546" y="1952395"/>
                              <a:pt x="2931549" y="1970568"/>
                            </a:cubicBezTo>
                            <a:cubicBezTo>
                              <a:pt x="2631552" y="1988741"/>
                              <a:pt x="2596593" y="1968866"/>
                              <a:pt x="2427322" y="1970568"/>
                            </a:cubicBezTo>
                            <a:cubicBezTo>
                              <a:pt x="2258051" y="1972270"/>
                              <a:pt x="2152349" y="1960461"/>
                              <a:pt x="1923096" y="1970568"/>
                            </a:cubicBezTo>
                            <a:cubicBezTo>
                              <a:pt x="1693843" y="1980675"/>
                              <a:pt x="1575343" y="1942246"/>
                              <a:pt x="1459911" y="1970568"/>
                            </a:cubicBezTo>
                            <a:cubicBezTo>
                              <a:pt x="1344479" y="1998890"/>
                              <a:pt x="1094207" y="1903191"/>
                              <a:pt x="873601" y="1970568"/>
                            </a:cubicBezTo>
                            <a:cubicBezTo>
                              <a:pt x="652995" y="2037945"/>
                              <a:pt x="436567" y="1908974"/>
                              <a:pt x="0" y="1970568"/>
                            </a:cubicBezTo>
                            <a:cubicBezTo>
                              <a:pt x="-52070" y="1762620"/>
                              <a:pt x="24612" y="1593802"/>
                              <a:pt x="0" y="1458220"/>
                            </a:cubicBezTo>
                            <a:cubicBezTo>
                              <a:pt x="-24612" y="1322638"/>
                              <a:pt x="53255" y="1049389"/>
                              <a:pt x="0" y="926167"/>
                            </a:cubicBezTo>
                            <a:cubicBezTo>
                              <a:pt x="-53255" y="802945"/>
                              <a:pt x="9319" y="581671"/>
                              <a:pt x="0" y="472936"/>
                            </a:cubicBezTo>
                            <a:cubicBezTo>
                              <a:pt x="-9319" y="364201"/>
                              <a:pt x="36518" y="217545"/>
                              <a:pt x="0" y="0"/>
                            </a:cubicBezTo>
                            <a:close/>
                          </a:path>
                        </a:pathLst>
                      </a:custGeom>
                      <ask:type>
                        <ask:lineSketchScribble/>
                      </ask:type>
                    </ask:lineSketchStyleProps>
                  </a:ext>
                </a:extLst>
              </a:ln>
            </p:spPr>
            <p:txBody>
              <a:bodyPr/>
              <a:lstStyle/>
              <a:p>
                <a:r>
                  <a:rPr lang="en-US">
                    <a:noFill/>
                  </a:rPr>
                  <a:t> </a:t>
                </a:r>
              </a:p>
            </p:txBody>
          </p:sp>
        </mc:Fallback>
      </mc:AlternateContent>
    </p:spTree>
    <p:extLst>
      <p:ext uri="{BB962C8B-B14F-4D97-AF65-F5344CB8AC3E}">
        <p14:creationId xmlns:p14="http://schemas.microsoft.com/office/powerpoint/2010/main" val="31841530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39281-6B8C-DDA3-8BC5-11025E15B6C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073CBDE-0A0D-DFA7-9F5C-501C64743136}"/>
              </a:ext>
            </a:extLst>
          </p:cNvPr>
          <p:cNvSpPr>
            <a:spLocks noGrp="1"/>
          </p:cNvSpPr>
          <p:nvPr>
            <p:ph type="sldNum" sz="quarter" idx="12"/>
          </p:nvPr>
        </p:nvSpPr>
        <p:spPr/>
        <p:txBody>
          <a:bodyPr/>
          <a:lstStyle/>
          <a:p>
            <a:fld id="{CB12788D-ABA5-4E7B-998B-677A061A6405}" type="slidenum">
              <a:rPr lang="en-US" smtClean="0"/>
              <a:t>42</a:t>
            </a:fld>
            <a:endParaRPr lang="en-US"/>
          </a:p>
        </p:txBody>
      </p:sp>
      <p:sp>
        <p:nvSpPr>
          <p:cNvPr id="7" name="Footer Placeholder 7">
            <a:extLst>
              <a:ext uri="{FF2B5EF4-FFF2-40B4-BE49-F238E27FC236}">
                <a16:creationId xmlns:a16="http://schemas.microsoft.com/office/drawing/2014/main" id="{518B673B-B8D9-5AEF-224D-22E34CDCA937}"/>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D16FF8D3-882C-F41F-20F6-60F4E6DB60FD}"/>
              </a:ext>
            </a:extLst>
          </p:cNvPr>
          <p:cNvSpPr>
            <a:spLocks noGrp="1"/>
          </p:cNvSpPr>
          <p:nvPr>
            <p:ph type="title"/>
          </p:nvPr>
        </p:nvSpPr>
        <p:spPr>
          <a:xfrm>
            <a:off x="838200" y="365125"/>
            <a:ext cx="10515600" cy="1325563"/>
          </a:xfrm>
        </p:spPr>
        <p:txBody>
          <a:bodyPr/>
          <a:lstStyle/>
          <a:p>
            <a:r>
              <a:rPr lang="en-US" dirty="0"/>
              <a:t>Uncertainty</a:t>
            </a:r>
          </a:p>
        </p:txBody>
      </p:sp>
      <p:sp>
        <p:nvSpPr>
          <p:cNvPr id="2" name="Content Placeholder 2">
            <a:extLst>
              <a:ext uri="{FF2B5EF4-FFF2-40B4-BE49-F238E27FC236}">
                <a16:creationId xmlns:a16="http://schemas.microsoft.com/office/drawing/2014/main" id="{AA5BED2A-38E4-15FB-4220-219D7084E9AF}"/>
              </a:ext>
            </a:extLst>
          </p:cNvPr>
          <p:cNvSpPr>
            <a:spLocks noGrp="1"/>
          </p:cNvSpPr>
          <p:nvPr>
            <p:ph idx="1"/>
          </p:nvPr>
        </p:nvSpPr>
        <p:spPr>
          <a:xfrm>
            <a:off x="838200" y="1825625"/>
            <a:ext cx="10515599" cy="4351338"/>
          </a:xfrm>
        </p:spPr>
        <p:txBody>
          <a:bodyPr>
            <a:normAutofit/>
          </a:bodyPr>
          <a:lstStyle/>
          <a:p>
            <a:r>
              <a:rPr lang="en-US" sz="2400" dirty="0"/>
              <a:t>A probabilistic model predicts a </a:t>
            </a:r>
            <a:r>
              <a:rPr lang="en-US" sz="2400" b="1" dirty="0"/>
              <a:t>distribution of possible responses</a:t>
            </a:r>
            <a:r>
              <a:rPr lang="en-US" sz="2400" dirty="0"/>
              <a:t>, not necessarily one response</a:t>
            </a:r>
          </a:p>
          <a:p>
            <a:r>
              <a:rPr lang="en-US" sz="2400" dirty="0"/>
              <a:t>Use confidence intervals to give a range of plausible parameter values</a:t>
            </a:r>
          </a:p>
          <a:p>
            <a:r>
              <a:rPr lang="en-US" sz="2400" dirty="0"/>
              <a:t>Use mean squared error to estimate accuracy</a:t>
            </a:r>
          </a:p>
          <a:p>
            <a:r>
              <a:rPr lang="en-US" sz="2400" dirty="0"/>
              <a:t>Bias: Systematic error</a:t>
            </a:r>
          </a:p>
          <a:p>
            <a:r>
              <a:rPr lang="en-US" sz="2400" dirty="0"/>
              <a:t>Variance: High variability of estimate</a:t>
            </a:r>
          </a:p>
          <a:p>
            <a:pPr marL="0" indent="0">
              <a:buNone/>
            </a:pPr>
            <a:endParaRPr lang="en-US" sz="2400" dirty="0"/>
          </a:p>
        </p:txBody>
      </p:sp>
      <p:pic>
        <p:nvPicPr>
          <p:cNvPr id="6" name="Picture 5">
            <a:extLst>
              <a:ext uri="{FF2B5EF4-FFF2-40B4-BE49-F238E27FC236}">
                <a16:creationId xmlns:a16="http://schemas.microsoft.com/office/drawing/2014/main" id="{783F135D-E2F6-A5BF-1FEB-6DCBFD06CD7C}"/>
              </a:ext>
            </a:extLst>
          </p:cNvPr>
          <p:cNvPicPr>
            <a:picLocks noChangeAspect="1"/>
          </p:cNvPicPr>
          <p:nvPr/>
        </p:nvPicPr>
        <p:blipFill>
          <a:blip r:embed="rId3"/>
          <a:stretch>
            <a:fillRect/>
          </a:stretch>
        </p:blipFill>
        <p:spPr>
          <a:xfrm>
            <a:off x="7730067" y="3152746"/>
            <a:ext cx="4210222" cy="3203604"/>
          </a:xfrm>
          <a:prstGeom prst="rect">
            <a:avLst/>
          </a:prstGeom>
        </p:spPr>
      </p:pic>
      <p:sp>
        <p:nvSpPr>
          <p:cNvPr id="12" name="Footer Placeholder 7">
            <a:extLst>
              <a:ext uri="{FF2B5EF4-FFF2-40B4-BE49-F238E27FC236}">
                <a16:creationId xmlns:a16="http://schemas.microsoft.com/office/drawing/2014/main" id="{789F2CD8-FD42-A09F-A0E2-420895D32D49}"/>
              </a:ext>
            </a:extLst>
          </p:cNvPr>
          <p:cNvSpPr txBox="1">
            <a:spLocks/>
          </p:cNvSpPr>
          <p:nvPr/>
        </p:nvSpPr>
        <p:spPr>
          <a:xfrm>
            <a:off x="7849017" y="6383790"/>
            <a:ext cx="2829869" cy="33450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dirty="0"/>
              <a:t>Kass, Eden and Brown, Analysis of Neural Data</a:t>
            </a:r>
          </a:p>
        </p:txBody>
      </p:sp>
      <p:sp>
        <p:nvSpPr>
          <p:cNvPr id="14" name="Footer Placeholder 7">
            <a:extLst>
              <a:ext uri="{FF2B5EF4-FFF2-40B4-BE49-F238E27FC236}">
                <a16:creationId xmlns:a16="http://schemas.microsoft.com/office/drawing/2014/main" id="{34D7F0D5-BA49-E38A-23C9-581192ECF108}"/>
              </a:ext>
            </a:extLst>
          </p:cNvPr>
          <p:cNvSpPr txBox="1">
            <a:spLocks/>
          </p:cNvSpPr>
          <p:nvPr/>
        </p:nvSpPr>
        <p:spPr>
          <a:xfrm>
            <a:off x="152400" y="65087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000" dirty="0"/>
              <a:t>Kass, Eden and Brown, Analysis of Neural Data</a:t>
            </a:r>
          </a:p>
        </p:txBody>
      </p:sp>
    </p:spTree>
    <p:extLst>
      <p:ext uri="{BB962C8B-B14F-4D97-AF65-F5344CB8AC3E}">
        <p14:creationId xmlns:p14="http://schemas.microsoft.com/office/powerpoint/2010/main" val="13072970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DBD3B-4948-3E0B-EC5C-50CFEA7454F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306D32A-1054-A5C5-D367-1D6075EFA5A3}"/>
              </a:ext>
            </a:extLst>
          </p:cNvPr>
          <p:cNvSpPr>
            <a:spLocks noGrp="1"/>
          </p:cNvSpPr>
          <p:nvPr>
            <p:ph type="sldNum" sz="quarter" idx="12"/>
          </p:nvPr>
        </p:nvSpPr>
        <p:spPr/>
        <p:txBody>
          <a:bodyPr/>
          <a:lstStyle/>
          <a:p>
            <a:fld id="{CB12788D-ABA5-4E7B-998B-677A061A6405}" type="slidenum">
              <a:rPr lang="en-US" smtClean="0"/>
              <a:t>43</a:t>
            </a:fld>
            <a:endParaRPr lang="en-US"/>
          </a:p>
        </p:txBody>
      </p:sp>
      <p:sp>
        <p:nvSpPr>
          <p:cNvPr id="7" name="Footer Placeholder 7">
            <a:extLst>
              <a:ext uri="{FF2B5EF4-FFF2-40B4-BE49-F238E27FC236}">
                <a16:creationId xmlns:a16="http://schemas.microsoft.com/office/drawing/2014/main" id="{502088D0-6277-483D-C895-38FB87C97556}"/>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89E7B20A-E6B1-A479-E2A7-F7190503C6BA}"/>
              </a:ext>
            </a:extLst>
          </p:cNvPr>
          <p:cNvSpPr>
            <a:spLocks noGrp="1"/>
          </p:cNvSpPr>
          <p:nvPr>
            <p:ph type="title"/>
          </p:nvPr>
        </p:nvSpPr>
        <p:spPr>
          <a:xfrm>
            <a:off x="838200" y="365125"/>
            <a:ext cx="10515600" cy="1325563"/>
          </a:xfrm>
        </p:spPr>
        <p:txBody>
          <a:bodyPr/>
          <a:lstStyle/>
          <a:p>
            <a:r>
              <a:rPr lang="en-US" dirty="0"/>
              <a:t>To sum up</a:t>
            </a:r>
          </a:p>
        </p:txBody>
      </p:sp>
      <p:sp>
        <p:nvSpPr>
          <p:cNvPr id="2" name="Content Placeholder 2">
            <a:extLst>
              <a:ext uri="{FF2B5EF4-FFF2-40B4-BE49-F238E27FC236}">
                <a16:creationId xmlns:a16="http://schemas.microsoft.com/office/drawing/2014/main" id="{E458746A-2F75-08F3-6450-61A856759F6B}"/>
              </a:ext>
            </a:extLst>
          </p:cNvPr>
          <p:cNvSpPr>
            <a:spLocks noGrp="1"/>
          </p:cNvSpPr>
          <p:nvPr>
            <p:ph idx="1"/>
          </p:nvPr>
        </p:nvSpPr>
        <p:spPr>
          <a:xfrm>
            <a:off x="838200" y="1825625"/>
            <a:ext cx="10515599" cy="4351338"/>
          </a:xfrm>
        </p:spPr>
        <p:txBody>
          <a:bodyPr>
            <a:normAutofit/>
          </a:bodyPr>
          <a:lstStyle/>
          <a:p>
            <a:pPr marL="0" indent="0">
              <a:buNone/>
            </a:pPr>
            <a:r>
              <a:rPr lang="en-US" sz="2400" dirty="0"/>
              <a:t>Probability gives us a tool to </a:t>
            </a:r>
          </a:p>
          <a:p>
            <a:r>
              <a:rPr lang="en-US" sz="2400" dirty="0"/>
              <a:t>Understand variability in neural systems</a:t>
            </a:r>
          </a:p>
          <a:p>
            <a:r>
              <a:rPr lang="en-US" sz="2400" dirty="0"/>
              <a:t>Simulate stochastic spike trains</a:t>
            </a:r>
          </a:p>
          <a:p>
            <a:r>
              <a:rPr lang="en-US" sz="2400" dirty="0"/>
              <a:t>Fit stochastic models</a:t>
            </a:r>
          </a:p>
          <a:p>
            <a:r>
              <a:rPr lang="en-US" sz="2400" dirty="0"/>
              <a:t>Evaluate estimated parameters and models</a:t>
            </a:r>
          </a:p>
          <a:p>
            <a:endParaRPr lang="en-US" sz="2400" dirty="0"/>
          </a:p>
          <a:p>
            <a:endParaRPr lang="en-US" sz="2400" dirty="0"/>
          </a:p>
          <a:p>
            <a:pPr marL="0" indent="0">
              <a:buNone/>
            </a:pPr>
            <a:r>
              <a:rPr lang="en-US" sz="2400" dirty="0">
                <a:solidFill>
                  <a:srgbClr val="7030A0"/>
                </a:solidFill>
              </a:rPr>
              <a:t>If you want to know more about …</a:t>
            </a:r>
          </a:p>
          <a:p>
            <a:pPr marL="0" indent="0">
              <a:buNone/>
            </a:pPr>
            <a:endParaRPr lang="en-US" sz="2400" dirty="0"/>
          </a:p>
        </p:txBody>
      </p:sp>
    </p:spTree>
    <p:extLst>
      <p:ext uri="{BB962C8B-B14F-4D97-AF65-F5344CB8AC3E}">
        <p14:creationId xmlns:p14="http://schemas.microsoft.com/office/powerpoint/2010/main" val="31925130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294C6-8E6A-C254-6711-5939DF41A9D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902278B-CEB9-0993-E9ED-D08418AFAA87}"/>
              </a:ext>
            </a:extLst>
          </p:cNvPr>
          <p:cNvSpPr>
            <a:spLocks noGrp="1"/>
          </p:cNvSpPr>
          <p:nvPr>
            <p:ph type="title"/>
          </p:nvPr>
        </p:nvSpPr>
        <p:spPr/>
        <p:txBody>
          <a:bodyPr/>
          <a:lstStyle/>
          <a:p>
            <a:r>
              <a:rPr lang="en-US" dirty="0"/>
              <a:t>… Computational Neuroscience</a:t>
            </a:r>
          </a:p>
        </p:txBody>
      </p:sp>
      <p:pic>
        <p:nvPicPr>
          <p:cNvPr id="13" name="Picture 12">
            <a:extLst>
              <a:ext uri="{FF2B5EF4-FFF2-40B4-BE49-F238E27FC236}">
                <a16:creationId xmlns:a16="http://schemas.microsoft.com/office/drawing/2014/main" id="{6403D914-45E8-4CDE-3ED5-7B4CEF8B4CAB}"/>
              </a:ext>
            </a:extLst>
          </p:cNvPr>
          <p:cNvPicPr>
            <a:picLocks noChangeAspect="1"/>
          </p:cNvPicPr>
          <p:nvPr/>
        </p:nvPicPr>
        <p:blipFill>
          <a:blip r:embed="rId3"/>
          <a:stretch>
            <a:fillRect/>
          </a:stretch>
        </p:blipFill>
        <p:spPr>
          <a:xfrm>
            <a:off x="170310" y="2926080"/>
            <a:ext cx="2548757" cy="3805040"/>
          </a:xfrm>
          <a:prstGeom prst="rect">
            <a:avLst/>
          </a:prstGeom>
        </p:spPr>
      </p:pic>
      <p:pic>
        <p:nvPicPr>
          <p:cNvPr id="16" name="Picture 15">
            <a:extLst>
              <a:ext uri="{FF2B5EF4-FFF2-40B4-BE49-F238E27FC236}">
                <a16:creationId xmlns:a16="http://schemas.microsoft.com/office/drawing/2014/main" id="{2A09AF91-3FEF-192C-C5ED-B8E79D15AF74}"/>
              </a:ext>
            </a:extLst>
          </p:cNvPr>
          <p:cNvPicPr>
            <a:picLocks noChangeAspect="1"/>
          </p:cNvPicPr>
          <p:nvPr/>
        </p:nvPicPr>
        <p:blipFill>
          <a:blip r:embed="rId4"/>
          <a:stretch>
            <a:fillRect/>
          </a:stretch>
        </p:blipFill>
        <p:spPr>
          <a:xfrm>
            <a:off x="3020647" y="2926079"/>
            <a:ext cx="2634703" cy="3805041"/>
          </a:xfrm>
          <a:prstGeom prst="rect">
            <a:avLst/>
          </a:prstGeom>
        </p:spPr>
      </p:pic>
      <p:pic>
        <p:nvPicPr>
          <p:cNvPr id="18" name="Picture 17">
            <a:extLst>
              <a:ext uri="{FF2B5EF4-FFF2-40B4-BE49-F238E27FC236}">
                <a16:creationId xmlns:a16="http://schemas.microsoft.com/office/drawing/2014/main" id="{C2AFC7CE-3826-CE1D-9AC4-2358AA6F0D1C}"/>
              </a:ext>
            </a:extLst>
          </p:cNvPr>
          <p:cNvPicPr>
            <a:picLocks noChangeAspect="1"/>
          </p:cNvPicPr>
          <p:nvPr/>
        </p:nvPicPr>
        <p:blipFill>
          <a:blip r:embed="rId5"/>
          <a:stretch>
            <a:fillRect/>
          </a:stretch>
        </p:blipFill>
        <p:spPr>
          <a:xfrm>
            <a:off x="5956931" y="2926079"/>
            <a:ext cx="2653936" cy="3805041"/>
          </a:xfrm>
          <a:prstGeom prst="rect">
            <a:avLst/>
          </a:prstGeom>
        </p:spPr>
      </p:pic>
      <p:pic>
        <p:nvPicPr>
          <p:cNvPr id="3" name="Picture 2">
            <a:extLst>
              <a:ext uri="{FF2B5EF4-FFF2-40B4-BE49-F238E27FC236}">
                <a16:creationId xmlns:a16="http://schemas.microsoft.com/office/drawing/2014/main" id="{38DFBB1F-04D6-7E36-9974-1F3246BF0C0A}"/>
              </a:ext>
            </a:extLst>
          </p:cNvPr>
          <p:cNvPicPr>
            <a:picLocks noChangeAspect="1"/>
          </p:cNvPicPr>
          <p:nvPr/>
        </p:nvPicPr>
        <p:blipFill>
          <a:blip r:embed="rId6"/>
          <a:stretch>
            <a:fillRect/>
          </a:stretch>
        </p:blipFill>
        <p:spPr>
          <a:xfrm>
            <a:off x="8912448" y="2926079"/>
            <a:ext cx="3207471" cy="3805041"/>
          </a:xfrm>
          <a:prstGeom prst="rect">
            <a:avLst/>
          </a:prstGeom>
        </p:spPr>
      </p:pic>
    </p:spTree>
    <p:extLst>
      <p:ext uri="{BB962C8B-B14F-4D97-AF65-F5344CB8AC3E}">
        <p14:creationId xmlns:p14="http://schemas.microsoft.com/office/powerpoint/2010/main" val="32993663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E104E-F424-B9DC-531D-68BEF309D36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4303DAD-2B0D-5863-9627-F8C7BD122D30}"/>
              </a:ext>
            </a:extLst>
          </p:cNvPr>
          <p:cNvSpPr>
            <a:spLocks noGrp="1"/>
          </p:cNvSpPr>
          <p:nvPr>
            <p:ph type="sldNum" sz="quarter" idx="12"/>
          </p:nvPr>
        </p:nvSpPr>
        <p:spPr/>
        <p:txBody>
          <a:bodyPr/>
          <a:lstStyle/>
          <a:p>
            <a:fld id="{CB12788D-ABA5-4E7B-998B-677A061A6405}" type="slidenum">
              <a:rPr lang="en-US" smtClean="0"/>
              <a:t>45</a:t>
            </a:fld>
            <a:endParaRPr lang="en-US"/>
          </a:p>
        </p:txBody>
      </p:sp>
      <p:sp>
        <p:nvSpPr>
          <p:cNvPr id="7" name="Footer Placeholder 7">
            <a:extLst>
              <a:ext uri="{FF2B5EF4-FFF2-40B4-BE49-F238E27FC236}">
                <a16:creationId xmlns:a16="http://schemas.microsoft.com/office/drawing/2014/main" id="{7A9DDFE3-FAFF-405F-6558-149595743538}"/>
              </a:ext>
            </a:extLst>
          </p:cNvPr>
          <p:cNvSpPr txBox="1">
            <a:spLocks/>
          </p:cNvSpPr>
          <p:nvPr/>
        </p:nvSpPr>
        <p:spPr>
          <a:xfrm>
            <a:off x="0" y="6356350"/>
            <a:ext cx="11101754" cy="50165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1000" dirty="0"/>
          </a:p>
        </p:txBody>
      </p:sp>
      <p:sp>
        <p:nvSpPr>
          <p:cNvPr id="4" name="Title 1">
            <a:extLst>
              <a:ext uri="{FF2B5EF4-FFF2-40B4-BE49-F238E27FC236}">
                <a16:creationId xmlns:a16="http://schemas.microsoft.com/office/drawing/2014/main" id="{B5358B4D-D338-F595-B010-A79F19BDDA7D}"/>
              </a:ext>
            </a:extLst>
          </p:cNvPr>
          <p:cNvSpPr>
            <a:spLocks noGrp="1"/>
          </p:cNvSpPr>
          <p:nvPr>
            <p:ph type="title"/>
          </p:nvPr>
        </p:nvSpPr>
        <p:spPr>
          <a:xfrm>
            <a:off x="838200" y="365125"/>
            <a:ext cx="10515600" cy="1325563"/>
          </a:xfrm>
        </p:spPr>
        <p:txBody>
          <a:bodyPr/>
          <a:lstStyle/>
          <a:p>
            <a:r>
              <a:rPr lang="en-US" dirty="0"/>
              <a:t>… single particles and thermal motion</a:t>
            </a:r>
          </a:p>
        </p:txBody>
      </p:sp>
      <p:sp>
        <p:nvSpPr>
          <p:cNvPr id="2" name="Content Placeholder 2">
            <a:extLst>
              <a:ext uri="{FF2B5EF4-FFF2-40B4-BE49-F238E27FC236}">
                <a16:creationId xmlns:a16="http://schemas.microsoft.com/office/drawing/2014/main" id="{7CC7A4AD-8678-5720-4CB8-825A6C89E421}"/>
              </a:ext>
            </a:extLst>
          </p:cNvPr>
          <p:cNvSpPr>
            <a:spLocks noGrp="1"/>
          </p:cNvSpPr>
          <p:nvPr>
            <p:ph idx="1"/>
          </p:nvPr>
        </p:nvSpPr>
        <p:spPr>
          <a:xfrm>
            <a:off x="838200" y="1825625"/>
            <a:ext cx="10515599" cy="4351338"/>
          </a:xfrm>
        </p:spPr>
        <p:txBody>
          <a:bodyPr>
            <a:normAutofit/>
          </a:bodyPr>
          <a:lstStyle/>
          <a:p>
            <a:pPr marL="0" indent="0">
              <a:buNone/>
            </a:pPr>
            <a:r>
              <a:rPr lang="en-US" sz="2400" dirty="0">
                <a:solidFill>
                  <a:srgbClr val="7030A0"/>
                </a:solidFill>
              </a:rPr>
              <a:t>Leonard Susskind: Lecture on “Statistical Mechanics” on YouTube</a:t>
            </a:r>
          </a:p>
          <a:p>
            <a:pPr marL="0" indent="0">
              <a:buNone/>
            </a:pPr>
            <a:endParaRPr lang="en-US" sz="2400" dirty="0">
              <a:solidFill>
                <a:srgbClr val="7030A0"/>
              </a:solidFill>
            </a:endParaRPr>
          </a:p>
          <a:p>
            <a:pPr marL="0" indent="0">
              <a:buNone/>
            </a:pPr>
            <a:r>
              <a:rPr lang="en-US" sz="2400" dirty="0"/>
              <a:t>(not neuroscience related but very interesting to understand concept of thermal motion and where the “noise” comes from) </a:t>
            </a:r>
          </a:p>
          <a:p>
            <a:pPr marL="0" indent="0">
              <a:buNone/>
            </a:pPr>
            <a:endParaRPr lang="en-US" sz="2400" dirty="0"/>
          </a:p>
        </p:txBody>
      </p:sp>
    </p:spTree>
    <p:extLst>
      <p:ext uri="{BB962C8B-B14F-4D97-AF65-F5344CB8AC3E}">
        <p14:creationId xmlns:p14="http://schemas.microsoft.com/office/powerpoint/2010/main" val="2913226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3692</TotalTime>
  <Words>3132</Words>
  <Application>Microsoft Office PowerPoint</Application>
  <PresentationFormat>Widescreen</PresentationFormat>
  <Paragraphs>487</Paragraphs>
  <Slides>45</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Aptos Display</vt:lpstr>
      <vt:lpstr>Arial</vt:lpstr>
      <vt:lpstr>Cambria Math</vt:lpstr>
      <vt:lpstr>Wingdings</vt:lpstr>
      <vt:lpstr>Office Theme</vt:lpstr>
      <vt:lpstr>Probability and Uncertainty in Neural Modeling</vt:lpstr>
      <vt:lpstr>Contents</vt:lpstr>
      <vt:lpstr>Why probability in neural modeling?</vt:lpstr>
      <vt:lpstr>Deterministic model</vt:lpstr>
      <vt:lpstr>Why probability at all?</vt:lpstr>
      <vt:lpstr>Why probability in neural modeling?</vt:lpstr>
      <vt:lpstr>Variability in the brain</vt:lpstr>
      <vt:lpstr>Stochastic openings of sodium channels</vt:lpstr>
      <vt:lpstr>Stochastic openings of sodium channels</vt:lpstr>
      <vt:lpstr>Thermal motion of molecules</vt:lpstr>
      <vt:lpstr>Probability</vt:lpstr>
      <vt:lpstr>Axioms of Probability</vt:lpstr>
      <vt:lpstr>Properties of Probability</vt:lpstr>
      <vt:lpstr>Conditional Probability</vt:lpstr>
      <vt:lpstr>Random variables</vt:lpstr>
      <vt:lpstr>Spike count from a motor cortical neuron</vt:lpstr>
      <vt:lpstr>Random variables</vt:lpstr>
      <vt:lpstr>Expectation (mean) of random variable x</vt:lpstr>
      <vt:lpstr>Variance of random variable x</vt:lpstr>
      <vt:lpstr>Discrete vs. continuous variables</vt:lpstr>
      <vt:lpstr>Probability distributions</vt:lpstr>
      <vt:lpstr>Bernoulli distribution</vt:lpstr>
      <vt:lpstr>Binomial distribution</vt:lpstr>
      <vt:lpstr>Quantal response in synaptic transmission</vt:lpstr>
      <vt:lpstr>Poisson distribution</vt:lpstr>
      <vt:lpstr>Normal distribution (Gaussian distribution)</vt:lpstr>
      <vt:lpstr>Spike train</vt:lpstr>
      <vt:lpstr>Spike train variability</vt:lpstr>
      <vt:lpstr>Poisson Process</vt:lpstr>
      <vt:lpstr>Poisson Spike Generator</vt:lpstr>
      <vt:lpstr>Spike Count</vt:lpstr>
      <vt:lpstr>Interspike interval (ISI)</vt:lpstr>
      <vt:lpstr>Noise</vt:lpstr>
      <vt:lpstr>Network Noise</vt:lpstr>
      <vt:lpstr>Network Noise</vt:lpstr>
      <vt:lpstr>Measurement Noise</vt:lpstr>
      <vt:lpstr>Neural data analysis</vt:lpstr>
      <vt:lpstr>Model selection</vt:lpstr>
      <vt:lpstr>Statistical Formulation</vt:lpstr>
      <vt:lpstr>Parameter Estimation</vt:lpstr>
      <vt:lpstr>Likelihood P(D|X, θ)</vt:lpstr>
      <vt:lpstr>Uncertainty</vt:lpstr>
      <vt:lpstr>To sum up</vt:lpstr>
      <vt:lpstr>… Computational Neuroscience</vt:lpstr>
      <vt:lpstr>… single particles and thermal motion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Freund</dc:creator>
  <cp:lastModifiedBy>Anna Freund</cp:lastModifiedBy>
  <cp:revision>25</cp:revision>
  <dcterms:created xsi:type="dcterms:W3CDTF">2026-09-22T01:14:35Z</dcterms:created>
  <dcterms:modified xsi:type="dcterms:W3CDTF">2026-09-25T05:56:43Z</dcterms:modified>
</cp:coreProperties>
</file>